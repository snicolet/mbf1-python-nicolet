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732" r:id="rId1"/>
  </p:sldMasterIdLst>
  <p:notesMasterIdLst>
    <p:notesMasterId r:id="rId71"/>
  </p:notesMasterIdLst>
  <p:handoutMasterIdLst>
    <p:handoutMasterId r:id="rId72"/>
  </p:handoutMasterIdLst>
  <p:sldIdLst>
    <p:sldId id="375" r:id="rId2"/>
    <p:sldId id="400" r:id="rId3"/>
    <p:sldId id="401" r:id="rId4"/>
    <p:sldId id="402" r:id="rId5"/>
    <p:sldId id="403" r:id="rId6"/>
    <p:sldId id="404" r:id="rId7"/>
    <p:sldId id="405" r:id="rId8"/>
    <p:sldId id="406" r:id="rId9"/>
    <p:sldId id="407" r:id="rId10"/>
    <p:sldId id="408" r:id="rId11"/>
    <p:sldId id="409" r:id="rId12"/>
    <p:sldId id="410" r:id="rId13"/>
    <p:sldId id="411" r:id="rId14"/>
    <p:sldId id="412" r:id="rId15"/>
    <p:sldId id="413" r:id="rId16"/>
    <p:sldId id="414" r:id="rId17"/>
    <p:sldId id="415" r:id="rId18"/>
    <p:sldId id="416" r:id="rId19"/>
    <p:sldId id="417" r:id="rId20"/>
    <p:sldId id="418" r:id="rId21"/>
    <p:sldId id="419" r:id="rId22"/>
    <p:sldId id="421" r:id="rId23"/>
    <p:sldId id="423" r:id="rId24"/>
    <p:sldId id="424" r:id="rId25"/>
    <p:sldId id="425" r:id="rId26"/>
    <p:sldId id="426" r:id="rId27"/>
    <p:sldId id="466" r:id="rId28"/>
    <p:sldId id="469" r:id="rId29"/>
    <p:sldId id="470" r:id="rId30"/>
    <p:sldId id="465" r:id="rId31"/>
    <p:sldId id="427" r:id="rId32"/>
    <p:sldId id="428" r:id="rId33"/>
    <p:sldId id="429" r:id="rId34"/>
    <p:sldId id="430" r:id="rId35"/>
    <p:sldId id="431" r:id="rId36"/>
    <p:sldId id="432" r:id="rId37"/>
    <p:sldId id="433" r:id="rId38"/>
    <p:sldId id="434" r:id="rId39"/>
    <p:sldId id="435" r:id="rId40"/>
    <p:sldId id="436" r:id="rId41"/>
    <p:sldId id="437" r:id="rId42"/>
    <p:sldId id="438" r:id="rId43"/>
    <p:sldId id="439" r:id="rId44"/>
    <p:sldId id="440" r:id="rId45"/>
    <p:sldId id="441" r:id="rId46"/>
    <p:sldId id="445" r:id="rId47"/>
    <p:sldId id="443" r:id="rId48"/>
    <p:sldId id="444" r:id="rId49"/>
    <p:sldId id="446" r:id="rId50"/>
    <p:sldId id="447" r:id="rId51"/>
    <p:sldId id="449" r:id="rId52"/>
    <p:sldId id="448" r:id="rId53"/>
    <p:sldId id="450" r:id="rId54"/>
    <p:sldId id="451" r:id="rId55"/>
    <p:sldId id="452" r:id="rId56"/>
    <p:sldId id="453" r:id="rId57"/>
    <p:sldId id="467" r:id="rId58"/>
    <p:sldId id="468" r:id="rId59"/>
    <p:sldId id="454" r:id="rId60"/>
    <p:sldId id="455" r:id="rId61"/>
    <p:sldId id="456" r:id="rId62"/>
    <p:sldId id="457" r:id="rId63"/>
    <p:sldId id="458" r:id="rId64"/>
    <p:sldId id="459" r:id="rId65"/>
    <p:sldId id="460" r:id="rId66"/>
    <p:sldId id="461" r:id="rId67"/>
    <p:sldId id="462" r:id="rId68"/>
    <p:sldId id="463" r:id="rId69"/>
    <p:sldId id="464" r:id="rId70"/>
  </p:sldIdLst>
  <p:sldSz cx="9144000" cy="6858000" type="screen4x3"/>
  <p:notesSz cx="6858000" cy="9144000"/>
  <p:defaultTextStyle>
    <a:defPPr>
      <a:defRPr lang="fr-FR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2"/>
        </a:solidFill>
        <a:latin typeface="Arial" charset="0"/>
        <a:ea typeface="ＭＳ Ｐゴシック" charset="0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2"/>
        </a:solidFill>
        <a:latin typeface="Arial" charset="0"/>
        <a:ea typeface="ＭＳ Ｐゴシック" charset="0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2"/>
        </a:solidFill>
        <a:latin typeface="Arial" charset="0"/>
        <a:ea typeface="ＭＳ Ｐゴシック" charset="0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2"/>
        </a:solidFill>
        <a:latin typeface="Arial" charset="0"/>
        <a:ea typeface="ＭＳ Ｐゴシック" charset="0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2"/>
        </a:solidFill>
        <a:latin typeface="Arial" charset="0"/>
        <a:ea typeface="ＭＳ Ｐゴシック" charset="0"/>
        <a:cs typeface="+mn-cs"/>
      </a:defRPr>
    </a:lvl5pPr>
    <a:lvl6pPr marL="2286000" algn="l" defTabSz="457200" rtl="0" eaLnBrk="1" latinLnBrk="0" hangingPunct="1">
      <a:defRPr sz="2400" kern="1200">
        <a:solidFill>
          <a:schemeClr val="tx2"/>
        </a:solidFill>
        <a:latin typeface="Arial" charset="0"/>
        <a:ea typeface="ＭＳ Ｐゴシック" charset="0"/>
        <a:cs typeface="+mn-cs"/>
      </a:defRPr>
    </a:lvl6pPr>
    <a:lvl7pPr marL="2743200" algn="l" defTabSz="457200" rtl="0" eaLnBrk="1" latinLnBrk="0" hangingPunct="1">
      <a:defRPr sz="2400" kern="1200">
        <a:solidFill>
          <a:schemeClr val="tx2"/>
        </a:solidFill>
        <a:latin typeface="Arial" charset="0"/>
        <a:ea typeface="ＭＳ Ｐゴシック" charset="0"/>
        <a:cs typeface="+mn-cs"/>
      </a:defRPr>
    </a:lvl7pPr>
    <a:lvl8pPr marL="3200400" algn="l" defTabSz="457200" rtl="0" eaLnBrk="1" latinLnBrk="0" hangingPunct="1">
      <a:defRPr sz="2400" kern="1200">
        <a:solidFill>
          <a:schemeClr val="tx2"/>
        </a:solidFill>
        <a:latin typeface="Arial" charset="0"/>
        <a:ea typeface="ＭＳ Ｐゴシック" charset="0"/>
        <a:cs typeface="+mn-cs"/>
      </a:defRPr>
    </a:lvl8pPr>
    <a:lvl9pPr marL="3657600" algn="l" defTabSz="457200" rtl="0" eaLnBrk="1" latinLnBrk="0" hangingPunct="1">
      <a:defRPr sz="2400" kern="1200">
        <a:solidFill>
          <a:schemeClr val="tx2"/>
        </a:solidFill>
        <a:latin typeface="Arial" charset="0"/>
        <a:ea typeface="ＭＳ Ｐゴシック" charset="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CCFF"/>
    <a:srgbClr val="FFCCFF"/>
    <a:srgbClr val="99FFCC"/>
    <a:srgbClr val="CCFFFF"/>
    <a:srgbClr val="FF00FF"/>
    <a:srgbClr val="FF0000"/>
    <a:srgbClr val="009900"/>
    <a:srgbClr val="E1E1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B1032C-EA38-4F05-BA0D-38AFFFC7BED3}" styleName="Style léger 3 - Accentuation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C083E6E3-FA7D-4D7B-A595-EF9225AFEA82}" styleName="Style léger 1 - Accentuation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Style léger 1 - Accentuation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Style léger 1 - Accentuation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Style à thème 1 - Accentuation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Aucun style, grille du tablea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007" autoAdjust="0"/>
    <p:restoredTop sz="90964"/>
  </p:normalViewPr>
  <p:slideViewPr>
    <p:cSldViewPr>
      <p:cViewPr varScale="1">
        <p:scale>
          <a:sx n="104" d="100"/>
          <a:sy n="104" d="100"/>
        </p:scale>
        <p:origin x="1400" y="2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18" d="100"/>
          <a:sy n="118" d="100"/>
        </p:scale>
        <p:origin x="-4256" y="-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endParaRPr lang="fr-FR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endParaRPr lang="fr-FR"/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endParaRPr lang="fr-FR"/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ACD6F964-0E01-0347-96A4-C37FEA3034E6}" type="slidenum">
              <a:rPr lang="fr-FR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303468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endParaRPr lang="fr-FR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endParaRPr lang="fr-FR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xmlns="" val="1"/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endParaRPr lang="fr-FR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2BB96183-5730-AF4B-A221-215C0AAD25FC}" type="slidenum">
              <a:rPr lang="fr-FR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6424130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ＭＳ Ｐゴシック" charset="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r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fr-CH"/>
              <a:t>Cliquez et modifiez le titre</a:t>
            </a:r>
            <a:endParaRPr kumimoji="0" lang="en-US"/>
          </a:p>
        </p:txBody>
      </p:sp>
      <p:sp>
        <p:nvSpPr>
          <p:cNvPr id="9" name="Sous-titr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fr-CH"/>
              <a:t>Cliquez pour modifier le style des sous-titres du masque</a:t>
            </a:r>
            <a:endParaRPr kumimoji="0" lang="en-US"/>
          </a:p>
        </p:txBody>
      </p:sp>
      <p:sp>
        <p:nvSpPr>
          <p:cNvPr id="28" name="Espace réservé de la date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r>
              <a:rPr lang="fr-CH"/>
              <a:t>30.10.12</a:t>
            </a:r>
            <a:endParaRPr lang="fr-FR"/>
          </a:p>
        </p:txBody>
      </p:sp>
      <p:sp>
        <p:nvSpPr>
          <p:cNvPr id="17" name="Espace réservé du pied de page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r>
              <a:rPr lang="fr-FR"/>
              <a:t>UNIL - Informatique I</a:t>
            </a:r>
          </a:p>
        </p:txBody>
      </p:sp>
      <p:sp>
        <p:nvSpPr>
          <p:cNvPr id="29" name="Espace réservé du numéro de diapositive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5D2109F-C210-9F4F-BE50-DE6D04027247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fr-CH"/>
              <a:t>Cliquez et modifiez le titre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CH"/>
              <a:t>30.10.12</a:t>
            </a:r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UNIL - Informatique I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984C434B-4C1C-AA4B-9FC7-3C7BDD6F6ADC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8" name="Espace réservé du contenu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fr-CH"/>
              <a:t>Cliquez pour modifier les styles du texte du masque</a:t>
            </a:r>
          </a:p>
          <a:p>
            <a:pPr lvl="1" eaLnBrk="1" latinLnBrk="0" hangingPunct="1"/>
            <a:r>
              <a:rPr lang="fr-CH"/>
              <a:t>Deuxième niveau</a:t>
            </a:r>
          </a:p>
          <a:p>
            <a:pPr lvl="2" eaLnBrk="1" latinLnBrk="0" hangingPunct="1"/>
            <a:r>
              <a:rPr lang="fr-CH"/>
              <a:t>Troisième niveau</a:t>
            </a:r>
          </a:p>
          <a:p>
            <a:pPr lvl="3" eaLnBrk="1" latinLnBrk="0" hangingPunct="1"/>
            <a:r>
              <a:rPr lang="fr-CH"/>
              <a:t>Quatrième niveau</a:t>
            </a:r>
          </a:p>
          <a:p>
            <a:pPr lvl="4" eaLnBrk="1" latinLnBrk="0" hangingPunct="1"/>
            <a:r>
              <a:rPr lang="fr-CH"/>
              <a:t>Cinquième niveau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-tête de sec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fr-CH"/>
              <a:t>Cliquez pour modifier les styles du texte du masque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fr-CH"/>
              <a:t>Cliquez et modifiez le titre</a:t>
            </a:r>
            <a:endParaRPr kumimoji="0" lang="en-US"/>
          </a:p>
        </p:txBody>
      </p:sp>
      <p:sp>
        <p:nvSpPr>
          <p:cNvPr id="12" name="Espace réservé de la date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CH"/>
              <a:t>30.10.12</a:t>
            </a:r>
            <a:endParaRPr lang="fr-FR"/>
          </a:p>
        </p:txBody>
      </p:sp>
      <p:sp>
        <p:nvSpPr>
          <p:cNvPr id="13" name="Espace réservé du numéro de diapositive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CA062017-3E5F-D545-803C-22C050AB8223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14" name="Espace réservé du pied de page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fr-FR"/>
              <a:t>UNIL - Informatique I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CH"/>
              <a:t>Cliquez et modifiez le titre</a:t>
            </a:r>
            <a:endParaRPr kumimoji="0" lang="en-US"/>
          </a:p>
        </p:txBody>
      </p:sp>
      <p:sp>
        <p:nvSpPr>
          <p:cNvPr id="9" name="Espace réservé du contenu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fr-CH"/>
              <a:t>Cliquez pour modifier les styles du texte du masque</a:t>
            </a:r>
          </a:p>
          <a:p>
            <a:pPr lvl="1" eaLnBrk="1" latinLnBrk="0" hangingPunct="1"/>
            <a:r>
              <a:rPr lang="fr-CH"/>
              <a:t>Deuxième niveau</a:t>
            </a:r>
          </a:p>
          <a:p>
            <a:pPr lvl="2" eaLnBrk="1" latinLnBrk="0" hangingPunct="1"/>
            <a:r>
              <a:rPr lang="fr-CH"/>
              <a:t>Troisième niveau</a:t>
            </a:r>
          </a:p>
          <a:p>
            <a:pPr lvl="3" eaLnBrk="1" latinLnBrk="0" hangingPunct="1"/>
            <a:r>
              <a:rPr lang="fr-CH"/>
              <a:t>Quatrième niveau</a:t>
            </a:r>
          </a:p>
          <a:p>
            <a:pPr lvl="4" eaLnBrk="1" latinLnBrk="0" hangingPunct="1"/>
            <a:r>
              <a:rPr lang="fr-CH"/>
              <a:t>Cinquième niveau</a:t>
            </a:r>
            <a:endParaRPr kumimoji="0" lang="en-US"/>
          </a:p>
        </p:txBody>
      </p:sp>
      <p:sp>
        <p:nvSpPr>
          <p:cNvPr id="11" name="Espace réservé du contenu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fr-CH"/>
              <a:t>Cliquez pour modifier les styles du texte du masque</a:t>
            </a:r>
          </a:p>
          <a:p>
            <a:pPr lvl="1" eaLnBrk="1" latinLnBrk="0" hangingPunct="1"/>
            <a:r>
              <a:rPr lang="fr-CH"/>
              <a:t>Deuxième niveau</a:t>
            </a:r>
          </a:p>
          <a:p>
            <a:pPr lvl="2" eaLnBrk="1" latinLnBrk="0" hangingPunct="1"/>
            <a:r>
              <a:rPr lang="fr-CH"/>
              <a:t>Troisième niveau</a:t>
            </a:r>
          </a:p>
          <a:p>
            <a:pPr lvl="3" eaLnBrk="1" latinLnBrk="0" hangingPunct="1"/>
            <a:r>
              <a:rPr lang="fr-CH"/>
              <a:t>Quatrième niveau</a:t>
            </a:r>
          </a:p>
          <a:p>
            <a:pPr lvl="4" eaLnBrk="1" latinLnBrk="0" hangingPunct="1"/>
            <a:r>
              <a:rPr lang="fr-CH"/>
              <a:t>Cinquième niveau</a:t>
            </a:r>
            <a:endParaRPr kumimoji="0" lang="en-US"/>
          </a:p>
        </p:txBody>
      </p:sp>
      <p:sp>
        <p:nvSpPr>
          <p:cNvPr id="8" name="Espace réservé de la date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r>
              <a:rPr lang="fr-CH"/>
              <a:t>30.10.12</a:t>
            </a:r>
            <a:endParaRPr lang="fr-FR"/>
          </a:p>
        </p:txBody>
      </p:sp>
      <p:sp>
        <p:nvSpPr>
          <p:cNvPr id="10" name="Espace réservé du numéro de diapositive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B0BA543E-D95F-E941-884E-49F19CC3D311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12" name="Espace réservé du pied de page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r>
              <a:rPr lang="fr-FR"/>
              <a:t>UNIL - Informatique I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fr-CH"/>
              <a:t>Cliquez et modifiez le titre</a:t>
            </a:r>
            <a:endParaRPr kumimoji="0" lang="en-US"/>
          </a:p>
        </p:txBody>
      </p:sp>
      <p:sp>
        <p:nvSpPr>
          <p:cNvPr id="11" name="Espace réservé du contenu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fr-CH"/>
              <a:t>Cliquez pour modifier les styles du texte du masque</a:t>
            </a:r>
          </a:p>
          <a:p>
            <a:pPr lvl="1" eaLnBrk="1" latinLnBrk="0" hangingPunct="1"/>
            <a:r>
              <a:rPr lang="fr-CH"/>
              <a:t>Deuxième niveau</a:t>
            </a:r>
          </a:p>
          <a:p>
            <a:pPr lvl="2" eaLnBrk="1" latinLnBrk="0" hangingPunct="1"/>
            <a:r>
              <a:rPr lang="fr-CH"/>
              <a:t>Troisième niveau</a:t>
            </a:r>
          </a:p>
          <a:p>
            <a:pPr lvl="3" eaLnBrk="1" latinLnBrk="0" hangingPunct="1"/>
            <a:r>
              <a:rPr lang="fr-CH"/>
              <a:t>Quatrième niveau</a:t>
            </a:r>
          </a:p>
          <a:p>
            <a:pPr lvl="4" eaLnBrk="1" latinLnBrk="0" hangingPunct="1"/>
            <a:r>
              <a:rPr lang="fr-CH"/>
              <a:t>Cinquième niveau</a:t>
            </a:r>
            <a:endParaRPr kumimoji="0" lang="en-US"/>
          </a:p>
        </p:txBody>
      </p:sp>
      <p:sp>
        <p:nvSpPr>
          <p:cNvPr id="13" name="Espace réservé du contenu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fr-CH"/>
              <a:t>Cliquez pour modifier les styles du texte du masque</a:t>
            </a:r>
          </a:p>
          <a:p>
            <a:pPr lvl="1" eaLnBrk="1" latinLnBrk="0" hangingPunct="1"/>
            <a:r>
              <a:rPr lang="fr-CH"/>
              <a:t>Deuxième niveau</a:t>
            </a:r>
          </a:p>
          <a:p>
            <a:pPr lvl="2" eaLnBrk="1" latinLnBrk="0" hangingPunct="1"/>
            <a:r>
              <a:rPr lang="fr-CH"/>
              <a:t>Troisième niveau</a:t>
            </a:r>
          </a:p>
          <a:p>
            <a:pPr lvl="3" eaLnBrk="1" latinLnBrk="0" hangingPunct="1"/>
            <a:r>
              <a:rPr lang="fr-CH"/>
              <a:t>Quatrième niveau</a:t>
            </a:r>
          </a:p>
          <a:p>
            <a:pPr lvl="4" eaLnBrk="1" latinLnBrk="0" hangingPunct="1"/>
            <a:r>
              <a:rPr lang="fr-CH"/>
              <a:t>Cinquième niveau</a:t>
            </a:r>
            <a:endParaRPr kumimoji="0" lang="en-US"/>
          </a:p>
        </p:txBody>
      </p:sp>
      <p:sp>
        <p:nvSpPr>
          <p:cNvPr id="10" name="Espace réservé de la date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r>
              <a:rPr lang="fr-CH"/>
              <a:t>30.10.12</a:t>
            </a:r>
            <a:endParaRPr lang="fr-FR"/>
          </a:p>
        </p:txBody>
      </p:sp>
      <p:sp>
        <p:nvSpPr>
          <p:cNvPr id="12" name="Espace réservé du numéro de diapositive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9F22BEEB-CA8A-C040-983A-AAABE0F651E1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14" name="Espace réservé du pied de page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r>
              <a:rPr lang="fr-FR"/>
              <a:t>UNIL - Informatique I</a:t>
            </a:r>
          </a:p>
        </p:txBody>
      </p:sp>
      <p:sp>
        <p:nvSpPr>
          <p:cNvPr id="16" name="Espace réservé du texte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fr-CH"/>
              <a:t>Cliquez pour modifier les styles du texte du masque</a:t>
            </a:r>
          </a:p>
        </p:txBody>
      </p:sp>
      <p:sp>
        <p:nvSpPr>
          <p:cNvPr id="15" name="Espace réservé du texte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fr-CH"/>
              <a:t>Cliquez pour modifier les styles du texte du masque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CH"/>
              <a:t>Cliquez et modifiez le titre</a:t>
            </a:r>
            <a:endParaRPr kumimoji="0"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CH"/>
              <a:t>30.10.12</a:t>
            </a:r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UNIL - Informatique I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DD9B8300-181C-054A-A328-E2139B9AD5F7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CH"/>
              <a:t>30.10.12</a:t>
            </a:r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UNIL - Informatique I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1A05B3F-7440-4047-9795-78A3F4158249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fr-CH"/>
              <a:t>Cliquez et modifiez le titre</a:t>
            </a:r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CH"/>
              <a:t>30.10.12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UNIL - Informatique I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992FAD62-4CC2-5B40-ACA0-2FA3AD3CFBCF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fr-CH"/>
              <a:t>Cliquez pour modifier les styles du texte du masque</a:t>
            </a:r>
          </a:p>
        </p:txBody>
      </p:sp>
      <p:sp>
        <p:nvSpPr>
          <p:cNvPr id="9" name="Espace réservé du contenu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fr-CH"/>
              <a:t>Cliquez pour modifier les styles du texte du masque</a:t>
            </a:r>
          </a:p>
          <a:p>
            <a:pPr lvl="1" eaLnBrk="1" latinLnBrk="0" hangingPunct="1"/>
            <a:r>
              <a:rPr lang="fr-CH"/>
              <a:t>Deuxième niveau</a:t>
            </a:r>
          </a:p>
          <a:p>
            <a:pPr lvl="2" eaLnBrk="1" latinLnBrk="0" hangingPunct="1"/>
            <a:r>
              <a:rPr lang="fr-CH"/>
              <a:t>Troisième niveau</a:t>
            </a:r>
          </a:p>
          <a:p>
            <a:pPr lvl="3" eaLnBrk="1" latinLnBrk="0" hangingPunct="1"/>
            <a:r>
              <a:rPr lang="fr-CH"/>
              <a:t>Quatrième niveau</a:t>
            </a:r>
          </a:p>
          <a:p>
            <a:pPr lvl="4" eaLnBrk="1" latinLnBrk="0" hangingPunct="1"/>
            <a:r>
              <a:rPr lang="fr-CH"/>
              <a:t>Cinquième niveau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fr-CH"/>
              <a:t>Cliquez pour modifier les styles du texte du masque</a:t>
            </a:r>
          </a:p>
        </p:txBody>
      </p:sp>
      <p:sp>
        <p:nvSpPr>
          <p:cNvPr id="8" name="Rectangle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fr-CH"/>
              <a:t>Cliquez et modifiez le titre</a:t>
            </a:r>
            <a:endParaRPr kumimoji="0" lang="en-US"/>
          </a:p>
        </p:txBody>
      </p:sp>
      <p:sp>
        <p:nvSpPr>
          <p:cNvPr id="11" name="Rectangle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Espace réservé de la date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r>
              <a:rPr lang="fr-CH"/>
              <a:t>30.10.12</a:t>
            </a:r>
            <a:endParaRPr lang="fr-FR"/>
          </a:p>
        </p:txBody>
      </p:sp>
      <p:sp>
        <p:nvSpPr>
          <p:cNvPr id="13" name="Espace réservé du numéro de diapositive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CC79D76C-33C8-DF41-AB83-387084CEC10B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14" name="Espace réservé du pied de page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r>
              <a:rPr lang="fr-FR"/>
              <a:t>UNIL - Informatique I</a:t>
            </a:r>
          </a:p>
        </p:txBody>
      </p:sp>
      <p:sp>
        <p:nvSpPr>
          <p:cNvPr id="3" name="Espace réservé pour une image 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fr-CH"/>
              <a:t>Faire glisser l'image vers l'espace réservé ou cliquer sur l'icône pour l'ajouter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CH"/>
              <a:t>Cliquez et modifiez le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fr-CH"/>
              <a:t>Cliquez pour modifier les styles du texte du masque</a:t>
            </a:r>
          </a:p>
          <a:p>
            <a:pPr lvl="1" eaLnBrk="1" latinLnBrk="0" hangingPunct="1"/>
            <a:r>
              <a:rPr lang="fr-CH"/>
              <a:t>Deuxième niveau</a:t>
            </a:r>
          </a:p>
          <a:p>
            <a:pPr lvl="2" eaLnBrk="1" latinLnBrk="0" hangingPunct="1"/>
            <a:r>
              <a:rPr lang="fr-CH"/>
              <a:t>Troisième niveau</a:t>
            </a:r>
          </a:p>
          <a:p>
            <a:pPr lvl="3" eaLnBrk="1" latinLnBrk="0" hangingPunct="1"/>
            <a:r>
              <a:rPr lang="fr-CH"/>
              <a:t>Quatrième niveau</a:t>
            </a:r>
          </a:p>
          <a:p>
            <a:pPr lvl="4" eaLnBrk="1" latinLnBrk="0" hangingPunct="1"/>
            <a:r>
              <a:rPr lang="fr-CH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CH"/>
              <a:t>30.10.12</a:t>
            </a:r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UNIL - Informatique I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8A849-4122-6640-96DA-97F7188E7D39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re vertical et tex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fr-CH"/>
              <a:t>Cliquez et modifiez le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fr-CH"/>
              <a:t>Cliquez pour modifier les styles du texte du masque</a:t>
            </a:r>
          </a:p>
          <a:p>
            <a:pPr lvl="1" eaLnBrk="1" latinLnBrk="0" hangingPunct="1"/>
            <a:r>
              <a:rPr lang="fr-CH"/>
              <a:t>Deuxième niveau</a:t>
            </a:r>
          </a:p>
          <a:p>
            <a:pPr lvl="2" eaLnBrk="1" latinLnBrk="0" hangingPunct="1"/>
            <a:r>
              <a:rPr lang="fr-CH"/>
              <a:t>Troisième niveau</a:t>
            </a:r>
          </a:p>
          <a:p>
            <a:pPr lvl="3" eaLnBrk="1" latinLnBrk="0" hangingPunct="1"/>
            <a:r>
              <a:rPr lang="fr-CH"/>
              <a:t>Quatrième niveau</a:t>
            </a:r>
          </a:p>
          <a:p>
            <a:pPr lvl="4" eaLnBrk="1" latinLnBrk="0" hangingPunct="1"/>
            <a:r>
              <a:rPr lang="fr-CH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r>
              <a:rPr lang="fr-CH"/>
              <a:t>30.10.12</a:t>
            </a:r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r>
              <a:rPr lang="fr-FR"/>
              <a:t>UNIL - Informatique I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F97011EA-94E7-C94D-AD82-14E12DD73888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space réservé du titre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fr-CH"/>
              <a:t>Cliquez et modifiez le titre</a:t>
            </a:r>
            <a:endParaRPr kumimoji="0" lang="en-US"/>
          </a:p>
        </p:txBody>
      </p:sp>
      <p:sp>
        <p:nvSpPr>
          <p:cNvPr id="13" name="Espace réservé du texte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fr-CH"/>
              <a:t>Cliquez pour modifier les styles du texte du masque</a:t>
            </a:r>
          </a:p>
          <a:p>
            <a:pPr lvl="1" eaLnBrk="1" latinLnBrk="0" hangingPunct="1"/>
            <a:r>
              <a:rPr kumimoji="0" lang="fr-CH"/>
              <a:t>Deuxième niveau</a:t>
            </a:r>
          </a:p>
          <a:p>
            <a:pPr lvl="2" eaLnBrk="1" latinLnBrk="0" hangingPunct="1"/>
            <a:r>
              <a:rPr kumimoji="0" lang="fr-CH"/>
              <a:t>Troisième niveau</a:t>
            </a:r>
          </a:p>
          <a:p>
            <a:pPr lvl="3" eaLnBrk="1" latinLnBrk="0" hangingPunct="1"/>
            <a:r>
              <a:rPr kumimoji="0" lang="fr-CH"/>
              <a:t>Quatrième niveau</a:t>
            </a:r>
          </a:p>
          <a:p>
            <a:pPr lvl="4" eaLnBrk="1" latinLnBrk="0" hangingPunct="1"/>
            <a:r>
              <a:rPr kumimoji="0" lang="fr-CH"/>
              <a:t>Cinquième niveau</a:t>
            </a:r>
            <a:endParaRPr kumimoji="0" lang="en-US"/>
          </a:p>
        </p:txBody>
      </p:sp>
      <p:sp>
        <p:nvSpPr>
          <p:cNvPr id="14" name="Espace réservé de la date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fr-CH"/>
              <a:t>30.10.12</a:t>
            </a:r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fr-FR"/>
              <a:t>UNIL - Informatique I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Espace réservé du numéro de diapositive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6BE7D13C-A807-CA4C-B7E6-D4B4CB6419C0}" type="slidenum">
              <a:rPr lang="fr-FR" smtClean="0"/>
              <a:pPr/>
              <a:t>‹#›</a:t>
            </a:fld>
            <a:endParaRPr lang="fr-FR"/>
          </a:p>
        </p:txBody>
      </p:sp>
      <p:pic>
        <p:nvPicPr>
          <p:cNvPr id="10" name="Picture 12" descr="logoBlancTransparent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6130925"/>
            <a:ext cx="1152525" cy="625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Chapitre 4</a:t>
            </a:r>
            <a:br>
              <a:rPr lang="fr-FR" dirty="0"/>
            </a:br>
            <a:r>
              <a:rPr lang="fr-FR" dirty="0"/>
              <a:t>Les types de base – Partie 2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Programmation en Python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2109F-C210-9F4F-BE50-DE6D04027247}" type="slidenum">
              <a:rPr lang="fr-FR" smtClean="0"/>
              <a:pPr/>
              <a:t>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832785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chaînes de caractères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2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fr-FR" dirty="0"/>
              <a:t>Les chaînes de caractères, « strings » en anglais, désignent tout ce qui est considéré comme du texte.</a:t>
            </a:r>
          </a:p>
          <a:p>
            <a:r>
              <a:rPr lang="fr-FR" dirty="0"/>
              <a:t>En Python, les chaînes de caractères sont des objets de type </a:t>
            </a:r>
            <a:r>
              <a:rPr lang="fr-FR" sz="2400" dirty="0">
                <a:solidFill>
                  <a:srgbClr val="3366FF"/>
                </a:solidFill>
                <a:latin typeface="Courier"/>
                <a:cs typeface="Courier"/>
              </a:rPr>
              <a:t>string</a:t>
            </a:r>
            <a:r>
              <a:rPr lang="fr-FR" dirty="0"/>
              <a:t>.</a:t>
            </a:r>
          </a:p>
          <a:p>
            <a:r>
              <a:rPr lang="fr-FR" dirty="0"/>
              <a:t>Les chaînes de caractères doivent toujours être entre guillemets (simples, doubles, ou triples).</a:t>
            </a:r>
          </a:p>
          <a:p>
            <a:pPr marL="0" indent="0">
              <a:buNone/>
            </a:pPr>
            <a:endParaRPr lang="fr-FR" sz="1800" dirty="0">
              <a:solidFill>
                <a:prstClr val="black"/>
              </a:solidFill>
              <a:latin typeface="Courier"/>
            </a:endParaRP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</a:rPr>
              <a:t>&gt;&gt;&gt; </a:t>
            </a:r>
            <a:r>
              <a:rPr lang="nb-NO" sz="1800" dirty="0">
                <a:solidFill>
                  <a:prstClr val="black"/>
                </a:solidFill>
                <a:latin typeface="Courier"/>
              </a:rPr>
              <a:t>s </a:t>
            </a:r>
            <a:r>
              <a:rPr lang="nb-NO" sz="1800" dirty="0">
                <a:solidFill>
                  <a:srgbClr val="666666"/>
                </a:solidFill>
                <a:latin typeface="Courier"/>
              </a:rPr>
              <a:t>=</a:t>
            </a:r>
            <a:r>
              <a:rPr lang="it-IT" sz="1800" dirty="0">
                <a:solidFill>
                  <a:prstClr val="black"/>
                </a:solidFill>
                <a:latin typeface="Courier"/>
              </a:rPr>
              <a:t> </a:t>
            </a:r>
            <a:r>
              <a:rPr lang="it-IT" sz="1800" dirty="0">
                <a:solidFill>
                  <a:srgbClr val="BA2121"/>
                </a:solidFill>
                <a:latin typeface="Courier"/>
              </a:rPr>
              <a:t>"Hello"</a:t>
            </a:r>
            <a:endParaRPr lang="it-IT" sz="1800" dirty="0">
              <a:solidFill>
                <a:prstClr val="black"/>
              </a:solidFill>
              <a:latin typeface="Courier"/>
            </a:endParaRP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</a:rPr>
              <a:t>&gt;&gt;&gt; </a:t>
            </a:r>
            <a:r>
              <a:rPr lang="it-IT" sz="1800" dirty="0" err="1">
                <a:solidFill>
                  <a:srgbClr val="008000"/>
                </a:solidFill>
                <a:latin typeface="Courier"/>
              </a:rPr>
              <a:t>type</a:t>
            </a:r>
            <a:r>
              <a:rPr lang="it-IT" sz="1800" dirty="0">
                <a:solidFill>
                  <a:prstClr val="black"/>
                </a:solidFill>
                <a:latin typeface="Courier"/>
              </a:rPr>
              <a:t>(</a:t>
            </a:r>
            <a:r>
              <a:rPr lang="it-IT" sz="1800" dirty="0" err="1">
                <a:solidFill>
                  <a:prstClr val="black"/>
                </a:solidFill>
                <a:latin typeface="Courier"/>
              </a:rPr>
              <a:t>s</a:t>
            </a:r>
            <a:r>
              <a:rPr lang="it-IT" sz="1800" dirty="0">
                <a:solidFill>
                  <a:prstClr val="black"/>
                </a:solidFill>
                <a:latin typeface="Courier"/>
              </a:rPr>
              <a:t>)</a:t>
            </a:r>
            <a:endParaRPr lang="nb-NO" sz="1800" dirty="0">
              <a:solidFill>
                <a:prstClr val="black"/>
              </a:solidFill>
              <a:latin typeface="Courier"/>
            </a:endParaRPr>
          </a:p>
          <a:p>
            <a:pPr marL="0" indent="0">
              <a:buNone/>
            </a:pPr>
            <a:r>
              <a:rPr lang="fr-FR" sz="1800" dirty="0">
                <a:latin typeface="Courier"/>
                <a:cs typeface="Courier"/>
              </a:rPr>
              <a:t>&lt;class '</a:t>
            </a:r>
            <a:r>
              <a:rPr lang="fr-FR" sz="1800" dirty="0" err="1">
                <a:latin typeface="Courier"/>
                <a:cs typeface="Courier"/>
              </a:rPr>
              <a:t>str</a:t>
            </a:r>
            <a:r>
              <a:rPr lang="fr-FR" sz="1800" dirty="0">
                <a:latin typeface="Courier"/>
                <a:cs typeface="Courier"/>
              </a:rPr>
              <a:t>'&gt;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&gt;&gt;&gt;</a:t>
            </a:r>
            <a:endParaRPr lang="nb-NO" sz="1800" dirty="0">
              <a:solidFill>
                <a:prstClr val="black"/>
              </a:solidFill>
              <a:latin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3971109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chaînes de caractères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3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fr-CH" dirty="0"/>
              <a:t>L’opérateur de concaténation sur les chaînes, c’est-à-dire le fait d’appondre une châine à la suite de l’autre, se note « + ».</a:t>
            </a:r>
            <a:endParaRPr lang="nb-NO" sz="1800" dirty="0">
              <a:solidFill>
                <a:prstClr val="black"/>
              </a:solidFill>
              <a:latin typeface="Courier"/>
            </a:endParaRPr>
          </a:p>
          <a:p>
            <a:r>
              <a:rPr lang="fr-CH" dirty="0"/>
              <a:t>L’opérateur de multiplication sur les chaînes, c’est-à-dire le fait d’appondre n fois la même châine, se note « * ».</a:t>
            </a:r>
            <a:endParaRPr lang="nb-NO" sz="1800" dirty="0">
              <a:solidFill>
                <a:prstClr val="black"/>
              </a:solidFill>
              <a:latin typeface="Courier"/>
            </a:endParaRPr>
          </a:p>
          <a:p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415078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chaînes de caractères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4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&gt;&gt;&gt; a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"Bonnie"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da-DK" sz="1800" dirty="0">
                <a:solidFill>
                  <a:prstClr val="black"/>
                </a:solidFill>
                <a:latin typeface="Courier"/>
                <a:cs typeface="Courier"/>
              </a:rPr>
              <a:t>&gt;&gt;&gt; b </a:t>
            </a:r>
            <a:r>
              <a:rPr lang="da-DK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da-DK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da-DK" sz="1800" dirty="0">
                <a:solidFill>
                  <a:srgbClr val="BA2121"/>
                </a:solidFill>
                <a:latin typeface="Courier"/>
                <a:cs typeface="Courier"/>
              </a:rPr>
              <a:t>"Clyde"</a:t>
            </a:r>
            <a:endParaRPr lang="da-DK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da-DK" sz="1800" dirty="0">
                <a:solidFill>
                  <a:prstClr val="black"/>
                </a:solidFill>
                <a:latin typeface="Courier"/>
                <a:cs typeface="Courier"/>
              </a:rPr>
              <a:t>&gt;&gt;&gt; 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a 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+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1800" dirty="0">
                <a:solidFill>
                  <a:srgbClr val="BA2121"/>
                </a:solidFill>
                <a:latin typeface="Courier"/>
                <a:cs typeface="Courier"/>
              </a:rPr>
              <a:t>" &amp; "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+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b</a:t>
            </a:r>
          </a:p>
          <a:p>
            <a:pPr marL="0" indent="0">
              <a:buNone/>
            </a:pPr>
            <a:r>
              <a:rPr lang="fr-FR" sz="1800" dirty="0">
                <a:latin typeface="Courier"/>
                <a:cs typeface="Courier"/>
              </a:rPr>
              <a:t>'Bonnie &amp; Clyde'</a:t>
            </a:r>
            <a:endParaRPr lang="en-US" sz="1800" dirty="0"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da-DK" sz="1800" dirty="0">
                <a:solidFill>
                  <a:prstClr val="black"/>
                </a:solidFill>
                <a:latin typeface="Courier"/>
                <a:cs typeface="Courier"/>
              </a:rPr>
              <a:t>&gt;&gt;&gt;</a:t>
            </a:r>
            <a:r>
              <a:rPr lang="en-US" sz="1800" dirty="0">
                <a:solidFill>
                  <a:srgbClr val="008000"/>
                </a:solidFill>
                <a:latin typeface="Courier"/>
                <a:cs typeface="Courier"/>
              </a:rPr>
              <a:t> 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a 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* 3</a:t>
            </a:r>
            <a:endParaRPr lang="fr-CH" sz="1800" dirty="0"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>
                <a:latin typeface="Courier"/>
                <a:cs typeface="Courier"/>
              </a:rPr>
              <a:t>'</a:t>
            </a:r>
            <a:r>
              <a:rPr lang="fr-FR" sz="1800" dirty="0" err="1">
                <a:latin typeface="Courier"/>
                <a:cs typeface="Courier"/>
              </a:rPr>
              <a:t>BonnieBonnieBonnie</a:t>
            </a:r>
            <a:r>
              <a:rPr lang="fr-FR" sz="1800" dirty="0">
                <a:latin typeface="Courier"/>
                <a:cs typeface="Courier"/>
              </a:rPr>
              <a:t>'</a:t>
            </a:r>
          </a:p>
          <a:p>
            <a:pPr marL="0" indent="0">
              <a:buNone/>
            </a:pPr>
            <a:r>
              <a:rPr lang="fr-FR" sz="1800" dirty="0">
                <a:latin typeface="Courier"/>
                <a:cs typeface="Courier"/>
              </a:rPr>
              <a:t>&gt;&gt;&gt;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&gt;&gt;&gt; x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"chaine entre doubles guillemets"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&gt;&gt;&gt; y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'chaine entre simples guillemets'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&gt;&gt;&gt; z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'''chaine entre triples guillemets'''</a:t>
            </a:r>
          </a:p>
          <a:p>
            <a:pPr marL="0" indent="0">
              <a:buNone/>
            </a:pPr>
            <a:endParaRPr lang="en-US" sz="1800" dirty="0">
              <a:latin typeface="Courier"/>
              <a:cs typeface="Courier"/>
            </a:endParaRPr>
          </a:p>
          <a:p>
            <a:pPr marL="0" indent="0">
              <a:buNone/>
            </a:pPr>
            <a:endParaRPr lang="en-US" sz="1800" dirty="0">
              <a:solidFill>
                <a:prstClr val="black"/>
              </a:solidFill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1128722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chaînes de caractères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5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fr-CH" dirty="0"/>
              <a:t>Indexation (indexing) : les caractères qui composent une chaîne de caractères s’énumèrent :</a:t>
            </a:r>
          </a:p>
          <a:p>
            <a:pPr lvl="1"/>
            <a:r>
              <a:rPr lang="fr-CH" dirty="0"/>
              <a:t>de gauche à droite depuis l’indice 0 jusqu’au dernier indice.</a:t>
            </a:r>
          </a:p>
          <a:p>
            <a:pPr lvl="1"/>
            <a:r>
              <a:rPr lang="fr-CH" dirty="0"/>
              <a:t>de droite à gauche depuis l’indice -1 jusqu’au premier indice.</a:t>
            </a:r>
          </a:p>
          <a:p>
            <a:r>
              <a:rPr lang="fr-CH" dirty="0"/>
              <a:t>Exemple :		      </a:t>
            </a:r>
            <a:r>
              <a:rPr lang="nb-NO" sz="2400" dirty="0">
                <a:solidFill>
                  <a:prstClr val="black"/>
                </a:solidFill>
                <a:latin typeface="Courier"/>
              </a:rPr>
              <a:t>s </a:t>
            </a:r>
            <a:r>
              <a:rPr lang="nb-NO" sz="2400" dirty="0">
                <a:solidFill>
                  <a:srgbClr val="666666"/>
                </a:solidFill>
                <a:latin typeface="Courier"/>
              </a:rPr>
              <a:t>=</a:t>
            </a:r>
            <a:r>
              <a:rPr lang="it-IT" sz="2400" dirty="0">
                <a:solidFill>
                  <a:prstClr val="black"/>
                </a:solidFill>
                <a:latin typeface="Courier"/>
              </a:rPr>
              <a:t> </a:t>
            </a:r>
            <a:r>
              <a:rPr lang="it-IT" sz="2400" dirty="0">
                <a:solidFill>
                  <a:srgbClr val="BA2121"/>
                </a:solidFill>
                <a:latin typeface="Courier"/>
              </a:rPr>
              <a:t>H e l l o</a:t>
            </a:r>
            <a:endParaRPr lang="fr-CH" sz="2400" dirty="0"/>
          </a:p>
          <a:p>
            <a:pPr marL="0" indent="0">
              <a:buNone/>
            </a:pPr>
            <a:r>
              <a:rPr lang="fr-CH" sz="2400" dirty="0"/>
              <a:t>    Indices depuis le début :          0   1  2  3  4</a:t>
            </a:r>
          </a:p>
          <a:p>
            <a:pPr marL="0" indent="0">
              <a:buNone/>
            </a:pPr>
            <a:r>
              <a:rPr lang="fr-CH" sz="2400" dirty="0"/>
              <a:t>    Indices depuis la fin :              -5 -4 -3 -2 -1</a:t>
            </a:r>
          </a:p>
          <a:p>
            <a:pPr marL="0" indent="0">
              <a:buNone/>
            </a:pPr>
            <a:endParaRPr lang="fr-CH" sz="2400" dirty="0"/>
          </a:p>
        </p:txBody>
      </p:sp>
    </p:spTree>
    <p:extLst>
      <p:ext uri="{BB962C8B-B14F-4D97-AF65-F5344CB8AC3E}">
        <p14:creationId xmlns:p14="http://schemas.microsoft.com/office/powerpoint/2010/main" val="1109690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chaînes de caractères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6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fr-CH" dirty="0"/>
              <a:t>Le n+1</a:t>
            </a:r>
            <a:r>
              <a:rPr lang="fr-CH" baseline="30000" dirty="0"/>
              <a:t>ème</a:t>
            </a:r>
            <a:r>
              <a:rPr lang="fr-CH" dirty="0"/>
              <a:t> caractère depuis le début de la chaîne </a:t>
            </a:r>
            <a:r>
              <a:rPr lang="fr-CH" sz="2400" dirty="0">
                <a:solidFill>
                  <a:srgbClr val="3366FF"/>
                </a:solidFill>
                <a:latin typeface="Courier"/>
                <a:cs typeface="Courier"/>
              </a:rPr>
              <a:t>s</a:t>
            </a:r>
            <a:r>
              <a:rPr lang="fr-CH" dirty="0"/>
              <a:t> s’obtient par la syntaxe </a:t>
            </a:r>
            <a:r>
              <a:rPr lang="fr-CH" sz="2400" dirty="0">
                <a:solidFill>
                  <a:srgbClr val="3366FF"/>
                </a:solidFill>
                <a:latin typeface="Courier"/>
                <a:cs typeface="Courier"/>
              </a:rPr>
              <a:t>s[n]</a:t>
            </a:r>
            <a:r>
              <a:rPr lang="fr-CH" dirty="0"/>
              <a:t>.</a:t>
            </a:r>
            <a:endParaRPr lang="nb-NO" sz="1800" dirty="0">
              <a:solidFill>
                <a:prstClr val="black"/>
              </a:solidFill>
              <a:latin typeface="Courier"/>
            </a:endParaRPr>
          </a:p>
          <a:p>
            <a:r>
              <a:rPr lang="fr-CH" dirty="0"/>
              <a:t>Le n</a:t>
            </a:r>
            <a:r>
              <a:rPr lang="fr-CH" baseline="30000" dirty="0"/>
              <a:t>ème</a:t>
            </a:r>
            <a:r>
              <a:rPr lang="fr-CH" dirty="0"/>
              <a:t> caractère depuis la fin de la chaîne </a:t>
            </a:r>
            <a:r>
              <a:rPr lang="fr-CH" sz="2400" dirty="0">
                <a:solidFill>
                  <a:srgbClr val="3366FF"/>
                </a:solidFill>
                <a:latin typeface="Courier"/>
                <a:cs typeface="Courier"/>
              </a:rPr>
              <a:t>s</a:t>
            </a:r>
            <a:r>
              <a:rPr lang="fr-CH" dirty="0"/>
              <a:t> s’obtient par la syntaxe </a:t>
            </a:r>
            <a:r>
              <a:rPr lang="fr-CH" sz="2400" dirty="0">
                <a:solidFill>
                  <a:srgbClr val="3366FF"/>
                </a:solidFill>
                <a:latin typeface="Courier"/>
                <a:cs typeface="Courier"/>
              </a:rPr>
              <a:t>s[-n]</a:t>
            </a:r>
            <a:r>
              <a:rPr lang="fr-CH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54694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chaînes de caractères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7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</a:rPr>
              <a:t>&gt;&gt;&gt; a </a:t>
            </a:r>
            <a:r>
              <a:rPr lang="fr-FR" sz="1800" dirty="0">
                <a:solidFill>
                  <a:srgbClr val="666666"/>
                </a:solidFill>
                <a:latin typeface="Courier"/>
              </a:rPr>
              <a:t>=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 </a:t>
            </a:r>
            <a:r>
              <a:rPr lang="fr-FR" sz="1800" dirty="0">
                <a:solidFill>
                  <a:srgbClr val="BA2121"/>
                </a:solidFill>
                <a:latin typeface="Courier"/>
              </a:rPr>
              <a:t>"bonjour"</a:t>
            </a:r>
            <a:endParaRPr lang="fr-FR" sz="1800" dirty="0">
              <a:solidFill>
                <a:prstClr val="black"/>
              </a:solidFill>
              <a:latin typeface="Courier"/>
            </a:endParaRP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</a:rPr>
              <a:t>&gt;&gt;&gt; </a:t>
            </a:r>
            <a:r>
              <a:rPr lang="pt-BR" sz="1800" dirty="0">
                <a:solidFill>
                  <a:prstClr val="black"/>
                </a:solidFill>
                <a:latin typeface="Courier"/>
              </a:rPr>
              <a:t>a[</a:t>
            </a:r>
            <a:r>
              <a:rPr lang="pt-BR" sz="1800" dirty="0">
                <a:solidFill>
                  <a:srgbClr val="666666"/>
                </a:solidFill>
                <a:latin typeface="Courier"/>
              </a:rPr>
              <a:t>0</a:t>
            </a:r>
            <a:r>
              <a:rPr lang="pt-BR" sz="1800" dirty="0">
                <a:solidFill>
                  <a:prstClr val="black"/>
                </a:solidFill>
                <a:latin typeface="Courier"/>
              </a:rPr>
              <a:t>]</a:t>
            </a:r>
          </a:p>
          <a:p>
            <a:pPr marL="0" indent="0">
              <a:buNone/>
            </a:pPr>
            <a:r>
              <a:rPr lang="fr-FR" sz="1800" dirty="0">
                <a:latin typeface="Courier"/>
                <a:cs typeface="Courier"/>
              </a:rPr>
              <a:t>'</a:t>
            </a:r>
            <a:r>
              <a:rPr lang="pt-BR" sz="1800" dirty="0" err="1">
                <a:solidFill>
                  <a:prstClr val="black"/>
                </a:solidFill>
                <a:latin typeface="Courier"/>
              </a:rPr>
              <a:t>b</a:t>
            </a:r>
            <a:r>
              <a:rPr lang="fr-FR" sz="1800" dirty="0">
                <a:latin typeface="Courier"/>
                <a:cs typeface="Courier"/>
              </a:rPr>
              <a:t>'</a:t>
            </a:r>
            <a:endParaRPr lang="pt-BR" sz="1800" dirty="0">
              <a:solidFill>
                <a:prstClr val="black"/>
              </a:solidFill>
              <a:latin typeface="Courier"/>
            </a:endParaRP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</a:rPr>
              <a:t>&gt;&gt;&gt; </a:t>
            </a:r>
            <a:r>
              <a:rPr lang="pt-BR" sz="1800" dirty="0">
                <a:solidFill>
                  <a:prstClr val="black"/>
                </a:solidFill>
                <a:latin typeface="Courier"/>
              </a:rPr>
              <a:t>a[</a:t>
            </a:r>
            <a:r>
              <a:rPr lang="pt-BR" sz="1800" dirty="0">
                <a:solidFill>
                  <a:srgbClr val="666666"/>
                </a:solidFill>
                <a:latin typeface="Courier"/>
              </a:rPr>
              <a:t>1</a:t>
            </a:r>
            <a:r>
              <a:rPr lang="pt-BR" sz="1800" dirty="0">
                <a:solidFill>
                  <a:prstClr val="black"/>
                </a:solidFill>
                <a:latin typeface="Courier"/>
              </a:rPr>
              <a:t>]</a:t>
            </a:r>
          </a:p>
          <a:p>
            <a:pPr marL="0" indent="0">
              <a:buNone/>
            </a:pPr>
            <a:r>
              <a:rPr lang="fr-FR" sz="1800" dirty="0">
                <a:latin typeface="Courier"/>
                <a:cs typeface="Courier"/>
              </a:rPr>
              <a:t>'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o</a:t>
            </a:r>
            <a:r>
              <a:rPr lang="fr-FR" sz="1800" dirty="0">
                <a:latin typeface="Courier"/>
                <a:cs typeface="Courier"/>
              </a:rPr>
              <a:t>'</a:t>
            </a:r>
            <a:endParaRPr lang="fr-FR" sz="1800" dirty="0">
              <a:solidFill>
                <a:prstClr val="black"/>
              </a:solidFill>
              <a:latin typeface="Courier"/>
            </a:endParaRP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</a:rPr>
              <a:t>&gt;&gt;&gt; </a:t>
            </a:r>
            <a:r>
              <a:rPr lang="pt-BR" sz="1800" dirty="0">
                <a:solidFill>
                  <a:prstClr val="black"/>
                </a:solidFill>
                <a:latin typeface="Courier"/>
              </a:rPr>
              <a:t>a[</a:t>
            </a:r>
            <a:r>
              <a:rPr lang="pt-BR" sz="1800" dirty="0">
                <a:solidFill>
                  <a:srgbClr val="666666"/>
                </a:solidFill>
                <a:latin typeface="Courier"/>
              </a:rPr>
              <a:t>2</a:t>
            </a:r>
            <a:r>
              <a:rPr lang="pt-BR" sz="1800" dirty="0">
                <a:solidFill>
                  <a:prstClr val="black"/>
                </a:solidFill>
                <a:latin typeface="Courier"/>
              </a:rPr>
              <a:t>]</a:t>
            </a:r>
          </a:p>
          <a:p>
            <a:pPr marL="0" indent="0">
              <a:buNone/>
            </a:pPr>
            <a:r>
              <a:rPr lang="fr-FR" sz="1800" dirty="0">
                <a:latin typeface="Courier"/>
                <a:cs typeface="Courier"/>
              </a:rPr>
              <a:t>'n'</a:t>
            </a:r>
            <a:endParaRPr lang="fr-FR" sz="1800" dirty="0">
              <a:solidFill>
                <a:prstClr val="black"/>
              </a:solidFill>
              <a:latin typeface="Courier"/>
            </a:endParaRP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</a:rPr>
              <a:t>&gt;&gt;&gt; </a:t>
            </a:r>
            <a:r>
              <a:rPr lang="pt-BR" sz="1800" dirty="0">
                <a:solidFill>
                  <a:prstClr val="black"/>
                </a:solidFill>
                <a:latin typeface="Courier"/>
              </a:rPr>
              <a:t>a[</a:t>
            </a:r>
            <a:r>
              <a:rPr lang="pt-BR" sz="1800" dirty="0">
                <a:solidFill>
                  <a:srgbClr val="666666"/>
                </a:solidFill>
                <a:latin typeface="Courier"/>
              </a:rPr>
              <a:t>6</a:t>
            </a:r>
            <a:r>
              <a:rPr lang="pt-BR" sz="1800" dirty="0">
                <a:solidFill>
                  <a:prstClr val="black"/>
                </a:solidFill>
                <a:latin typeface="Courier"/>
              </a:rPr>
              <a:t>]</a:t>
            </a:r>
          </a:p>
          <a:p>
            <a:pPr marL="0" indent="0">
              <a:buNone/>
            </a:pPr>
            <a:r>
              <a:rPr lang="fr-FR" sz="1800" dirty="0">
                <a:latin typeface="Courier"/>
                <a:cs typeface="Courier"/>
              </a:rPr>
              <a:t>'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r</a:t>
            </a:r>
            <a:r>
              <a:rPr lang="fr-FR" sz="1800" dirty="0">
                <a:latin typeface="Courier"/>
                <a:cs typeface="Courier"/>
              </a:rPr>
              <a:t>'</a:t>
            </a:r>
            <a:endParaRPr lang="fr-FR" sz="1800" dirty="0">
              <a:solidFill>
                <a:prstClr val="black"/>
              </a:solidFill>
              <a:latin typeface="Courier"/>
            </a:endParaRP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</a:rPr>
              <a:t>&gt;&gt;&gt; </a:t>
            </a:r>
            <a:r>
              <a:rPr lang="pt-BR" sz="1800" dirty="0">
                <a:solidFill>
                  <a:prstClr val="black"/>
                </a:solidFill>
                <a:latin typeface="Courier"/>
              </a:rPr>
              <a:t>a[</a:t>
            </a:r>
            <a:r>
              <a:rPr lang="pt-BR" sz="1800" dirty="0">
                <a:solidFill>
                  <a:srgbClr val="666666"/>
                </a:solidFill>
                <a:latin typeface="Courier"/>
              </a:rPr>
              <a:t>-1</a:t>
            </a:r>
            <a:r>
              <a:rPr lang="pt-BR" sz="1800" dirty="0">
                <a:solidFill>
                  <a:prstClr val="black"/>
                </a:solidFill>
                <a:latin typeface="Courier"/>
              </a:rPr>
              <a:t>]</a:t>
            </a:r>
          </a:p>
          <a:p>
            <a:pPr marL="0" indent="0">
              <a:buNone/>
            </a:pPr>
            <a:r>
              <a:rPr lang="fr-FR" sz="1800" dirty="0">
                <a:latin typeface="Courier"/>
                <a:cs typeface="Courier"/>
              </a:rPr>
              <a:t>'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r</a:t>
            </a:r>
            <a:r>
              <a:rPr lang="fr-FR" sz="1800" dirty="0">
                <a:latin typeface="Courier"/>
                <a:cs typeface="Courier"/>
              </a:rPr>
              <a:t>'</a:t>
            </a:r>
            <a:endParaRPr lang="fr-FR" sz="1800" dirty="0">
              <a:solidFill>
                <a:prstClr val="black"/>
              </a:solidFill>
              <a:latin typeface="Courier"/>
            </a:endParaRP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</a:rPr>
              <a:t>&gt;&gt;&gt; </a:t>
            </a:r>
            <a:r>
              <a:rPr lang="pt-BR" sz="1800" dirty="0">
                <a:solidFill>
                  <a:prstClr val="black"/>
                </a:solidFill>
                <a:latin typeface="Courier"/>
              </a:rPr>
              <a:t>a[</a:t>
            </a:r>
            <a:r>
              <a:rPr lang="pt-BR" sz="1800" dirty="0">
                <a:solidFill>
                  <a:srgbClr val="666666"/>
                </a:solidFill>
                <a:latin typeface="Courier"/>
              </a:rPr>
              <a:t>-2</a:t>
            </a:r>
            <a:r>
              <a:rPr lang="pt-BR" sz="1800" dirty="0">
                <a:solidFill>
                  <a:prstClr val="black"/>
                </a:solidFill>
                <a:latin typeface="Courier"/>
              </a:rPr>
              <a:t>]</a:t>
            </a:r>
          </a:p>
          <a:p>
            <a:pPr marL="0" indent="0">
              <a:buNone/>
            </a:pPr>
            <a:r>
              <a:rPr lang="fr-FR" sz="1800" dirty="0">
                <a:latin typeface="Courier"/>
                <a:cs typeface="Courier"/>
              </a:rPr>
              <a:t>'</a:t>
            </a:r>
            <a:r>
              <a:rPr lang="pt-BR" sz="1800" dirty="0" err="1">
                <a:solidFill>
                  <a:prstClr val="black"/>
                </a:solidFill>
                <a:latin typeface="Courier"/>
              </a:rPr>
              <a:t>u</a:t>
            </a:r>
            <a:r>
              <a:rPr lang="fr-FR" sz="1800" dirty="0">
                <a:latin typeface="Courier"/>
                <a:cs typeface="Courier"/>
              </a:rPr>
              <a:t>'</a:t>
            </a:r>
            <a:endParaRPr lang="pt-BR" sz="1800" dirty="0">
              <a:solidFill>
                <a:prstClr val="black"/>
              </a:solidFill>
              <a:latin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900337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chaînes de caractères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8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fr-CH" dirty="0"/>
              <a:t>Découpage (slicing) : on peut extraire la suite de caractères qui composent une sous-chaînes d’une chaîne donnée.</a:t>
            </a:r>
          </a:p>
          <a:p>
            <a:r>
              <a:rPr lang="fr-CH" dirty="0"/>
              <a:t>La sous-chaîne qui va du m</a:t>
            </a:r>
            <a:r>
              <a:rPr lang="fr-CH" baseline="30000" dirty="0"/>
              <a:t>ème</a:t>
            </a:r>
            <a:r>
              <a:rPr lang="fr-CH" dirty="0"/>
              <a:t> caractère compris au n</a:t>
            </a:r>
            <a:r>
              <a:rPr lang="fr-CH" baseline="30000" dirty="0"/>
              <a:t>ème</a:t>
            </a:r>
            <a:r>
              <a:rPr lang="fr-CH" dirty="0"/>
              <a:t> caractère non compris de la chaîne </a:t>
            </a:r>
            <a:r>
              <a:rPr lang="fr-CH" sz="2400" dirty="0">
                <a:solidFill>
                  <a:srgbClr val="3366FF"/>
                </a:solidFill>
                <a:latin typeface="Courier"/>
                <a:cs typeface="Courier"/>
              </a:rPr>
              <a:t>s</a:t>
            </a:r>
            <a:r>
              <a:rPr lang="fr-CH" dirty="0"/>
              <a:t> s’obtient par la syntaxe </a:t>
            </a:r>
            <a:r>
              <a:rPr lang="fr-CH" sz="2400" dirty="0">
                <a:solidFill>
                  <a:srgbClr val="3366FF"/>
                </a:solidFill>
                <a:latin typeface="Courier"/>
                <a:cs typeface="Courier"/>
              </a:rPr>
              <a:t>s[m:n]</a:t>
            </a:r>
            <a:r>
              <a:rPr lang="fr-CH" dirty="0"/>
              <a:t>.</a:t>
            </a:r>
          </a:p>
          <a:p>
            <a:r>
              <a:rPr lang="fr-CH" dirty="0"/>
              <a:t>La longueur d’une liste est donnée par la fonction </a:t>
            </a:r>
            <a:r>
              <a:rPr lang="fr-CH" sz="2400" dirty="0">
                <a:solidFill>
                  <a:srgbClr val="3366FF"/>
                </a:solidFill>
                <a:latin typeface="Courier"/>
                <a:cs typeface="Courier"/>
              </a:rPr>
              <a:t>len()</a:t>
            </a:r>
            <a:r>
              <a:rPr lang="fr-CH" dirty="0"/>
              <a:t>.</a:t>
            </a:r>
            <a:endParaRPr lang="nb-NO" sz="1800" dirty="0">
              <a:solidFill>
                <a:prstClr val="black"/>
              </a:solidFill>
              <a:latin typeface="Courier"/>
            </a:endParaRPr>
          </a:p>
          <a:p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9240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chaînes de caractères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9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</a:rPr>
              <a:t>&gt;&gt;&gt; a </a:t>
            </a:r>
            <a:r>
              <a:rPr lang="fr-FR" sz="1800" dirty="0">
                <a:solidFill>
                  <a:srgbClr val="666666"/>
                </a:solidFill>
                <a:latin typeface="Courier"/>
              </a:rPr>
              <a:t>=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 </a:t>
            </a:r>
            <a:r>
              <a:rPr lang="fr-FR" sz="1800" dirty="0">
                <a:solidFill>
                  <a:srgbClr val="BA2121"/>
                </a:solidFill>
                <a:latin typeface="Courier"/>
              </a:rPr>
              <a:t>"bonjour"</a:t>
            </a:r>
            <a:endParaRPr lang="fr-FR" sz="1800" dirty="0">
              <a:solidFill>
                <a:prstClr val="black"/>
              </a:solidFill>
              <a:latin typeface="Courier"/>
            </a:endParaRP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</a:rPr>
              <a:t>&gt;&gt;&gt; </a:t>
            </a:r>
            <a:r>
              <a:rPr lang="pt-BR" sz="1800" dirty="0">
                <a:solidFill>
                  <a:prstClr val="black"/>
                </a:solidFill>
                <a:latin typeface="Courier"/>
              </a:rPr>
              <a:t>a[</a:t>
            </a:r>
            <a:r>
              <a:rPr lang="pt-BR" sz="1800" dirty="0">
                <a:solidFill>
                  <a:srgbClr val="666666"/>
                </a:solidFill>
                <a:latin typeface="Courier"/>
              </a:rPr>
              <a:t>0:2</a:t>
            </a:r>
            <a:r>
              <a:rPr lang="pt-BR" sz="1800" dirty="0">
                <a:solidFill>
                  <a:prstClr val="black"/>
                </a:solidFill>
                <a:latin typeface="Courier"/>
              </a:rPr>
              <a:t>]</a:t>
            </a:r>
          </a:p>
          <a:p>
            <a:pPr marL="0" indent="0">
              <a:buNone/>
            </a:pPr>
            <a:r>
              <a:rPr lang="fr-FR" sz="1800" dirty="0">
                <a:latin typeface="Courier"/>
                <a:cs typeface="Courier"/>
              </a:rPr>
              <a:t>'</a:t>
            </a:r>
            <a:r>
              <a:rPr lang="pt-BR" sz="1800" dirty="0" err="1">
                <a:solidFill>
                  <a:prstClr val="black"/>
                </a:solidFill>
                <a:latin typeface="Courier"/>
              </a:rPr>
              <a:t>bo</a:t>
            </a:r>
            <a:r>
              <a:rPr lang="fr-FR" sz="1800" dirty="0">
                <a:latin typeface="Courier"/>
                <a:cs typeface="Courier"/>
              </a:rPr>
              <a:t>'</a:t>
            </a:r>
            <a:endParaRPr lang="pt-BR" sz="1800" dirty="0">
              <a:solidFill>
                <a:prstClr val="black"/>
              </a:solidFill>
              <a:latin typeface="Courier"/>
            </a:endParaRP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</a:rPr>
              <a:t>&gt;&gt;&gt; </a:t>
            </a:r>
            <a:r>
              <a:rPr lang="pt-BR" sz="1800" dirty="0">
                <a:solidFill>
                  <a:prstClr val="black"/>
                </a:solidFill>
                <a:latin typeface="Courier"/>
              </a:rPr>
              <a:t>a[</a:t>
            </a:r>
            <a:r>
              <a:rPr lang="pt-BR" sz="1800" dirty="0">
                <a:solidFill>
                  <a:srgbClr val="666666"/>
                </a:solidFill>
                <a:latin typeface="Courier"/>
              </a:rPr>
              <a:t>2:7</a:t>
            </a:r>
            <a:r>
              <a:rPr lang="pt-BR" sz="1800" dirty="0">
                <a:solidFill>
                  <a:prstClr val="black"/>
                </a:solidFill>
                <a:latin typeface="Courier"/>
              </a:rPr>
              <a:t>]</a:t>
            </a:r>
          </a:p>
          <a:p>
            <a:pPr marL="0" indent="0">
              <a:buNone/>
            </a:pPr>
            <a:r>
              <a:rPr lang="fr-FR" sz="1800" dirty="0">
                <a:latin typeface="Courier"/>
                <a:cs typeface="Courier"/>
              </a:rPr>
              <a:t>'</a:t>
            </a:r>
            <a:r>
              <a:rPr lang="fr-FR" sz="1800" dirty="0" err="1">
                <a:latin typeface="Courier"/>
                <a:cs typeface="Courier"/>
              </a:rPr>
              <a:t>njour</a:t>
            </a:r>
            <a:r>
              <a:rPr lang="fr-FR" sz="1800" dirty="0">
                <a:latin typeface="Courier"/>
                <a:cs typeface="Courier"/>
              </a:rPr>
              <a:t>'</a:t>
            </a:r>
            <a:endParaRPr lang="fr-FR" sz="1800" dirty="0">
              <a:solidFill>
                <a:prstClr val="black"/>
              </a:solidFill>
              <a:latin typeface="Courier"/>
            </a:endParaRP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</a:rPr>
              <a:t>&gt;&gt;&gt; </a:t>
            </a:r>
            <a:r>
              <a:rPr lang="pt-BR" sz="1800" dirty="0">
                <a:solidFill>
                  <a:prstClr val="black"/>
                </a:solidFill>
                <a:latin typeface="Courier"/>
              </a:rPr>
              <a:t>a[</a:t>
            </a:r>
            <a:r>
              <a:rPr lang="pt-BR" sz="1800" dirty="0">
                <a:solidFill>
                  <a:srgbClr val="666666"/>
                </a:solidFill>
                <a:latin typeface="Courier"/>
              </a:rPr>
              <a:t>3:4</a:t>
            </a:r>
            <a:r>
              <a:rPr lang="pt-BR" sz="1800" dirty="0">
                <a:solidFill>
                  <a:prstClr val="black"/>
                </a:solidFill>
                <a:latin typeface="Courier"/>
              </a:rPr>
              <a:t>]</a:t>
            </a:r>
          </a:p>
          <a:p>
            <a:pPr marL="0" indent="0">
              <a:buNone/>
            </a:pPr>
            <a:r>
              <a:rPr lang="fr-FR" sz="1800" dirty="0">
                <a:latin typeface="Courier"/>
                <a:cs typeface="Courier"/>
              </a:rPr>
              <a:t>'j'</a:t>
            </a:r>
            <a:endParaRPr lang="fr-FR" sz="1800" dirty="0">
              <a:solidFill>
                <a:prstClr val="black"/>
              </a:solidFill>
              <a:latin typeface="Courier"/>
            </a:endParaRP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</a:rPr>
              <a:t>&gt;&gt;&gt; </a:t>
            </a:r>
            <a:r>
              <a:rPr lang="fr-FR" sz="1800" dirty="0" err="1">
                <a:solidFill>
                  <a:srgbClr val="008000"/>
                </a:solidFill>
                <a:latin typeface="Courier"/>
              </a:rPr>
              <a:t>len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(a)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</a:rPr>
              <a:t>7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</a:rPr>
              <a:t>&gt;&gt;&gt;</a:t>
            </a:r>
            <a:endParaRPr lang="pt-BR" sz="1800" dirty="0">
              <a:solidFill>
                <a:prstClr val="black"/>
              </a:solidFill>
              <a:latin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614446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chaînes de caractères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10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fr-CH" dirty="0"/>
              <a:t>En Python, les chaînes (contrairement aux listes) sont des objets de type </a:t>
            </a:r>
            <a:r>
              <a:rPr lang="fr-CH" b="1" dirty="0"/>
              <a:t>non-modifiable</a:t>
            </a:r>
            <a:r>
              <a:rPr lang="fr-CH" dirty="0"/>
              <a:t> (ou immuable).</a:t>
            </a:r>
          </a:p>
          <a:p>
            <a:r>
              <a:rPr lang="fr-CH" dirty="0"/>
              <a:t>C’est-à-dire qu’il n’est pas possible de modifier un caractère ou une sous chaîne d’une chaîne donnée via une instruction de réaffectation.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&gt;&gt;&gt; a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"bonjour"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&gt;&gt;&gt; </a:t>
            </a:r>
            <a:r>
              <a:rPr lang="pt-BR" sz="1800" dirty="0">
                <a:solidFill>
                  <a:prstClr val="black"/>
                </a:solidFill>
                <a:latin typeface="Courier"/>
                <a:cs typeface="Courier"/>
              </a:rPr>
              <a:t>a[</a:t>
            </a:r>
            <a:r>
              <a:rPr lang="pt-BR" sz="1800" dirty="0">
                <a:solidFill>
                  <a:srgbClr val="666666"/>
                </a:solidFill>
                <a:latin typeface="Courier"/>
                <a:cs typeface="Courier"/>
              </a:rPr>
              <a:t>3</a:t>
            </a:r>
            <a:r>
              <a:rPr lang="pt-BR" sz="1800" dirty="0">
                <a:solidFill>
                  <a:prstClr val="black"/>
                </a:solidFill>
                <a:latin typeface="Courier"/>
                <a:cs typeface="Courier"/>
              </a:rPr>
              <a:t>] = 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"k"</a:t>
            </a:r>
            <a:endParaRPr lang="pt-B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 err="1">
                <a:solidFill>
                  <a:srgbClr val="FF0000"/>
                </a:solidFill>
                <a:latin typeface="Courier"/>
                <a:cs typeface="Courier"/>
              </a:rPr>
              <a:t>Traceback</a:t>
            </a:r>
            <a:r>
              <a:rPr lang="fr-FR" sz="1800" dirty="0">
                <a:solidFill>
                  <a:srgbClr val="FF0000"/>
                </a:solidFill>
                <a:latin typeface="Courier"/>
                <a:cs typeface="Courier"/>
              </a:rPr>
              <a:t> (</a:t>
            </a:r>
            <a:r>
              <a:rPr lang="fr-FR" sz="1800" dirty="0" err="1">
                <a:solidFill>
                  <a:srgbClr val="FF0000"/>
                </a:solidFill>
                <a:latin typeface="Courier"/>
                <a:cs typeface="Courier"/>
              </a:rPr>
              <a:t>most</a:t>
            </a:r>
            <a:r>
              <a:rPr lang="fr-FR" sz="1800" dirty="0">
                <a:solidFill>
                  <a:srgbClr val="FF0000"/>
                </a:solidFill>
                <a:latin typeface="Courier"/>
                <a:cs typeface="Courier"/>
              </a:rPr>
              <a:t> </a:t>
            </a:r>
            <a:r>
              <a:rPr lang="fr-FR" sz="1800" dirty="0" err="1">
                <a:solidFill>
                  <a:srgbClr val="FF0000"/>
                </a:solidFill>
                <a:latin typeface="Courier"/>
                <a:cs typeface="Courier"/>
              </a:rPr>
              <a:t>recent</a:t>
            </a:r>
            <a:r>
              <a:rPr lang="fr-FR" sz="1800" dirty="0">
                <a:solidFill>
                  <a:srgbClr val="FF0000"/>
                </a:solidFill>
                <a:latin typeface="Courier"/>
                <a:cs typeface="Courier"/>
              </a:rPr>
              <a:t> call last):</a:t>
            </a:r>
          </a:p>
          <a:p>
            <a:pPr marL="0" indent="0">
              <a:buNone/>
            </a:pPr>
            <a:r>
              <a:rPr lang="fr-FR" sz="1800" dirty="0">
                <a:solidFill>
                  <a:srgbClr val="FF0000"/>
                </a:solidFill>
                <a:latin typeface="Courier"/>
                <a:cs typeface="Courier"/>
              </a:rPr>
              <a:t>  File "&lt;</a:t>
            </a:r>
            <a:r>
              <a:rPr lang="fr-FR" sz="1800" dirty="0" err="1">
                <a:solidFill>
                  <a:srgbClr val="FF0000"/>
                </a:solidFill>
                <a:latin typeface="Courier"/>
                <a:cs typeface="Courier"/>
              </a:rPr>
              <a:t>stdin</a:t>
            </a:r>
            <a:r>
              <a:rPr lang="fr-FR" sz="1800" dirty="0">
                <a:solidFill>
                  <a:srgbClr val="FF0000"/>
                </a:solidFill>
                <a:latin typeface="Courier"/>
                <a:cs typeface="Courier"/>
              </a:rPr>
              <a:t>&gt;", line 1, in &lt;module&gt;</a:t>
            </a:r>
          </a:p>
          <a:p>
            <a:pPr marL="0" indent="0">
              <a:buNone/>
            </a:pPr>
            <a:r>
              <a:rPr lang="fr-FR" sz="1800" dirty="0" err="1">
                <a:solidFill>
                  <a:srgbClr val="FF0000"/>
                </a:solidFill>
                <a:latin typeface="Courier"/>
                <a:cs typeface="Courier"/>
              </a:rPr>
              <a:t>TypeError</a:t>
            </a:r>
            <a:r>
              <a:rPr lang="fr-FR" sz="1800" dirty="0">
                <a:solidFill>
                  <a:srgbClr val="FF0000"/>
                </a:solidFill>
                <a:latin typeface="Courier"/>
                <a:cs typeface="Courier"/>
              </a:rPr>
              <a:t>: '</a:t>
            </a:r>
            <a:r>
              <a:rPr lang="fr-FR" sz="1800" dirty="0" err="1">
                <a:solidFill>
                  <a:srgbClr val="FF0000"/>
                </a:solidFill>
                <a:latin typeface="Courier"/>
                <a:cs typeface="Courier"/>
              </a:rPr>
              <a:t>str</a:t>
            </a:r>
            <a:r>
              <a:rPr lang="fr-FR" sz="1800" dirty="0">
                <a:solidFill>
                  <a:srgbClr val="FF0000"/>
                </a:solidFill>
                <a:latin typeface="Courier"/>
                <a:cs typeface="Courier"/>
              </a:rPr>
              <a:t>' </a:t>
            </a:r>
            <a:r>
              <a:rPr lang="fr-FR" sz="1800" dirty="0" err="1">
                <a:solidFill>
                  <a:srgbClr val="FF0000"/>
                </a:solidFill>
                <a:latin typeface="Courier"/>
                <a:cs typeface="Courier"/>
              </a:rPr>
              <a:t>object</a:t>
            </a:r>
            <a:r>
              <a:rPr lang="fr-FR" sz="1800" dirty="0">
                <a:solidFill>
                  <a:srgbClr val="FF0000"/>
                </a:solidFill>
                <a:latin typeface="Courier"/>
                <a:cs typeface="Courier"/>
              </a:rPr>
              <a:t> </a:t>
            </a:r>
            <a:r>
              <a:rPr lang="fr-FR" sz="1800" dirty="0" err="1">
                <a:solidFill>
                  <a:srgbClr val="FF0000"/>
                </a:solidFill>
                <a:latin typeface="Courier"/>
                <a:cs typeface="Courier"/>
              </a:rPr>
              <a:t>does</a:t>
            </a:r>
            <a:r>
              <a:rPr lang="fr-FR" sz="1800" dirty="0">
                <a:solidFill>
                  <a:srgbClr val="FF0000"/>
                </a:solidFill>
                <a:latin typeface="Courier"/>
                <a:cs typeface="Courier"/>
              </a:rPr>
              <a:t> not support item </a:t>
            </a:r>
            <a:r>
              <a:rPr lang="fr-FR" sz="1800" dirty="0" err="1">
                <a:solidFill>
                  <a:srgbClr val="FF0000"/>
                </a:solidFill>
                <a:latin typeface="Courier"/>
                <a:cs typeface="Courier"/>
              </a:rPr>
              <a:t>assignment</a:t>
            </a:r>
            <a:endParaRPr lang="fr-CH" sz="1800" dirty="0">
              <a:solidFill>
                <a:srgbClr val="FF0000"/>
              </a:solidFill>
              <a:latin typeface="Courier"/>
              <a:cs typeface="Courier"/>
            </a:endParaRPr>
          </a:p>
          <a:p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3858650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chaînes de caractères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11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fr-CH" dirty="0"/>
              <a:t>Il existe plusieurs méthodes que l’on peut appliquer sur les chaînes de caractères.</a:t>
            </a:r>
            <a:endParaRPr lang="fr-CH" sz="1800" dirty="0">
              <a:solidFill>
                <a:srgbClr val="FF0000"/>
              </a:solidFill>
              <a:latin typeface="Courier"/>
              <a:cs typeface="Courier"/>
            </a:endParaRPr>
          </a:p>
          <a:p>
            <a:r>
              <a:rPr lang="fr-CH" dirty="0"/>
              <a:t>Pour appliquer une méthode à une chaîne de caractères, ou utilise la syntaxe :</a:t>
            </a:r>
          </a:p>
          <a:p>
            <a:pPr marL="0" indent="0" algn="ctr">
              <a:buNone/>
            </a:pPr>
            <a:r>
              <a:rPr lang="fr-CH" sz="2400" dirty="0">
                <a:solidFill>
                  <a:srgbClr val="3366FF"/>
                </a:solidFill>
                <a:latin typeface="Courier"/>
                <a:cs typeface="Courier"/>
              </a:rPr>
              <a:t>chaine.methode(args)</a:t>
            </a:r>
            <a:endParaRPr lang="fr-CH" sz="2400" dirty="0"/>
          </a:p>
          <a:p>
            <a:r>
              <a:rPr lang="fr-CH" dirty="0"/>
              <a:t>Pour connaître toutes les méthodes des chaînes de caractères, taper « help(str) »</a:t>
            </a:r>
          </a:p>
        </p:txBody>
      </p:sp>
    </p:spTree>
    <p:extLst>
      <p:ext uri="{BB962C8B-B14F-4D97-AF65-F5344CB8AC3E}">
        <p14:creationId xmlns:p14="http://schemas.microsoft.com/office/powerpoint/2010/main" val="1896870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chaînes de caractères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790956" lvl="1" indent="-342900">
              <a:defRPr/>
            </a:pPr>
            <a:r>
              <a:rPr lang="fr-FR" sz="2200" dirty="0" err="1">
                <a:solidFill>
                  <a:srgbClr val="3366FF"/>
                </a:solidFill>
                <a:latin typeface="Courier"/>
                <a:cs typeface="Courier"/>
              </a:rPr>
              <a:t>s.find</a:t>
            </a:r>
            <a:r>
              <a:rPr lang="fr-FR" sz="2200" dirty="0">
                <a:solidFill>
                  <a:srgbClr val="3366FF"/>
                </a:solidFill>
                <a:latin typeface="Courier"/>
                <a:cs typeface="Courier"/>
              </a:rPr>
              <a:t>(</a:t>
            </a:r>
            <a:r>
              <a:rPr lang="fr-FR" sz="2200" dirty="0" err="1">
                <a:solidFill>
                  <a:srgbClr val="3366FF"/>
                </a:solidFill>
                <a:latin typeface="Courier"/>
                <a:cs typeface="Courier"/>
              </a:rPr>
              <a:t>sub</a:t>
            </a:r>
            <a:r>
              <a:rPr lang="fr-FR" sz="2200" dirty="0">
                <a:solidFill>
                  <a:srgbClr val="3366FF"/>
                </a:solidFill>
                <a:latin typeface="Courier"/>
                <a:cs typeface="Courier"/>
              </a:rPr>
              <a:t>)</a:t>
            </a:r>
          </a:p>
          <a:p>
            <a:pPr marL="448056" lvl="1" indent="0">
              <a:buNone/>
              <a:defRPr/>
            </a:pPr>
            <a:r>
              <a:rPr lang="fr-FR" dirty="0"/>
              <a:t>Retourne l'indice de la sous-ch</a:t>
            </a:r>
            <a:r>
              <a:rPr lang="fr-FR" altLang="ja-JP" dirty="0"/>
              <a:t>aîne </a:t>
            </a:r>
            <a:r>
              <a:rPr lang="fr-FR" altLang="ja-JP" dirty="0" err="1"/>
              <a:t>sub</a:t>
            </a:r>
            <a:r>
              <a:rPr lang="fr-FR" altLang="ja-JP" dirty="0"/>
              <a:t> dans la chaîne s. </a:t>
            </a:r>
            <a:r>
              <a:rPr lang="fr-FR" altLang="ja-JP" dirty="0">
                <a:sym typeface="Symbol" charset="0"/>
              </a:rPr>
              <a:t>Retourne</a:t>
            </a:r>
            <a:r>
              <a:rPr lang="fr-FR" dirty="0"/>
              <a:t> </a:t>
            </a:r>
            <a:r>
              <a:rPr lang="fr-FR" altLang="ja-JP" dirty="0"/>
              <a:t>-1 si </a:t>
            </a:r>
            <a:r>
              <a:rPr lang="fr-FR" altLang="ja-JP" dirty="0" err="1"/>
              <a:t>sub</a:t>
            </a:r>
            <a:r>
              <a:rPr lang="fr-FR" altLang="ja-JP" dirty="0"/>
              <a:t> n'est pas dans s.</a:t>
            </a:r>
          </a:p>
          <a:p>
            <a:pPr marL="790956" lvl="1" indent="-342900">
              <a:defRPr/>
            </a:pPr>
            <a:r>
              <a:rPr lang="fr-FR" sz="2200" dirty="0" err="1">
                <a:solidFill>
                  <a:srgbClr val="3366FF"/>
                </a:solidFill>
                <a:latin typeface="Courier"/>
                <a:cs typeface="Courier"/>
              </a:rPr>
              <a:t>s.isalnum</a:t>
            </a:r>
            <a:r>
              <a:rPr lang="fr-FR" sz="2200" dirty="0">
                <a:solidFill>
                  <a:srgbClr val="3366FF"/>
                </a:solidFill>
                <a:latin typeface="Courier"/>
                <a:cs typeface="Courier"/>
              </a:rPr>
              <a:t>()</a:t>
            </a:r>
          </a:p>
          <a:p>
            <a:pPr marL="402336" lvl="1" indent="0">
              <a:buNone/>
              <a:defRPr/>
            </a:pPr>
            <a:r>
              <a:rPr lang="fr-FR" dirty="0">
                <a:sym typeface="Symbol" charset="0"/>
              </a:rPr>
              <a:t>Retourne </a:t>
            </a:r>
            <a:r>
              <a:rPr lang="fr-FR" dirty="0" err="1"/>
              <a:t>True</a:t>
            </a:r>
            <a:r>
              <a:rPr lang="fr-FR" dirty="0"/>
              <a:t> si tous les caractères de s sont </a:t>
            </a:r>
            <a:r>
              <a:rPr lang="fr-FR" dirty="0" err="1"/>
              <a:t>alpha-numériques</a:t>
            </a:r>
            <a:r>
              <a:rPr lang="fr-FR" dirty="0"/>
              <a:t> et que s possède au moins un caractère.</a:t>
            </a:r>
          </a:p>
          <a:p>
            <a:pPr marL="402336" lvl="1" indent="0">
              <a:buNone/>
              <a:defRPr/>
            </a:pPr>
            <a:r>
              <a:rPr lang="fr-FR" dirty="0"/>
              <a:t>Retourne False sinon.</a:t>
            </a:r>
          </a:p>
          <a:p>
            <a:pPr marL="859536" lvl="1" indent="-457200">
              <a:defRPr/>
            </a:pPr>
            <a:r>
              <a:rPr lang="fr-FR" sz="2200" dirty="0" err="1">
                <a:solidFill>
                  <a:srgbClr val="3366FF"/>
                </a:solidFill>
                <a:latin typeface="Courier"/>
                <a:cs typeface="Courier"/>
              </a:rPr>
              <a:t>s.isalpha</a:t>
            </a:r>
            <a:r>
              <a:rPr lang="fr-FR" sz="2200" dirty="0">
                <a:solidFill>
                  <a:srgbClr val="3366FF"/>
                </a:solidFill>
                <a:latin typeface="Courier"/>
                <a:cs typeface="Courier"/>
              </a:rPr>
              <a:t>()</a:t>
            </a:r>
          </a:p>
          <a:p>
            <a:pPr marL="402336" lvl="1" indent="0">
              <a:buNone/>
              <a:defRPr/>
            </a:pPr>
            <a:r>
              <a:rPr lang="fr-FR" dirty="0">
                <a:sym typeface="Symbol" charset="0"/>
              </a:rPr>
              <a:t>Retourne </a:t>
            </a:r>
            <a:r>
              <a:rPr lang="fr-FR" dirty="0" err="1"/>
              <a:t>True</a:t>
            </a:r>
            <a:r>
              <a:rPr lang="fr-FR" dirty="0"/>
              <a:t> si tous les caractères de s sont alpa-bétiques et que s possède au moins un caractère.</a:t>
            </a:r>
          </a:p>
          <a:p>
            <a:pPr marL="402336" lvl="1" indent="0">
              <a:buNone/>
              <a:defRPr/>
            </a:pPr>
            <a:r>
              <a:rPr lang="fr-FR" dirty="0"/>
              <a:t>Retourne False sinon.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89331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chaînes de caractères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12648" y="1600200"/>
            <a:ext cx="8153400" cy="4925144"/>
          </a:xfrm>
        </p:spPr>
        <p:txBody>
          <a:bodyPr>
            <a:normAutofit lnSpcReduction="10000"/>
          </a:bodyPr>
          <a:lstStyle/>
          <a:p>
            <a:pPr marL="859536" lvl="1" indent="-457200">
              <a:defRPr/>
            </a:pPr>
            <a:r>
              <a:rPr lang="fr-FR" sz="2200" dirty="0" err="1">
                <a:solidFill>
                  <a:srgbClr val="3366FF"/>
                </a:solidFill>
                <a:latin typeface="Courier"/>
                <a:cs typeface="Courier"/>
              </a:rPr>
              <a:t>s.isdigit</a:t>
            </a:r>
            <a:r>
              <a:rPr lang="fr-FR" sz="2200" dirty="0">
                <a:solidFill>
                  <a:srgbClr val="3366FF"/>
                </a:solidFill>
                <a:latin typeface="Courier"/>
                <a:cs typeface="Courier"/>
              </a:rPr>
              <a:t>()</a:t>
            </a:r>
            <a:endParaRPr lang="fr-FR" sz="2200" dirty="0">
              <a:solidFill>
                <a:srgbClr val="3366FF"/>
              </a:solidFill>
              <a:latin typeface="Courier"/>
              <a:cs typeface="Courier"/>
              <a:sym typeface="Symbol" charset="0"/>
            </a:endParaRPr>
          </a:p>
          <a:p>
            <a:pPr marL="402336" lvl="1" indent="0">
              <a:buNone/>
              <a:defRPr/>
            </a:pPr>
            <a:r>
              <a:rPr lang="fr-FR" dirty="0">
                <a:solidFill>
                  <a:srgbClr val="000000"/>
                </a:solidFill>
                <a:sym typeface="Symbol" charset="0"/>
              </a:rPr>
              <a:t>Retourne </a:t>
            </a:r>
            <a:r>
              <a:rPr lang="fr-FR" dirty="0" err="1">
                <a:solidFill>
                  <a:srgbClr val="000000"/>
                </a:solidFill>
              </a:rPr>
              <a:t>True</a:t>
            </a:r>
            <a:r>
              <a:rPr lang="fr-FR" dirty="0">
                <a:solidFill>
                  <a:srgbClr val="000000"/>
                </a:solidFill>
              </a:rPr>
              <a:t> si tous les caractères de s sont numériques et que s a au moins un caractère.</a:t>
            </a:r>
          </a:p>
          <a:p>
            <a:pPr marL="402336" lvl="1" indent="0">
              <a:buNone/>
              <a:defRPr/>
            </a:pPr>
            <a:r>
              <a:rPr lang="fr-FR" dirty="0">
                <a:solidFill>
                  <a:srgbClr val="000000"/>
                </a:solidFill>
              </a:rPr>
              <a:t>Retourne False sinon.</a:t>
            </a:r>
          </a:p>
          <a:p>
            <a:pPr marL="868680" lvl="1" indent="-457200">
              <a:defRPr/>
            </a:pPr>
            <a:r>
              <a:rPr lang="fr-FR" sz="2200" dirty="0" err="1">
                <a:solidFill>
                  <a:srgbClr val="3366FF"/>
                </a:solidFill>
                <a:latin typeface="Courier"/>
                <a:cs typeface="Courier"/>
              </a:rPr>
              <a:t>s.islower</a:t>
            </a:r>
            <a:r>
              <a:rPr lang="fr-FR" sz="2200" dirty="0">
                <a:solidFill>
                  <a:srgbClr val="3366FF"/>
                </a:solidFill>
                <a:latin typeface="Courier"/>
                <a:cs typeface="Courier"/>
              </a:rPr>
              <a:t>()</a:t>
            </a:r>
          </a:p>
          <a:p>
            <a:pPr marL="402336" lvl="1" indent="0">
              <a:buNone/>
              <a:defRPr/>
            </a:pPr>
            <a:r>
              <a:rPr lang="fr-FR" dirty="0">
                <a:solidFill>
                  <a:srgbClr val="000000"/>
                </a:solidFill>
                <a:sym typeface="Symbol" charset="0"/>
              </a:rPr>
              <a:t>Retourne </a:t>
            </a:r>
            <a:r>
              <a:rPr lang="fr-FR" dirty="0" err="1">
                <a:solidFill>
                  <a:srgbClr val="000000"/>
                </a:solidFill>
              </a:rPr>
              <a:t>True</a:t>
            </a:r>
            <a:r>
              <a:rPr lang="fr-FR" dirty="0">
                <a:solidFill>
                  <a:srgbClr val="000000"/>
                </a:solidFill>
              </a:rPr>
              <a:t> si tous les caractères de s sont minuscules et que s a au moins un caractère.</a:t>
            </a:r>
          </a:p>
          <a:p>
            <a:pPr marL="402336" lvl="1" indent="0">
              <a:buNone/>
              <a:defRPr/>
            </a:pPr>
            <a:r>
              <a:rPr lang="fr-FR" dirty="0">
                <a:solidFill>
                  <a:srgbClr val="000000"/>
                </a:solidFill>
              </a:rPr>
              <a:t>Retourne False sinon.</a:t>
            </a:r>
          </a:p>
          <a:p>
            <a:pPr marL="868680" lvl="1" indent="-457200">
              <a:defRPr/>
            </a:pPr>
            <a:r>
              <a:rPr lang="fr-FR" sz="2200" dirty="0" err="1">
                <a:solidFill>
                  <a:srgbClr val="3366FF"/>
                </a:solidFill>
                <a:latin typeface="Courier"/>
                <a:cs typeface="Courier"/>
              </a:rPr>
              <a:t>s.isupper</a:t>
            </a:r>
            <a:r>
              <a:rPr lang="fr-FR" sz="2200" dirty="0">
                <a:solidFill>
                  <a:srgbClr val="3366FF"/>
                </a:solidFill>
                <a:latin typeface="Courier"/>
                <a:cs typeface="Courier"/>
              </a:rPr>
              <a:t>()</a:t>
            </a:r>
          </a:p>
          <a:p>
            <a:pPr marL="402336" lvl="1" indent="0">
              <a:buNone/>
              <a:defRPr/>
            </a:pPr>
            <a:r>
              <a:rPr lang="fr-FR" dirty="0">
                <a:solidFill>
                  <a:srgbClr val="000000"/>
                </a:solidFill>
                <a:sym typeface="Symbol" charset="0"/>
              </a:rPr>
              <a:t>Retourne </a:t>
            </a:r>
            <a:r>
              <a:rPr lang="fr-FR" dirty="0" err="1">
                <a:solidFill>
                  <a:srgbClr val="000000"/>
                </a:solidFill>
              </a:rPr>
              <a:t>True</a:t>
            </a:r>
            <a:r>
              <a:rPr lang="fr-FR" dirty="0">
                <a:solidFill>
                  <a:srgbClr val="000000"/>
                </a:solidFill>
              </a:rPr>
              <a:t> si tous les caractères de s sont majuscules et que s a au moins un caractère.</a:t>
            </a:r>
          </a:p>
          <a:p>
            <a:pPr marL="402336" lvl="1" indent="0">
              <a:buNone/>
              <a:defRPr/>
            </a:pPr>
            <a:r>
              <a:rPr lang="fr-FR" dirty="0">
                <a:solidFill>
                  <a:srgbClr val="000000"/>
                </a:solidFill>
              </a:rPr>
              <a:t>Retourne False sinon.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46952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chaînes de caractères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868680" lvl="1" indent="-457200">
              <a:defRPr/>
            </a:pPr>
            <a:r>
              <a:rPr lang="fr-FR" sz="2200" dirty="0" err="1">
                <a:solidFill>
                  <a:srgbClr val="3366FF"/>
                </a:solidFill>
                <a:latin typeface="Courier" charset="0"/>
              </a:rPr>
              <a:t>s.lower</a:t>
            </a:r>
            <a:r>
              <a:rPr lang="fr-FR" sz="2200" dirty="0">
                <a:solidFill>
                  <a:srgbClr val="3366FF"/>
                </a:solidFill>
                <a:latin typeface="Courier" charset="0"/>
              </a:rPr>
              <a:t>() </a:t>
            </a:r>
            <a:r>
              <a:rPr lang="fr-FR" sz="2200" dirty="0" err="1">
                <a:solidFill>
                  <a:srgbClr val="3366FF"/>
                </a:solidFill>
                <a:latin typeface="Courier" charset="0"/>
              </a:rPr>
              <a:t>s.upper</a:t>
            </a:r>
            <a:r>
              <a:rPr lang="fr-FR" sz="2200" dirty="0">
                <a:solidFill>
                  <a:srgbClr val="3366FF"/>
                </a:solidFill>
                <a:latin typeface="Courier" charset="0"/>
              </a:rPr>
              <a:t>()</a:t>
            </a:r>
          </a:p>
          <a:p>
            <a:pPr marL="402336" lvl="1" indent="0">
              <a:buNone/>
              <a:defRPr/>
            </a:pPr>
            <a:r>
              <a:rPr lang="fr-FR" dirty="0">
                <a:solidFill>
                  <a:srgbClr val="000000"/>
                </a:solidFill>
                <a:sym typeface="Symbol" charset="0"/>
              </a:rPr>
              <a:t>Convertit</a:t>
            </a:r>
            <a:r>
              <a:rPr lang="fr-FR" dirty="0">
                <a:solidFill>
                  <a:srgbClr val="000000"/>
                </a:solidFill>
              </a:rPr>
              <a:t> s en minuscules ou en majuscules.</a:t>
            </a:r>
            <a:endParaRPr lang="fr-FR" dirty="0">
              <a:solidFill>
                <a:srgbClr val="000000"/>
              </a:solidFill>
              <a:latin typeface="Courier" charset="0"/>
            </a:endParaRPr>
          </a:p>
          <a:p>
            <a:pPr marL="859536" lvl="1" indent="-457200">
              <a:defRPr/>
            </a:pPr>
            <a:r>
              <a:rPr lang="fr-FR" sz="2200" dirty="0" err="1">
                <a:solidFill>
                  <a:srgbClr val="3366FF"/>
                </a:solidFill>
                <a:latin typeface="Courier" charset="0"/>
              </a:rPr>
              <a:t>s.replace</a:t>
            </a:r>
            <a:r>
              <a:rPr lang="fr-FR" sz="2200" dirty="0">
                <a:solidFill>
                  <a:srgbClr val="3366FF"/>
                </a:solidFill>
                <a:latin typeface="Courier" charset="0"/>
              </a:rPr>
              <a:t>(</a:t>
            </a:r>
            <a:r>
              <a:rPr lang="fr-FR" sz="2200" dirty="0" err="1">
                <a:solidFill>
                  <a:srgbClr val="3366FF"/>
                </a:solidFill>
                <a:latin typeface="Courier" charset="0"/>
              </a:rPr>
              <a:t>old</a:t>
            </a:r>
            <a:r>
              <a:rPr lang="fr-FR" sz="2200" dirty="0">
                <a:solidFill>
                  <a:srgbClr val="3366FF"/>
                </a:solidFill>
                <a:latin typeface="Courier" charset="0"/>
              </a:rPr>
              <a:t>, new [,nb])</a:t>
            </a:r>
          </a:p>
          <a:p>
            <a:pPr marL="402336" lvl="1" indent="0">
              <a:buNone/>
              <a:defRPr/>
            </a:pPr>
            <a:r>
              <a:rPr lang="fr-FR" dirty="0">
                <a:solidFill>
                  <a:srgbClr val="000000"/>
                </a:solidFill>
              </a:rPr>
              <a:t>Remplace dans s les sous-cha</a:t>
            </a:r>
            <a:r>
              <a:rPr lang="fr-FR" altLang="ja-JP" dirty="0">
                <a:solidFill>
                  <a:srgbClr val="000000"/>
                </a:solidFill>
              </a:rPr>
              <a:t>înes </a:t>
            </a:r>
            <a:r>
              <a:rPr lang="fr-FR" altLang="ja-JP" dirty="0" err="1">
                <a:solidFill>
                  <a:srgbClr val="000000"/>
                </a:solidFill>
              </a:rPr>
              <a:t>old</a:t>
            </a:r>
            <a:r>
              <a:rPr lang="fr-FR" altLang="ja-JP" dirty="0">
                <a:solidFill>
                  <a:srgbClr val="000000"/>
                </a:solidFill>
              </a:rPr>
              <a:t> par les sous-chaînes new. Le paramètre facultatif nb permet de préciser le nombre de remplacements.</a:t>
            </a:r>
          </a:p>
          <a:p>
            <a:pPr marL="859536" lvl="1" indent="-457200">
              <a:defRPr/>
            </a:pPr>
            <a:r>
              <a:rPr lang="fr-FR" sz="2200" dirty="0" err="1">
                <a:solidFill>
                  <a:srgbClr val="3366FF"/>
                </a:solidFill>
                <a:latin typeface="Courier" charset="0"/>
              </a:rPr>
              <a:t>s.strip</a:t>
            </a:r>
            <a:r>
              <a:rPr lang="fr-FR" sz="2200" dirty="0">
                <a:solidFill>
                  <a:srgbClr val="3366FF"/>
                </a:solidFill>
                <a:latin typeface="Courier" charset="0"/>
              </a:rPr>
              <a:t>([</a:t>
            </a:r>
            <a:r>
              <a:rPr lang="fr-FR" sz="2200" dirty="0" err="1">
                <a:solidFill>
                  <a:srgbClr val="3366FF"/>
                </a:solidFill>
                <a:latin typeface="Courier" charset="0"/>
              </a:rPr>
              <a:t>space</a:t>
            </a:r>
            <a:r>
              <a:rPr lang="fr-FR" sz="2200" dirty="0">
                <a:solidFill>
                  <a:srgbClr val="3366FF"/>
                </a:solidFill>
                <a:latin typeface="Courier" charset="0"/>
              </a:rPr>
              <a:t>])</a:t>
            </a:r>
          </a:p>
          <a:p>
            <a:pPr marL="402336" lvl="1" indent="0">
              <a:buNone/>
              <a:defRPr/>
            </a:pPr>
            <a:r>
              <a:rPr lang="fr-FR" dirty="0">
                <a:solidFill>
                  <a:srgbClr val="000000"/>
                </a:solidFill>
              </a:rPr>
              <a:t>Supprime les blancs du début et de la fin de s</a:t>
            </a:r>
            <a:r>
              <a:rPr lang="fr-FR" altLang="ja-JP" dirty="0">
                <a:solidFill>
                  <a:srgbClr val="000000"/>
                </a:solidFill>
              </a:rPr>
              <a:t>.</a:t>
            </a:r>
          </a:p>
          <a:p>
            <a:pPr marL="402336" lvl="1" indent="0">
              <a:buNone/>
              <a:defRPr/>
            </a:pPr>
            <a:r>
              <a:rPr lang="fr-FR" altLang="ja-JP" dirty="0">
                <a:solidFill>
                  <a:srgbClr val="000000"/>
                </a:solidFill>
              </a:rPr>
              <a:t>Le paramètre </a:t>
            </a:r>
            <a:r>
              <a:rPr lang="fr-FR" altLang="ja-JP" dirty="0" err="1">
                <a:solidFill>
                  <a:srgbClr val="000000"/>
                </a:solidFill>
              </a:rPr>
              <a:t>space</a:t>
            </a:r>
            <a:r>
              <a:rPr lang="fr-FR" altLang="ja-JP" dirty="0">
                <a:solidFill>
                  <a:srgbClr val="000000"/>
                </a:solidFill>
              </a:rPr>
              <a:t> permet de préciser d'autres caractères que les blancs.</a:t>
            </a:r>
            <a:endParaRPr lang="fr-FR" dirty="0">
              <a:solidFill>
                <a:srgbClr val="000000"/>
              </a:solidFill>
            </a:endParaRPr>
          </a:p>
          <a:p>
            <a:pPr marL="676656" lvl="2" indent="0">
              <a:buNone/>
              <a:defRPr/>
            </a:pPr>
            <a:endParaRPr lang="fr-FR" dirty="0"/>
          </a:p>
          <a:p>
            <a:pPr marL="676656" lvl="2" indent="0">
              <a:buNone/>
              <a:defRPr/>
            </a:pPr>
            <a:endParaRPr lang="fr-FR" dirty="0"/>
          </a:p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98479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chaînes de caractères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15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&gt;&gt;&gt;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 </a:t>
            </a:r>
            <a:r>
              <a:rPr lang="hr-HR" sz="1800" dirty="0">
                <a:solidFill>
                  <a:prstClr val="black"/>
                </a:solidFill>
                <a:latin typeface="Courier"/>
                <a:cs typeface="Courier"/>
              </a:rPr>
              <a:t>s </a:t>
            </a:r>
            <a:r>
              <a:rPr lang="hr-HR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hr-H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hr-HR" sz="1800" dirty="0">
                <a:solidFill>
                  <a:srgbClr val="BA2121"/>
                </a:solidFill>
                <a:latin typeface="Courier"/>
                <a:cs typeface="Courier"/>
              </a:rPr>
              <a:t>"TIGRE"</a:t>
            </a:r>
            <a:endParaRPr lang="hr-H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&gt;&gt;&gt;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 </a:t>
            </a:r>
            <a:r>
              <a:rPr lang="fr-FR" sz="1800" dirty="0" err="1">
                <a:solidFill>
                  <a:prstClr val="black"/>
                </a:solidFill>
                <a:latin typeface="Courier"/>
                <a:cs typeface="Courier"/>
              </a:rPr>
              <a:t>s</a:t>
            </a:r>
            <a:r>
              <a:rPr lang="fr-FR" sz="1800" dirty="0" err="1">
                <a:solidFill>
                  <a:srgbClr val="666666"/>
                </a:solidFill>
                <a:latin typeface="Courier"/>
                <a:cs typeface="Courier"/>
              </a:rPr>
              <a:t>.</a:t>
            </a:r>
            <a:r>
              <a:rPr lang="fr-FR" sz="1800" dirty="0" err="1">
                <a:solidFill>
                  <a:prstClr val="black"/>
                </a:solidFill>
                <a:latin typeface="Courier"/>
                <a:cs typeface="Courier"/>
              </a:rPr>
              <a:t>lower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()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tigre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&gt;&gt;&gt;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s</a:t>
            </a:r>
            <a:endParaRPr lang="fr-FR" sz="1800" i="1" dirty="0">
              <a:solidFill>
                <a:srgbClr val="408080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TIGRE             </a:t>
            </a:r>
            <a:r>
              <a:rPr lang="fr-FR" sz="1800" i="1" dirty="0">
                <a:solidFill>
                  <a:srgbClr val="408080"/>
                </a:solidFill>
                <a:latin typeface="Courier"/>
                <a:cs typeface="Courier"/>
              </a:rPr>
              <a:t># donc s n'est pas modifiée!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&gt;&gt;&gt;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 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t 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Courier"/>
                <a:cs typeface="Courier"/>
              </a:rPr>
              <a:t>s</a:t>
            </a:r>
            <a:r>
              <a:rPr lang="en-US" sz="1800" dirty="0" err="1">
                <a:solidFill>
                  <a:srgbClr val="666666"/>
                </a:solidFill>
                <a:latin typeface="Courier"/>
                <a:cs typeface="Courier"/>
              </a:rPr>
              <a:t>.</a:t>
            </a:r>
            <a:r>
              <a:rPr lang="en-US" sz="1800" dirty="0" err="1">
                <a:solidFill>
                  <a:prstClr val="black"/>
                </a:solidFill>
                <a:latin typeface="Courier"/>
                <a:cs typeface="Courier"/>
              </a:rPr>
              <a:t>lower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() </a:t>
            </a:r>
            <a:r>
              <a:rPr lang="en-US" sz="1800" i="1" dirty="0">
                <a:solidFill>
                  <a:srgbClr val="408080"/>
                </a:solidFill>
                <a:latin typeface="Courier"/>
                <a:cs typeface="Courier"/>
              </a:rPr>
              <a:t># t nouvelle </a:t>
            </a:r>
            <a:r>
              <a:rPr lang="en-US" sz="1800" i="1" dirty="0" err="1">
                <a:solidFill>
                  <a:srgbClr val="408080"/>
                </a:solidFill>
                <a:latin typeface="Courier"/>
                <a:cs typeface="Courier"/>
              </a:rPr>
              <a:t>chaîne</a:t>
            </a:r>
            <a:r>
              <a:rPr lang="en-US" sz="1800" i="1" dirty="0">
                <a:solidFill>
                  <a:srgbClr val="408080"/>
                </a:solidFill>
                <a:latin typeface="Courier"/>
                <a:cs typeface="Courier"/>
              </a:rPr>
              <a:t> </a:t>
            </a:r>
            <a:r>
              <a:rPr lang="en-US" sz="1800" i="1" dirty="0" err="1">
                <a:solidFill>
                  <a:srgbClr val="408080"/>
                </a:solidFill>
                <a:latin typeface="Courier"/>
                <a:cs typeface="Courier"/>
              </a:rPr>
              <a:t>créée</a:t>
            </a:r>
            <a:r>
              <a:rPr lang="en-US" sz="1800" i="1" dirty="0">
                <a:solidFill>
                  <a:srgbClr val="408080"/>
                </a:solidFill>
                <a:latin typeface="Courier"/>
                <a:cs typeface="Courier"/>
              </a:rPr>
              <a:t> </a:t>
            </a:r>
            <a:r>
              <a:rPr lang="en-US" sz="1800" i="1" dirty="0" err="1">
                <a:solidFill>
                  <a:srgbClr val="408080"/>
                </a:solidFill>
                <a:latin typeface="Courier"/>
                <a:cs typeface="Courier"/>
              </a:rPr>
              <a:t>à</a:t>
            </a:r>
            <a:r>
              <a:rPr lang="en-US" sz="1800" i="1" dirty="0">
                <a:solidFill>
                  <a:srgbClr val="408080"/>
                </a:solidFill>
                <a:latin typeface="Courier"/>
                <a:cs typeface="Courier"/>
              </a:rPr>
              <a:t> </a:t>
            </a:r>
            <a:r>
              <a:rPr lang="en-US" sz="1800" i="1" dirty="0" err="1">
                <a:solidFill>
                  <a:srgbClr val="408080"/>
                </a:solidFill>
                <a:latin typeface="Courier"/>
                <a:cs typeface="Courier"/>
              </a:rPr>
              <a:t>partir</a:t>
            </a:r>
            <a:r>
              <a:rPr lang="en-US" sz="1800" i="1" dirty="0">
                <a:solidFill>
                  <a:srgbClr val="408080"/>
                </a:solidFill>
                <a:latin typeface="Courier"/>
                <a:cs typeface="Courier"/>
              </a:rPr>
              <a:t> de s</a:t>
            </a:r>
            <a:endParaRPr lang="en-US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&gt;&gt;&gt;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 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t</a:t>
            </a:r>
          </a:p>
          <a:p>
            <a:pPr marL="0" indent="0">
              <a:buNone/>
            </a:pPr>
            <a:r>
              <a:rPr lang="en-US" sz="1800" dirty="0" err="1">
                <a:solidFill>
                  <a:prstClr val="black"/>
                </a:solidFill>
                <a:latin typeface="Courier"/>
                <a:cs typeface="Courier"/>
              </a:rPr>
              <a:t>tigre</a:t>
            </a:r>
            <a:endParaRPr lang="en-US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&gt;&gt;&gt;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Courier"/>
                <a:cs typeface="Courier"/>
              </a:rPr>
              <a:t>s</a:t>
            </a:r>
            <a:r>
              <a:rPr lang="en-US" sz="1800" dirty="0" err="1">
                <a:solidFill>
                  <a:srgbClr val="666666"/>
                </a:solidFill>
                <a:latin typeface="Courier"/>
                <a:cs typeface="Courier"/>
              </a:rPr>
              <a:t>.</a:t>
            </a:r>
            <a:r>
              <a:rPr lang="en-US" sz="1800" dirty="0" err="1">
                <a:solidFill>
                  <a:prstClr val="black"/>
                </a:solidFill>
                <a:latin typeface="Courier"/>
                <a:cs typeface="Courier"/>
              </a:rPr>
              <a:t>replace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en-US" sz="1800" dirty="0">
                <a:solidFill>
                  <a:srgbClr val="BA2121"/>
                </a:solidFill>
                <a:latin typeface="Courier"/>
                <a:cs typeface="Courier"/>
              </a:rPr>
              <a:t>"G"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,</a:t>
            </a:r>
            <a:r>
              <a:rPr lang="en-US" sz="1800" dirty="0">
                <a:solidFill>
                  <a:srgbClr val="BA2121"/>
                </a:solidFill>
                <a:latin typeface="Courier"/>
                <a:cs typeface="Courier"/>
              </a:rPr>
              <a:t>"T"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)</a:t>
            </a:r>
          </a:p>
          <a:p>
            <a:pPr marL="0" indent="0">
              <a:buNone/>
            </a:pP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TITRE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&gt;&gt;&gt;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 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s      </a:t>
            </a:r>
            <a:r>
              <a:rPr lang="en-US" sz="1800" i="1" dirty="0">
                <a:solidFill>
                  <a:srgbClr val="408080"/>
                </a:solidFill>
                <a:latin typeface="Courier"/>
                <a:cs typeface="Courier"/>
              </a:rPr>
              <a:t># s </a:t>
            </a:r>
            <a:r>
              <a:rPr lang="en-US" sz="1800" i="1" dirty="0" err="1">
                <a:solidFill>
                  <a:srgbClr val="408080"/>
                </a:solidFill>
                <a:latin typeface="Courier"/>
                <a:cs typeface="Courier"/>
              </a:rPr>
              <a:t>n'est</a:t>
            </a:r>
            <a:r>
              <a:rPr lang="en-US" sz="1800" i="1" dirty="0">
                <a:solidFill>
                  <a:srgbClr val="408080"/>
                </a:solidFill>
                <a:latin typeface="Courier"/>
                <a:cs typeface="Courier"/>
              </a:rPr>
              <a:t> pas </a:t>
            </a:r>
            <a:r>
              <a:rPr lang="en-US" sz="1800" i="1" dirty="0" err="1">
                <a:solidFill>
                  <a:srgbClr val="408080"/>
                </a:solidFill>
                <a:latin typeface="Courier"/>
                <a:cs typeface="Courier"/>
              </a:rPr>
              <a:t>modifiée</a:t>
            </a:r>
            <a:r>
              <a:rPr lang="en-US" sz="1800" i="1" dirty="0">
                <a:solidFill>
                  <a:srgbClr val="408080"/>
                </a:solidFill>
                <a:latin typeface="Courier"/>
                <a:cs typeface="Courier"/>
              </a:rPr>
              <a:t>!</a:t>
            </a:r>
          </a:p>
          <a:p>
            <a:pPr marL="0" indent="0">
              <a:buNone/>
            </a:pP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TIGRE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1643297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chaînes de caractères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16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fr-CH" dirty="0"/>
              <a:t>Parcours de chaînes: on peut parcourir les caractères successifs d’une chaîne </a:t>
            </a:r>
            <a:r>
              <a:rPr lang="fr-FR" dirty="0"/>
              <a:t>via</a:t>
            </a:r>
            <a:r>
              <a:rPr lang="fr-CH" dirty="0"/>
              <a:t> une boucle « for » (cf. chapitre suivant).</a:t>
            </a:r>
            <a:endParaRPr lang="fr-CH" sz="1800" dirty="0">
              <a:solidFill>
                <a:srgbClr val="FF0000"/>
              </a:solidFill>
              <a:latin typeface="Courier"/>
              <a:cs typeface="Courier"/>
            </a:endParaRPr>
          </a:p>
          <a:p>
            <a:r>
              <a:rPr lang="fr-CH" dirty="0"/>
              <a:t>Pour cela, ou utilise la syntaxe : </a:t>
            </a:r>
          </a:p>
          <a:p>
            <a:pPr marL="0" indent="0">
              <a:buNone/>
            </a:pPr>
            <a:r>
              <a:rPr lang="fr-CH" sz="2400" dirty="0">
                <a:solidFill>
                  <a:srgbClr val="3366FF"/>
                </a:solidFill>
                <a:latin typeface="Courier"/>
                <a:cs typeface="Courier"/>
              </a:rPr>
              <a:t>	for var in string:</a:t>
            </a:r>
          </a:p>
          <a:p>
            <a:pPr marL="0" indent="0">
              <a:buNone/>
            </a:pPr>
            <a:r>
              <a:rPr lang="fr-CH" sz="2400" dirty="0">
                <a:solidFill>
                  <a:srgbClr val="3366FF"/>
                </a:solidFill>
                <a:latin typeface="Courier"/>
                <a:cs typeface="Courier"/>
              </a:rPr>
              <a:t>		instructions...</a:t>
            </a:r>
            <a:endParaRPr lang="fr-CH" sz="2400" dirty="0"/>
          </a:p>
          <a:p>
            <a:r>
              <a:rPr lang="fr-CH" dirty="0"/>
              <a:t>Ne pas oublier les deux points à la fin de l’instruction « for</a:t>
            </a:r>
            <a:r>
              <a:rPr lang="is-IS" dirty="0"/>
              <a:t>…</a:t>
            </a:r>
            <a:r>
              <a:rPr lang="fr-CH" dirty="0"/>
              <a:t> » et l’indentation obligatoire des instructions imbriquées dans la boucle « for ».</a:t>
            </a:r>
          </a:p>
        </p:txBody>
      </p:sp>
    </p:spTree>
    <p:extLst>
      <p:ext uri="{BB962C8B-B14F-4D97-AF65-F5344CB8AC3E}">
        <p14:creationId xmlns:p14="http://schemas.microsoft.com/office/powerpoint/2010/main" val="4267362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chaînes de caractères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17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hr-HR" sz="1800" dirty="0">
                <a:solidFill>
                  <a:prstClr val="black"/>
                </a:solidFill>
                <a:latin typeface="Courier"/>
                <a:cs typeface="Courier"/>
              </a:rPr>
              <a:t>&gt;&gt;&gt; s </a:t>
            </a:r>
            <a:r>
              <a:rPr lang="hr-HR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hr-H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hr-HR" sz="1800" dirty="0">
                <a:solidFill>
                  <a:srgbClr val="BA2121"/>
                </a:solidFill>
                <a:latin typeface="Courier"/>
                <a:cs typeface="Courier"/>
              </a:rPr>
              <a:t>"TIGRE"</a:t>
            </a:r>
            <a:endParaRPr lang="hr-H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hr-HR" sz="1800" dirty="0">
                <a:solidFill>
                  <a:prstClr val="black"/>
                </a:solidFill>
                <a:latin typeface="Courier"/>
                <a:cs typeface="Courier"/>
              </a:rPr>
              <a:t>&gt;&gt;&gt; </a:t>
            </a:r>
            <a:r>
              <a:rPr lang="fr-FR" sz="1800" b="1" dirty="0">
                <a:solidFill>
                  <a:srgbClr val="008000"/>
                </a:solidFill>
                <a:latin typeface="Courier"/>
                <a:cs typeface="Courier"/>
              </a:rPr>
              <a:t>for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c </a:t>
            </a:r>
            <a:r>
              <a:rPr lang="fr-FR" sz="1800" b="1" dirty="0">
                <a:solidFill>
                  <a:srgbClr val="AA22FF"/>
                </a:solidFill>
                <a:latin typeface="Courier"/>
                <a:cs typeface="Courier"/>
              </a:rPr>
              <a:t>in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s:</a:t>
            </a:r>
          </a:p>
          <a:p>
            <a:pPr marL="0" indent="0">
              <a:buNone/>
            </a:pPr>
            <a:r>
              <a:rPr lang="hr-HR" sz="1800" dirty="0">
                <a:solidFill>
                  <a:prstClr val="black"/>
                </a:solidFill>
                <a:latin typeface="Courier"/>
                <a:cs typeface="Courier"/>
              </a:rPr>
              <a:t>&gt;&gt;&gt;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is-IS" sz="1800" dirty="0">
                <a:solidFill>
                  <a:prstClr val="black"/>
                </a:solidFill>
                <a:latin typeface="Courier"/>
                <a:cs typeface="Courier"/>
              </a:rPr>
              <a:t>...   </a:t>
            </a:r>
            <a:r>
              <a:rPr lang="fr-FR" sz="1800" dirty="0" err="1">
                <a:solidFill>
                  <a:srgbClr val="008000"/>
                </a:solidFill>
                <a:latin typeface="Courier"/>
                <a:cs typeface="Courier"/>
              </a:rPr>
              <a:t>print</a:t>
            </a:r>
            <a:r>
              <a:rPr lang="fr-FR" sz="1800" dirty="0">
                <a:latin typeface="Courier"/>
                <a:cs typeface="Courier"/>
              </a:rPr>
              <a:t>(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c)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&gt;&gt;&gt; ...</a:t>
            </a:r>
          </a:p>
          <a:p>
            <a:pPr marL="0" indent="0">
              <a:buNone/>
            </a:pPr>
            <a:r>
              <a:rPr lang="fr-FR" sz="1800" dirty="0" err="1">
                <a:solidFill>
                  <a:prstClr val="black"/>
                </a:solidFill>
                <a:latin typeface="Courier"/>
                <a:cs typeface="Courier"/>
              </a:rPr>
              <a:t>T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I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G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R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E</a:t>
            </a:r>
            <a:endParaRPr lang="fr-FR" sz="1800" dirty="0"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3929328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Programme (faire démo)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18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78112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phrase = </a:t>
            </a:r>
            <a:r>
              <a:rPr lang="en-US" sz="1800" dirty="0">
                <a:solidFill>
                  <a:srgbClr val="008000"/>
                </a:solidFill>
                <a:latin typeface="Courier"/>
                <a:cs typeface="Courier"/>
              </a:rPr>
              <a:t>input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hr-HR" sz="1800" dirty="0">
                <a:solidFill>
                  <a:srgbClr val="BA2121"/>
                </a:solidFill>
                <a:latin typeface="Courier"/>
                <a:cs typeface="Courier"/>
              </a:rPr>
              <a:t>"Entrer une phrase: "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)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phrase = </a:t>
            </a:r>
            <a:r>
              <a:rPr lang="fr-FR" sz="1800" dirty="0" err="1">
                <a:solidFill>
                  <a:prstClr val="black"/>
                </a:solidFill>
                <a:latin typeface="Courier"/>
                <a:cs typeface="Courier"/>
              </a:rPr>
              <a:t>phrase.lower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() </a:t>
            </a:r>
            <a:r>
              <a:rPr lang="fr-FR" sz="1800" i="1" dirty="0">
                <a:solidFill>
                  <a:srgbClr val="408080"/>
                </a:solidFill>
                <a:latin typeface="Courier"/>
                <a:cs typeface="Courier"/>
              </a:rPr>
              <a:t># convertit en minuscules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phrase = </a:t>
            </a:r>
            <a:r>
              <a:rPr lang="fr-FR" sz="1800" dirty="0" err="1">
                <a:solidFill>
                  <a:prstClr val="black"/>
                </a:solidFill>
                <a:latin typeface="Courier"/>
                <a:cs typeface="Courier"/>
              </a:rPr>
              <a:t>phrase.replace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hr-HR" sz="1800" dirty="0">
                <a:solidFill>
                  <a:srgbClr val="BA2121"/>
                </a:solidFill>
                <a:latin typeface="Courier"/>
                <a:cs typeface="Courier"/>
              </a:rPr>
              <a:t>" "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, </a:t>
            </a:r>
            <a:r>
              <a:rPr lang="hr-HR" sz="1800" dirty="0">
                <a:solidFill>
                  <a:srgbClr val="BA2121"/>
                </a:solidFill>
                <a:latin typeface="Courier"/>
                <a:cs typeface="Courier"/>
              </a:rPr>
              <a:t>""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) </a:t>
            </a:r>
            <a:r>
              <a:rPr lang="fr-FR" sz="1800" i="1" dirty="0">
                <a:solidFill>
                  <a:srgbClr val="408080"/>
                </a:solidFill>
                <a:latin typeface="Courier"/>
                <a:cs typeface="Courier"/>
              </a:rPr>
              <a:t># enlève les espaces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palindrome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b="1" dirty="0" err="1">
                <a:solidFill>
                  <a:srgbClr val="008000"/>
                </a:solidFill>
                <a:latin typeface="Courier"/>
                <a:cs typeface="Courier"/>
              </a:rPr>
              <a:t>True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 	</a:t>
            </a:r>
            <a:r>
              <a:rPr lang="fr-FR" sz="1800" i="1" dirty="0">
                <a:solidFill>
                  <a:srgbClr val="408080"/>
                </a:solidFill>
                <a:latin typeface="Courier"/>
                <a:cs typeface="Courier"/>
              </a:rPr>
              <a:t># var </a:t>
            </a:r>
            <a:r>
              <a:rPr lang="fr-FR" sz="1800" i="1" dirty="0" err="1">
                <a:solidFill>
                  <a:srgbClr val="408080"/>
                </a:solidFill>
                <a:latin typeface="Courier"/>
                <a:cs typeface="Courier"/>
              </a:rPr>
              <a:t>bool</a:t>
            </a:r>
            <a:r>
              <a:rPr lang="fr-FR" sz="1800" i="1" dirty="0">
                <a:solidFill>
                  <a:srgbClr val="408080"/>
                </a:solidFill>
                <a:latin typeface="Courier"/>
                <a:cs typeface="Courier"/>
              </a:rPr>
              <a:t> qui donne la réponse...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g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0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			</a:t>
            </a:r>
            <a:r>
              <a:rPr lang="fr-FR" sz="1800" i="1" dirty="0">
                <a:solidFill>
                  <a:srgbClr val="408080"/>
                </a:solidFill>
                <a:latin typeface="Courier"/>
                <a:cs typeface="Courier"/>
              </a:rPr>
              <a:t># indice 1er caractère de phrase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d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 err="1">
                <a:solidFill>
                  <a:srgbClr val="008000"/>
                </a:solidFill>
                <a:latin typeface="Courier"/>
                <a:cs typeface="Courier"/>
              </a:rPr>
              <a:t>len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(phrase)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–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1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	</a:t>
            </a:r>
            <a:r>
              <a:rPr lang="fr-FR" sz="1800" i="1" dirty="0">
                <a:solidFill>
                  <a:srgbClr val="408080"/>
                </a:solidFill>
                <a:latin typeface="Courier"/>
                <a:cs typeface="Courier"/>
              </a:rPr>
              <a:t># indice dernier caractère de phrase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b="1" dirty="0" err="1">
                <a:solidFill>
                  <a:srgbClr val="008000"/>
                </a:solidFill>
                <a:latin typeface="Courier"/>
                <a:cs typeface="Courier"/>
              </a:rPr>
              <a:t>while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g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&lt;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d: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   </a:t>
            </a:r>
            <a:r>
              <a:rPr lang="fr-FR" sz="1800" b="1" dirty="0">
                <a:solidFill>
                  <a:srgbClr val="008000"/>
                </a:solidFill>
                <a:latin typeface="Courier"/>
                <a:cs typeface="Courier"/>
              </a:rPr>
              <a:t>if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phrase[g]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!=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phrase[d]: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       palindrome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b="1" dirty="0">
                <a:solidFill>
                  <a:srgbClr val="008000"/>
                </a:solidFill>
                <a:latin typeface="Courier"/>
                <a:cs typeface="Courier"/>
              </a:rPr>
              <a:t>False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       </a:t>
            </a:r>
            <a:r>
              <a:rPr lang="en-US" sz="1800" b="1" dirty="0">
                <a:solidFill>
                  <a:srgbClr val="008000"/>
                </a:solidFill>
                <a:latin typeface="Courier"/>
                <a:cs typeface="Courier"/>
              </a:rPr>
              <a:t>break</a:t>
            </a:r>
            <a:endParaRPr lang="en-US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hu-HU" sz="1800" dirty="0">
                <a:solidFill>
                  <a:prstClr val="black"/>
                </a:solidFill>
                <a:latin typeface="Courier"/>
                <a:cs typeface="Courier"/>
              </a:rPr>
              <a:t>    </a:t>
            </a:r>
            <a:r>
              <a:rPr lang="hu-HU" sz="1800" b="1" dirty="0">
                <a:solidFill>
                  <a:srgbClr val="008000"/>
                </a:solidFill>
                <a:latin typeface="Courier"/>
                <a:cs typeface="Courier"/>
              </a:rPr>
              <a:t>else</a:t>
            </a:r>
            <a:r>
              <a:rPr lang="hu-HU" sz="1800" dirty="0">
                <a:solidFill>
                  <a:prstClr val="black"/>
                </a:solidFill>
                <a:latin typeface="Courier"/>
                <a:cs typeface="Courier"/>
              </a:rPr>
              <a:t>:</a:t>
            </a:r>
          </a:p>
          <a:p>
            <a:pPr marL="0" indent="0">
              <a:buNone/>
            </a:pPr>
            <a:r>
              <a:rPr lang="de-DE" sz="1800" dirty="0">
                <a:solidFill>
                  <a:prstClr val="black"/>
                </a:solidFill>
                <a:latin typeface="Courier"/>
                <a:cs typeface="Courier"/>
              </a:rPr>
              <a:t>	    </a:t>
            </a:r>
            <a:r>
              <a:rPr lang="de-DE" sz="1800" dirty="0" err="1">
                <a:solidFill>
                  <a:prstClr val="black"/>
                </a:solidFill>
                <a:latin typeface="Courier"/>
                <a:cs typeface="Courier"/>
              </a:rPr>
              <a:t>g</a:t>
            </a:r>
            <a:r>
              <a:rPr lang="de-DE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de-DE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de-DE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de-DE" sz="1800" dirty="0" err="1">
                <a:solidFill>
                  <a:prstClr val="black"/>
                </a:solidFill>
                <a:latin typeface="Courier"/>
                <a:cs typeface="Courier"/>
              </a:rPr>
              <a:t>g</a:t>
            </a:r>
            <a:r>
              <a:rPr lang="de-DE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de-DE" sz="1800" dirty="0">
                <a:solidFill>
                  <a:srgbClr val="666666"/>
                </a:solidFill>
                <a:latin typeface="Courier"/>
                <a:cs typeface="Courier"/>
              </a:rPr>
              <a:t>+</a:t>
            </a:r>
            <a:r>
              <a:rPr lang="de-DE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de-DE" sz="1800" dirty="0">
                <a:solidFill>
                  <a:srgbClr val="666666"/>
                </a:solidFill>
                <a:latin typeface="Courier"/>
                <a:cs typeface="Courier"/>
              </a:rPr>
              <a:t>1</a:t>
            </a:r>
            <a:endParaRPr lang="de-DE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de-DE" sz="1800" dirty="0">
                <a:solidFill>
                  <a:prstClr val="black"/>
                </a:solidFill>
                <a:latin typeface="Courier"/>
                <a:cs typeface="Courier"/>
              </a:rPr>
              <a:t>	    d </a:t>
            </a:r>
            <a:r>
              <a:rPr lang="de-DE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de-DE" sz="1800" dirty="0">
                <a:solidFill>
                  <a:prstClr val="black"/>
                </a:solidFill>
                <a:latin typeface="Courier"/>
                <a:cs typeface="Courier"/>
              </a:rPr>
              <a:t> d </a:t>
            </a:r>
            <a:r>
              <a:rPr lang="de-DE" sz="1800" dirty="0">
                <a:solidFill>
                  <a:srgbClr val="666666"/>
                </a:solidFill>
                <a:latin typeface="Courier"/>
                <a:cs typeface="Courier"/>
              </a:rPr>
              <a:t>-</a:t>
            </a:r>
            <a:r>
              <a:rPr lang="de-DE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de-DE" sz="1800" dirty="0">
                <a:solidFill>
                  <a:srgbClr val="666666"/>
                </a:solidFill>
                <a:latin typeface="Courier"/>
                <a:cs typeface="Courier"/>
              </a:rPr>
              <a:t>1</a:t>
            </a:r>
            <a:endParaRPr lang="de-DE" sz="1800" dirty="0">
              <a:solidFill>
                <a:prstClr val="black"/>
              </a:solidFill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3419976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Programme (faire démo)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19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e-DE" sz="1800" b="1" dirty="0" err="1">
                <a:solidFill>
                  <a:srgbClr val="008000"/>
                </a:solidFill>
                <a:latin typeface="Courier"/>
                <a:cs typeface="Courier"/>
              </a:rPr>
              <a:t>if</a:t>
            </a:r>
            <a:r>
              <a:rPr lang="de-DE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de-DE" sz="1800" dirty="0" err="1">
                <a:solidFill>
                  <a:prstClr val="black"/>
                </a:solidFill>
                <a:latin typeface="Courier"/>
                <a:cs typeface="Courier"/>
              </a:rPr>
              <a:t>palindrome</a:t>
            </a:r>
            <a:r>
              <a:rPr lang="de-DE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de-DE" sz="1800" dirty="0">
                <a:solidFill>
                  <a:srgbClr val="666666"/>
                </a:solidFill>
                <a:latin typeface="Courier"/>
                <a:cs typeface="Courier"/>
              </a:rPr>
              <a:t>==</a:t>
            </a:r>
            <a:r>
              <a:rPr lang="de-DE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de-DE" sz="1800" b="1" dirty="0">
                <a:solidFill>
                  <a:srgbClr val="008000"/>
                </a:solidFill>
                <a:latin typeface="Courier"/>
                <a:cs typeface="Courier"/>
              </a:rPr>
              <a:t>True</a:t>
            </a:r>
            <a:r>
              <a:rPr lang="de-DE" sz="1800" dirty="0">
                <a:solidFill>
                  <a:prstClr val="black"/>
                </a:solidFill>
                <a:latin typeface="Courier"/>
                <a:cs typeface="Courier"/>
              </a:rPr>
              <a:t>:</a:t>
            </a:r>
          </a:p>
          <a:p>
            <a:pPr marL="0" indent="0">
              <a:buNone/>
            </a:pPr>
            <a:r>
              <a:rPr lang="de-DE" sz="1800" dirty="0">
                <a:solidFill>
                  <a:prstClr val="black"/>
                </a:solidFill>
                <a:latin typeface="Courier"/>
                <a:cs typeface="Courier"/>
              </a:rPr>
              <a:t>	</a:t>
            </a:r>
            <a:r>
              <a:rPr lang="de-DE" sz="1800" dirty="0" err="1">
                <a:solidFill>
                  <a:srgbClr val="008000"/>
                </a:solidFill>
                <a:latin typeface="Courier"/>
                <a:cs typeface="Courier"/>
              </a:rPr>
              <a:t>print</a:t>
            </a:r>
            <a:r>
              <a:rPr lang="de-DE" sz="1800" dirty="0">
                <a:solidFill>
                  <a:srgbClr val="000000"/>
                </a:solidFill>
                <a:latin typeface="Courier"/>
                <a:cs typeface="Courier"/>
              </a:rPr>
              <a:t>(</a:t>
            </a:r>
            <a:r>
              <a:rPr lang="de-DE" sz="1800" dirty="0">
                <a:solidFill>
                  <a:srgbClr val="BA2121"/>
                </a:solidFill>
                <a:latin typeface="Courier"/>
                <a:cs typeface="Courier"/>
              </a:rPr>
              <a:t>"</a:t>
            </a:r>
            <a:r>
              <a:rPr lang="de-DE" sz="1800" dirty="0" err="1">
                <a:solidFill>
                  <a:srgbClr val="BA2121"/>
                </a:solidFill>
                <a:latin typeface="Courier"/>
                <a:cs typeface="Courier"/>
              </a:rPr>
              <a:t>C'est</a:t>
            </a:r>
            <a:r>
              <a:rPr lang="de-DE" sz="1800" dirty="0">
                <a:solidFill>
                  <a:srgbClr val="BA2121"/>
                </a:solidFill>
                <a:latin typeface="Courier"/>
                <a:cs typeface="Courier"/>
              </a:rPr>
              <a:t> </a:t>
            </a:r>
            <a:r>
              <a:rPr lang="de-DE" sz="1800" dirty="0" err="1">
                <a:solidFill>
                  <a:srgbClr val="BA2121"/>
                </a:solidFill>
                <a:latin typeface="Courier"/>
                <a:cs typeface="Courier"/>
              </a:rPr>
              <a:t>un</a:t>
            </a:r>
            <a:r>
              <a:rPr lang="de-DE" sz="1800" dirty="0">
                <a:solidFill>
                  <a:srgbClr val="BA2121"/>
                </a:solidFill>
                <a:latin typeface="Courier"/>
                <a:cs typeface="Courier"/>
              </a:rPr>
              <a:t> </a:t>
            </a:r>
            <a:r>
              <a:rPr lang="de-DE" sz="1800" dirty="0" err="1">
                <a:solidFill>
                  <a:srgbClr val="BA2121"/>
                </a:solidFill>
                <a:latin typeface="Courier"/>
                <a:cs typeface="Courier"/>
              </a:rPr>
              <a:t>palindrome</a:t>
            </a:r>
            <a:r>
              <a:rPr lang="de-DE" sz="1800" dirty="0">
                <a:solidFill>
                  <a:srgbClr val="BA2121"/>
                </a:solidFill>
                <a:latin typeface="Courier"/>
                <a:cs typeface="Courier"/>
              </a:rPr>
              <a:t>"</a:t>
            </a:r>
            <a:r>
              <a:rPr lang="de-DE" sz="1800" dirty="0">
                <a:solidFill>
                  <a:srgbClr val="000000"/>
                </a:solidFill>
                <a:latin typeface="Courier"/>
                <a:cs typeface="Courier"/>
              </a:rPr>
              <a:t>)</a:t>
            </a:r>
          </a:p>
          <a:p>
            <a:pPr marL="0" indent="0">
              <a:buNone/>
            </a:pPr>
            <a:r>
              <a:rPr lang="de-DE" sz="1800" b="1" dirty="0" err="1">
                <a:solidFill>
                  <a:srgbClr val="008000"/>
                </a:solidFill>
                <a:latin typeface="Courier"/>
                <a:cs typeface="Courier"/>
              </a:rPr>
              <a:t>else</a:t>
            </a:r>
            <a:r>
              <a:rPr lang="de-DE" sz="1800" dirty="0">
                <a:solidFill>
                  <a:prstClr val="black"/>
                </a:solidFill>
                <a:latin typeface="Courier"/>
                <a:cs typeface="Courier"/>
              </a:rPr>
              <a:t>:</a:t>
            </a:r>
          </a:p>
          <a:p>
            <a:pPr marL="0" indent="0">
              <a:buNone/>
            </a:pPr>
            <a:r>
              <a:rPr lang="de-DE" sz="1800" dirty="0">
                <a:solidFill>
                  <a:prstClr val="black"/>
                </a:solidFill>
                <a:latin typeface="Courier"/>
                <a:cs typeface="Courier"/>
              </a:rPr>
              <a:t>	</a:t>
            </a:r>
            <a:r>
              <a:rPr lang="de-DE" sz="1800" dirty="0" err="1">
                <a:solidFill>
                  <a:srgbClr val="008000"/>
                </a:solidFill>
                <a:latin typeface="Courier"/>
                <a:cs typeface="Courier"/>
              </a:rPr>
              <a:t>print</a:t>
            </a:r>
            <a:r>
              <a:rPr lang="de-DE" sz="1800" dirty="0">
                <a:solidFill>
                  <a:srgbClr val="000000"/>
                </a:solidFill>
                <a:latin typeface="Courier"/>
                <a:cs typeface="Courier"/>
              </a:rPr>
              <a:t>(</a:t>
            </a:r>
            <a:r>
              <a:rPr lang="de-DE" sz="1800" dirty="0">
                <a:solidFill>
                  <a:srgbClr val="BA2121"/>
                </a:solidFill>
                <a:latin typeface="Courier"/>
                <a:cs typeface="Courier"/>
              </a:rPr>
              <a:t>"</a:t>
            </a:r>
            <a:r>
              <a:rPr lang="de-DE" sz="1800" dirty="0" err="1">
                <a:solidFill>
                  <a:srgbClr val="BA2121"/>
                </a:solidFill>
                <a:latin typeface="Courier"/>
                <a:cs typeface="Courier"/>
              </a:rPr>
              <a:t>Ce</a:t>
            </a:r>
            <a:r>
              <a:rPr lang="de-DE" sz="1800" dirty="0">
                <a:solidFill>
                  <a:srgbClr val="BA2121"/>
                </a:solidFill>
                <a:latin typeface="Courier"/>
                <a:cs typeface="Courier"/>
              </a:rPr>
              <a:t> </a:t>
            </a:r>
            <a:r>
              <a:rPr lang="de-DE" sz="1800" dirty="0" err="1">
                <a:solidFill>
                  <a:srgbClr val="BA2121"/>
                </a:solidFill>
                <a:latin typeface="Courier"/>
                <a:cs typeface="Courier"/>
              </a:rPr>
              <a:t>n'est</a:t>
            </a:r>
            <a:r>
              <a:rPr lang="de-DE" sz="1800" dirty="0">
                <a:solidFill>
                  <a:srgbClr val="BA2121"/>
                </a:solidFill>
                <a:latin typeface="Courier"/>
                <a:cs typeface="Courier"/>
              </a:rPr>
              <a:t> </a:t>
            </a:r>
            <a:r>
              <a:rPr lang="de-DE" sz="1800" dirty="0" err="1">
                <a:solidFill>
                  <a:srgbClr val="BA2121"/>
                </a:solidFill>
                <a:latin typeface="Courier"/>
                <a:cs typeface="Courier"/>
              </a:rPr>
              <a:t>pas</a:t>
            </a:r>
            <a:r>
              <a:rPr lang="de-DE" sz="1800" dirty="0">
                <a:solidFill>
                  <a:srgbClr val="BA2121"/>
                </a:solidFill>
                <a:latin typeface="Courier"/>
                <a:cs typeface="Courier"/>
              </a:rPr>
              <a:t> </a:t>
            </a:r>
            <a:r>
              <a:rPr lang="de-DE" sz="1800" dirty="0" err="1">
                <a:solidFill>
                  <a:srgbClr val="BA2121"/>
                </a:solidFill>
                <a:latin typeface="Courier"/>
                <a:cs typeface="Courier"/>
              </a:rPr>
              <a:t>un</a:t>
            </a:r>
            <a:r>
              <a:rPr lang="de-DE" sz="1800" dirty="0">
                <a:solidFill>
                  <a:srgbClr val="BA2121"/>
                </a:solidFill>
                <a:latin typeface="Courier"/>
                <a:cs typeface="Courier"/>
              </a:rPr>
              <a:t> </a:t>
            </a:r>
            <a:r>
              <a:rPr lang="de-DE" sz="1800" dirty="0" err="1">
                <a:solidFill>
                  <a:srgbClr val="BA2121"/>
                </a:solidFill>
                <a:latin typeface="Courier"/>
                <a:cs typeface="Courier"/>
              </a:rPr>
              <a:t>palindrome</a:t>
            </a:r>
            <a:r>
              <a:rPr lang="de-DE" sz="1800" dirty="0">
                <a:solidFill>
                  <a:srgbClr val="BA2121"/>
                </a:solidFill>
                <a:latin typeface="Courier"/>
                <a:cs typeface="Courier"/>
              </a:rPr>
              <a:t>"</a:t>
            </a:r>
            <a:r>
              <a:rPr lang="de-DE" sz="1800" dirty="0">
                <a:solidFill>
                  <a:srgbClr val="000000"/>
                </a:solidFill>
                <a:latin typeface="Courier"/>
                <a:cs typeface="Courier"/>
              </a:rPr>
              <a:t>)</a:t>
            </a:r>
            <a:endParaRPr lang="fr-FR" sz="1800" dirty="0">
              <a:solidFill>
                <a:srgbClr val="000000"/>
              </a:solidFill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2530587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listes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20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fr-FR" dirty="0"/>
              <a:t>Les listes sont des collections finies ordonnées d’objets. Ces objets peuvent être de types différents.</a:t>
            </a:r>
          </a:p>
          <a:p>
            <a:r>
              <a:rPr lang="fr-FR" dirty="0"/>
              <a:t>En Python, les listes sont des objets de type </a:t>
            </a:r>
            <a:r>
              <a:rPr lang="fr-FR" sz="2400" dirty="0" err="1">
                <a:solidFill>
                  <a:srgbClr val="3366FF"/>
                </a:solidFill>
                <a:latin typeface="Courier"/>
                <a:cs typeface="Courier"/>
              </a:rPr>
              <a:t>list</a:t>
            </a:r>
            <a:r>
              <a:rPr lang="fr-FR" dirty="0"/>
              <a:t>.</a:t>
            </a:r>
          </a:p>
          <a:p>
            <a:r>
              <a:rPr lang="fr-FR" dirty="0"/>
              <a:t>Les syntaxe d’une liste est la suivante : les éléments sont entre crochets et séparés par des virgules.</a:t>
            </a:r>
            <a:endParaRPr lang="fr-FR" sz="1800" dirty="0">
              <a:solidFill>
                <a:prstClr val="black"/>
              </a:solidFill>
              <a:latin typeface="Courier"/>
            </a:endParaRPr>
          </a:p>
          <a:p>
            <a:pPr marL="0" indent="0">
              <a:buNone/>
            </a:pPr>
            <a:endParaRPr lang="fr-FR" sz="1800" dirty="0">
              <a:solidFill>
                <a:prstClr val="black"/>
              </a:solidFill>
              <a:latin typeface="Courier"/>
            </a:endParaRP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</a:rPr>
              <a:t>&gt;&gt;&gt; </a:t>
            </a:r>
            <a:r>
              <a:rPr lang="en-US" sz="1800" dirty="0">
                <a:solidFill>
                  <a:prstClr val="black"/>
                </a:solidFill>
                <a:latin typeface="Courier"/>
              </a:rPr>
              <a:t>l </a:t>
            </a:r>
            <a:r>
              <a:rPr lang="en-US" sz="1800" dirty="0">
                <a:solidFill>
                  <a:srgbClr val="666666"/>
                </a:solidFill>
                <a:latin typeface="Courier"/>
              </a:rPr>
              <a:t>=</a:t>
            </a:r>
            <a:r>
              <a:rPr lang="en-US" sz="1800" dirty="0">
                <a:solidFill>
                  <a:prstClr val="black"/>
                </a:solidFill>
                <a:latin typeface="Courier"/>
              </a:rPr>
              <a:t> [</a:t>
            </a:r>
            <a:r>
              <a:rPr lang="en-US" sz="1800" dirty="0">
                <a:solidFill>
                  <a:srgbClr val="666666"/>
                </a:solidFill>
                <a:latin typeface="Courier"/>
              </a:rPr>
              <a:t>1</a:t>
            </a:r>
            <a:r>
              <a:rPr lang="en-US" sz="1800" dirty="0">
                <a:solidFill>
                  <a:prstClr val="black"/>
                </a:solidFill>
                <a:latin typeface="Courier"/>
              </a:rPr>
              <a:t>,</a:t>
            </a:r>
            <a:r>
              <a:rPr lang="en-US" sz="1800" dirty="0">
                <a:solidFill>
                  <a:srgbClr val="666666"/>
                </a:solidFill>
                <a:latin typeface="Courier"/>
              </a:rPr>
              <a:t>2</a:t>
            </a:r>
            <a:r>
              <a:rPr lang="en-US" sz="1800" dirty="0">
                <a:solidFill>
                  <a:prstClr val="black"/>
                </a:solidFill>
                <a:latin typeface="Courier"/>
              </a:rPr>
              <a:t>,</a:t>
            </a:r>
            <a:r>
              <a:rPr lang="en-US" sz="1800" dirty="0">
                <a:solidFill>
                  <a:srgbClr val="666666"/>
                </a:solidFill>
                <a:latin typeface="Courier"/>
              </a:rPr>
              <a:t>3.5</a:t>
            </a:r>
            <a:r>
              <a:rPr lang="en-US" sz="1800" dirty="0">
                <a:solidFill>
                  <a:prstClr val="black"/>
                </a:solidFill>
                <a:latin typeface="Courier"/>
              </a:rPr>
              <a:t>,</a:t>
            </a:r>
            <a:r>
              <a:rPr lang="en-US" sz="1800" dirty="0">
                <a:solidFill>
                  <a:srgbClr val="BA2121"/>
                </a:solidFill>
                <a:latin typeface="Courier"/>
              </a:rPr>
              <a:t>"bonjour"</a:t>
            </a:r>
            <a:r>
              <a:rPr lang="en-US" sz="1800" dirty="0">
                <a:solidFill>
                  <a:prstClr val="black"/>
                </a:solidFill>
                <a:latin typeface="Courier"/>
              </a:rPr>
              <a:t>,</a:t>
            </a:r>
            <a:r>
              <a:rPr lang="en-US" sz="1800" b="1" dirty="0">
                <a:solidFill>
                  <a:srgbClr val="008000"/>
                </a:solidFill>
                <a:latin typeface="Courier-Bold"/>
              </a:rPr>
              <a:t>True</a:t>
            </a:r>
            <a:r>
              <a:rPr lang="en-US" sz="1800" dirty="0">
                <a:solidFill>
                  <a:prstClr val="black"/>
                </a:solidFill>
                <a:latin typeface="Courier"/>
              </a:rPr>
              <a:t>]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</a:rPr>
              <a:t>&gt;&gt;&gt; </a:t>
            </a:r>
            <a:r>
              <a:rPr lang="en-US" sz="1800" dirty="0">
                <a:solidFill>
                  <a:srgbClr val="008000"/>
                </a:solidFill>
                <a:latin typeface="Courier"/>
              </a:rPr>
              <a:t>type</a:t>
            </a:r>
            <a:r>
              <a:rPr lang="en-US" sz="1800" dirty="0">
                <a:solidFill>
                  <a:prstClr val="black"/>
                </a:solidFill>
                <a:latin typeface="Courier"/>
              </a:rPr>
              <a:t>(l)</a:t>
            </a:r>
          </a:p>
          <a:p>
            <a:pPr marL="0" indent="0">
              <a:buNone/>
            </a:pPr>
            <a:r>
              <a:rPr lang="en-US" sz="1800" dirty="0">
                <a:solidFill>
                  <a:prstClr val="black"/>
                </a:solidFill>
                <a:latin typeface="Courier"/>
              </a:rPr>
              <a:t>&lt;class 'list'&gt;</a:t>
            </a:r>
            <a:endParaRPr lang="it-IT" sz="1800" dirty="0">
              <a:solidFill>
                <a:prstClr val="black"/>
              </a:solidFill>
              <a:latin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968322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listes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21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fr-CH" dirty="0"/>
              <a:t>Comme pour les chaînes de caractères, l’opérateur de concaténation sur les listes se note « + ».</a:t>
            </a:r>
            <a:endParaRPr lang="nb-NO" sz="1800" dirty="0">
              <a:solidFill>
                <a:prstClr val="black"/>
              </a:solidFill>
              <a:latin typeface="Courier"/>
            </a:endParaRPr>
          </a:p>
          <a:p>
            <a:r>
              <a:rPr lang="fr-CH" dirty="0"/>
              <a:t>L’opérateur de multiplication sur les listes se note « * ».</a:t>
            </a:r>
            <a:endParaRPr lang="nb-NO" sz="1800" dirty="0">
              <a:solidFill>
                <a:prstClr val="black"/>
              </a:solidFill>
              <a:latin typeface="Courier"/>
            </a:endParaRPr>
          </a:p>
          <a:p>
            <a:r>
              <a:rPr lang="fr-CH" dirty="0"/>
              <a:t>L’indexation (indexing) et le découpage (slicing) des listes se comportent également de la même manière que pour les chaînes de caractères.</a:t>
            </a:r>
          </a:p>
          <a:p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2295390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listes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22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fr-CH" dirty="0"/>
              <a:t>Le n+1</a:t>
            </a:r>
            <a:r>
              <a:rPr lang="fr-CH" baseline="30000" dirty="0"/>
              <a:t>ème</a:t>
            </a:r>
            <a:r>
              <a:rPr lang="fr-CH" dirty="0"/>
              <a:t> élément depuis le début de la liste </a:t>
            </a:r>
            <a:r>
              <a:rPr lang="fr-CH" sz="2400" dirty="0">
                <a:solidFill>
                  <a:srgbClr val="3366FF"/>
                </a:solidFill>
                <a:latin typeface="Courier"/>
                <a:cs typeface="Courier"/>
              </a:rPr>
              <a:t>l</a:t>
            </a:r>
            <a:r>
              <a:rPr lang="fr-CH" dirty="0"/>
              <a:t> s’obtient par la syntaxe </a:t>
            </a:r>
            <a:r>
              <a:rPr lang="fr-CH" sz="2400" dirty="0">
                <a:solidFill>
                  <a:srgbClr val="3366FF"/>
                </a:solidFill>
                <a:latin typeface="Courier"/>
                <a:cs typeface="Courier"/>
              </a:rPr>
              <a:t>l[n]</a:t>
            </a:r>
            <a:r>
              <a:rPr lang="fr-CH" dirty="0"/>
              <a:t>.</a:t>
            </a:r>
            <a:endParaRPr lang="nb-NO" sz="1800" dirty="0">
              <a:solidFill>
                <a:prstClr val="black"/>
              </a:solidFill>
              <a:latin typeface="Courier"/>
            </a:endParaRPr>
          </a:p>
          <a:p>
            <a:r>
              <a:rPr lang="fr-CH" dirty="0"/>
              <a:t>Le n</a:t>
            </a:r>
            <a:r>
              <a:rPr lang="fr-CH" baseline="30000" dirty="0"/>
              <a:t>ème</a:t>
            </a:r>
            <a:r>
              <a:rPr lang="fr-CH" dirty="0"/>
              <a:t> élément depuis la fin de la liste </a:t>
            </a:r>
            <a:r>
              <a:rPr lang="fr-CH" sz="2400" dirty="0">
                <a:solidFill>
                  <a:srgbClr val="3366FF"/>
                </a:solidFill>
                <a:latin typeface="Courier"/>
                <a:cs typeface="Courier"/>
              </a:rPr>
              <a:t>l</a:t>
            </a:r>
            <a:r>
              <a:rPr lang="fr-CH" dirty="0"/>
              <a:t> s’obtient par la syntaxe </a:t>
            </a:r>
            <a:r>
              <a:rPr lang="fr-CH" sz="2400" dirty="0">
                <a:solidFill>
                  <a:srgbClr val="3366FF"/>
                </a:solidFill>
                <a:latin typeface="Courier"/>
                <a:cs typeface="Courier"/>
              </a:rPr>
              <a:t>l[-n]</a:t>
            </a:r>
            <a:r>
              <a:rPr lang="fr-CH" dirty="0"/>
              <a:t>.</a:t>
            </a:r>
          </a:p>
          <a:p>
            <a:r>
              <a:rPr lang="fr-CH" dirty="0"/>
              <a:t>La sous-liste qui va du m</a:t>
            </a:r>
            <a:r>
              <a:rPr lang="fr-CH" baseline="30000" dirty="0"/>
              <a:t>ème</a:t>
            </a:r>
            <a:r>
              <a:rPr lang="fr-CH" dirty="0"/>
              <a:t> élément compris au n</a:t>
            </a:r>
            <a:r>
              <a:rPr lang="fr-CH" baseline="30000" dirty="0"/>
              <a:t>ème</a:t>
            </a:r>
            <a:r>
              <a:rPr lang="fr-CH" dirty="0"/>
              <a:t> élément non compris de la liste </a:t>
            </a:r>
            <a:r>
              <a:rPr lang="fr-CH" sz="2400" dirty="0">
                <a:solidFill>
                  <a:srgbClr val="3366FF"/>
                </a:solidFill>
                <a:latin typeface="Courier"/>
                <a:cs typeface="Courier"/>
              </a:rPr>
              <a:t>l</a:t>
            </a:r>
            <a:r>
              <a:rPr lang="fr-CH" dirty="0"/>
              <a:t> s’obtient par la syntaxe </a:t>
            </a:r>
            <a:r>
              <a:rPr lang="fr-CH" sz="2400" dirty="0">
                <a:solidFill>
                  <a:srgbClr val="3366FF"/>
                </a:solidFill>
                <a:latin typeface="Courier"/>
                <a:cs typeface="Courier"/>
              </a:rPr>
              <a:t>l[m:n]</a:t>
            </a:r>
            <a:r>
              <a:rPr lang="fr-CH" dirty="0"/>
              <a:t>.</a:t>
            </a:r>
          </a:p>
          <a:p>
            <a:r>
              <a:rPr lang="fr-CH" dirty="0"/>
              <a:t>La longueur d’une liste est donnée par la fonction </a:t>
            </a:r>
            <a:r>
              <a:rPr lang="fr-CH" sz="2400" dirty="0">
                <a:solidFill>
                  <a:srgbClr val="3366FF"/>
                </a:solidFill>
                <a:latin typeface="Courier"/>
                <a:cs typeface="Courier"/>
              </a:rPr>
              <a:t>len()</a:t>
            </a:r>
            <a:r>
              <a:rPr lang="fr-CH" dirty="0"/>
              <a:t>.</a:t>
            </a:r>
          </a:p>
          <a:p>
            <a:pPr marL="0" indent="0">
              <a:buNone/>
            </a:pPr>
            <a:endParaRPr lang="fr-CH" sz="2400" dirty="0"/>
          </a:p>
        </p:txBody>
      </p:sp>
    </p:spTree>
    <p:extLst>
      <p:ext uri="{BB962C8B-B14F-4D97-AF65-F5344CB8AC3E}">
        <p14:creationId xmlns:p14="http://schemas.microsoft.com/office/powerpoint/2010/main" val="4191665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Les listes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23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</a:rPr>
              <a:t>&gt;&gt;&gt; fruits </a:t>
            </a:r>
            <a:r>
              <a:rPr lang="fr-FR" sz="1800" dirty="0">
                <a:solidFill>
                  <a:srgbClr val="666666"/>
                </a:solidFill>
                <a:latin typeface="Courier"/>
              </a:rPr>
              <a:t>=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 [</a:t>
            </a:r>
            <a:r>
              <a:rPr lang="fr-FR" sz="1800" dirty="0">
                <a:solidFill>
                  <a:srgbClr val="BA2121"/>
                </a:solidFill>
                <a:latin typeface="Courier"/>
              </a:rPr>
              <a:t>'orange'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, </a:t>
            </a:r>
            <a:r>
              <a:rPr lang="fr-FR" sz="1800" dirty="0">
                <a:solidFill>
                  <a:srgbClr val="BA2121"/>
                </a:solidFill>
                <a:latin typeface="Courier"/>
              </a:rPr>
              <a:t>'banane'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, </a:t>
            </a:r>
            <a:r>
              <a:rPr lang="fr-FR" sz="1800" dirty="0">
                <a:solidFill>
                  <a:srgbClr val="BA2121"/>
                </a:solidFill>
                <a:latin typeface="Courier"/>
              </a:rPr>
              <a:t>'pomme'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, </a:t>
            </a:r>
            <a:r>
              <a:rPr lang="fr-FR" sz="1800" dirty="0">
                <a:solidFill>
                  <a:srgbClr val="BA2121"/>
                </a:solidFill>
                <a:latin typeface="Courier"/>
              </a:rPr>
              <a:t>'cerise'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]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</a:rPr>
              <a:t>&gt;&gt;&gt; </a:t>
            </a:r>
            <a:r>
              <a:rPr lang="fr-FR" sz="1800" dirty="0" err="1">
                <a:solidFill>
                  <a:srgbClr val="008000"/>
                </a:solidFill>
                <a:latin typeface="Courier"/>
              </a:rPr>
              <a:t>len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(fruits)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</a:rPr>
              <a:t>4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</a:rPr>
              <a:t>&gt;&gt;&gt; fruits[</a:t>
            </a:r>
            <a:r>
              <a:rPr lang="fr-FR" sz="1800" dirty="0">
                <a:solidFill>
                  <a:srgbClr val="666666"/>
                </a:solidFill>
                <a:latin typeface="Courier"/>
              </a:rPr>
              <a:t>0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]</a:t>
            </a:r>
          </a:p>
          <a:p>
            <a:pPr marL="0" indent="0">
              <a:buNone/>
            </a:pPr>
            <a:r>
              <a:rPr lang="fr-FR" sz="1800" dirty="0">
                <a:latin typeface="Courier"/>
              </a:rPr>
              <a:t>'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orange</a:t>
            </a:r>
            <a:r>
              <a:rPr lang="fr-FR" sz="1800" dirty="0">
                <a:latin typeface="Courier"/>
              </a:rPr>
              <a:t>'</a:t>
            </a:r>
            <a:endParaRPr lang="fr-FR" sz="1800" dirty="0">
              <a:solidFill>
                <a:prstClr val="black"/>
              </a:solidFill>
              <a:latin typeface="Courier"/>
            </a:endParaRP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</a:rPr>
              <a:t>&gt;&gt;&gt; fruits[</a:t>
            </a:r>
            <a:r>
              <a:rPr lang="fr-FR" sz="1800" dirty="0">
                <a:solidFill>
                  <a:srgbClr val="666666"/>
                </a:solidFill>
                <a:latin typeface="Courier"/>
              </a:rPr>
              <a:t>-1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]</a:t>
            </a:r>
          </a:p>
          <a:p>
            <a:pPr marL="0" indent="0">
              <a:buNone/>
            </a:pPr>
            <a:r>
              <a:rPr lang="fr-FR" sz="1800" dirty="0">
                <a:latin typeface="Courier"/>
              </a:rPr>
              <a:t>'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cerise</a:t>
            </a:r>
            <a:r>
              <a:rPr lang="fr-FR" sz="1800" dirty="0">
                <a:latin typeface="Courier"/>
              </a:rPr>
              <a:t>'</a:t>
            </a:r>
            <a:endParaRPr lang="fr-FR" sz="1800" dirty="0">
              <a:solidFill>
                <a:prstClr val="black"/>
              </a:solidFill>
              <a:latin typeface="Courier"/>
            </a:endParaRP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</a:rPr>
              <a:t>&gt;&gt;&gt; fruits[</a:t>
            </a:r>
            <a:r>
              <a:rPr lang="fr-FR" sz="1800" dirty="0">
                <a:solidFill>
                  <a:srgbClr val="666666"/>
                </a:solidFill>
                <a:latin typeface="Courier"/>
              </a:rPr>
              <a:t>-2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]</a:t>
            </a:r>
          </a:p>
          <a:p>
            <a:pPr marL="0" indent="0">
              <a:buNone/>
            </a:pPr>
            <a:r>
              <a:rPr lang="fr-FR" sz="1800" dirty="0">
                <a:latin typeface="Courier"/>
              </a:rPr>
              <a:t>'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pomme</a:t>
            </a:r>
            <a:r>
              <a:rPr lang="fr-FR" sz="1800" dirty="0">
                <a:latin typeface="Courier"/>
              </a:rPr>
              <a:t>'</a:t>
            </a:r>
            <a:endParaRPr lang="fr-FR" sz="1800" dirty="0">
              <a:solidFill>
                <a:prstClr val="black"/>
              </a:solidFill>
              <a:latin typeface="Courier"/>
            </a:endParaRP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</a:rPr>
              <a:t>&gt;&gt;&gt; fruits[</a:t>
            </a:r>
            <a:r>
              <a:rPr lang="fr-FR" sz="1800" dirty="0">
                <a:solidFill>
                  <a:srgbClr val="666666"/>
                </a:solidFill>
                <a:latin typeface="Courier"/>
              </a:rPr>
              <a:t>1:3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]</a:t>
            </a:r>
          </a:p>
          <a:p>
            <a:pPr marL="0" indent="0">
              <a:buNone/>
            </a:pPr>
            <a:r>
              <a:rPr lang="fr-FR" sz="1800" dirty="0">
                <a:latin typeface="Courier"/>
              </a:rPr>
              <a:t>['banane', 'pomme']</a:t>
            </a:r>
          </a:p>
          <a:p>
            <a:pPr marL="0" indent="0">
              <a:buNone/>
            </a:pPr>
            <a:r>
              <a:rPr lang="fr-FR" sz="1800" dirty="0">
                <a:latin typeface="Courier"/>
              </a:rPr>
              <a:t>&gt;&gt;&gt; </a:t>
            </a:r>
            <a:endParaRPr lang="fr-FR" sz="1800" dirty="0"/>
          </a:p>
        </p:txBody>
      </p:sp>
    </p:spTree>
    <p:extLst>
      <p:ext uri="{BB962C8B-B14F-4D97-AF65-F5344CB8AC3E}">
        <p14:creationId xmlns:p14="http://schemas.microsoft.com/office/powerpoint/2010/main" val="4036305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listes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24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fr-CH" dirty="0"/>
              <a:t>En Python, les listes (contrairement aux chaînes) sont des objets de type </a:t>
            </a:r>
            <a:r>
              <a:rPr lang="fr-CH" b="1" dirty="0"/>
              <a:t>modifiable</a:t>
            </a:r>
            <a:r>
              <a:rPr lang="fr-CH" dirty="0"/>
              <a:t>.</a:t>
            </a:r>
          </a:p>
          <a:p>
            <a:r>
              <a:rPr lang="fr-CH" dirty="0"/>
              <a:t>C’est-à-dire qu’il est possible de modifier un élément ou une sous-liste d’une liste donnée via une instruction de réaffectation.</a:t>
            </a:r>
          </a:p>
          <a:p>
            <a:r>
              <a:rPr lang="fr-CH" dirty="0"/>
              <a:t>Cette propriété est beaucoup utilisée en Python.</a:t>
            </a:r>
          </a:p>
          <a:p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1991479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Les listes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25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</a:rPr>
              <a:t>&gt;&gt;&gt; l </a:t>
            </a:r>
            <a:r>
              <a:rPr lang="fr-FR" sz="1800" dirty="0">
                <a:solidFill>
                  <a:srgbClr val="666666"/>
                </a:solidFill>
                <a:latin typeface="Courier"/>
              </a:rPr>
              <a:t>=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 [</a:t>
            </a:r>
            <a:r>
              <a:rPr lang="fr-FR" sz="1800" dirty="0">
                <a:solidFill>
                  <a:srgbClr val="BA2121"/>
                </a:solidFill>
                <a:latin typeface="Courier"/>
              </a:rPr>
              <a:t>"jaune"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, </a:t>
            </a:r>
            <a:r>
              <a:rPr lang="fr-FR" sz="1800" dirty="0">
                <a:solidFill>
                  <a:srgbClr val="BA2121"/>
                </a:solidFill>
                <a:latin typeface="Courier"/>
              </a:rPr>
              <a:t>"orange"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, </a:t>
            </a:r>
            <a:r>
              <a:rPr lang="fr-FR" sz="1800" dirty="0">
                <a:solidFill>
                  <a:srgbClr val="BA2121"/>
                </a:solidFill>
                <a:latin typeface="Courier"/>
              </a:rPr>
              <a:t>"rouge"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, </a:t>
            </a:r>
            <a:r>
              <a:rPr lang="fr-FR" sz="1800" dirty="0">
                <a:solidFill>
                  <a:srgbClr val="BA2121"/>
                </a:solidFill>
                <a:latin typeface="Courier"/>
              </a:rPr>
              <a:t>"vert"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, </a:t>
            </a:r>
            <a:r>
              <a:rPr lang="fr-FR" sz="1800" dirty="0">
                <a:solidFill>
                  <a:srgbClr val="BA2121"/>
                </a:solidFill>
                <a:latin typeface="Courier"/>
              </a:rPr>
              <a:t>"bleu"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]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</a:rPr>
              <a:t>&gt;&gt;&gt; l[</a:t>
            </a:r>
            <a:r>
              <a:rPr lang="fr-FR" sz="1800" dirty="0">
                <a:solidFill>
                  <a:srgbClr val="666666"/>
                </a:solidFill>
                <a:latin typeface="Courier"/>
              </a:rPr>
              <a:t>0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] </a:t>
            </a:r>
            <a:r>
              <a:rPr lang="fr-FR" sz="1800" dirty="0">
                <a:solidFill>
                  <a:srgbClr val="666666"/>
                </a:solidFill>
                <a:latin typeface="Courier"/>
              </a:rPr>
              <a:t>=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 </a:t>
            </a:r>
            <a:r>
              <a:rPr lang="fr-FR" sz="1800" dirty="0">
                <a:solidFill>
                  <a:srgbClr val="BA2121"/>
                </a:solidFill>
                <a:latin typeface="Courier"/>
              </a:rPr>
              <a:t>"jaune pale"</a:t>
            </a:r>
            <a:endParaRPr lang="fr-FR" sz="1800" dirty="0">
              <a:solidFill>
                <a:prstClr val="black"/>
              </a:solidFill>
              <a:latin typeface="Courier"/>
            </a:endParaRP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</a:rPr>
              <a:t>&gt;&gt;&gt; l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</a:rPr>
              <a:t>['jaune pale', 'orange', 'rouge', 'vert', 'bleu']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</a:rPr>
              <a:t>&gt;&gt;&gt; l[</a:t>
            </a:r>
            <a:r>
              <a:rPr lang="fr-FR" sz="1800" dirty="0">
                <a:solidFill>
                  <a:srgbClr val="666666"/>
                </a:solidFill>
                <a:latin typeface="Courier"/>
              </a:rPr>
              <a:t>-1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] </a:t>
            </a:r>
            <a:r>
              <a:rPr lang="fr-FR" sz="1800" dirty="0">
                <a:solidFill>
                  <a:srgbClr val="666666"/>
                </a:solidFill>
                <a:latin typeface="Courier"/>
              </a:rPr>
              <a:t>=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 </a:t>
            </a:r>
            <a:r>
              <a:rPr lang="fr-FR" sz="1800" dirty="0">
                <a:solidFill>
                  <a:srgbClr val="BA2121"/>
                </a:solidFill>
                <a:latin typeface="Courier"/>
              </a:rPr>
              <a:t>"bleu fonce"</a:t>
            </a:r>
            <a:endParaRPr lang="fr-FR" sz="1800" dirty="0">
              <a:solidFill>
                <a:prstClr val="black"/>
              </a:solidFill>
              <a:latin typeface="Courier"/>
            </a:endParaRP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</a:rPr>
              <a:t>&gt;&gt;&gt; l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</a:rPr>
              <a:t>['jaune pale', 'orange', 'rouge', 'vert', 'bleu fonce']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</a:rPr>
              <a:t>&gt;&gt;&gt; l[</a:t>
            </a:r>
            <a:r>
              <a:rPr lang="fr-FR" sz="1800" dirty="0">
                <a:solidFill>
                  <a:srgbClr val="666666"/>
                </a:solidFill>
                <a:latin typeface="Courier"/>
              </a:rPr>
              <a:t>2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:</a:t>
            </a:r>
            <a:r>
              <a:rPr lang="fr-FR" sz="1800" dirty="0">
                <a:solidFill>
                  <a:srgbClr val="666666"/>
                </a:solidFill>
                <a:latin typeface="Courier"/>
              </a:rPr>
              <a:t>4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] </a:t>
            </a:r>
            <a:r>
              <a:rPr lang="fr-FR" sz="1800" dirty="0">
                <a:solidFill>
                  <a:srgbClr val="666666"/>
                </a:solidFill>
                <a:latin typeface="Courier"/>
              </a:rPr>
              <a:t>=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 [</a:t>
            </a:r>
            <a:r>
              <a:rPr lang="fr-FR" sz="1800" dirty="0">
                <a:solidFill>
                  <a:srgbClr val="BA2121"/>
                </a:solidFill>
                <a:latin typeface="Courier"/>
              </a:rPr>
              <a:t>"rouge </a:t>
            </a:r>
            <a:r>
              <a:rPr lang="fr-FR" sz="1800" dirty="0" err="1">
                <a:solidFill>
                  <a:srgbClr val="BA2121"/>
                </a:solidFill>
                <a:latin typeface="Courier"/>
              </a:rPr>
              <a:t>vif"</a:t>
            </a:r>
            <a:r>
              <a:rPr lang="fr-FR" sz="1800" dirty="0" err="1">
                <a:solidFill>
                  <a:prstClr val="black"/>
                </a:solidFill>
                <a:latin typeface="Courier"/>
              </a:rPr>
              <a:t>,</a:t>
            </a:r>
            <a:r>
              <a:rPr lang="fr-FR" sz="1800" dirty="0" err="1">
                <a:solidFill>
                  <a:srgbClr val="BA2121"/>
                </a:solidFill>
                <a:latin typeface="Courier"/>
              </a:rPr>
              <a:t>"vert</a:t>
            </a:r>
            <a:r>
              <a:rPr lang="fr-FR" sz="1800" dirty="0">
                <a:solidFill>
                  <a:srgbClr val="BA2121"/>
                </a:solidFill>
                <a:latin typeface="Courier"/>
              </a:rPr>
              <a:t> clair"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]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</a:rPr>
              <a:t>&gt;&gt;&gt; l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</a:rPr>
              <a:t>['jaune pale', 'orange', 'rouge vif', 'vert clair', 'bleu fonce']</a:t>
            </a:r>
          </a:p>
          <a:p>
            <a:pPr marL="0" indent="0">
              <a:buNone/>
            </a:pPr>
            <a:endParaRPr lang="fr-FR" sz="1800" dirty="0"/>
          </a:p>
        </p:txBody>
      </p:sp>
    </p:spTree>
    <p:extLst>
      <p:ext uri="{BB962C8B-B14F-4D97-AF65-F5344CB8AC3E}">
        <p14:creationId xmlns:p14="http://schemas.microsoft.com/office/powerpoint/2010/main" val="2929667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listes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26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fr-CH" b="1" dirty="0"/>
              <a:t>Attention :</a:t>
            </a:r>
            <a:r>
              <a:rPr lang="fr-CH" dirty="0"/>
              <a:t> dans le cas des objets de type modifiable, une copie d’un object original – obtenue via une instruction d’affectation – subira les mêmes modifications que l’objet original.</a:t>
            </a:r>
          </a:p>
        </p:txBody>
      </p:sp>
    </p:spTree>
    <p:extLst>
      <p:ext uri="{BB962C8B-B14F-4D97-AF65-F5344CB8AC3E}">
        <p14:creationId xmlns:p14="http://schemas.microsoft.com/office/powerpoint/2010/main" val="474989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Les listes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27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539552" y="1600200"/>
            <a:ext cx="8531352" cy="4495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</a:rPr>
              <a:t>&gt;&gt;&gt; l1 </a:t>
            </a:r>
            <a:r>
              <a:rPr lang="fr-FR" sz="1800" dirty="0">
                <a:solidFill>
                  <a:srgbClr val="666666"/>
                </a:solidFill>
                <a:latin typeface="Courier"/>
              </a:rPr>
              <a:t>=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 [</a:t>
            </a:r>
            <a:r>
              <a:rPr lang="fr-FR" sz="1800" dirty="0">
                <a:solidFill>
                  <a:srgbClr val="BA2121"/>
                </a:solidFill>
                <a:latin typeface="Courier"/>
              </a:rPr>
              <a:t>"jaune"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, </a:t>
            </a:r>
            <a:r>
              <a:rPr lang="fr-FR" sz="1800" dirty="0">
                <a:solidFill>
                  <a:srgbClr val="BA2121"/>
                </a:solidFill>
                <a:latin typeface="Courier"/>
              </a:rPr>
              <a:t>"orange"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, </a:t>
            </a:r>
            <a:r>
              <a:rPr lang="fr-FR" sz="1800" dirty="0">
                <a:solidFill>
                  <a:srgbClr val="BA2121"/>
                </a:solidFill>
                <a:latin typeface="Courier"/>
              </a:rPr>
              <a:t>"rouge"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]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</a:rPr>
              <a:t>&gt;&gt;&gt; l2 </a:t>
            </a:r>
            <a:r>
              <a:rPr lang="fr-FR" sz="1800" dirty="0">
                <a:solidFill>
                  <a:srgbClr val="666666"/>
                </a:solidFill>
                <a:latin typeface="Courier"/>
              </a:rPr>
              <a:t>=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 l1	</a:t>
            </a:r>
            <a:r>
              <a:rPr lang="fr-FR" sz="1800" i="1" dirty="0">
                <a:solidFill>
                  <a:srgbClr val="408080"/>
                </a:solidFill>
                <a:latin typeface="Courier"/>
                <a:cs typeface="Courier"/>
              </a:rPr>
              <a:t># l2 est une copie de la liste l1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</a:rPr>
              <a:t>&gt;&gt;&gt; l1[</a:t>
            </a:r>
            <a:r>
              <a:rPr lang="fr-FR" sz="1800" dirty="0">
                <a:solidFill>
                  <a:srgbClr val="666666"/>
                </a:solidFill>
                <a:latin typeface="Courier"/>
              </a:rPr>
              <a:t>0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] </a:t>
            </a:r>
            <a:r>
              <a:rPr lang="fr-FR" sz="1800" dirty="0">
                <a:solidFill>
                  <a:srgbClr val="666666"/>
                </a:solidFill>
                <a:latin typeface="Courier"/>
              </a:rPr>
              <a:t>=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 </a:t>
            </a:r>
            <a:r>
              <a:rPr lang="fr-FR" sz="1800" dirty="0">
                <a:solidFill>
                  <a:srgbClr val="BA2121"/>
                </a:solidFill>
                <a:latin typeface="Courier"/>
              </a:rPr>
              <a:t>"jaune pale"	</a:t>
            </a:r>
            <a:r>
              <a:rPr lang="fr-FR" sz="1800" i="1" dirty="0">
                <a:solidFill>
                  <a:srgbClr val="408080"/>
                </a:solidFill>
                <a:latin typeface="Courier"/>
                <a:cs typeface="Courier"/>
              </a:rPr>
              <a:t># modification de l1</a:t>
            </a:r>
            <a:endParaRPr lang="fr-FR" sz="1800" dirty="0">
              <a:solidFill>
                <a:srgbClr val="BA2121"/>
              </a:solidFill>
              <a:latin typeface="Courier"/>
            </a:endParaRP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</a:rPr>
              <a:t>&gt;&gt;&gt; l1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</a:rPr>
              <a:t>['jaune pale', 'orange', 'rouge'] </a:t>
            </a:r>
            <a:r>
              <a:rPr lang="fr-FR" sz="1800" i="1" dirty="0">
                <a:solidFill>
                  <a:srgbClr val="408080"/>
                </a:solidFill>
                <a:latin typeface="Courier"/>
                <a:cs typeface="Courier"/>
              </a:rPr>
              <a:t># l1 est modifiée (normal)</a:t>
            </a:r>
            <a:endParaRPr lang="fr-FR" sz="1800" dirty="0">
              <a:solidFill>
                <a:prstClr val="black"/>
              </a:solidFill>
              <a:latin typeface="Courier"/>
            </a:endParaRP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</a:rPr>
              <a:t>&gt;&gt;&gt; l2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</a:rPr>
              <a:t>['jaune pale', 'orange', 'rouge'] </a:t>
            </a:r>
            <a:r>
              <a:rPr lang="fr-FR" sz="1800" i="1" dirty="0">
                <a:solidFill>
                  <a:srgbClr val="408080"/>
                </a:solidFill>
                <a:latin typeface="Courier"/>
                <a:cs typeface="Courier"/>
              </a:rPr>
              <a:t># l2 est aussi modifiée !</a:t>
            </a:r>
            <a:endParaRPr lang="fr-FR" sz="1800" dirty="0">
              <a:solidFill>
                <a:prstClr val="black"/>
              </a:solidFill>
              <a:latin typeface="Courier"/>
            </a:endParaRPr>
          </a:p>
          <a:p>
            <a:pPr marL="0" indent="0">
              <a:buNone/>
            </a:pPr>
            <a:endParaRPr lang="fr-FR" sz="1800" dirty="0">
              <a:solidFill>
                <a:prstClr val="black"/>
              </a:solidFill>
              <a:latin typeface="Courier"/>
            </a:endParaRPr>
          </a:p>
          <a:p>
            <a:pPr marL="0" indent="0">
              <a:buNone/>
            </a:pPr>
            <a:endParaRPr lang="fr-FR" sz="1800" dirty="0">
              <a:solidFill>
                <a:prstClr val="black"/>
              </a:solidFill>
              <a:latin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3749241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listes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28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fr-CH" dirty="0"/>
              <a:t>Si besoin, on peut tout de même créer une « copie non-modifiable » d’une liste via l’instruction de slicing suivante</a:t>
            </a:r>
          </a:p>
          <a:p>
            <a:pPr marL="0" indent="0" algn="ctr">
              <a:buNone/>
            </a:pPr>
            <a:r>
              <a:rPr lang="fr-CH" sz="2400" dirty="0">
                <a:solidFill>
                  <a:srgbClr val="3366FF"/>
                </a:solidFill>
                <a:latin typeface="Courier"/>
                <a:cs typeface="Courier"/>
              </a:rPr>
              <a:t>l_copie = l[:]</a:t>
            </a:r>
            <a:endParaRPr lang="fr-CH" dirty="0"/>
          </a:p>
          <a:p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2446261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Les listes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29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539552" y="1600200"/>
            <a:ext cx="8531352" cy="4495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</a:rPr>
              <a:t>&gt;&gt;&gt; l1 </a:t>
            </a:r>
            <a:r>
              <a:rPr lang="fr-FR" sz="1800" dirty="0">
                <a:solidFill>
                  <a:srgbClr val="666666"/>
                </a:solidFill>
                <a:latin typeface="Courier"/>
              </a:rPr>
              <a:t>=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 [</a:t>
            </a:r>
            <a:r>
              <a:rPr lang="fr-FR" sz="1800" dirty="0">
                <a:solidFill>
                  <a:srgbClr val="BA2121"/>
                </a:solidFill>
                <a:latin typeface="Courier"/>
              </a:rPr>
              <a:t>"jaune"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, </a:t>
            </a:r>
            <a:r>
              <a:rPr lang="fr-FR" sz="1800" dirty="0">
                <a:solidFill>
                  <a:srgbClr val="BA2121"/>
                </a:solidFill>
                <a:latin typeface="Courier"/>
              </a:rPr>
              <a:t>"orange"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, </a:t>
            </a:r>
            <a:r>
              <a:rPr lang="fr-FR" sz="1800" dirty="0">
                <a:solidFill>
                  <a:srgbClr val="BA2121"/>
                </a:solidFill>
                <a:latin typeface="Courier"/>
              </a:rPr>
              <a:t>"rouge"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]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</a:rPr>
              <a:t>&gt;&gt;&gt; l2 </a:t>
            </a:r>
            <a:r>
              <a:rPr lang="fr-FR" sz="1800" dirty="0">
                <a:solidFill>
                  <a:srgbClr val="666666"/>
                </a:solidFill>
                <a:latin typeface="Courier"/>
              </a:rPr>
              <a:t>=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 l1[:]		</a:t>
            </a:r>
            <a:r>
              <a:rPr lang="fr-FR" sz="1800" i="1" dirty="0">
                <a:solidFill>
                  <a:srgbClr val="408080"/>
                </a:solidFill>
                <a:latin typeface="Courier"/>
                <a:cs typeface="Courier"/>
              </a:rPr>
              <a:t># l2 copie non-modifiable de l1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</a:rPr>
              <a:t>&gt;&gt;&gt; l1[</a:t>
            </a:r>
            <a:r>
              <a:rPr lang="fr-FR" sz="1800" dirty="0">
                <a:solidFill>
                  <a:srgbClr val="666666"/>
                </a:solidFill>
                <a:latin typeface="Courier"/>
              </a:rPr>
              <a:t>0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] </a:t>
            </a:r>
            <a:r>
              <a:rPr lang="fr-FR" sz="1800" dirty="0">
                <a:solidFill>
                  <a:srgbClr val="666666"/>
                </a:solidFill>
                <a:latin typeface="Courier"/>
              </a:rPr>
              <a:t>=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 </a:t>
            </a:r>
            <a:r>
              <a:rPr lang="fr-FR" sz="1800" dirty="0">
                <a:solidFill>
                  <a:srgbClr val="BA2121"/>
                </a:solidFill>
                <a:latin typeface="Courier"/>
              </a:rPr>
              <a:t>"jaune pale"	</a:t>
            </a:r>
            <a:r>
              <a:rPr lang="fr-FR" sz="1800" i="1" dirty="0">
                <a:solidFill>
                  <a:srgbClr val="408080"/>
                </a:solidFill>
                <a:latin typeface="Courier"/>
                <a:cs typeface="Courier"/>
              </a:rPr>
              <a:t># modification de l1</a:t>
            </a:r>
            <a:endParaRPr lang="fr-FR" sz="1800" dirty="0">
              <a:solidFill>
                <a:srgbClr val="BA2121"/>
              </a:solidFill>
              <a:latin typeface="Courier"/>
            </a:endParaRP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</a:rPr>
              <a:t>&gt;&gt;&gt; l1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</a:rPr>
              <a:t>['jaune pale', 'orange', 'rouge'] </a:t>
            </a:r>
            <a:r>
              <a:rPr lang="fr-FR" sz="1800" i="1" dirty="0">
                <a:solidFill>
                  <a:srgbClr val="408080"/>
                </a:solidFill>
                <a:latin typeface="Courier"/>
                <a:cs typeface="Courier"/>
              </a:rPr>
              <a:t># l1 est modifiée (normal)</a:t>
            </a:r>
            <a:endParaRPr lang="fr-FR" sz="1800" dirty="0">
              <a:solidFill>
                <a:prstClr val="black"/>
              </a:solidFill>
              <a:latin typeface="Courier"/>
            </a:endParaRP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</a:rPr>
              <a:t>&gt;&gt;&gt; l2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</a:rPr>
              <a:t>['jaune', 'orange', 'rouge’]	</a:t>
            </a:r>
            <a:r>
              <a:rPr lang="fr-FR" sz="1800" i="1" dirty="0">
                <a:solidFill>
                  <a:srgbClr val="408080"/>
                </a:solidFill>
                <a:latin typeface="Courier"/>
                <a:cs typeface="Courier"/>
              </a:rPr>
              <a:t># l2 n’est pas modifiée !</a:t>
            </a:r>
            <a:endParaRPr lang="fr-FR" sz="1800" dirty="0">
              <a:solidFill>
                <a:prstClr val="black"/>
              </a:solidFill>
              <a:latin typeface="Courier"/>
            </a:endParaRPr>
          </a:p>
          <a:p>
            <a:pPr marL="0" indent="0">
              <a:buNone/>
            </a:pPr>
            <a:endParaRPr lang="fr-FR" sz="1800" dirty="0">
              <a:solidFill>
                <a:prstClr val="black"/>
              </a:solidFill>
              <a:latin typeface="Courier"/>
            </a:endParaRPr>
          </a:p>
          <a:p>
            <a:pPr marL="0" indent="0">
              <a:buNone/>
            </a:pPr>
            <a:endParaRPr lang="fr-FR" sz="1800" dirty="0">
              <a:solidFill>
                <a:prstClr val="black"/>
              </a:solidFill>
              <a:latin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1666644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listes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30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fr-CH" dirty="0"/>
              <a:t>Il existe plusieurs méthodes que l’on peut appliquer sur les listes.</a:t>
            </a:r>
            <a:endParaRPr lang="fr-CH" sz="1800" dirty="0">
              <a:solidFill>
                <a:srgbClr val="FF0000"/>
              </a:solidFill>
              <a:latin typeface="Courier"/>
              <a:cs typeface="Courier"/>
            </a:endParaRPr>
          </a:p>
          <a:p>
            <a:r>
              <a:rPr lang="fr-CH" dirty="0"/>
              <a:t>Pour appliquer une méthode à une liste, ou utilise la syntaxe :</a:t>
            </a:r>
          </a:p>
          <a:p>
            <a:pPr marL="0" indent="0" algn="ctr">
              <a:buNone/>
            </a:pPr>
            <a:r>
              <a:rPr lang="fr-CH" sz="2400" dirty="0">
                <a:solidFill>
                  <a:srgbClr val="3366FF"/>
                </a:solidFill>
                <a:latin typeface="Courier"/>
                <a:cs typeface="Courier"/>
              </a:rPr>
              <a:t>liste.methode(args)</a:t>
            </a:r>
            <a:endParaRPr lang="fr-CH" sz="2400" dirty="0"/>
          </a:p>
          <a:p>
            <a:r>
              <a:rPr lang="fr-CH" dirty="0"/>
              <a:t>Pour connaître toutes les méthodes des liste, taper « help(list) »</a:t>
            </a:r>
          </a:p>
        </p:txBody>
      </p:sp>
    </p:spTree>
    <p:extLst>
      <p:ext uri="{BB962C8B-B14F-4D97-AF65-F5344CB8AC3E}">
        <p14:creationId xmlns:p14="http://schemas.microsoft.com/office/powerpoint/2010/main" val="307066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listes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790956" lvl="1" indent="-342900">
              <a:defRPr/>
            </a:pPr>
            <a:r>
              <a:rPr lang="fr-FR" sz="2200" dirty="0" err="1">
                <a:solidFill>
                  <a:srgbClr val="3366FF"/>
                </a:solidFill>
                <a:latin typeface="Courier"/>
                <a:cs typeface="Courier"/>
              </a:rPr>
              <a:t>l.append</a:t>
            </a:r>
            <a:r>
              <a:rPr lang="fr-FR" sz="2200" dirty="0">
                <a:solidFill>
                  <a:srgbClr val="3366FF"/>
                </a:solidFill>
                <a:latin typeface="Courier"/>
                <a:cs typeface="Courier"/>
              </a:rPr>
              <a:t>(x)</a:t>
            </a:r>
          </a:p>
          <a:p>
            <a:pPr marL="448056" lvl="1" indent="0">
              <a:buNone/>
              <a:defRPr/>
            </a:pPr>
            <a:r>
              <a:rPr lang="fr-FR" dirty="0"/>
              <a:t>Ajoute l’élément x à la fin de la liste l.</a:t>
            </a:r>
            <a:endParaRPr lang="fr-FR" altLang="ja-JP" dirty="0"/>
          </a:p>
          <a:p>
            <a:pPr marL="790956" lvl="1" indent="-342900">
              <a:defRPr/>
            </a:pPr>
            <a:r>
              <a:rPr lang="fr-FR" sz="2200" dirty="0" err="1">
                <a:solidFill>
                  <a:srgbClr val="3366FF"/>
                </a:solidFill>
                <a:latin typeface="Courier"/>
                <a:cs typeface="Courier"/>
              </a:rPr>
              <a:t>l.count</a:t>
            </a:r>
            <a:r>
              <a:rPr lang="fr-FR" sz="2200" dirty="0">
                <a:solidFill>
                  <a:srgbClr val="3366FF"/>
                </a:solidFill>
                <a:latin typeface="Courier"/>
                <a:cs typeface="Courier"/>
              </a:rPr>
              <a:t>(x)</a:t>
            </a:r>
          </a:p>
          <a:p>
            <a:pPr marL="402336" lvl="1" indent="0">
              <a:buNone/>
              <a:defRPr/>
            </a:pPr>
            <a:r>
              <a:rPr lang="fr-FR" dirty="0">
                <a:sym typeface="Symbol" charset="0"/>
              </a:rPr>
              <a:t>Retourne le nombre d’occurrences de l’élément x dans la liste l.</a:t>
            </a:r>
          </a:p>
          <a:p>
            <a:pPr marL="745236" lvl="1" indent="-342900">
              <a:defRPr/>
            </a:pPr>
            <a:r>
              <a:rPr lang="fr-FR" sz="2200" dirty="0" err="1">
                <a:solidFill>
                  <a:srgbClr val="3366FF"/>
                </a:solidFill>
                <a:latin typeface="Courier"/>
                <a:cs typeface="Courier"/>
              </a:rPr>
              <a:t>l.extend</a:t>
            </a:r>
            <a:r>
              <a:rPr lang="fr-FR" sz="2200" dirty="0">
                <a:solidFill>
                  <a:srgbClr val="3366FF"/>
                </a:solidFill>
                <a:latin typeface="Courier"/>
                <a:cs typeface="Courier"/>
              </a:rPr>
              <a:t>(u)</a:t>
            </a:r>
          </a:p>
          <a:p>
            <a:pPr marL="402336" lvl="1" indent="0">
              <a:buNone/>
              <a:defRPr/>
            </a:pPr>
            <a:r>
              <a:rPr lang="fr-FR" dirty="0">
                <a:sym typeface="Symbol" charset="0"/>
              </a:rPr>
              <a:t>Si u est une liste, ajoute tous les éléments de la liste u, un à un, à la fin de la liste l</a:t>
            </a:r>
            <a:r>
              <a:rPr lang="fr-FR" dirty="0"/>
              <a:t>.</a:t>
            </a:r>
          </a:p>
          <a:p>
            <a:pPr marL="402336" lvl="1" indent="0">
              <a:buNone/>
              <a:defRPr/>
            </a:pPr>
            <a:r>
              <a:rPr lang="fr-FR" dirty="0">
                <a:sym typeface="Symbol" charset="0"/>
              </a:rPr>
              <a:t>Si u est une chaîne, ajoute tous les caractères de la chaîne u, un à un, à la fin de la liste l.</a:t>
            </a:r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31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5585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listes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12648" y="1600200"/>
            <a:ext cx="8153400" cy="4925144"/>
          </a:xfrm>
        </p:spPr>
        <p:txBody>
          <a:bodyPr>
            <a:normAutofit/>
          </a:bodyPr>
          <a:lstStyle/>
          <a:p>
            <a:pPr marL="859536" lvl="1" indent="-457200">
              <a:defRPr/>
            </a:pPr>
            <a:r>
              <a:rPr lang="fr-FR" sz="2200" dirty="0" err="1">
                <a:solidFill>
                  <a:srgbClr val="3366FF"/>
                </a:solidFill>
                <a:latin typeface="Courier"/>
                <a:cs typeface="Courier"/>
              </a:rPr>
              <a:t>l.index</a:t>
            </a:r>
            <a:r>
              <a:rPr lang="fr-FR" sz="2200" dirty="0">
                <a:solidFill>
                  <a:srgbClr val="3366FF"/>
                </a:solidFill>
                <a:latin typeface="Courier"/>
                <a:cs typeface="Courier"/>
              </a:rPr>
              <a:t>(x)</a:t>
            </a:r>
            <a:endParaRPr lang="fr-FR" sz="2200" dirty="0">
              <a:solidFill>
                <a:srgbClr val="3366FF"/>
              </a:solidFill>
              <a:latin typeface="Courier"/>
              <a:cs typeface="Courier"/>
              <a:sym typeface="Symbol" charset="0"/>
            </a:endParaRPr>
          </a:p>
          <a:p>
            <a:pPr marL="402336" lvl="1" indent="0">
              <a:buNone/>
              <a:defRPr/>
            </a:pPr>
            <a:r>
              <a:rPr lang="fr-FR" dirty="0">
                <a:solidFill>
                  <a:srgbClr val="000000"/>
                </a:solidFill>
                <a:sym typeface="Symbol" charset="0"/>
              </a:rPr>
              <a:t>Retourne le premier indice de l dont la valeur est x.</a:t>
            </a:r>
          </a:p>
          <a:p>
            <a:pPr marL="402336" lvl="1" indent="0">
              <a:buNone/>
              <a:defRPr/>
            </a:pPr>
            <a:r>
              <a:rPr lang="fr-FR" dirty="0">
                <a:solidFill>
                  <a:srgbClr val="000000"/>
                </a:solidFill>
                <a:sym typeface="Symbol" charset="0"/>
              </a:rPr>
              <a:t>Retourne </a:t>
            </a:r>
            <a:r>
              <a:rPr lang="fr-FR" dirty="0" err="1">
                <a:solidFill>
                  <a:srgbClr val="000000"/>
                </a:solidFill>
                <a:sym typeface="Symbol" charset="0"/>
              </a:rPr>
              <a:t>ValueError</a:t>
            </a:r>
            <a:r>
              <a:rPr lang="fr-FR" dirty="0">
                <a:solidFill>
                  <a:srgbClr val="000000"/>
                </a:solidFill>
                <a:sym typeface="Symbol" charset="0"/>
              </a:rPr>
              <a:t> si cet indice n’existe pas.</a:t>
            </a:r>
          </a:p>
          <a:p>
            <a:pPr marL="745236" lvl="1" indent="-342900">
              <a:defRPr/>
            </a:pPr>
            <a:r>
              <a:rPr lang="fr-FR" sz="2200" dirty="0" err="1">
                <a:solidFill>
                  <a:srgbClr val="3366FF"/>
                </a:solidFill>
                <a:latin typeface="Courier"/>
                <a:cs typeface="Courier"/>
              </a:rPr>
              <a:t>l.insert</a:t>
            </a:r>
            <a:r>
              <a:rPr lang="fr-FR" sz="2200" dirty="0">
                <a:solidFill>
                  <a:srgbClr val="3366FF"/>
                </a:solidFill>
                <a:latin typeface="Courier"/>
                <a:cs typeface="Courier"/>
              </a:rPr>
              <a:t>(</a:t>
            </a:r>
            <a:r>
              <a:rPr lang="fr-FR" sz="2200" dirty="0" err="1">
                <a:solidFill>
                  <a:srgbClr val="3366FF"/>
                </a:solidFill>
                <a:latin typeface="Courier"/>
                <a:cs typeface="Courier"/>
              </a:rPr>
              <a:t>index,object</a:t>
            </a:r>
            <a:r>
              <a:rPr lang="fr-FR" sz="2200" dirty="0">
                <a:solidFill>
                  <a:srgbClr val="3366FF"/>
                </a:solidFill>
                <a:latin typeface="Courier"/>
                <a:cs typeface="Courier"/>
              </a:rPr>
              <a:t>)</a:t>
            </a:r>
          </a:p>
          <a:p>
            <a:pPr marL="402336" lvl="1" indent="0">
              <a:buNone/>
              <a:defRPr/>
            </a:pPr>
            <a:r>
              <a:rPr lang="fr-FR" dirty="0">
                <a:solidFill>
                  <a:srgbClr val="000000"/>
                </a:solidFill>
                <a:sym typeface="Symbol" charset="0"/>
              </a:rPr>
              <a:t>Insère dans la liste l l’objet </a:t>
            </a:r>
            <a:r>
              <a:rPr lang="fr-FR" dirty="0" err="1">
                <a:solidFill>
                  <a:srgbClr val="000000"/>
                </a:solidFill>
                <a:sym typeface="Symbol" charset="0"/>
              </a:rPr>
              <a:t>object</a:t>
            </a:r>
            <a:r>
              <a:rPr lang="fr-FR" dirty="0">
                <a:solidFill>
                  <a:srgbClr val="000000"/>
                </a:solidFill>
                <a:sym typeface="Symbol" charset="0"/>
              </a:rPr>
              <a:t> juste avant l’indice index.</a:t>
            </a:r>
            <a:endParaRPr lang="fr-FR" dirty="0">
              <a:solidFill>
                <a:srgbClr val="000000"/>
              </a:solidFill>
            </a:endParaRPr>
          </a:p>
          <a:p>
            <a:pPr marL="868680" lvl="1" indent="-457200">
              <a:defRPr/>
            </a:pPr>
            <a:r>
              <a:rPr lang="fr-FR" sz="2200" dirty="0" err="1">
                <a:solidFill>
                  <a:srgbClr val="3366FF"/>
                </a:solidFill>
                <a:latin typeface="Courier"/>
                <a:cs typeface="Courier"/>
              </a:rPr>
              <a:t>l.pop</a:t>
            </a:r>
            <a:r>
              <a:rPr lang="fr-FR" sz="2200" dirty="0">
                <a:solidFill>
                  <a:srgbClr val="3366FF"/>
                </a:solidFill>
                <a:latin typeface="Courier"/>
                <a:cs typeface="Courier"/>
              </a:rPr>
              <a:t>(index)</a:t>
            </a:r>
          </a:p>
          <a:p>
            <a:pPr marL="402336" lvl="1" indent="0">
              <a:buNone/>
              <a:defRPr/>
            </a:pPr>
            <a:r>
              <a:rPr lang="fr-FR" dirty="0">
                <a:solidFill>
                  <a:srgbClr val="000000"/>
                </a:solidFill>
                <a:sym typeface="Symbol" charset="0"/>
              </a:rPr>
              <a:t>Supprime et retourne l’objet d’indice index de l</a:t>
            </a:r>
            <a:r>
              <a:rPr lang="fr-FR" dirty="0">
                <a:solidFill>
                  <a:srgbClr val="000000"/>
                </a:solidFill>
              </a:rPr>
              <a:t>.</a:t>
            </a:r>
          </a:p>
          <a:p>
            <a:pPr marL="868680" lvl="1" indent="-457200">
              <a:defRPr/>
            </a:pPr>
            <a:r>
              <a:rPr lang="fr-FR" sz="2200" dirty="0" err="1">
                <a:solidFill>
                  <a:srgbClr val="3366FF"/>
                </a:solidFill>
                <a:latin typeface="Courier"/>
                <a:cs typeface="Courier"/>
              </a:rPr>
              <a:t>l.remove</a:t>
            </a:r>
            <a:r>
              <a:rPr lang="fr-FR" sz="2200" dirty="0">
                <a:solidFill>
                  <a:srgbClr val="3366FF"/>
                </a:solidFill>
                <a:latin typeface="Courier"/>
                <a:cs typeface="Courier"/>
              </a:rPr>
              <a:t>(x)</a:t>
            </a:r>
          </a:p>
          <a:p>
            <a:pPr marL="402336" lvl="1" indent="0">
              <a:buNone/>
              <a:defRPr/>
            </a:pPr>
            <a:r>
              <a:rPr lang="fr-FR" dirty="0">
                <a:solidFill>
                  <a:srgbClr val="000000"/>
                </a:solidFill>
                <a:sym typeface="Symbol" charset="0"/>
              </a:rPr>
              <a:t>Supprime dans l la première occurrence de l’objet x.</a:t>
            </a:r>
            <a:endParaRPr lang="fr-FR" dirty="0">
              <a:solidFill>
                <a:srgbClr val="000000"/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32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47519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listes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868680" lvl="1" indent="-457200">
              <a:defRPr/>
            </a:pPr>
            <a:r>
              <a:rPr lang="fr-FR" sz="2200" dirty="0" err="1">
                <a:solidFill>
                  <a:srgbClr val="3366FF"/>
                </a:solidFill>
                <a:latin typeface="Courier" charset="0"/>
              </a:rPr>
              <a:t>l.reverse</a:t>
            </a:r>
            <a:r>
              <a:rPr lang="fr-FR" sz="2200" dirty="0">
                <a:solidFill>
                  <a:srgbClr val="3366FF"/>
                </a:solidFill>
                <a:latin typeface="Courier" charset="0"/>
              </a:rPr>
              <a:t>()</a:t>
            </a:r>
          </a:p>
          <a:p>
            <a:pPr marL="402336" lvl="1" indent="0">
              <a:buNone/>
              <a:defRPr/>
            </a:pPr>
            <a:r>
              <a:rPr lang="fr-FR" dirty="0">
                <a:solidFill>
                  <a:srgbClr val="000000"/>
                </a:solidFill>
                <a:sym typeface="Symbol" charset="0"/>
              </a:rPr>
              <a:t>Inverse l’ordre des éléments de la liste l</a:t>
            </a:r>
            <a:r>
              <a:rPr lang="fr-FR" dirty="0">
                <a:solidFill>
                  <a:srgbClr val="000000"/>
                </a:solidFill>
              </a:rPr>
              <a:t>.</a:t>
            </a:r>
            <a:endParaRPr lang="fr-FR" dirty="0">
              <a:solidFill>
                <a:srgbClr val="000000"/>
              </a:solidFill>
              <a:latin typeface="Courier" charset="0"/>
            </a:endParaRPr>
          </a:p>
          <a:p>
            <a:pPr marL="859536" lvl="1" indent="-457200">
              <a:defRPr/>
            </a:pPr>
            <a:r>
              <a:rPr lang="fr-FR" sz="2200" dirty="0" err="1">
                <a:solidFill>
                  <a:srgbClr val="3366FF"/>
                </a:solidFill>
                <a:latin typeface="Courier" charset="0"/>
              </a:rPr>
              <a:t>l.sort</a:t>
            </a:r>
            <a:r>
              <a:rPr lang="fr-FR" sz="2200" dirty="0">
                <a:solidFill>
                  <a:srgbClr val="3366FF"/>
                </a:solidFill>
                <a:latin typeface="Courier" charset="0"/>
              </a:rPr>
              <a:t>()</a:t>
            </a:r>
          </a:p>
          <a:p>
            <a:pPr marL="402336" lvl="1" indent="0">
              <a:buNone/>
              <a:defRPr/>
            </a:pPr>
            <a:r>
              <a:rPr lang="fr-FR" dirty="0">
                <a:solidFill>
                  <a:srgbClr val="000000"/>
                </a:solidFill>
              </a:rPr>
              <a:t>Si cela est possible, trie la liste l. Si les objets sont de types différents et qu’on ne peut pas les trier, revoie </a:t>
            </a:r>
            <a:r>
              <a:rPr lang="fr-FR" dirty="0" err="1">
                <a:solidFill>
                  <a:srgbClr val="000000"/>
                </a:solidFill>
              </a:rPr>
              <a:t>TypeError</a:t>
            </a:r>
            <a:r>
              <a:rPr lang="fr-FR" dirty="0">
                <a:solidFill>
                  <a:srgbClr val="000000"/>
                </a:solidFill>
              </a:rPr>
              <a:t>.</a:t>
            </a:r>
            <a:endParaRPr lang="fr-FR" altLang="ja-JP" dirty="0">
              <a:solidFill>
                <a:srgbClr val="000000"/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33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88946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listes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34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</a:rPr>
              <a:t>&gt;&gt;&gt; l </a:t>
            </a:r>
            <a:r>
              <a:rPr lang="fr-FR" sz="1800" dirty="0">
                <a:solidFill>
                  <a:srgbClr val="666666"/>
                </a:solidFill>
                <a:latin typeface="Courier"/>
              </a:rPr>
              <a:t>=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 [</a:t>
            </a:r>
            <a:r>
              <a:rPr lang="fr-FR" sz="1800" dirty="0">
                <a:solidFill>
                  <a:srgbClr val="BA2121"/>
                </a:solidFill>
                <a:latin typeface="Courier"/>
              </a:rPr>
              <a:t>"</a:t>
            </a:r>
            <a:r>
              <a:rPr lang="fr-FR" sz="1800" dirty="0" err="1">
                <a:solidFill>
                  <a:srgbClr val="BA2121"/>
                </a:solidFill>
                <a:latin typeface="Courier"/>
              </a:rPr>
              <a:t>jaune"</a:t>
            </a:r>
            <a:r>
              <a:rPr lang="fr-FR" sz="1800" dirty="0" err="1">
                <a:solidFill>
                  <a:prstClr val="black"/>
                </a:solidFill>
                <a:latin typeface="Courier"/>
              </a:rPr>
              <a:t>,</a:t>
            </a:r>
            <a:r>
              <a:rPr lang="fr-FR" sz="1800" dirty="0" err="1">
                <a:solidFill>
                  <a:srgbClr val="BA2121"/>
                </a:solidFill>
                <a:latin typeface="Courier"/>
              </a:rPr>
              <a:t>"orange"</a:t>
            </a:r>
            <a:r>
              <a:rPr lang="fr-FR" sz="1800" dirty="0" err="1">
                <a:solidFill>
                  <a:prstClr val="black"/>
                </a:solidFill>
                <a:latin typeface="Courier"/>
              </a:rPr>
              <a:t>,</a:t>
            </a:r>
            <a:r>
              <a:rPr lang="fr-FR" sz="1800" dirty="0" err="1">
                <a:solidFill>
                  <a:srgbClr val="BA2121"/>
                </a:solidFill>
                <a:latin typeface="Courier"/>
              </a:rPr>
              <a:t>"rouge</a:t>
            </a:r>
            <a:r>
              <a:rPr lang="fr-FR" sz="1800" dirty="0">
                <a:solidFill>
                  <a:srgbClr val="BA2121"/>
                </a:solidFill>
                <a:latin typeface="Courier"/>
              </a:rPr>
              <a:t>"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]</a:t>
            </a:r>
          </a:p>
          <a:p>
            <a:pPr marL="0" indent="0">
              <a:buNone/>
            </a:pPr>
            <a:r>
              <a:rPr lang="is-IS" sz="1800" dirty="0">
                <a:solidFill>
                  <a:prstClr val="black"/>
                </a:solidFill>
                <a:latin typeface="Courier"/>
              </a:rPr>
              <a:t>&gt;&gt;&gt; l</a:t>
            </a:r>
            <a:r>
              <a:rPr lang="is-IS" sz="1800" dirty="0">
                <a:solidFill>
                  <a:srgbClr val="666666"/>
                </a:solidFill>
                <a:latin typeface="Courier"/>
              </a:rPr>
              <a:t>.</a:t>
            </a:r>
            <a:r>
              <a:rPr lang="is-IS" sz="1800" dirty="0">
                <a:solidFill>
                  <a:prstClr val="black"/>
                </a:solidFill>
                <a:latin typeface="Courier"/>
              </a:rPr>
              <a:t>append(</a:t>
            </a:r>
            <a:r>
              <a:rPr lang="is-IS" sz="1800" dirty="0">
                <a:solidFill>
                  <a:srgbClr val="666666"/>
                </a:solidFill>
                <a:latin typeface="Courier"/>
              </a:rPr>
              <a:t>2.83</a:t>
            </a:r>
            <a:r>
              <a:rPr lang="is-IS" sz="1800" dirty="0">
                <a:solidFill>
                  <a:prstClr val="black"/>
                </a:solidFill>
                <a:latin typeface="Courier"/>
              </a:rPr>
              <a:t>)</a:t>
            </a:r>
          </a:p>
          <a:p>
            <a:pPr marL="0" indent="0">
              <a:buNone/>
            </a:pPr>
            <a:r>
              <a:rPr lang="is-IS" sz="1800" dirty="0">
                <a:solidFill>
                  <a:prstClr val="black"/>
                </a:solidFill>
                <a:latin typeface="Courier"/>
              </a:rPr>
              <a:t>&gt;&gt;&gt; 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l</a:t>
            </a:r>
          </a:p>
          <a:p>
            <a:pPr marL="0" indent="0">
              <a:buNone/>
            </a:pPr>
            <a:r>
              <a:rPr lang="pt-BR" sz="1800" dirty="0">
                <a:solidFill>
                  <a:prstClr val="black"/>
                </a:solidFill>
                <a:latin typeface="Courier"/>
              </a:rPr>
              <a:t>['</a:t>
            </a:r>
            <a:r>
              <a:rPr lang="pt-BR" sz="1800" dirty="0" err="1">
                <a:solidFill>
                  <a:prstClr val="black"/>
                </a:solidFill>
                <a:latin typeface="Courier"/>
              </a:rPr>
              <a:t>jaune</a:t>
            </a:r>
            <a:r>
              <a:rPr lang="pt-BR" sz="1800" dirty="0">
                <a:solidFill>
                  <a:prstClr val="black"/>
                </a:solidFill>
                <a:latin typeface="Courier"/>
              </a:rPr>
              <a:t>', '</a:t>
            </a:r>
            <a:r>
              <a:rPr lang="pt-BR" sz="1800" dirty="0" err="1">
                <a:solidFill>
                  <a:prstClr val="black"/>
                </a:solidFill>
                <a:latin typeface="Courier"/>
              </a:rPr>
              <a:t>orange</a:t>
            </a:r>
            <a:r>
              <a:rPr lang="pt-BR" sz="1800" dirty="0">
                <a:solidFill>
                  <a:prstClr val="black"/>
                </a:solidFill>
                <a:latin typeface="Courier"/>
              </a:rPr>
              <a:t>', '</a:t>
            </a:r>
            <a:r>
              <a:rPr lang="pt-BR" sz="1800" dirty="0" err="1">
                <a:solidFill>
                  <a:prstClr val="black"/>
                </a:solidFill>
                <a:latin typeface="Courier"/>
              </a:rPr>
              <a:t>rouge</a:t>
            </a:r>
            <a:r>
              <a:rPr lang="pt-BR" sz="1800" dirty="0">
                <a:solidFill>
                  <a:prstClr val="black"/>
                </a:solidFill>
                <a:latin typeface="Courier"/>
              </a:rPr>
              <a:t>', 2.83]</a:t>
            </a:r>
          </a:p>
          <a:p>
            <a:pPr marL="0" indent="0">
              <a:buNone/>
            </a:pPr>
            <a:r>
              <a:rPr lang="is-IS" sz="1800" dirty="0">
                <a:solidFill>
                  <a:prstClr val="black"/>
                </a:solidFill>
                <a:latin typeface="Courier"/>
              </a:rPr>
              <a:t>&gt;&gt;&gt; </a:t>
            </a:r>
            <a:r>
              <a:rPr lang="fr-FR" sz="1800" dirty="0" err="1">
                <a:solidFill>
                  <a:prstClr val="black"/>
                </a:solidFill>
                <a:latin typeface="Courier"/>
              </a:rPr>
              <a:t>l</a:t>
            </a:r>
            <a:r>
              <a:rPr lang="fr-FR" sz="1800" dirty="0" err="1">
                <a:solidFill>
                  <a:srgbClr val="666666"/>
                </a:solidFill>
                <a:latin typeface="Courier"/>
              </a:rPr>
              <a:t>.</a:t>
            </a:r>
            <a:r>
              <a:rPr lang="fr-FR" sz="1800" dirty="0" err="1">
                <a:solidFill>
                  <a:prstClr val="black"/>
                </a:solidFill>
                <a:latin typeface="Courier"/>
              </a:rPr>
              <a:t>count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(</a:t>
            </a:r>
            <a:r>
              <a:rPr lang="fr-FR" sz="1800" dirty="0">
                <a:solidFill>
                  <a:srgbClr val="BA2121"/>
                </a:solidFill>
                <a:latin typeface="Courier"/>
              </a:rPr>
              <a:t>"rouge"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)</a:t>
            </a:r>
          </a:p>
          <a:p>
            <a:pPr marL="0" indent="0">
              <a:buNone/>
            </a:pPr>
            <a:r>
              <a:rPr lang="is-IS" sz="1800" dirty="0">
                <a:solidFill>
                  <a:prstClr val="black"/>
                </a:solidFill>
                <a:latin typeface="Courier"/>
              </a:rPr>
              <a:t>1</a:t>
            </a:r>
          </a:p>
          <a:p>
            <a:pPr marL="0" indent="0">
              <a:buNone/>
            </a:pPr>
            <a:r>
              <a:rPr lang="is-IS" sz="1800" dirty="0">
                <a:solidFill>
                  <a:prstClr val="black"/>
                </a:solidFill>
                <a:latin typeface="Courier"/>
              </a:rPr>
              <a:t>&gt;&gt;&gt; </a:t>
            </a:r>
            <a:r>
              <a:rPr lang="pt-BR" sz="1800" dirty="0" err="1">
                <a:solidFill>
                  <a:prstClr val="black"/>
                </a:solidFill>
                <a:latin typeface="Courier"/>
              </a:rPr>
              <a:t>l</a:t>
            </a:r>
            <a:r>
              <a:rPr lang="pt-BR" sz="1800" dirty="0" err="1">
                <a:solidFill>
                  <a:srgbClr val="666666"/>
                </a:solidFill>
                <a:latin typeface="Courier"/>
              </a:rPr>
              <a:t>.</a:t>
            </a:r>
            <a:r>
              <a:rPr lang="pt-BR" sz="1800" dirty="0" err="1">
                <a:solidFill>
                  <a:prstClr val="black"/>
                </a:solidFill>
                <a:latin typeface="Courier"/>
              </a:rPr>
              <a:t>extend</a:t>
            </a:r>
            <a:r>
              <a:rPr lang="pt-BR" sz="1800" dirty="0">
                <a:solidFill>
                  <a:prstClr val="black"/>
                </a:solidFill>
                <a:latin typeface="Courier"/>
              </a:rPr>
              <a:t>([</a:t>
            </a:r>
            <a:r>
              <a:rPr lang="pt-BR" sz="1800" dirty="0">
                <a:solidFill>
                  <a:srgbClr val="666666"/>
                </a:solidFill>
                <a:latin typeface="Courier"/>
              </a:rPr>
              <a:t>1</a:t>
            </a:r>
            <a:r>
              <a:rPr lang="pt-BR" sz="1800" dirty="0">
                <a:solidFill>
                  <a:prstClr val="black"/>
                </a:solidFill>
                <a:latin typeface="Courier"/>
              </a:rPr>
              <a:t>,</a:t>
            </a:r>
            <a:r>
              <a:rPr lang="pt-BR" sz="1800" dirty="0">
                <a:solidFill>
                  <a:srgbClr val="666666"/>
                </a:solidFill>
                <a:latin typeface="Courier"/>
              </a:rPr>
              <a:t>2</a:t>
            </a:r>
            <a:r>
              <a:rPr lang="pt-BR" sz="1800" dirty="0">
                <a:solidFill>
                  <a:prstClr val="black"/>
                </a:solidFill>
                <a:latin typeface="Courier"/>
              </a:rPr>
              <a:t>,</a:t>
            </a:r>
            <a:r>
              <a:rPr lang="pt-BR" sz="1800" dirty="0">
                <a:solidFill>
                  <a:srgbClr val="666666"/>
                </a:solidFill>
                <a:latin typeface="Courier"/>
              </a:rPr>
              <a:t>3</a:t>
            </a:r>
            <a:r>
              <a:rPr lang="pt-BR" sz="1800" dirty="0">
                <a:solidFill>
                  <a:prstClr val="black"/>
                </a:solidFill>
                <a:latin typeface="Courier"/>
              </a:rPr>
              <a:t>])</a:t>
            </a:r>
          </a:p>
          <a:p>
            <a:pPr marL="0" indent="0">
              <a:buNone/>
            </a:pPr>
            <a:r>
              <a:rPr lang="is-IS" sz="1800" dirty="0">
                <a:solidFill>
                  <a:prstClr val="black"/>
                </a:solidFill>
                <a:latin typeface="Courier"/>
              </a:rPr>
              <a:t>&gt;&gt;&gt; </a:t>
            </a:r>
            <a:r>
              <a:rPr lang="pt-BR" sz="1800" dirty="0">
                <a:solidFill>
                  <a:prstClr val="black"/>
                </a:solidFill>
                <a:latin typeface="Courier"/>
              </a:rPr>
              <a:t>l</a:t>
            </a:r>
          </a:p>
          <a:p>
            <a:pPr marL="0" indent="0">
              <a:buNone/>
            </a:pPr>
            <a:r>
              <a:rPr lang="pt-BR" sz="1800" dirty="0">
                <a:solidFill>
                  <a:prstClr val="black"/>
                </a:solidFill>
                <a:latin typeface="Courier"/>
              </a:rPr>
              <a:t>['</a:t>
            </a:r>
            <a:r>
              <a:rPr lang="pt-BR" sz="1800" dirty="0" err="1">
                <a:solidFill>
                  <a:prstClr val="black"/>
                </a:solidFill>
                <a:latin typeface="Courier"/>
              </a:rPr>
              <a:t>jaune</a:t>
            </a:r>
            <a:r>
              <a:rPr lang="pt-BR" sz="1800" dirty="0">
                <a:solidFill>
                  <a:prstClr val="black"/>
                </a:solidFill>
                <a:latin typeface="Courier"/>
              </a:rPr>
              <a:t>', '</a:t>
            </a:r>
            <a:r>
              <a:rPr lang="pt-BR" sz="1800" dirty="0" err="1">
                <a:solidFill>
                  <a:prstClr val="black"/>
                </a:solidFill>
                <a:latin typeface="Courier"/>
              </a:rPr>
              <a:t>orange</a:t>
            </a:r>
            <a:r>
              <a:rPr lang="pt-BR" sz="1800" dirty="0">
                <a:solidFill>
                  <a:prstClr val="black"/>
                </a:solidFill>
                <a:latin typeface="Courier"/>
              </a:rPr>
              <a:t>', '</a:t>
            </a:r>
            <a:r>
              <a:rPr lang="pt-BR" sz="1800" dirty="0" err="1">
                <a:solidFill>
                  <a:prstClr val="black"/>
                </a:solidFill>
                <a:latin typeface="Courier"/>
              </a:rPr>
              <a:t>rouge</a:t>
            </a:r>
            <a:r>
              <a:rPr lang="pt-BR" sz="1800" dirty="0">
                <a:solidFill>
                  <a:prstClr val="black"/>
                </a:solidFill>
                <a:latin typeface="Courier"/>
              </a:rPr>
              <a:t>', 2.83, 1, 2, 3]</a:t>
            </a:r>
            <a:endParaRPr lang="is-IS" sz="1800" dirty="0">
              <a:solidFill>
                <a:prstClr val="black"/>
              </a:solidFill>
              <a:latin typeface="Courier"/>
            </a:endParaRPr>
          </a:p>
          <a:p>
            <a:pPr marL="0" indent="0">
              <a:buNone/>
            </a:pPr>
            <a:r>
              <a:rPr lang="is-IS" sz="1800" dirty="0">
                <a:solidFill>
                  <a:prstClr val="black"/>
                </a:solidFill>
                <a:latin typeface="Courier"/>
              </a:rPr>
              <a:t>&gt;&gt;&gt; </a:t>
            </a:r>
            <a:r>
              <a:rPr lang="pt-BR" sz="1800" dirty="0" err="1">
                <a:solidFill>
                  <a:prstClr val="black"/>
                </a:solidFill>
                <a:latin typeface="Courier"/>
              </a:rPr>
              <a:t>l</a:t>
            </a:r>
            <a:r>
              <a:rPr lang="pt-BR" sz="1800" dirty="0" err="1">
                <a:solidFill>
                  <a:srgbClr val="666666"/>
                </a:solidFill>
                <a:latin typeface="Courier"/>
              </a:rPr>
              <a:t>.</a:t>
            </a:r>
            <a:r>
              <a:rPr lang="pt-BR" sz="1800" dirty="0" err="1">
                <a:solidFill>
                  <a:prstClr val="black"/>
                </a:solidFill>
                <a:latin typeface="Courier"/>
              </a:rPr>
              <a:t>index</a:t>
            </a:r>
            <a:r>
              <a:rPr lang="pt-BR" sz="1800" dirty="0">
                <a:solidFill>
                  <a:prstClr val="black"/>
                </a:solidFill>
                <a:latin typeface="Courier"/>
              </a:rPr>
              <a:t>(</a:t>
            </a:r>
            <a:r>
              <a:rPr lang="pt-BR" sz="1800" dirty="0">
                <a:solidFill>
                  <a:srgbClr val="BA2121"/>
                </a:solidFill>
                <a:latin typeface="Courier"/>
              </a:rPr>
              <a:t>"</a:t>
            </a:r>
            <a:r>
              <a:rPr lang="pt-BR" sz="1800" dirty="0" err="1">
                <a:solidFill>
                  <a:srgbClr val="BA2121"/>
                </a:solidFill>
                <a:latin typeface="Courier"/>
              </a:rPr>
              <a:t>rouge</a:t>
            </a:r>
            <a:r>
              <a:rPr lang="fr-FR" sz="1800" dirty="0">
                <a:solidFill>
                  <a:srgbClr val="BA2121"/>
                </a:solidFill>
                <a:latin typeface="Courier"/>
              </a:rPr>
              <a:t>"</a:t>
            </a:r>
            <a:r>
              <a:rPr lang="pt-BR" sz="1800" dirty="0">
                <a:solidFill>
                  <a:prstClr val="black"/>
                </a:solidFill>
                <a:latin typeface="Courier"/>
              </a:rPr>
              <a:t>)</a:t>
            </a:r>
          </a:p>
          <a:p>
            <a:pPr marL="0" indent="0">
              <a:buNone/>
            </a:pPr>
            <a:r>
              <a:rPr lang="pt-BR" sz="1800" dirty="0">
                <a:solidFill>
                  <a:prstClr val="black"/>
                </a:solidFill>
                <a:latin typeface="Courier"/>
              </a:rPr>
              <a:t>2</a:t>
            </a:r>
          </a:p>
          <a:p>
            <a:pPr marL="0" indent="0">
              <a:buNone/>
            </a:pPr>
            <a:r>
              <a:rPr lang="pt-BR" sz="1800" dirty="0">
                <a:solidFill>
                  <a:prstClr val="black"/>
                </a:solidFill>
                <a:latin typeface="Courier"/>
              </a:rPr>
              <a:t>&gt;&gt;&gt;</a:t>
            </a:r>
          </a:p>
        </p:txBody>
      </p:sp>
    </p:spTree>
    <p:extLst>
      <p:ext uri="{BB962C8B-B14F-4D97-AF65-F5344CB8AC3E}">
        <p14:creationId xmlns:p14="http://schemas.microsoft.com/office/powerpoint/2010/main" val="3672703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listes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35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is-IS" sz="1800" dirty="0">
                <a:solidFill>
                  <a:prstClr val="black"/>
                </a:solidFill>
                <a:latin typeface="Courier"/>
                <a:cs typeface="Courier"/>
              </a:rPr>
              <a:t>&gt;&gt;&gt; </a:t>
            </a:r>
            <a:r>
              <a:rPr lang="pt-BR" sz="1800" dirty="0" err="1">
                <a:solidFill>
                  <a:prstClr val="black"/>
                </a:solidFill>
                <a:latin typeface="Courier"/>
                <a:cs typeface="Courier"/>
              </a:rPr>
              <a:t>l</a:t>
            </a:r>
            <a:r>
              <a:rPr lang="pt-BR" sz="1800" dirty="0" err="1">
                <a:solidFill>
                  <a:srgbClr val="666666"/>
                </a:solidFill>
                <a:latin typeface="Courier"/>
                <a:cs typeface="Courier"/>
              </a:rPr>
              <a:t>.</a:t>
            </a:r>
            <a:r>
              <a:rPr lang="pt-BR" sz="1800" dirty="0" err="1">
                <a:solidFill>
                  <a:prstClr val="black"/>
                </a:solidFill>
                <a:latin typeface="Courier"/>
                <a:cs typeface="Courier"/>
              </a:rPr>
              <a:t>insert</a:t>
            </a:r>
            <a:r>
              <a:rPr lang="pt-BR" sz="1800" dirty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pt-BR" sz="1800" dirty="0">
                <a:solidFill>
                  <a:srgbClr val="666666"/>
                </a:solidFill>
                <a:latin typeface="Courier"/>
                <a:cs typeface="Courier"/>
              </a:rPr>
              <a:t>2</a:t>
            </a:r>
            <a:r>
              <a:rPr lang="pt-BR" sz="1800" dirty="0">
                <a:solidFill>
                  <a:prstClr val="black"/>
                </a:solidFill>
                <a:latin typeface="Courier"/>
                <a:cs typeface="Courier"/>
              </a:rPr>
              <a:t>,</a:t>
            </a:r>
            <a:r>
              <a:rPr lang="pt-BR" sz="1800" b="1" dirty="0">
                <a:solidFill>
                  <a:srgbClr val="008000"/>
                </a:solidFill>
                <a:latin typeface="Courier"/>
                <a:cs typeface="Courier"/>
              </a:rPr>
              <a:t>True</a:t>
            </a:r>
            <a:r>
              <a:rPr lang="pt-BR" sz="1800" dirty="0">
                <a:solidFill>
                  <a:prstClr val="black"/>
                </a:solidFill>
                <a:latin typeface="Courier"/>
                <a:cs typeface="Courier"/>
              </a:rPr>
              <a:t>)</a:t>
            </a:r>
          </a:p>
          <a:p>
            <a:pPr marL="0" indent="0">
              <a:buNone/>
            </a:pPr>
            <a:r>
              <a:rPr lang="is-IS" sz="1800" dirty="0">
                <a:solidFill>
                  <a:prstClr val="black"/>
                </a:solidFill>
                <a:latin typeface="Courier"/>
                <a:cs typeface="Courier"/>
              </a:rPr>
              <a:t>&gt;&gt;&gt; </a:t>
            </a:r>
            <a:r>
              <a:rPr lang="pt-BR" sz="1800" dirty="0">
                <a:solidFill>
                  <a:prstClr val="black"/>
                </a:solidFill>
                <a:latin typeface="Courier"/>
                <a:cs typeface="Courier"/>
              </a:rPr>
              <a:t>l</a:t>
            </a:r>
          </a:p>
          <a:p>
            <a:pPr marL="0" indent="0">
              <a:buNone/>
            </a:pPr>
            <a:r>
              <a:rPr lang="pt-BR" sz="1800" dirty="0">
                <a:solidFill>
                  <a:prstClr val="black"/>
                </a:solidFill>
                <a:latin typeface="Courier"/>
                <a:cs typeface="Courier"/>
              </a:rPr>
              <a:t>['</a:t>
            </a:r>
            <a:r>
              <a:rPr lang="pt-BR" sz="1800" dirty="0" err="1">
                <a:solidFill>
                  <a:prstClr val="black"/>
                </a:solidFill>
                <a:latin typeface="Courier"/>
                <a:cs typeface="Courier"/>
              </a:rPr>
              <a:t>jaune</a:t>
            </a:r>
            <a:r>
              <a:rPr lang="pt-BR" sz="1800" dirty="0">
                <a:solidFill>
                  <a:prstClr val="black"/>
                </a:solidFill>
                <a:latin typeface="Courier"/>
                <a:cs typeface="Courier"/>
              </a:rPr>
              <a:t>', '</a:t>
            </a:r>
            <a:r>
              <a:rPr lang="pt-BR" sz="1800" dirty="0" err="1">
                <a:solidFill>
                  <a:prstClr val="black"/>
                </a:solidFill>
                <a:latin typeface="Courier"/>
                <a:cs typeface="Courier"/>
              </a:rPr>
              <a:t>orange</a:t>
            </a:r>
            <a:r>
              <a:rPr lang="pt-BR" sz="1800" dirty="0">
                <a:solidFill>
                  <a:prstClr val="black"/>
                </a:solidFill>
                <a:latin typeface="Courier"/>
                <a:cs typeface="Courier"/>
              </a:rPr>
              <a:t>', </a:t>
            </a:r>
            <a:r>
              <a:rPr lang="pt-BR" sz="1800" dirty="0" err="1">
                <a:solidFill>
                  <a:prstClr val="black"/>
                </a:solidFill>
                <a:latin typeface="Courier"/>
                <a:cs typeface="Courier"/>
              </a:rPr>
              <a:t>True</a:t>
            </a:r>
            <a:r>
              <a:rPr lang="pt-BR" sz="1800" dirty="0">
                <a:solidFill>
                  <a:prstClr val="black"/>
                </a:solidFill>
                <a:latin typeface="Courier"/>
                <a:cs typeface="Courier"/>
              </a:rPr>
              <a:t>, '</a:t>
            </a:r>
            <a:r>
              <a:rPr lang="pt-BR" sz="1800" dirty="0" err="1">
                <a:solidFill>
                  <a:prstClr val="black"/>
                </a:solidFill>
                <a:latin typeface="Courier"/>
                <a:cs typeface="Courier"/>
              </a:rPr>
              <a:t>rouge</a:t>
            </a:r>
            <a:r>
              <a:rPr lang="pt-BR" sz="1800" dirty="0">
                <a:solidFill>
                  <a:prstClr val="black"/>
                </a:solidFill>
                <a:latin typeface="Courier"/>
                <a:cs typeface="Courier"/>
              </a:rPr>
              <a:t>', 2.83, 1, 2, 3]</a:t>
            </a:r>
          </a:p>
          <a:p>
            <a:pPr marL="0" indent="0">
              <a:buNone/>
            </a:pPr>
            <a:r>
              <a:rPr lang="is-IS" sz="1800" dirty="0">
                <a:solidFill>
                  <a:prstClr val="black"/>
                </a:solidFill>
                <a:latin typeface="Courier"/>
                <a:cs typeface="Courier"/>
              </a:rPr>
              <a:t>&gt;&gt;&gt; l</a:t>
            </a:r>
            <a:r>
              <a:rPr lang="is-IS" sz="1800" dirty="0">
                <a:solidFill>
                  <a:srgbClr val="666666"/>
                </a:solidFill>
                <a:latin typeface="Courier"/>
                <a:cs typeface="Courier"/>
              </a:rPr>
              <a:t>.</a:t>
            </a:r>
            <a:r>
              <a:rPr lang="is-IS" sz="1800" dirty="0">
                <a:solidFill>
                  <a:prstClr val="black"/>
                </a:solidFill>
                <a:latin typeface="Courier"/>
                <a:cs typeface="Courier"/>
              </a:rPr>
              <a:t>pop(</a:t>
            </a:r>
            <a:r>
              <a:rPr lang="is-IS" sz="1800" dirty="0">
                <a:solidFill>
                  <a:srgbClr val="666666"/>
                </a:solidFill>
                <a:latin typeface="Courier"/>
                <a:cs typeface="Courier"/>
              </a:rPr>
              <a:t>3</a:t>
            </a:r>
            <a:r>
              <a:rPr lang="is-IS" sz="1800" dirty="0">
                <a:solidFill>
                  <a:prstClr val="black"/>
                </a:solidFill>
                <a:latin typeface="Courier"/>
                <a:cs typeface="Courier"/>
              </a:rPr>
              <a:t>)</a:t>
            </a:r>
          </a:p>
          <a:p>
            <a:pPr marL="0" indent="0">
              <a:buNone/>
            </a:pPr>
            <a:r>
              <a:rPr lang="is-IS" sz="1800" dirty="0">
                <a:solidFill>
                  <a:prstClr val="black"/>
                </a:solidFill>
                <a:latin typeface="Courier"/>
                <a:cs typeface="Courier"/>
              </a:rPr>
              <a:t>&gt;&gt;&gt; 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l</a:t>
            </a:r>
          </a:p>
          <a:p>
            <a:pPr marL="0" indent="0">
              <a:buNone/>
            </a:pPr>
            <a:r>
              <a:rPr lang="pt-BR" sz="1800" dirty="0">
                <a:solidFill>
                  <a:prstClr val="black"/>
                </a:solidFill>
                <a:latin typeface="Courier"/>
                <a:cs typeface="Courier"/>
              </a:rPr>
              <a:t>['</a:t>
            </a:r>
            <a:r>
              <a:rPr lang="pt-BR" sz="1800" dirty="0" err="1">
                <a:solidFill>
                  <a:prstClr val="black"/>
                </a:solidFill>
                <a:latin typeface="Courier"/>
                <a:cs typeface="Courier"/>
              </a:rPr>
              <a:t>jaune</a:t>
            </a:r>
            <a:r>
              <a:rPr lang="pt-BR" sz="1800" dirty="0">
                <a:solidFill>
                  <a:prstClr val="black"/>
                </a:solidFill>
                <a:latin typeface="Courier"/>
                <a:cs typeface="Courier"/>
              </a:rPr>
              <a:t>', '</a:t>
            </a:r>
            <a:r>
              <a:rPr lang="pt-BR" sz="1800" dirty="0" err="1">
                <a:solidFill>
                  <a:prstClr val="black"/>
                </a:solidFill>
                <a:latin typeface="Courier"/>
                <a:cs typeface="Courier"/>
              </a:rPr>
              <a:t>orange</a:t>
            </a:r>
            <a:r>
              <a:rPr lang="pt-BR" sz="1800" dirty="0">
                <a:solidFill>
                  <a:prstClr val="black"/>
                </a:solidFill>
                <a:latin typeface="Courier"/>
                <a:cs typeface="Courier"/>
              </a:rPr>
              <a:t>', </a:t>
            </a:r>
            <a:r>
              <a:rPr lang="pt-BR" sz="1800" dirty="0" err="1">
                <a:solidFill>
                  <a:prstClr val="black"/>
                </a:solidFill>
                <a:latin typeface="Courier"/>
                <a:cs typeface="Courier"/>
              </a:rPr>
              <a:t>True</a:t>
            </a:r>
            <a:r>
              <a:rPr lang="pt-BR" sz="1800" dirty="0">
                <a:solidFill>
                  <a:prstClr val="black"/>
                </a:solidFill>
                <a:latin typeface="Courier"/>
                <a:cs typeface="Courier"/>
              </a:rPr>
              <a:t>, 2.83, 1, 2, 3]</a:t>
            </a:r>
          </a:p>
          <a:p>
            <a:pPr marL="0" indent="0">
              <a:buNone/>
            </a:pPr>
            <a:r>
              <a:rPr lang="is-IS" sz="1800" dirty="0">
                <a:solidFill>
                  <a:prstClr val="black"/>
                </a:solidFill>
                <a:latin typeface="Courier"/>
                <a:cs typeface="Courier"/>
              </a:rPr>
              <a:t>&gt;&gt;&gt; </a:t>
            </a:r>
            <a:r>
              <a:rPr lang="fr-FR" sz="1800" dirty="0" err="1">
                <a:solidFill>
                  <a:prstClr val="black"/>
                </a:solidFill>
                <a:latin typeface="Courier"/>
                <a:cs typeface="Courier"/>
              </a:rPr>
              <a:t>l</a:t>
            </a:r>
            <a:r>
              <a:rPr lang="fr-FR" sz="1800" dirty="0" err="1">
                <a:solidFill>
                  <a:srgbClr val="666666"/>
                </a:solidFill>
                <a:latin typeface="Courier"/>
                <a:cs typeface="Courier"/>
              </a:rPr>
              <a:t>.</a:t>
            </a:r>
            <a:r>
              <a:rPr lang="fr-FR" sz="1800" dirty="0" err="1">
                <a:solidFill>
                  <a:prstClr val="black"/>
                </a:solidFill>
                <a:latin typeface="Courier"/>
                <a:cs typeface="Courier"/>
              </a:rPr>
              <a:t>remove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"jaune"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)</a:t>
            </a:r>
          </a:p>
          <a:p>
            <a:pPr marL="0" indent="0">
              <a:buNone/>
            </a:pPr>
            <a:r>
              <a:rPr lang="is-IS" sz="1800" dirty="0">
                <a:solidFill>
                  <a:prstClr val="black"/>
                </a:solidFill>
                <a:latin typeface="Courier"/>
                <a:cs typeface="Courier"/>
              </a:rPr>
              <a:t>&gt;&gt;&gt; 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l</a:t>
            </a:r>
          </a:p>
          <a:p>
            <a:pPr marL="0" indent="0">
              <a:buNone/>
            </a:pPr>
            <a:r>
              <a:rPr lang="pt-BR" sz="1800" dirty="0">
                <a:solidFill>
                  <a:prstClr val="black"/>
                </a:solidFill>
                <a:latin typeface="Courier"/>
                <a:cs typeface="Courier"/>
              </a:rPr>
              <a:t>['</a:t>
            </a:r>
            <a:r>
              <a:rPr lang="pt-BR" sz="1800" dirty="0" err="1">
                <a:solidFill>
                  <a:prstClr val="black"/>
                </a:solidFill>
                <a:latin typeface="Courier"/>
                <a:cs typeface="Courier"/>
              </a:rPr>
              <a:t>orange</a:t>
            </a:r>
            <a:r>
              <a:rPr lang="pt-BR" sz="1800" dirty="0">
                <a:solidFill>
                  <a:prstClr val="black"/>
                </a:solidFill>
                <a:latin typeface="Courier"/>
                <a:cs typeface="Courier"/>
              </a:rPr>
              <a:t>', </a:t>
            </a:r>
            <a:r>
              <a:rPr lang="pt-BR" sz="1800" dirty="0" err="1">
                <a:solidFill>
                  <a:prstClr val="black"/>
                </a:solidFill>
                <a:latin typeface="Courier"/>
                <a:cs typeface="Courier"/>
              </a:rPr>
              <a:t>True</a:t>
            </a:r>
            <a:r>
              <a:rPr lang="pt-BR" sz="1800" dirty="0">
                <a:solidFill>
                  <a:prstClr val="black"/>
                </a:solidFill>
                <a:latin typeface="Courier"/>
                <a:cs typeface="Courier"/>
              </a:rPr>
              <a:t>, 2.83, 1, 2, 3]</a:t>
            </a:r>
          </a:p>
          <a:p>
            <a:pPr marL="0" indent="0">
              <a:buNone/>
            </a:pPr>
            <a:r>
              <a:rPr lang="is-IS" sz="1800" dirty="0">
                <a:solidFill>
                  <a:prstClr val="black"/>
                </a:solidFill>
                <a:latin typeface="Courier"/>
                <a:cs typeface="Courier"/>
              </a:rPr>
              <a:t>&gt;&gt;&gt; </a:t>
            </a:r>
            <a:r>
              <a:rPr lang="fr-FR" sz="1800" dirty="0" err="1">
                <a:solidFill>
                  <a:prstClr val="black"/>
                </a:solidFill>
                <a:latin typeface="Courier"/>
                <a:cs typeface="Courier"/>
              </a:rPr>
              <a:t>l</a:t>
            </a:r>
            <a:r>
              <a:rPr lang="fr-FR" sz="1800" dirty="0" err="1">
                <a:solidFill>
                  <a:srgbClr val="666666"/>
                </a:solidFill>
                <a:latin typeface="Courier"/>
                <a:cs typeface="Courier"/>
              </a:rPr>
              <a:t>.</a:t>
            </a:r>
            <a:r>
              <a:rPr lang="fr-FR" sz="1800" dirty="0" err="1">
                <a:solidFill>
                  <a:prstClr val="black"/>
                </a:solidFill>
                <a:latin typeface="Courier"/>
                <a:cs typeface="Courier"/>
              </a:rPr>
              <a:t>reverse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()</a:t>
            </a:r>
          </a:p>
          <a:p>
            <a:pPr marL="0" indent="0">
              <a:buNone/>
            </a:pPr>
            <a:r>
              <a:rPr lang="is-IS" sz="1800" dirty="0">
                <a:solidFill>
                  <a:prstClr val="black"/>
                </a:solidFill>
                <a:latin typeface="Courier"/>
                <a:cs typeface="Courier"/>
              </a:rPr>
              <a:t>&gt;&gt;&gt; 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l</a:t>
            </a:r>
          </a:p>
          <a:p>
            <a:pPr marL="0" indent="0">
              <a:buNone/>
            </a:pPr>
            <a:r>
              <a:rPr lang="pt-BR" sz="1800" dirty="0">
                <a:solidFill>
                  <a:prstClr val="black"/>
                </a:solidFill>
                <a:latin typeface="Courier"/>
                <a:cs typeface="Courier"/>
              </a:rPr>
              <a:t>[3, 2, 1, 2.83, </a:t>
            </a:r>
            <a:r>
              <a:rPr lang="pt-BR" sz="1800" dirty="0" err="1">
                <a:solidFill>
                  <a:prstClr val="black"/>
                </a:solidFill>
                <a:latin typeface="Courier"/>
                <a:cs typeface="Courier"/>
              </a:rPr>
              <a:t>True</a:t>
            </a:r>
            <a:r>
              <a:rPr lang="pt-BR" sz="1800" dirty="0">
                <a:solidFill>
                  <a:prstClr val="black"/>
                </a:solidFill>
                <a:latin typeface="Courier"/>
                <a:cs typeface="Courier"/>
              </a:rPr>
              <a:t>, '</a:t>
            </a:r>
            <a:r>
              <a:rPr lang="pt-BR" sz="1800" dirty="0" err="1">
                <a:solidFill>
                  <a:prstClr val="black"/>
                </a:solidFill>
                <a:latin typeface="Courier"/>
                <a:cs typeface="Courier"/>
              </a:rPr>
              <a:t>orange</a:t>
            </a:r>
            <a:r>
              <a:rPr lang="pt-BR" sz="1800" dirty="0">
                <a:solidFill>
                  <a:prstClr val="black"/>
                </a:solidFill>
                <a:latin typeface="Courier"/>
                <a:cs typeface="Courier"/>
              </a:rPr>
              <a:t>']</a:t>
            </a:r>
            <a:endParaRPr lang="is-IS" sz="1800" dirty="0">
              <a:solidFill>
                <a:prstClr val="black"/>
              </a:solidFill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1297976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listes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36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fr-CH" dirty="0"/>
              <a:t>Parcours de listes : on peut parcourir les éléments successifs d’une liste </a:t>
            </a:r>
            <a:r>
              <a:rPr lang="fr-FR" dirty="0"/>
              <a:t>via</a:t>
            </a:r>
            <a:r>
              <a:rPr lang="fr-CH" dirty="0"/>
              <a:t> une boucle « for » (cf. chapitre suivant).</a:t>
            </a:r>
            <a:endParaRPr lang="fr-CH" sz="1800" dirty="0">
              <a:solidFill>
                <a:srgbClr val="FF0000"/>
              </a:solidFill>
              <a:latin typeface="Courier"/>
              <a:cs typeface="Courier"/>
            </a:endParaRPr>
          </a:p>
          <a:p>
            <a:r>
              <a:rPr lang="fr-CH" dirty="0"/>
              <a:t>Pour cela, ou utilise la syntaxe : </a:t>
            </a:r>
          </a:p>
          <a:p>
            <a:pPr marL="0" indent="0">
              <a:buNone/>
            </a:pPr>
            <a:r>
              <a:rPr lang="fr-CH" sz="2400" dirty="0">
                <a:solidFill>
                  <a:srgbClr val="3366FF"/>
                </a:solidFill>
                <a:latin typeface="Courier"/>
                <a:cs typeface="Courier"/>
              </a:rPr>
              <a:t>	for var in liste:</a:t>
            </a:r>
          </a:p>
          <a:p>
            <a:pPr marL="0" indent="0">
              <a:buNone/>
            </a:pPr>
            <a:r>
              <a:rPr lang="fr-CH" sz="2400" dirty="0">
                <a:solidFill>
                  <a:srgbClr val="3366FF"/>
                </a:solidFill>
                <a:latin typeface="Courier"/>
                <a:cs typeface="Courier"/>
              </a:rPr>
              <a:t>		instructions...</a:t>
            </a:r>
            <a:endParaRPr lang="fr-CH" sz="2400" dirty="0"/>
          </a:p>
          <a:p>
            <a:r>
              <a:rPr lang="fr-CH" dirty="0"/>
              <a:t>Ne pas oublier les deux points à la fin de l’instruction « for</a:t>
            </a:r>
            <a:r>
              <a:rPr lang="is-IS" dirty="0"/>
              <a:t>…</a:t>
            </a:r>
            <a:r>
              <a:rPr lang="fr-CH" dirty="0"/>
              <a:t> » et l’indentation obligatoire des instructions imbriquées dans la boucle « for ».</a:t>
            </a:r>
          </a:p>
        </p:txBody>
      </p:sp>
    </p:spTree>
    <p:extLst>
      <p:ext uri="{BB962C8B-B14F-4D97-AF65-F5344CB8AC3E}">
        <p14:creationId xmlns:p14="http://schemas.microsoft.com/office/powerpoint/2010/main" val="567395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listes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37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 err="1">
                <a:solidFill>
                  <a:prstClr val="black"/>
                </a:solidFill>
                <a:latin typeface="Courier"/>
                <a:cs typeface="Courier"/>
              </a:rPr>
              <a:t>Programme</a:t>
            </a:r>
            <a:endParaRPr lang="en-US" sz="1800" b="1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l 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[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1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,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2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,</a:t>
            </a:r>
            <a:r>
              <a:rPr lang="en-US" sz="1800" dirty="0">
                <a:solidFill>
                  <a:srgbClr val="BA2121"/>
                </a:solidFill>
                <a:latin typeface="Courier"/>
                <a:cs typeface="Courier"/>
              </a:rPr>
              <a:t>"monday"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,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3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,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4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,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5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,</a:t>
            </a:r>
            <a:r>
              <a:rPr lang="en-US" sz="1800" dirty="0">
                <a:solidFill>
                  <a:srgbClr val="BA2121"/>
                </a:solidFill>
                <a:latin typeface="Courier"/>
                <a:cs typeface="Courier"/>
              </a:rPr>
              <a:t>"tuesday"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,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6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,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7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,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8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,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9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,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10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]</a:t>
            </a:r>
          </a:p>
          <a:p>
            <a:pPr marL="0" indent="0">
              <a:buNone/>
            </a:pPr>
            <a:r>
              <a:rPr lang="en-US" sz="1800" b="1" dirty="0">
                <a:solidFill>
                  <a:srgbClr val="008000"/>
                </a:solidFill>
                <a:latin typeface="Courier"/>
                <a:cs typeface="Courier"/>
              </a:rPr>
              <a:t>for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x </a:t>
            </a:r>
            <a:r>
              <a:rPr lang="en-US" sz="1800" b="1" dirty="0">
                <a:solidFill>
                  <a:srgbClr val="AA22FF"/>
                </a:solidFill>
                <a:latin typeface="Courier"/>
                <a:cs typeface="Courier"/>
              </a:rPr>
              <a:t>in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l:</a:t>
            </a:r>
          </a:p>
          <a:p>
            <a:pPr marL="0" indent="0">
              <a:buNone/>
            </a:pP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   </a:t>
            </a:r>
            <a:r>
              <a:rPr lang="en-US" sz="1800" b="1" dirty="0">
                <a:solidFill>
                  <a:srgbClr val="008000"/>
                </a:solidFill>
                <a:latin typeface="Courier"/>
                <a:cs typeface="Courier"/>
              </a:rPr>
              <a:t>if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1800" dirty="0" err="1">
                <a:solidFill>
                  <a:srgbClr val="008000"/>
                </a:solidFill>
                <a:latin typeface="Courier"/>
                <a:cs typeface="Courier"/>
              </a:rPr>
              <a:t>isinstance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(x, </a:t>
            </a:r>
            <a:r>
              <a:rPr lang="en-US" sz="1800" dirty="0" err="1">
                <a:solidFill>
                  <a:srgbClr val="008000"/>
                </a:solidFill>
                <a:latin typeface="Courier"/>
                <a:cs typeface="Courier"/>
              </a:rPr>
              <a:t>str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): </a:t>
            </a:r>
            <a:r>
              <a:rPr lang="fr-FR" sz="1800" i="1" dirty="0">
                <a:solidFill>
                  <a:srgbClr val="408080"/>
                </a:solidFill>
                <a:latin typeface="Courier"/>
                <a:cs typeface="Courier"/>
              </a:rPr>
              <a:t># vérifie si x est une chaîne</a:t>
            </a:r>
            <a:endParaRPr lang="en-US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       </a:t>
            </a:r>
            <a:r>
              <a:rPr lang="en-US" sz="1800" dirty="0">
                <a:solidFill>
                  <a:srgbClr val="008000"/>
                </a:solidFill>
                <a:latin typeface="Courier"/>
                <a:cs typeface="Courier"/>
              </a:rPr>
              <a:t>print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(x)</a:t>
            </a:r>
          </a:p>
          <a:p>
            <a:pPr marL="0" indent="0">
              <a:buNone/>
            </a:pP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   </a:t>
            </a:r>
            <a:r>
              <a:rPr lang="en-US" sz="1800" b="1" dirty="0">
                <a:solidFill>
                  <a:srgbClr val="008000"/>
                </a:solidFill>
                <a:latin typeface="Courier"/>
                <a:cs typeface="Courier"/>
              </a:rPr>
              <a:t>else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:</a:t>
            </a:r>
          </a:p>
          <a:p>
            <a:pPr marL="0" indent="0">
              <a:buNone/>
            </a:pP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       </a:t>
            </a:r>
            <a:r>
              <a:rPr lang="en-US" sz="1800" b="1" dirty="0">
                <a:solidFill>
                  <a:srgbClr val="008000"/>
                </a:solidFill>
                <a:latin typeface="Courier"/>
                <a:cs typeface="Courier"/>
              </a:rPr>
              <a:t>pass </a:t>
            </a:r>
            <a:r>
              <a:rPr lang="fr-FR" sz="1800" i="1" dirty="0">
                <a:solidFill>
                  <a:srgbClr val="408080"/>
                </a:solidFill>
                <a:latin typeface="Courier"/>
                <a:cs typeface="Courier"/>
              </a:rPr>
              <a:t># instruction vide</a:t>
            </a:r>
            <a:endParaRPr lang="en-US" sz="1800" b="1" dirty="0">
              <a:solidFill>
                <a:srgbClr val="008000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b="1" dirty="0">
                <a:latin typeface="Courier"/>
                <a:cs typeface="Courier"/>
              </a:rPr>
              <a:t>Exécution</a:t>
            </a:r>
          </a:p>
          <a:p>
            <a:pPr marL="0" indent="0">
              <a:buNone/>
            </a:pPr>
            <a:r>
              <a:rPr lang="fr-FR" sz="1800" dirty="0" err="1">
                <a:latin typeface="Courier"/>
                <a:cs typeface="Courier"/>
              </a:rPr>
              <a:t>monday</a:t>
            </a:r>
            <a:endParaRPr lang="fr-FR" sz="1800" dirty="0"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 err="1">
                <a:latin typeface="Courier"/>
                <a:cs typeface="Courier"/>
              </a:rPr>
              <a:t>tuesday</a:t>
            </a:r>
            <a:endParaRPr lang="fr-FR" sz="1800" dirty="0">
              <a:latin typeface="Courier"/>
              <a:cs typeface="Courier"/>
            </a:endParaRPr>
          </a:p>
          <a:p>
            <a:pPr marL="0" indent="0">
              <a:buNone/>
            </a:pPr>
            <a:endParaRPr lang="fr-FR" sz="1800" b="1" dirty="0"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339288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listes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38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dirty="0"/>
              <a:t>Les éléments des listes peuvent eux-mêmes être des listes. Ceci donne lieu à des listes de listes, des listes de listes de listes, etc.</a:t>
            </a:r>
          </a:p>
          <a:p>
            <a:r>
              <a:rPr lang="fr-FR" dirty="0"/>
              <a:t>Les vecteurs sont généralement représentés par des listes et les matrices par des listes de listes.</a:t>
            </a:r>
          </a:p>
        </p:txBody>
      </p:sp>
    </p:spTree>
    <p:extLst>
      <p:ext uri="{BB962C8B-B14F-4D97-AF65-F5344CB8AC3E}">
        <p14:creationId xmlns:p14="http://schemas.microsoft.com/office/powerpoint/2010/main" val="2128660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listes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39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BR" sz="1800" dirty="0">
                <a:solidFill>
                  <a:prstClr val="black"/>
                </a:solidFill>
                <a:latin typeface="Courier"/>
                <a:cs typeface="Courier"/>
              </a:rPr>
              <a:t>&gt;&gt;&gt; l </a:t>
            </a:r>
            <a:r>
              <a:rPr lang="pt-BR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pt-BR" sz="1800" dirty="0">
                <a:solidFill>
                  <a:prstClr val="black"/>
                </a:solidFill>
                <a:latin typeface="Courier"/>
                <a:cs typeface="Courier"/>
              </a:rPr>
              <a:t> [</a:t>
            </a:r>
            <a:r>
              <a:rPr lang="pt-BR" sz="1800" dirty="0">
                <a:solidFill>
                  <a:srgbClr val="666666"/>
                </a:solidFill>
                <a:latin typeface="Courier"/>
                <a:cs typeface="Courier"/>
              </a:rPr>
              <a:t>1</a:t>
            </a:r>
            <a:r>
              <a:rPr lang="pt-BR" sz="1800" dirty="0">
                <a:solidFill>
                  <a:prstClr val="black"/>
                </a:solidFill>
                <a:latin typeface="Courier"/>
                <a:cs typeface="Courier"/>
              </a:rPr>
              <a:t>,</a:t>
            </a:r>
            <a:r>
              <a:rPr lang="pt-BR" sz="1800" dirty="0">
                <a:solidFill>
                  <a:srgbClr val="666666"/>
                </a:solidFill>
                <a:latin typeface="Courier"/>
                <a:cs typeface="Courier"/>
              </a:rPr>
              <a:t>2</a:t>
            </a:r>
            <a:r>
              <a:rPr lang="pt-BR" sz="1800" dirty="0">
                <a:solidFill>
                  <a:prstClr val="black"/>
                </a:solidFill>
                <a:latin typeface="Courier"/>
                <a:cs typeface="Courier"/>
              </a:rPr>
              <a:t>,</a:t>
            </a:r>
            <a:r>
              <a:rPr lang="pt-BR" sz="1800" dirty="0">
                <a:solidFill>
                  <a:srgbClr val="666666"/>
                </a:solidFill>
                <a:latin typeface="Courier"/>
                <a:cs typeface="Courier"/>
              </a:rPr>
              <a:t>3</a:t>
            </a:r>
            <a:r>
              <a:rPr lang="pt-BR" sz="1800" dirty="0">
                <a:solidFill>
                  <a:prstClr val="black"/>
                </a:solidFill>
                <a:latin typeface="Courier"/>
                <a:cs typeface="Courier"/>
              </a:rPr>
              <a:t>,[</a:t>
            </a:r>
            <a:r>
              <a:rPr lang="pt-BR" sz="1800" dirty="0">
                <a:solidFill>
                  <a:srgbClr val="666666"/>
                </a:solidFill>
                <a:latin typeface="Courier"/>
                <a:cs typeface="Courier"/>
              </a:rPr>
              <a:t>4</a:t>
            </a:r>
            <a:r>
              <a:rPr lang="pt-BR" sz="1800" dirty="0">
                <a:solidFill>
                  <a:prstClr val="black"/>
                </a:solidFill>
                <a:latin typeface="Courier"/>
                <a:cs typeface="Courier"/>
              </a:rPr>
              <a:t>,</a:t>
            </a:r>
            <a:r>
              <a:rPr lang="pt-BR" sz="1800" dirty="0">
                <a:solidFill>
                  <a:srgbClr val="666666"/>
                </a:solidFill>
                <a:latin typeface="Courier"/>
                <a:cs typeface="Courier"/>
              </a:rPr>
              <a:t>5</a:t>
            </a:r>
            <a:r>
              <a:rPr lang="pt-BR" sz="1800" dirty="0">
                <a:solidFill>
                  <a:prstClr val="black"/>
                </a:solidFill>
                <a:latin typeface="Courier"/>
                <a:cs typeface="Courier"/>
              </a:rPr>
              <a:t>,</a:t>
            </a:r>
            <a:r>
              <a:rPr lang="pt-BR" sz="1800" dirty="0">
                <a:solidFill>
                  <a:srgbClr val="666666"/>
                </a:solidFill>
                <a:latin typeface="Courier"/>
                <a:cs typeface="Courier"/>
              </a:rPr>
              <a:t>6</a:t>
            </a:r>
            <a:r>
              <a:rPr lang="pt-BR" sz="1800" dirty="0">
                <a:solidFill>
                  <a:prstClr val="black"/>
                </a:solidFill>
                <a:latin typeface="Courier"/>
                <a:cs typeface="Courier"/>
              </a:rPr>
              <a:t>]]</a:t>
            </a:r>
          </a:p>
          <a:p>
            <a:pPr marL="0" indent="0">
              <a:buNone/>
            </a:pPr>
            <a:r>
              <a:rPr lang="pt-BR" sz="1800" dirty="0">
                <a:solidFill>
                  <a:prstClr val="black"/>
                </a:solidFill>
                <a:latin typeface="Courier"/>
                <a:cs typeface="Courier"/>
              </a:rPr>
              <a:t>&gt;&gt;&gt; l[</a:t>
            </a:r>
            <a:r>
              <a:rPr lang="pt-BR" sz="1800" dirty="0">
                <a:solidFill>
                  <a:srgbClr val="666666"/>
                </a:solidFill>
                <a:latin typeface="Courier"/>
                <a:cs typeface="Courier"/>
              </a:rPr>
              <a:t>3</a:t>
            </a:r>
            <a:r>
              <a:rPr lang="pt-BR" sz="1800" dirty="0">
                <a:solidFill>
                  <a:prstClr val="black"/>
                </a:solidFill>
                <a:latin typeface="Courier"/>
                <a:cs typeface="Courier"/>
              </a:rPr>
              <a:t>]</a:t>
            </a:r>
          </a:p>
          <a:p>
            <a:pPr marL="0" indent="0">
              <a:buNone/>
            </a:pPr>
            <a:r>
              <a:rPr lang="pt-BR" sz="1800" dirty="0">
                <a:solidFill>
                  <a:prstClr val="black"/>
                </a:solidFill>
                <a:latin typeface="Courier"/>
                <a:cs typeface="Courier"/>
              </a:rPr>
              <a:t>[4,5,6]</a:t>
            </a:r>
          </a:p>
          <a:p>
            <a:pPr marL="0" indent="0">
              <a:buNone/>
            </a:pPr>
            <a:r>
              <a:rPr lang="pt-BR" sz="1800" dirty="0">
                <a:solidFill>
                  <a:prstClr val="black"/>
                </a:solidFill>
                <a:latin typeface="Courier"/>
                <a:cs typeface="Courier"/>
              </a:rPr>
              <a:t>&gt;&gt;&gt; l[</a:t>
            </a:r>
            <a:r>
              <a:rPr lang="pt-BR" sz="1800" dirty="0">
                <a:solidFill>
                  <a:srgbClr val="666666"/>
                </a:solidFill>
                <a:latin typeface="Courier"/>
                <a:cs typeface="Courier"/>
              </a:rPr>
              <a:t>3</a:t>
            </a:r>
            <a:r>
              <a:rPr lang="pt-BR" sz="1800" dirty="0">
                <a:solidFill>
                  <a:prstClr val="black"/>
                </a:solidFill>
                <a:latin typeface="Courier"/>
                <a:cs typeface="Courier"/>
              </a:rPr>
              <a:t>][</a:t>
            </a:r>
            <a:r>
              <a:rPr lang="pt-BR" sz="1800" dirty="0">
                <a:solidFill>
                  <a:srgbClr val="666666"/>
                </a:solidFill>
                <a:latin typeface="Courier"/>
                <a:cs typeface="Courier"/>
              </a:rPr>
              <a:t>0</a:t>
            </a:r>
            <a:r>
              <a:rPr lang="pt-BR" sz="1800" dirty="0">
                <a:solidFill>
                  <a:prstClr val="black"/>
                </a:solidFill>
                <a:latin typeface="Courier"/>
                <a:cs typeface="Courier"/>
              </a:rPr>
              <a:t>]</a:t>
            </a:r>
          </a:p>
          <a:p>
            <a:pPr marL="0" indent="0">
              <a:buNone/>
            </a:pPr>
            <a:r>
              <a:rPr lang="pt-BR" sz="1800" dirty="0">
                <a:solidFill>
                  <a:prstClr val="black"/>
                </a:solidFill>
                <a:latin typeface="Courier"/>
                <a:cs typeface="Courier"/>
              </a:rPr>
              <a:t>4</a:t>
            </a:r>
          </a:p>
          <a:p>
            <a:pPr marL="0" indent="0">
              <a:buNone/>
            </a:pPr>
            <a:r>
              <a:rPr lang="pt-BR" sz="1800" dirty="0">
                <a:solidFill>
                  <a:prstClr val="black"/>
                </a:solidFill>
                <a:latin typeface="Courier"/>
                <a:cs typeface="Courier"/>
              </a:rPr>
              <a:t>&gt;&gt;&gt; l[</a:t>
            </a:r>
            <a:r>
              <a:rPr lang="pt-BR" sz="1800" dirty="0">
                <a:solidFill>
                  <a:srgbClr val="666666"/>
                </a:solidFill>
                <a:latin typeface="Courier"/>
                <a:cs typeface="Courier"/>
              </a:rPr>
              <a:t>3</a:t>
            </a:r>
            <a:r>
              <a:rPr lang="pt-BR" sz="1800" dirty="0">
                <a:solidFill>
                  <a:prstClr val="black"/>
                </a:solidFill>
                <a:latin typeface="Courier"/>
                <a:cs typeface="Courier"/>
              </a:rPr>
              <a:t>][</a:t>
            </a:r>
            <a:r>
              <a:rPr lang="pt-BR" sz="1800" dirty="0">
                <a:solidFill>
                  <a:srgbClr val="666666"/>
                </a:solidFill>
                <a:latin typeface="Courier"/>
                <a:cs typeface="Courier"/>
              </a:rPr>
              <a:t>1</a:t>
            </a:r>
            <a:r>
              <a:rPr lang="pt-BR" sz="1800" dirty="0">
                <a:solidFill>
                  <a:prstClr val="black"/>
                </a:solidFill>
                <a:latin typeface="Courier"/>
                <a:cs typeface="Courier"/>
              </a:rPr>
              <a:t>]</a:t>
            </a:r>
          </a:p>
          <a:p>
            <a:pPr marL="0" indent="0">
              <a:buNone/>
            </a:pPr>
            <a:r>
              <a:rPr lang="pt-BR" sz="1800" dirty="0">
                <a:solidFill>
                  <a:prstClr val="black"/>
                </a:solidFill>
                <a:latin typeface="Courier"/>
                <a:cs typeface="Courier"/>
              </a:rPr>
              <a:t>5</a:t>
            </a:r>
          </a:p>
          <a:p>
            <a:pPr marL="0" indent="0">
              <a:buNone/>
            </a:pPr>
            <a:r>
              <a:rPr lang="pt-BR" sz="1800" dirty="0">
                <a:solidFill>
                  <a:prstClr val="black"/>
                </a:solidFill>
                <a:latin typeface="Courier"/>
                <a:cs typeface="Courier"/>
              </a:rPr>
              <a:t>&gt;&gt;&gt; l[</a:t>
            </a:r>
            <a:r>
              <a:rPr lang="pt-BR" sz="1800" dirty="0">
                <a:solidFill>
                  <a:srgbClr val="666666"/>
                </a:solidFill>
                <a:latin typeface="Courier"/>
                <a:cs typeface="Courier"/>
              </a:rPr>
              <a:t>3</a:t>
            </a:r>
            <a:r>
              <a:rPr lang="pt-BR" sz="1800" dirty="0">
                <a:solidFill>
                  <a:prstClr val="black"/>
                </a:solidFill>
                <a:latin typeface="Courier"/>
                <a:cs typeface="Courier"/>
              </a:rPr>
              <a:t>][</a:t>
            </a:r>
            <a:r>
              <a:rPr lang="pt-BR" sz="1800" dirty="0">
                <a:solidFill>
                  <a:srgbClr val="666666"/>
                </a:solidFill>
                <a:latin typeface="Courier"/>
                <a:cs typeface="Courier"/>
              </a:rPr>
              <a:t>2</a:t>
            </a:r>
            <a:r>
              <a:rPr lang="pt-BR" sz="1800" dirty="0">
                <a:solidFill>
                  <a:prstClr val="black"/>
                </a:solidFill>
                <a:latin typeface="Courier"/>
                <a:cs typeface="Courier"/>
              </a:rPr>
              <a:t>]</a:t>
            </a:r>
            <a:endParaRPr lang="fr-FR" sz="1800" dirty="0"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>
                <a:latin typeface="Courier"/>
                <a:cs typeface="Courier"/>
              </a:rPr>
              <a:t>6</a:t>
            </a:r>
          </a:p>
          <a:p>
            <a:pPr marL="0" indent="0">
              <a:buNone/>
            </a:pPr>
            <a:r>
              <a:rPr lang="fr-FR" sz="1800" dirty="0">
                <a:latin typeface="Courier"/>
                <a:cs typeface="Courier"/>
              </a:rPr>
              <a:t>&gt;&gt;&gt;</a:t>
            </a:r>
          </a:p>
        </p:txBody>
      </p:sp>
    </p:spTree>
    <p:extLst>
      <p:ext uri="{BB962C8B-B14F-4D97-AF65-F5344CB8AC3E}">
        <p14:creationId xmlns:p14="http://schemas.microsoft.com/office/powerpoint/2010/main" val="880165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listes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40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BR" sz="1800" dirty="0">
                <a:solidFill>
                  <a:prstClr val="black"/>
                </a:solidFill>
                <a:latin typeface="Courier"/>
                <a:cs typeface="Courier"/>
              </a:rPr>
              <a:t>&gt;&gt;&gt; </a:t>
            </a:r>
            <a:r>
              <a:rPr lang="pt-BR" sz="1800" dirty="0">
                <a:solidFill>
                  <a:prstClr val="black"/>
                </a:solidFill>
                <a:latin typeface="Courier"/>
              </a:rPr>
              <a:t>v1 </a:t>
            </a:r>
            <a:r>
              <a:rPr lang="pt-BR" sz="1800" dirty="0">
                <a:solidFill>
                  <a:srgbClr val="666666"/>
                </a:solidFill>
                <a:latin typeface="Courier"/>
              </a:rPr>
              <a:t>=</a:t>
            </a:r>
            <a:r>
              <a:rPr lang="pt-BR" sz="1800" dirty="0">
                <a:solidFill>
                  <a:prstClr val="black"/>
                </a:solidFill>
                <a:latin typeface="Courier"/>
              </a:rPr>
              <a:t> [</a:t>
            </a:r>
            <a:r>
              <a:rPr lang="pt-BR" sz="1800" dirty="0">
                <a:solidFill>
                  <a:srgbClr val="666666"/>
                </a:solidFill>
                <a:latin typeface="Courier"/>
              </a:rPr>
              <a:t>2.34</a:t>
            </a:r>
            <a:r>
              <a:rPr lang="pt-BR" sz="1800" dirty="0">
                <a:solidFill>
                  <a:prstClr val="black"/>
                </a:solidFill>
                <a:latin typeface="Courier"/>
              </a:rPr>
              <a:t>, </a:t>
            </a:r>
            <a:r>
              <a:rPr lang="pt-BR" sz="1800" dirty="0">
                <a:solidFill>
                  <a:srgbClr val="666666"/>
                </a:solidFill>
                <a:latin typeface="Courier"/>
              </a:rPr>
              <a:t>4.35</a:t>
            </a:r>
            <a:r>
              <a:rPr lang="pt-BR" sz="1800" dirty="0">
                <a:solidFill>
                  <a:prstClr val="black"/>
                </a:solidFill>
                <a:latin typeface="Courier"/>
              </a:rPr>
              <a:t>, </a:t>
            </a:r>
            <a:r>
              <a:rPr lang="pt-BR" sz="1800" dirty="0">
                <a:solidFill>
                  <a:srgbClr val="666666"/>
                </a:solidFill>
                <a:latin typeface="Courier"/>
              </a:rPr>
              <a:t>6.18</a:t>
            </a:r>
            <a:r>
              <a:rPr lang="pt-BR" sz="1800" dirty="0">
                <a:solidFill>
                  <a:prstClr val="black"/>
                </a:solidFill>
                <a:latin typeface="Courier"/>
              </a:rPr>
              <a:t>]</a:t>
            </a:r>
          </a:p>
          <a:p>
            <a:pPr marL="0" indent="0">
              <a:buNone/>
            </a:pPr>
            <a:r>
              <a:rPr lang="pt-BR" sz="1800" dirty="0">
                <a:solidFill>
                  <a:prstClr val="black"/>
                </a:solidFill>
                <a:latin typeface="Courier"/>
                <a:cs typeface="Courier"/>
              </a:rPr>
              <a:t>&gt;&gt;&gt; </a:t>
            </a:r>
            <a:r>
              <a:rPr lang="pt-BR" sz="1800" dirty="0">
                <a:solidFill>
                  <a:prstClr val="black"/>
                </a:solidFill>
                <a:latin typeface="Courier"/>
              </a:rPr>
              <a:t>v2 </a:t>
            </a:r>
            <a:r>
              <a:rPr lang="pt-BR" sz="1800" dirty="0">
                <a:solidFill>
                  <a:srgbClr val="666666"/>
                </a:solidFill>
                <a:latin typeface="Courier"/>
              </a:rPr>
              <a:t>=</a:t>
            </a:r>
            <a:r>
              <a:rPr lang="pt-BR" sz="1800" dirty="0">
                <a:solidFill>
                  <a:prstClr val="black"/>
                </a:solidFill>
                <a:latin typeface="Courier"/>
              </a:rPr>
              <a:t> [</a:t>
            </a:r>
            <a:r>
              <a:rPr lang="pt-BR" sz="1800" dirty="0">
                <a:solidFill>
                  <a:srgbClr val="666666"/>
                </a:solidFill>
                <a:latin typeface="Courier"/>
              </a:rPr>
              <a:t>-3.74</a:t>
            </a:r>
            <a:r>
              <a:rPr lang="pt-BR" sz="1800" dirty="0">
                <a:solidFill>
                  <a:prstClr val="black"/>
                </a:solidFill>
                <a:latin typeface="Courier"/>
              </a:rPr>
              <a:t>, </a:t>
            </a:r>
            <a:r>
              <a:rPr lang="pt-BR" sz="1800" dirty="0">
                <a:solidFill>
                  <a:srgbClr val="666666"/>
                </a:solidFill>
                <a:latin typeface="Courier"/>
              </a:rPr>
              <a:t>7.39</a:t>
            </a:r>
            <a:r>
              <a:rPr lang="pt-BR" sz="1800" dirty="0">
                <a:solidFill>
                  <a:prstClr val="black"/>
                </a:solidFill>
                <a:latin typeface="Courier"/>
              </a:rPr>
              <a:t>, </a:t>
            </a:r>
            <a:r>
              <a:rPr lang="pt-BR" sz="1800" dirty="0">
                <a:solidFill>
                  <a:srgbClr val="666666"/>
                </a:solidFill>
                <a:latin typeface="Courier"/>
              </a:rPr>
              <a:t>18.96</a:t>
            </a:r>
            <a:r>
              <a:rPr lang="pt-BR" sz="1800" dirty="0">
                <a:solidFill>
                  <a:prstClr val="black"/>
                </a:solidFill>
                <a:latin typeface="Courier"/>
              </a:rPr>
              <a:t>]</a:t>
            </a:r>
          </a:p>
          <a:p>
            <a:pPr marL="0" indent="0">
              <a:buNone/>
            </a:pPr>
            <a:r>
              <a:rPr lang="pt-BR" sz="1800" dirty="0">
                <a:solidFill>
                  <a:prstClr val="black"/>
                </a:solidFill>
                <a:latin typeface="Courier"/>
                <a:cs typeface="Courier"/>
              </a:rPr>
              <a:t>&gt;&gt;&gt; </a:t>
            </a:r>
            <a:r>
              <a:rPr lang="pt-BR" sz="1800" dirty="0">
                <a:solidFill>
                  <a:prstClr val="black"/>
                </a:solidFill>
                <a:latin typeface="Courier"/>
              </a:rPr>
              <a:t>v3 </a:t>
            </a:r>
            <a:r>
              <a:rPr lang="pt-BR" sz="1800" dirty="0">
                <a:solidFill>
                  <a:srgbClr val="666666"/>
                </a:solidFill>
                <a:latin typeface="Courier"/>
              </a:rPr>
              <a:t>=</a:t>
            </a:r>
            <a:r>
              <a:rPr lang="pt-BR" sz="1800" dirty="0">
                <a:solidFill>
                  <a:prstClr val="black"/>
                </a:solidFill>
                <a:latin typeface="Courier"/>
              </a:rPr>
              <a:t> [</a:t>
            </a:r>
            <a:r>
              <a:rPr lang="pt-BR" sz="1800" dirty="0">
                <a:solidFill>
                  <a:srgbClr val="666666"/>
                </a:solidFill>
                <a:latin typeface="Courier"/>
              </a:rPr>
              <a:t>2.34</a:t>
            </a:r>
            <a:r>
              <a:rPr lang="pt-BR" sz="1800" dirty="0">
                <a:solidFill>
                  <a:prstClr val="black"/>
                </a:solidFill>
                <a:latin typeface="Courier"/>
              </a:rPr>
              <a:t>, </a:t>
            </a:r>
            <a:r>
              <a:rPr lang="pt-BR" sz="1800" dirty="0">
                <a:solidFill>
                  <a:srgbClr val="666666"/>
                </a:solidFill>
                <a:latin typeface="Courier"/>
              </a:rPr>
              <a:t>12.83</a:t>
            </a:r>
            <a:r>
              <a:rPr lang="pt-BR" sz="1800" dirty="0">
                <a:solidFill>
                  <a:prstClr val="black"/>
                </a:solidFill>
                <a:latin typeface="Courier"/>
              </a:rPr>
              <a:t>, </a:t>
            </a:r>
            <a:r>
              <a:rPr lang="pt-BR" sz="1800" dirty="0">
                <a:solidFill>
                  <a:srgbClr val="666666"/>
                </a:solidFill>
                <a:latin typeface="Courier"/>
              </a:rPr>
              <a:t>-26.47</a:t>
            </a:r>
            <a:r>
              <a:rPr lang="pt-BR" sz="1800" dirty="0">
                <a:solidFill>
                  <a:prstClr val="black"/>
                </a:solidFill>
                <a:latin typeface="Courier"/>
              </a:rPr>
              <a:t>]</a:t>
            </a:r>
          </a:p>
          <a:p>
            <a:pPr marL="0" indent="0">
              <a:buNone/>
            </a:pPr>
            <a:r>
              <a:rPr lang="pt-BR" sz="1800" dirty="0">
                <a:solidFill>
                  <a:prstClr val="black"/>
                </a:solidFill>
                <a:latin typeface="Courier"/>
                <a:cs typeface="Courier"/>
              </a:rPr>
              <a:t>&gt;&gt;&gt; </a:t>
            </a:r>
            <a:r>
              <a:rPr lang="pt-BR" sz="1800" dirty="0">
                <a:solidFill>
                  <a:prstClr val="black"/>
                </a:solidFill>
                <a:latin typeface="Courier"/>
              </a:rPr>
              <a:t>m </a:t>
            </a:r>
            <a:r>
              <a:rPr lang="pt-BR" sz="1800" dirty="0">
                <a:solidFill>
                  <a:srgbClr val="666666"/>
                </a:solidFill>
                <a:latin typeface="Courier"/>
              </a:rPr>
              <a:t>=</a:t>
            </a:r>
            <a:r>
              <a:rPr lang="pt-BR" sz="1800" dirty="0">
                <a:solidFill>
                  <a:prstClr val="black"/>
                </a:solidFill>
                <a:latin typeface="Courier"/>
              </a:rPr>
              <a:t> [v1, v2, v3]</a:t>
            </a:r>
          </a:p>
          <a:p>
            <a:pPr marL="0" indent="0">
              <a:buNone/>
            </a:pPr>
            <a:r>
              <a:rPr lang="pt-BR" sz="1800" dirty="0">
                <a:solidFill>
                  <a:prstClr val="black"/>
                </a:solidFill>
                <a:latin typeface="Courier"/>
                <a:cs typeface="Courier"/>
              </a:rPr>
              <a:t>&gt;&gt;&gt; </a:t>
            </a:r>
            <a:r>
              <a:rPr lang="pt-BR" sz="1800" dirty="0">
                <a:solidFill>
                  <a:prstClr val="black"/>
                </a:solidFill>
                <a:latin typeface="Courier"/>
              </a:rPr>
              <a:t>m</a:t>
            </a:r>
          </a:p>
          <a:p>
            <a:pPr marL="0" indent="0">
              <a:buNone/>
            </a:pPr>
            <a:r>
              <a:rPr lang="pt-BR" sz="1800" dirty="0">
                <a:solidFill>
                  <a:prstClr val="black"/>
                </a:solidFill>
                <a:latin typeface="Courier"/>
              </a:rPr>
              <a:t>[[2.34, 4.35, 6.18], [-3.74, 7.39, 18.96],</a:t>
            </a:r>
          </a:p>
          <a:p>
            <a:pPr marL="0" indent="0">
              <a:buNone/>
            </a:pPr>
            <a:r>
              <a:rPr lang="pt-BR" sz="1800" dirty="0">
                <a:solidFill>
                  <a:prstClr val="black"/>
                </a:solidFill>
                <a:latin typeface="Courier"/>
              </a:rPr>
              <a:t>			 [2.34, 12.83, -26.47]]</a:t>
            </a:r>
          </a:p>
          <a:p>
            <a:pPr marL="0" indent="0">
              <a:buNone/>
            </a:pPr>
            <a:r>
              <a:rPr lang="pt-BR" sz="1800" dirty="0">
                <a:solidFill>
                  <a:prstClr val="black"/>
                </a:solidFill>
                <a:latin typeface="Courier"/>
                <a:cs typeface="Courier"/>
              </a:rPr>
              <a:t>&gt;&gt;&gt; </a:t>
            </a:r>
            <a:r>
              <a:rPr lang="pt-BR" sz="1800" dirty="0">
                <a:solidFill>
                  <a:prstClr val="black"/>
                </a:solidFill>
                <a:latin typeface="Courier"/>
              </a:rPr>
              <a:t>m[</a:t>
            </a:r>
            <a:r>
              <a:rPr lang="pt-BR" sz="1800" dirty="0">
                <a:solidFill>
                  <a:srgbClr val="666666"/>
                </a:solidFill>
                <a:latin typeface="Courier"/>
              </a:rPr>
              <a:t>1</a:t>
            </a:r>
            <a:r>
              <a:rPr lang="pt-BR" sz="1800" dirty="0">
                <a:solidFill>
                  <a:prstClr val="black"/>
                </a:solidFill>
                <a:latin typeface="Courier"/>
              </a:rPr>
              <a:t>][</a:t>
            </a:r>
            <a:r>
              <a:rPr lang="pt-BR" sz="1800" dirty="0">
                <a:solidFill>
                  <a:srgbClr val="666666"/>
                </a:solidFill>
                <a:latin typeface="Courier"/>
              </a:rPr>
              <a:t>2</a:t>
            </a:r>
            <a:r>
              <a:rPr lang="pt-BR" sz="1800" dirty="0">
                <a:solidFill>
                  <a:prstClr val="black"/>
                </a:solidFill>
                <a:latin typeface="Courier"/>
              </a:rPr>
              <a:t>]</a:t>
            </a:r>
          </a:p>
          <a:p>
            <a:pPr marL="0" indent="0">
              <a:buNone/>
            </a:pPr>
            <a:r>
              <a:rPr lang="pt-BR" sz="1800" dirty="0">
                <a:latin typeface="Courier"/>
                <a:cs typeface="Courier"/>
              </a:rPr>
              <a:t>18.96</a:t>
            </a:r>
            <a:endParaRPr lang="fr-FR" sz="1800" dirty="0"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526940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listes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41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fr-FR" dirty="0"/>
              <a:t>La fonction </a:t>
            </a:r>
            <a:r>
              <a:rPr lang="fr-FR" sz="2400" dirty="0">
                <a:solidFill>
                  <a:srgbClr val="3366FF"/>
                </a:solidFill>
                <a:latin typeface="Courier"/>
                <a:cs typeface="Courier"/>
              </a:rPr>
              <a:t>range(</a:t>
            </a:r>
            <a:r>
              <a:rPr lang="fr-FR" sz="2400" dirty="0" err="1">
                <a:solidFill>
                  <a:srgbClr val="3366FF"/>
                </a:solidFill>
                <a:latin typeface="Courier"/>
                <a:cs typeface="Courier"/>
              </a:rPr>
              <a:t>start,stop</a:t>
            </a:r>
            <a:r>
              <a:rPr lang="fr-FR" sz="2400" dirty="0">
                <a:solidFill>
                  <a:srgbClr val="3366FF"/>
                </a:solidFill>
                <a:latin typeface="Courier"/>
                <a:cs typeface="Courier"/>
              </a:rPr>
              <a:t>,[</a:t>
            </a:r>
            <a:r>
              <a:rPr lang="fr-FR" sz="2400" dirty="0" err="1">
                <a:solidFill>
                  <a:srgbClr val="3366FF"/>
                </a:solidFill>
                <a:latin typeface="Courier"/>
                <a:cs typeface="Courier"/>
              </a:rPr>
              <a:t>step</a:t>
            </a:r>
            <a:r>
              <a:rPr lang="fr-FR" sz="2400" dirty="0">
                <a:solidFill>
                  <a:srgbClr val="3366FF"/>
                </a:solidFill>
                <a:latin typeface="Courier"/>
                <a:cs typeface="Courier"/>
              </a:rPr>
              <a:t>])</a:t>
            </a:r>
            <a:r>
              <a:rPr lang="fr-FR" dirty="0"/>
              <a:t>, très utilisée en Python, produit un objet qui retourne une liste de valeurs telle que :</a:t>
            </a:r>
          </a:p>
          <a:p>
            <a:pPr lvl="1"/>
            <a:r>
              <a:rPr lang="fr-FR" dirty="0"/>
              <a:t>la première valeur est </a:t>
            </a:r>
            <a:r>
              <a:rPr lang="fr-FR" dirty="0" err="1"/>
              <a:t>start</a:t>
            </a:r>
            <a:endParaRPr lang="fr-FR" dirty="0"/>
          </a:p>
          <a:p>
            <a:pPr lvl="1"/>
            <a:r>
              <a:rPr lang="fr-FR" dirty="0"/>
              <a:t>les valeurs suivantes sont incrémentées par pas de </a:t>
            </a:r>
            <a:r>
              <a:rPr lang="fr-FR" dirty="0" err="1"/>
              <a:t>step</a:t>
            </a:r>
            <a:endParaRPr lang="fr-FR" dirty="0"/>
          </a:p>
          <a:p>
            <a:pPr lvl="1"/>
            <a:r>
              <a:rPr lang="fr-FR" dirty="0"/>
              <a:t>et ce jusqu’à atteindre la valeur stop non incluse</a:t>
            </a:r>
          </a:p>
          <a:p>
            <a:r>
              <a:rPr lang="fr-FR" dirty="0"/>
              <a:t>On peut alors parcourir cet objet via la syntaxe :</a:t>
            </a:r>
          </a:p>
          <a:p>
            <a:pPr marL="0" indent="0">
              <a:buNone/>
            </a:pPr>
            <a:r>
              <a:rPr lang="fr-CH" sz="2400" dirty="0">
                <a:solidFill>
                  <a:srgbClr val="3366FF"/>
                </a:solidFill>
                <a:latin typeface="Courier"/>
                <a:cs typeface="Courier"/>
              </a:rPr>
              <a:t>	for var in </a:t>
            </a:r>
            <a:r>
              <a:rPr lang="fr-FR" sz="2400" dirty="0">
                <a:solidFill>
                  <a:srgbClr val="3366FF"/>
                </a:solidFill>
                <a:latin typeface="Courier"/>
                <a:cs typeface="Courier"/>
              </a:rPr>
              <a:t>range(</a:t>
            </a:r>
            <a:r>
              <a:rPr lang="fr-FR" sz="2400" dirty="0" err="1">
                <a:solidFill>
                  <a:srgbClr val="3366FF"/>
                </a:solidFill>
                <a:latin typeface="Courier"/>
                <a:cs typeface="Courier"/>
              </a:rPr>
              <a:t>start,stop</a:t>
            </a:r>
            <a:r>
              <a:rPr lang="fr-FR" sz="2400" dirty="0">
                <a:solidFill>
                  <a:srgbClr val="3366FF"/>
                </a:solidFill>
                <a:latin typeface="Courier"/>
                <a:cs typeface="Courier"/>
              </a:rPr>
              <a:t>[,</a:t>
            </a:r>
            <a:r>
              <a:rPr lang="fr-FR" sz="2400" dirty="0" err="1">
                <a:solidFill>
                  <a:srgbClr val="3366FF"/>
                </a:solidFill>
                <a:latin typeface="Courier"/>
                <a:cs typeface="Courier"/>
              </a:rPr>
              <a:t>step</a:t>
            </a:r>
            <a:r>
              <a:rPr lang="fr-FR" sz="2400" dirty="0">
                <a:solidFill>
                  <a:srgbClr val="3366FF"/>
                </a:solidFill>
                <a:latin typeface="Courier"/>
                <a:cs typeface="Courier"/>
              </a:rPr>
              <a:t>])</a:t>
            </a:r>
            <a:r>
              <a:rPr lang="fr-CH" sz="2400" dirty="0">
                <a:solidFill>
                  <a:srgbClr val="3366FF"/>
                </a:solidFill>
                <a:latin typeface="Courier"/>
                <a:cs typeface="Courier"/>
              </a:rPr>
              <a:t>:</a:t>
            </a:r>
          </a:p>
          <a:p>
            <a:pPr marL="0" indent="0">
              <a:buNone/>
            </a:pPr>
            <a:r>
              <a:rPr lang="fr-CH" sz="2400" dirty="0">
                <a:solidFill>
                  <a:srgbClr val="3366FF"/>
                </a:solidFill>
                <a:latin typeface="Courier"/>
                <a:cs typeface="Courier"/>
              </a:rPr>
              <a:t>		instructions...</a:t>
            </a:r>
            <a:endParaRPr lang="fr-CH" sz="2400" dirty="0">
              <a:latin typeface="Courier"/>
              <a:cs typeface="Courier"/>
            </a:endParaRP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60534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listes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42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it-IT" sz="1800" b="1" dirty="0" err="1">
                <a:latin typeface="Courier"/>
                <a:cs typeface="Courier"/>
              </a:rPr>
              <a:t>Programme</a:t>
            </a:r>
            <a:endParaRPr lang="it-IT" sz="1800" b="1" dirty="0"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it-IT" sz="1800" b="1" dirty="0">
                <a:solidFill>
                  <a:srgbClr val="008000"/>
                </a:solidFill>
                <a:latin typeface="Courier"/>
                <a:cs typeface="Courier"/>
              </a:rPr>
              <a:t>for</a:t>
            </a:r>
            <a:r>
              <a:rPr lang="it-IT" sz="1800" dirty="0">
                <a:solidFill>
                  <a:prstClr val="black"/>
                </a:solidFill>
                <a:latin typeface="Courier"/>
                <a:cs typeface="Courier"/>
              </a:rPr>
              <a:t> i </a:t>
            </a:r>
            <a:r>
              <a:rPr lang="it-IT" sz="1800" b="1" dirty="0">
                <a:solidFill>
                  <a:srgbClr val="AA22FF"/>
                </a:solidFill>
                <a:latin typeface="Courier"/>
                <a:cs typeface="Courier"/>
              </a:rPr>
              <a:t>in</a:t>
            </a:r>
            <a:r>
              <a:rPr lang="it-IT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it-IT" sz="1800" dirty="0" err="1">
                <a:solidFill>
                  <a:srgbClr val="008000"/>
                </a:solidFill>
                <a:latin typeface="Courier"/>
                <a:cs typeface="Courier"/>
              </a:rPr>
              <a:t>range</a:t>
            </a:r>
            <a:r>
              <a:rPr lang="it-IT" sz="1800" dirty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it-IT" sz="1800" dirty="0">
                <a:solidFill>
                  <a:srgbClr val="666666"/>
                </a:solidFill>
                <a:latin typeface="Courier"/>
                <a:cs typeface="Courier"/>
              </a:rPr>
              <a:t>0</a:t>
            </a:r>
            <a:r>
              <a:rPr lang="it-IT" sz="1800" dirty="0">
                <a:solidFill>
                  <a:prstClr val="black"/>
                </a:solidFill>
                <a:latin typeface="Courier"/>
                <a:cs typeface="Courier"/>
              </a:rPr>
              <a:t>,</a:t>
            </a:r>
            <a:r>
              <a:rPr lang="it-IT" sz="1800" dirty="0">
                <a:solidFill>
                  <a:srgbClr val="666666"/>
                </a:solidFill>
                <a:latin typeface="Courier"/>
                <a:cs typeface="Courier"/>
              </a:rPr>
              <a:t>1000</a:t>
            </a:r>
            <a:r>
              <a:rPr lang="it-IT" sz="1800" dirty="0">
                <a:solidFill>
                  <a:prstClr val="black"/>
                </a:solidFill>
                <a:latin typeface="Courier"/>
                <a:cs typeface="Courier"/>
              </a:rPr>
              <a:t>):</a:t>
            </a:r>
          </a:p>
          <a:p>
            <a:pPr marL="0" indent="0">
              <a:buNone/>
            </a:pP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   </a:t>
            </a:r>
            <a:r>
              <a:rPr lang="en-US" sz="1800" b="1" dirty="0">
                <a:solidFill>
                  <a:srgbClr val="008000"/>
                </a:solidFill>
                <a:latin typeface="Courier"/>
                <a:cs typeface="Courier"/>
              </a:rPr>
              <a:t>if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i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%27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==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0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: </a:t>
            </a:r>
          </a:p>
          <a:p>
            <a:pPr marL="0" indent="0">
              <a:buNone/>
            </a:pP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       </a:t>
            </a:r>
            <a:r>
              <a:rPr lang="en-US" sz="1800" dirty="0">
                <a:solidFill>
                  <a:srgbClr val="008000"/>
                </a:solidFill>
                <a:latin typeface="Courier"/>
                <a:cs typeface="Courier"/>
              </a:rPr>
              <a:t>print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en-US" sz="1800" dirty="0" err="1">
                <a:solidFill>
                  <a:prstClr val="black"/>
                </a:solidFill>
                <a:latin typeface="Courier"/>
                <a:cs typeface="Courier"/>
              </a:rPr>
              <a:t>i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)</a:t>
            </a:r>
          </a:p>
          <a:p>
            <a:pPr marL="0" indent="0">
              <a:buNone/>
            </a:pPr>
            <a:r>
              <a:rPr lang="en-US" sz="1800" b="1" dirty="0" err="1">
                <a:solidFill>
                  <a:prstClr val="black"/>
                </a:solidFill>
                <a:latin typeface="Courier"/>
                <a:cs typeface="Courier"/>
              </a:rPr>
              <a:t>Exécution</a:t>
            </a:r>
            <a:r>
              <a:rPr lang="en-US" sz="1800" b="1" dirty="0">
                <a:solidFill>
                  <a:prstClr val="black"/>
                </a:solidFill>
                <a:latin typeface="Courier"/>
                <a:cs typeface="Courier"/>
              </a:rPr>
              <a:t> (</a:t>
            </a:r>
            <a:r>
              <a:rPr lang="en-US" sz="1800" b="1" dirty="0" err="1">
                <a:solidFill>
                  <a:prstClr val="black"/>
                </a:solidFill>
                <a:latin typeface="Courier"/>
                <a:cs typeface="Courier"/>
              </a:rPr>
              <a:t>retourne</a:t>
            </a:r>
            <a:r>
              <a:rPr lang="en-US" sz="1800" b="1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1800" b="1" dirty="0" err="1">
                <a:solidFill>
                  <a:prstClr val="black"/>
                </a:solidFill>
                <a:latin typeface="Courier"/>
                <a:cs typeface="Courier"/>
              </a:rPr>
              <a:t>tous</a:t>
            </a:r>
            <a:r>
              <a:rPr lang="en-US" sz="1800" b="1" dirty="0">
                <a:solidFill>
                  <a:prstClr val="black"/>
                </a:solidFill>
                <a:latin typeface="Courier"/>
                <a:cs typeface="Courier"/>
              </a:rPr>
              <a:t> les multiples de 27 entre 0 et 999 </a:t>
            </a:r>
            <a:r>
              <a:rPr lang="en-US" sz="1800" b="1" dirty="0" err="1">
                <a:solidFill>
                  <a:prstClr val="black"/>
                </a:solidFill>
                <a:latin typeface="Courier"/>
                <a:cs typeface="Courier"/>
              </a:rPr>
              <a:t>sur</a:t>
            </a:r>
            <a:r>
              <a:rPr lang="en-US" sz="1800" b="1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1800" b="1" dirty="0" err="1">
                <a:solidFill>
                  <a:prstClr val="black"/>
                </a:solidFill>
                <a:latin typeface="Courier"/>
                <a:cs typeface="Courier"/>
              </a:rPr>
              <a:t>une</a:t>
            </a:r>
            <a:r>
              <a:rPr lang="en-US" sz="1800" b="1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1800" b="1" dirty="0" err="1">
                <a:solidFill>
                  <a:prstClr val="black"/>
                </a:solidFill>
                <a:latin typeface="Courier"/>
                <a:cs typeface="Courier"/>
              </a:rPr>
              <a:t>colonne</a:t>
            </a:r>
            <a:r>
              <a:rPr lang="en-US" sz="1800" b="1" dirty="0">
                <a:solidFill>
                  <a:prstClr val="black"/>
                </a:solidFill>
                <a:latin typeface="Courier"/>
                <a:cs typeface="Courier"/>
              </a:rPr>
              <a:t>)</a:t>
            </a:r>
          </a:p>
          <a:p>
            <a:pPr marL="0" indent="0">
              <a:buNone/>
            </a:pPr>
            <a:r>
              <a:rPr lang="is-IS" sz="1800" dirty="0">
                <a:solidFill>
                  <a:prstClr val="black"/>
                </a:solidFill>
                <a:latin typeface="Courier"/>
                <a:cs typeface="Courier"/>
              </a:rPr>
              <a:t>0</a:t>
            </a:r>
          </a:p>
          <a:p>
            <a:pPr marL="0" indent="0">
              <a:buNone/>
            </a:pPr>
            <a:r>
              <a:rPr lang="is-IS" sz="1800" dirty="0">
                <a:solidFill>
                  <a:prstClr val="black"/>
                </a:solidFill>
                <a:latin typeface="Courier"/>
                <a:cs typeface="Courier"/>
              </a:rPr>
              <a:t>27</a:t>
            </a:r>
          </a:p>
          <a:p>
            <a:pPr marL="0" indent="0">
              <a:buNone/>
            </a:pPr>
            <a:r>
              <a:rPr lang="is-IS" sz="1800" dirty="0">
                <a:solidFill>
                  <a:prstClr val="black"/>
                </a:solidFill>
                <a:latin typeface="Courier"/>
                <a:cs typeface="Courier"/>
              </a:rPr>
              <a:t>54</a:t>
            </a:r>
          </a:p>
          <a:p>
            <a:pPr marL="0" indent="0">
              <a:buNone/>
            </a:pPr>
            <a:r>
              <a:rPr lang="is-IS" sz="1800" dirty="0">
                <a:solidFill>
                  <a:prstClr val="black"/>
                </a:solidFill>
                <a:latin typeface="Courier"/>
                <a:cs typeface="Courier"/>
              </a:rPr>
              <a:t>81</a:t>
            </a:r>
          </a:p>
          <a:p>
            <a:pPr marL="0" indent="0">
              <a:buNone/>
            </a:pPr>
            <a:r>
              <a:rPr lang="is-IS" sz="1800" dirty="0">
                <a:solidFill>
                  <a:prstClr val="black"/>
                </a:solidFill>
                <a:latin typeface="Courier"/>
                <a:cs typeface="Courier"/>
              </a:rPr>
              <a:t>108</a:t>
            </a:r>
          </a:p>
          <a:p>
            <a:pPr marL="0" indent="0">
              <a:buNone/>
            </a:pPr>
            <a:r>
              <a:rPr lang="is-IS" sz="1800" dirty="0">
                <a:solidFill>
                  <a:prstClr val="black"/>
                </a:solidFill>
                <a:latin typeface="Courier"/>
                <a:cs typeface="Courier"/>
              </a:rPr>
              <a:t>135</a:t>
            </a:r>
          </a:p>
          <a:p>
            <a:pPr marL="0" indent="0">
              <a:buNone/>
            </a:pPr>
            <a:r>
              <a:rPr lang="is-IS" sz="1800" dirty="0">
                <a:solidFill>
                  <a:prstClr val="black"/>
                </a:solidFill>
                <a:latin typeface="Courier"/>
                <a:cs typeface="Courier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727509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Programme (faire démo)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43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180600" y="1600200"/>
            <a:ext cx="8855896" cy="4997152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fr-FR" sz="3200" b="1" dirty="0" err="1">
                <a:solidFill>
                  <a:srgbClr val="008000"/>
                </a:solidFill>
                <a:latin typeface="Courier"/>
                <a:cs typeface="Courier"/>
              </a:rPr>
              <a:t>from</a:t>
            </a:r>
            <a:r>
              <a:rPr lang="fr-FR" sz="32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3200" b="1" dirty="0" err="1">
                <a:solidFill>
                  <a:srgbClr val="0000FF"/>
                </a:solidFill>
                <a:latin typeface="Courier"/>
                <a:cs typeface="Courier"/>
              </a:rPr>
              <a:t>random</a:t>
            </a:r>
            <a:r>
              <a:rPr lang="fr-FR" sz="32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3200" b="1" dirty="0">
                <a:solidFill>
                  <a:srgbClr val="008000"/>
                </a:solidFill>
                <a:latin typeface="Courier"/>
                <a:cs typeface="Courier"/>
              </a:rPr>
              <a:t>import</a:t>
            </a:r>
            <a:r>
              <a:rPr lang="fr-FR" sz="32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3200" dirty="0">
                <a:solidFill>
                  <a:srgbClr val="666666"/>
                </a:solidFill>
                <a:latin typeface="Courier"/>
                <a:cs typeface="Courier"/>
              </a:rPr>
              <a:t>*</a:t>
            </a:r>
            <a:r>
              <a:rPr lang="fr-FR" sz="32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3200" i="1" dirty="0">
                <a:solidFill>
                  <a:srgbClr val="408080"/>
                </a:solidFill>
                <a:latin typeface="Courier"/>
                <a:cs typeface="Courier"/>
              </a:rPr>
              <a:t># importation de la librairie </a:t>
            </a:r>
            <a:r>
              <a:rPr lang="fr-FR" sz="3200" i="1" dirty="0" err="1">
                <a:solidFill>
                  <a:srgbClr val="408080"/>
                </a:solidFill>
                <a:latin typeface="Courier"/>
                <a:cs typeface="Courier"/>
              </a:rPr>
              <a:t>random</a:t>
            </a:r>
            <a:endParaRPr lang="fr-FR" sz="32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3200" dirty="0">
                <a:solidFill>
                  <a:prstClr val="black"/>
                </a:solidFill>
                <a:latin typeface="Courier"/>
                <a:cs typeface="Courier"/>
              </a:rPr>
              <a:t>valeur </a:t>
            </a:r>
            <a:r>
              <a:rPr lang="fr-FR" sz="32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fr-FR" sz="3200" dirty="0">
                <a:solidFill>
                  <a:prstClr val="black"/>
                </a:solidFill>
                <a:latin typeface="Courier"/>
                <a:cs typeface="Courier"/>
              </a:rPr>
              <a:t> [</a:t>
            </a:r>
            <a:r>
              <a:rPr lang="fr-FR" sz="3200" dirty="0">
                <a:solidFill>
                  <a:srgbClr val="666666"/>
                </a:solidFill>
                <a:latin typeface="Courier"/>
                <a:cs typeface="Courier"/>
              </a:rPr>
              <a:t>2</a:t>
            </a:r>
            <a:r>
              <a:rPr lang="fr-FR" sz="3200" dirty="0">
                <a:solidFill>
                  <a:prstClr val="black"/>
                </a:solidFill>
                <a:latin typeface="Courier"/>
                <a:cs typeface="Courier"/>
              </a:rPr>
              <a:t>, </a:t>
            </a:r>
            <a:r>
              <a:rPr lang="fr-FR" sz="3200" dirty="0">
                <a:solidFill>
                  <a:srgbClr val="666666"/>
                </a:solidFill>
                <a:latin typeface="Courier"/>
                <a:cs typeface="Courier"/>
              </a:rPr>
              <a:t>3</a:t>
            </a:r>
            <a:r>
              <a:rPr lang="fr-FR" sz="3200" dirty="0">
                <a:solidFill>
                  <a:prstClr val="black"/>
                </a:solidFill>
                <a:latin typeface="Courier"/>
                <a:cs typeface="Courier"/>
              </a:rPr>
              <a:t>, </a:t>
            </a:r>
            <a:r>
              <a:rPr lang="fr-FR" sz="3200" dirty="0">
                <a:solidFill>
                  <a:srgbClr val="666666"/>
                </a:solidFill>
                <a:latin typeface="Courier"/>
                <a:cs typeface="Courier"/>
              </a:rPr>
              <a:t>4</a:t>
            </a:r>
            <a:r>
              <a:rPr lang="fr-FR" sz="3200" dirty="0">
                <a:solidFill>
                  <a:prstClr val="black"/>
                </a:solidFill>
                <a:latin typeface="Courier"/>
                <a:cs typeface="Courier"/>
              </a:rPr>
              <a:t>, </a:t>
            </a:r>
            <a:r>
              <a:rPr lang="fr-FR" sz="3200" dirty="0">
                <a:solidFill>
                  <a:srgbClr val="666666"/>
                </a:solidFill>
                <a:latin typeface="Courier"/>
                <a:cs typeface="Courier"/>
              </a:rPr>
              <a:t>5</a:t>
            </a:r>
            <a:r>
              <a:rPr lang="fr-FR" sz="3200" dirty="0">
                <a:solidFill>
                  <a:prstClr val="black"/>
                </a:solidFill>
                <a:latin typeface="Courier"/>
                <a:cs typeface="Courier"/>
              </a:rPr>
              <a:t>, </a:t>
            </a:r>
            <a:r>
              <a:rPr lang="fr-FR" sz="3200" dirty="0">
                <a:solidFill>
                  <a:srgbClr val="666666"/>
                </a:solidFill>
                <a:latin typeface="Courier"/>
                <a:cs typeface="Courier"/>
              </a:rPr>
              <a:t>6</a:t>
            </a:r>
            <a:r>
              <a:rPr lang="fr-FR" sz="3200" dirty="0">
                <a:solidFill>
                  <a:prstClr val="black"/>
                </a:solidFill>
                <a:latin typeface="Courier"/>
                <a:cs typeface="Courier"/>
              </a:rPr>
              <a:t>, </a:t>
            </a:r>
            <a:r>
              <a:rPr lang="fr-FR" sz="3200" dirty="0">
                <a:solidFill>
                  <a:srgbClr val="666666"/>
                </a:solidFill>
                <a:latin typeface="Courier"/>
                <a:cs typeface="Courier"/>
              </a:rPr>
              <a:t>7</a:t>
            </a:r>
            <a:r>
              <a:rPr lang="fr-FR" sz="3200" dirty="0">
                <a:solidFill>
                  <a:prstClr val="black"/>
                </a:solidFill>
                <a:latin typeface="Courier"/>
                <a:cs typeface="Courier"/>
              </a:rPr>
              <a:t>, </a:t>
            </a:r>
            <a:r>
              <a:rPr lang="fr-FR" sz="3200" dirty="0">
                <a:solidFill>
                  <a:srgbClr val="666666"/>
                </a:solidFill>
                <a:latin typeface="Courier"/>
                <a:cs typeface="Courier"/>
              </a:rPr>
              <a:t>8</a:t>
            </a:r>
            <a:r>
              <a:rPr lang="fr-FR" sz="3200" dirty="0">
                <a:solidFill>
                  <a:prstClr val="black"/>
                </a:solidFill>
                <a:latin typeface="Courier"/>
                <a:cs typeface="Courier"/>
              </a:rPr>
              <a:t>, </a:t>
            </a:r>
            <a:r>
              <a:rPr lang="fr-FR" sz="3200" dirty="0">
                <a:solidFill>
                  <a:srgbClr val="666666"/>
                </a:solidFill>
                <a:latin typeface="Courier"/>
                <a:cs typeface="Courier"/>
              </a:rPr>
              <a:t>9</a:t>
            </a:r>
            <a:r>
              <a:rPr lang="fr-FR" sz="3200" dirty="0">
                <a:solidFill>
                  <a:prstClr val="black"/>
                </a:solidFill>
                <a:latin typeface="Courier"/>
                <a:cs typeface="Courier"/>
              </a:rPr>
              <a:t>, </a:t>
            </a:r>
            <a:r>
              <a:rPr lang="fr-FR" sz="3200" dirty="0">
                <a:solidFill>
                  <a:srgbClr val="666666"/>
                </a:solidFill>
                <a:latin typeface="Courier"/>
                <a:cs typeface="Courier"/>
              </a:rPr>
              <a:t>10</a:t>
            </a:r>
            <a:r>
              <a:rPr lang="fr-FR" sz="3200" dirty="0">
                <a:solidFill>
                  <a:prstClr val="black"/>
                </a:solidFill>
                <a:latin typeface="Courier"/>
                <a:cs typeface="Courier"/>
              </a:rPr>
              <a:t>,</a:t>
            </a:r>
            <a:r>
              <a:rPr lang="fr-FR" sz="3200" dirty="0">
                <a:solidFill>
                  <a:srgbClr val="BA2121"/>
                </a:solidFill>
                <a:latin typeface="Courier"/>
                <a:cs typeface="Courier"/>
              </a:rPr>
              <a:t>"valet"</a:t>
            </a:r>
            <a:r>
              <a:rPr lang="fr-FR" sz="3200" dirty="0">
                <a:solidFill>
                  <a:prstClr val="black"/>
                </a:solidFill>
                <a:latin typeface="Courier"/>
                <a:cs typeface="Courier"/>
              </a:rPr>
              <a:t>,</a:t>
            </a:r>
            <a:r>
              <a:rPr lang="fr-FR" sz="3200" dirty="0">
                <a:solidFill>
                  <a:srgbClr val="BA2121"/>
                </a:solidFill>
                <a:latin typeface="Courier"/>
                <a:cs typeface="Courier"/>
              </a:rPr>
              <a:t>"dame"</a:t>
            </a:r>
            <a:r>
              <a:rPr lang="fr-FR" sz="3200" dirty="0">
                <a:solidFill>
                  <a:prstClr val="black"/>
                </a:solidFill>
                <a:latin typeface="Courier"/>
                <a:cs typeface="Courier"/>
              </a:rPr>
              <a:t>,</a:t>
            </a:r>
            <a:r>
              <a:rPr lang="fr-FR" sz="3200" dirty="0">
                <a:solidFill>
                  <a:srgbClr val="BA2121"/>
                </a:solidFill>
                <a:latin typeface="Courier"/>
                <a:cs typeface="Courier"/>
              </a:rPr>
              <a:t>"roi"</a:t>
            </a:r>
            <a:r>
              <a:rPr lang="fr-FR" sz="3200" dirty="0">
                <a:solidFill>
                  <a:prstClr val="black"/>
                </a:solidFill>
                <a:latin typeface="Courier"/>
                <a:cs typeface="Courier"/>
              </a:rPr>
              <a:t>,</a:t>
            </a:r>
            <a:r>
              <a:rPr lang="fr-FR" sz="3200" dirty="0">
                <a:solidFill>
                  <a:srgbClr val="BA2121"/>
                </a:solidFill>
                <a:latin typeface="Courier"/>
                <a:cs typeface="Courier"/>
              </a:rPr>
              <a:t>"as"</a:t>
            </a:r>
            <a:r>
              <a:rPr lang="fr-FR" sz="3200" dirty="0">
                <a:solidFill>
                  <a:prstClr val="black"/>
                </a:solidFill>
                <a:latin typeface="Courier"/>
                <a:cs typeface="Courier"/>
              </a:rPr>
              <a:t>]</a:t>
            </a:r>
          </a:p>
          <a:p>
            <a:pPr marL="0" indent="0">
              <a:buNone/>
            </a:pPr>
            <a:r>
              <a:rPr lang="fr-FR" sz="3200" dirty="0">
                <a:solidFill>
                  <a:prstClr val="black"/>
                </a:solidFill>
                <a:latin typeface="Courier"/>
                <a:cs typeface="Courier"/>
              </a:rPr>
              <a:t>couleur </a:t>
            </a:r>
            <a:r>
              <a:rPr lang="fr-FR" sz="32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fr-FR" sz="3200" dirty="0">
                <a:solidFill>
                  <a:prstClr val="black"/>
                </a:solidFill>
                <a:latin typeface="Courier"/>
                <a:cs typeface="Courier"/>
              </a:rPr>
              <a:t> [</a:t>
            </a:r>
            <a:r>
              <a:rPr lang="fr-FR" sz="3200" dirty="0">
                <a:solidFill>
                  <a:srgbClr val="BA2121"/>
                </a:solidFill>
                <a:latin typeface="Courier"/>
                <a:cs typeface="Courier"/>
              </a:rPr>
              <a:t>"pique"</a:t>
            </a:r>
            <a:r>
              <a:rPr lang="fr-FR" sz="3200" dirty="0">
                <a:solidFill>
                  <a:prstClr val="black"/>
                </a:solidFill>
                <a:latin typeface="Courier"/>
                <a:cs typeface="Courier"/>
              </a:rPr>
              <a:t>, </a:t>
            </a:r>
            <a:r>
              <a:rPr lang="fr-FR" sz="3200" dirty="0">
                <a:solidFill>
                  <a:srgbClr val="BA2121"/>
                </a:solidFill>
                <a:latin typeface="Courier"/>
                <a:cs typeface="Courier"/>
              </a:rPr>
              <a:t>"</a:t>
            </a:r>
            <a:r>
              <a:rPr lang="fr-FR" sz="3200" dirty="0" err="1">
                <a:solidFill>
                  <a:srgbClr val="BA2121"/>
                </a:solidFill>
                <a:latin typeface="Courier"/>
                <a:cs typeface="Courier"/>
              </a:rPr>
              <a:t>coeur</a:t>
            </a:r>
            <a:r>
              <a:rPr lang="fr-FR" sz="3200" dirty="0">
                <a:solidFill>
                  <a:srgbClr val="BA2121"/>
                </a:solidFill>
                <a:latin typeface="Courier"/>
                <a:cs typeface="Courier"/>
              </a:rPr>
              <a:t>"</a:t>
            </a:r>
            <a:r>
              <a:rPr lang="fr-FR" sz="3200" dirty="0">
                <a:solidFill>
                  <a:prstClr val="black"/>
                </a:solidFill>
                <a:latin typeface="Courier"/>
                <a:cs typeface="Courier"/>
              </a:rPr>
              <a:t>, </a:t>
            </a:r>
            <a:r>
              <a:rPr lang="fr-FR" sz="3200" dirty="0">
                <a:solidFill>
                  <a:srgbClr val="BA2121"/>
                </a:solidFill>
                <a:latin typeface="Courier"/>
                <a:cs typeface="Courier"/>
              </a:rPr>
              <a:t>"carreaux"</a:t>
            </a:r>
            <a:r>
              <a:rPr lang="fr-FR" sz="3200" dirty="0">
                <a:solidFill>
                  <a:prstClr val="black"/>
                </a:solidFill>
                <a:latin typeface="Courier"/>
                <a:cs typeface="Courier"/>
              </a:rPr>
              <a:t>, </a:t>
            </a:r>
            <a:r>
              <a:rPr lang="fr-FR" sz="3200" dirty="0">
                <a:solidFill>
                  <a:srgbClr val="BA2121"/>
                </a:solidFill>
                <a:latin typeface="Courier"/>
                <a:cs typeface="Courier"/>
              </a:rPr>
              <a:t>"</a:t>
            </a:r>
            <a:r>
              <a:rPr lang="fr-FR" sz="3200" dirty="0" err="1">
                <a:solidFill>
                  <a:srgbClr val="BA2121"/>
                </a:solidFill>
                <a:latin typeface="Courier"/>
                <a:cs typeface="Courier"/>
              </a:rPr>
              <a:t>trefle</a:t>
            </a:r>
            <a:r>
              <a:rPr lang="fr-FR" sz="3200" dirty="0">
                <a:solidFill>
                  <a:srgbClr val="BA2121"/>
                </a:solidFill>
                <a:latin typeface="Courier"/>
                <a:cs typeface="Courier"/>
              </a:rPr>
              <a:t>"</a:t>
            </a:r>
            <a:r>
              <a:rPr lang="fr-FR" sz="3200" dirty="0">
                <a:solidFill>
                  <a:prstClr val="black"/>
                </a:solidFill>
                <a:latin typeface="Courier"/>
                <a:cs typeface="Courier"/>
              </a:rPr>
              <a:t>]</a:t>
            </a:r>
          </a:p>
          <a:p>
            <a:pPr marL="0" indent="0">
              <a:buNone/>
            </a:pPr>
            <a:r>
              <a:rPr lang="en-US" sz="3200" dirty="0">
                <a:solidFill>
                  <a:prstClr val="black"/>
                </a:solidFill>
                <a:latin typeface="Courier"/>
                <a:cs typeface="Courier"/>
              </a:rPr>
              <a:t>entree </a:t>
            </a:r>
            <a:r>
              <a:rPr lang="en-US" sz="32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en-US" sz="32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3200" dirty="0">
                <a:solidFill>
                  <a:srgbClr val="BA2121"/>
                </a:solidFill>
                <a:latin typeface="Courier"/>
                <a:cs typeface="Courier"/>
              </a:rPr>
              <a:t>""</a:t>
            </a:r>
            <a:endParaRPr lang="en-US" sz="32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en-US" sz="3200" b="1" dirty="0">
                <a:solidFill>
                  <a:srgbClr val="008000"/>
                </a:solidFill>
                <a:latin typeface="Courier"/>
                <a:cs typeface="Courier"/>
              </a:rPr>
              <a:t>while</a:t>
            </a:r>
            <a:r>
              <a:rPr lang="en-US" sz="3200" dirty="0">
                <a:solidFill>
                  <a:prstClr val="black"/>
                </a:solidFill>
                <a:latin typeface="Courier"/>
                <a:cs typeface="Courier"/>
              </a:rPr>
              <a:t> entree </a:t>
            </a:r>
            <a:r>
              <a:rPr lang="en-US" sz="3200" dirty="0">
                <a:solidFill>
                  <a:srgbClr val="666666"/>
                </a:solidFill>
                <a:latin typeface="Courier"/>
                <a:cs typeface="Courier"/>
              </a:rPr>
              <a:t>!=</a:t>
            </a:r>
            <a:r>
              <a:rPr lang="en-US" sz="32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3200" dirty="0">
                <a:solidFill>
                  <a:srgbClr val="BA2121"/>
                </a:solidFill>
                <a:latin typeface="Courier"/>
                <a:cs typeface="Courier"/>
              </a:rPr>
              <a:t>"q"</a:t>
            </a:r>
            <a:r>
              <a:rPr lang="en-US" sz="3200" dirty="0">
                <a:solidFill>
                  <a:prstClr val="black"/>
                </a:solidFill>
                <a:latin typeface="Courier"/>
                <a:cs typeface="Courier"/>
              </a:rPr>
              <a:t>:</a:t>
            </a:r>
          </a:p>
          <a:p>
            <a:pPr marL="0" indent="0">
              <a:buNone/>
            </a:pPr>
            <a:r>
              <a:rPr lang="en-US" sz="3200" dirty="0">
                <a:solidFill>
                  <a:prstClr val="black"/>
                </a:solidFill>
                <a:latin typeface="Courier"/>
                <a:cs typeface="Courier"/>
              </a:rPr>
              <a:t>    entree </a:t>
            </a:r>
            <a:r>
              <a:rPr lang="en-US" sz="32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en-US" sz="32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3200" dirty="0">
                <a:solidFill>
                  <a:srgbClr val="008000"/>
                </a:solidFill>
                <a:latin typeface="Courier"/>
                <a:cs typeface="Courier"/>
              </a:rPr>
              <a:t>input</a:t>
            </a:r>
            <a:r>
              <a:rPr lang="en-US" sz="3200" dirty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en-US" sz="3200" dirty="0">
                <a:solidFill>
                  <a:srgbClr val="BA2121"/>
                </a:solidFill>
                <a:latin typeface="Courier"/>
                <a:cs typeface="Courier"/>
              </a:rPr>
              <a:t>"</a:t>
            </a:r>
            <a:r>
              <a:rPr lang="en-US" sz="3200" dirty="0" err="1">
                <a:solidFill>
                  <a:srgbClr val="BA2121"/>
                </a:solidFill>
                <a:latin typeface="Courier"/>
                <a:cs typeface="Courier"/>
              </a:rPr>
              <a:t>Tapez</a:t>
            </a:r>
            <a:r>
              <a:rPr lang="en-US" sz="3200" dirty="0">
                <a:solidFill>
                  <a:srgbClr val="BA2121"/>
                </a:solidFill>
                <a:latin typeface="Courier"/>
                <a:cs typeface="Courier"/>
              </a:rPr>
              <a:t> x pour </a:t>
            </a:r>
            <a:r>
              <a:rPr lang="en-US" sz="3200" dirty="0" err="1">
                <a:solidFill>
                  <a:srgbClr val="BA2121"/>
                </a:solidFill>
                <a:latin typeface="Courier"/>
                <a:cs typeface="Courier"/>
              </a:rPr>
              <a:t>tirer</a:t>
            </a:r>
            <a:r>
              <a:rPr lang="en-US" sz="3200" dirty="0">
                <a:solidFill>
                  <a:srgbClr val="BA2121"/>
                </a:solidFill>
                <a:latin typeface="Courier"/>
                <a:cs typeface="Courier"/>
              </a:rPr>
              <a:t> </a:t>
            </a:r>
            <a:r>
              <a:rPr lang="en-US" sz="3200" dirty="0" err="1">
                <a:solidFill>
                  <a:srgbClr val="BA2121"/>
                </a:solidFill>
                <a:latin typeface="Courier"/>
                <a:cs typeface="Courier"/>
              </a:rPr>
              <a:t>une</a:t>
            </a:r>
            <a:r>
              <a:rPr lang="en-US" sz="3200" dirty="0">
                <a:solidFill>
                  <a:srgbClr val="BA2121"/>
                </a:solidFill>
                <a:latin typeface="Courier"/>
                <a:cs typeface="Courier"/>
              </a:rPr>
              <a:t> carte, \</a:t>
            </a:r>
          </a:p>
          <a:p>
            <a:pPr marL="0" indent="0">
              <a:buNone/>
            </a:pPr>
            <a:r>
              <a:rPr lang="en-US" sz="3200" dirty="0">
                <a:solidFill>
                  <a:srgbClr val="BA2121"/>
                </a:solidFill>
                <a:latin typeface="Courier"/>
                <a:cs typeface="Courier"/>
              </a:rPr>
              <a:t>			    q pour </a:t>
            </a:r>
            <a:r>
              <a:rPr lang="en-US" sz="3200" dirty="0" err="1">
                <a:solidFill>
                  <a:srgbClr val="BA2121"/>
                </a:solidFill>
                <a:latin typeface="Courier"/>
                <a:cs typeface="Courier"/>
              </a:rPr>
              <a:t>terminer</a:t>
            </a:r>
            <a:r>
              <a:rPr lang="en-US" sz="3200" dirty="0">
                <a:solidFill>
                  <a:srgbClr val="BA2121"/>
                </a:solidFill>
                <a:latin typeface="Courier"/>
                <a:cs typeface="Courier"/>
              </a:rPr>
              <a:t>: "</a:t>
            </a:r>
            <a:r>
              <a:rPr lang="en-US" sz="3200" dirty="0">
                <a:solidFill>
                  <a:prstClr val="black"/>
                </a:solidFill>
                <a:latin typeface="Courier"/>
                <a:cs typeface="Courier"/>
              </a:rPr>
              <a:t>)</a:t>
            </a:r>
          </a:p>
          <a:p>
            <a:pPr marL="0" indent="0">
              <a:buNone/>
            </a:pPr>
            <a:r>
              <a:rPr lang="en-US" sz="3200" b="1" dirty="0">
                <a:solidFill>
                  <a:srgbClr val="008000"/>
                </a:solidFill>
                <a:latin typeface="Courier"/>
                <a:cs typeface="Courier"/>
              </a:rPr>
              <a:t>    if</a:t>
            </a:r>
            <a:r>
              <a:rPr lang="en-US" sz="3200" dirty="0">
                <a:solidFill>
                  <a:prstClr val="black"/>
                </a:solidFill>
                <a:latin typeface="Courier"/>
                <a:cs typeface="Courier"/>
              </a:rPr>
              <a:t> entree </a:t>
            </a:r>
            <a:r>
              <a:rPr lang="en-US" sz="3200" dirty="0">
                <a:solidFill>
                  <a:srgbClr val="666666"/>
                </a:solidFill>
                <a:latin typeface="Courier"/>
                <a:cs typeface="Courier"/>
              </a:rPr>
              <a:t>==</a:t>
            </a:r>
            <a:r>
              <a:rPr lang="en-US" sz="32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3200" dirty="0">
                <a:solidFill>
                  <a:srgbClr val="BA2121"/>
                </a:solidFill>
                <a:latin typeface="Courier"/>
                <a:cs typeface="Courier"/>
              </a:rPr>
              <a:t>"x"</a:t>
            </a:r>
            <a:r>
              <a:rPr lang="en-US" sz="3200" dirty="0">
                <a:solidFill>
                  <a:prstClr val="black"/>
                </a:solidFill>
                <a:latin typeface="Courier"/>
                <a:cs typeface="Courier"/>
              </a:rPr>
              <a:t>:</a:t>
            </a:r>
          </a:p>
          <a:p>
            <a:pPr marL="0" indent="0">
              <a:buNone/>
            </a:pPr>
            <a:r>
              <a:rPr lang="ro-RO" sz="3200" dirty="0">
                <a:solidFill>
                  <a:prstClr val="black"/>
                </a:solidFill>
                <a:latin typeface="Courier"/>
                <a:cs typeface="Courier"/>
              </a:rPr>
              <a:t>        v </a:t>
            </a:r>
            <a:r>
              <a:rPr lang="ro-RO" sz="32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ro-RO" sz="3200" dirty="0">
                <a:solidFill>
                  <a:prstClr val="black"/>
                </a:solidFill>
                <a:latin typeface="Courier"/>
                <a:cs typeface="Courier"/>
              </a:rPr>
              <a:t> randint(</a:t>
            </a:r>
            <a:r>
              <a:rPr lang="ro-RO" sz="3200" dirty="0">
                <a:solidFill>
                  <a:srgbClr val="666666"/>
                </a:solidFill>
                <a:latin typeface="Courier"/>
                <a:cs typeface="Courier"/>
              </a:rPr>
              <a:t>0</a:t>
            </a:r>
            <a:r>
              <a:rPr lang="ro-RO" sz="3200" dirty="0">
                <a:solidFill>
                  <a:prstClr val="black"/>
                </a:solidFill>
                <a:latin typeface="Courier"/>
                <a:cs typeface="Courier"/>
              </a:rPr>
              <a:t>,</a:t>
            </a:r>
            <a:r>
              <a:rPr lang="ro-RO" sz="3200" dirty="0">
                <a:solidFill>
                  <a:srgbClr val="666666"/>
                </a:solidFill>
                <a:latin typeface="Courier"/>
                <a:cs typeface="Courier"/>
              </a:rPr>
              <a:t>12</a:t>
            </a:r>
            <a:r>
              <a:rPr lang="ro-RO" sz="3200" dirty="0">
                <a:solidFill>
                  <a:prstClr val="black"/>
                </a:solidFill>
                <a:latin typeface="Courier"/>
                <a:cs typeface="Courier"/>
              </a:rPr>
              <a:t>) </a:t>
            </a:r>
            <a:r>
              <a:rPr lang="en-US" sz="3200" i="1" dirty="0">
                <a:solidFill>
                  <a:srgbClr val="408080"/>
                </a:solidFill>
                <a:latin typeface="Courier"/>
                <a:cs typeface="Courier"/>
              </a:rPr>
              <a:t># </a:t>
            </a:r>
            <a:r>
              <a:rPr lang="en-US" sz="3200" i="1" dirty="0" err="1">
                <a:solidFill>
                  <a:srgbClr val="408080"/>
                </a:solidFill>
                <a:latin typeface="Courier"/>
                <a:cs typeface="Courier"/>
              </a:rPr>
              <a:t>tirer</a:t>
            </a:r>
            <a:r>
              <a:rPr lang="en-US" sz="3200" i="1" dirty="0">
                <a:solidFill>
                  <a:srgbClr val="408080"/>
                </a:solidFill>
                <a:latin typeface="Courier"/>
                <a:cs typeface="Courier"/>
              </a:rPr>
              <a:t> </a:t>
            </a:r>
            <a:r>
              <a:rPr lang="en-US" sz="3200" i="1" dirty="0" err="1">
                <a:solidFill>
                  <a:srgbClr val="408080"/>
                </a:solidFill>
                <a:latin typeface="Courier"/>
                <a:cs typeface="Courier"/>
              </a:rPr>
              <a:t>une</a:t>
            </a:r>
            <a:r>
              <a:rPr lang="en-US" sz="3200" i="1" dirty="0">
                <a:solidFill>
                  <a:srgbClr val="408080"/>
                </a:solidFill>
                <a:latin typeface="Courier"/>
                <a:cs typeface="Courier"/>
              </a:rPr>
              <a:t> </a:t>
            </a:r>
            <a:r>
              <a:rPr lang="en-US" sz="3200" i="1" dirty="0" err="1">
                <a:solidFill>
                  <a:srgbClr val="408080"/>
                </a:solidFill>
                <a:latin typeface="Courier"/>
                <a:cs typeface="Courier"/>
              </a:rPr>
              <a:t>valeur</a:t>
            </a:r>
            <a:r>
              <a:rPr lang="en-US" sz="3200" i="1" dirty="0">
                <a:solidFill>
                  <a:srgbClr val="408080"/>
                </a:solidFill>
                <a:latin typeface="Courier"/>
                <a:cs typeface="Courier"/>
              </a:rPr>
              <a:t> au </a:t>
            </a:r>
            <a:r>
              <a:rPr lang="en-US" sz="3200" i="1" dirty="0" err="1">
                <a:solidFill>
                  <a:srgbClr val="408080"/>
                </a:solidFill>
                <a:latin typeface="Courier"/>
                <a:cs typeface="Courier"/>
              </a:rPr>
              <a:t>hasard</a:t>
            </a:r>
            <a:endParaRPr lang="ro-RO" sz="32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ro-RO" sz="3200" dirty="0">
                <a:solidFill>
                  <a:prstClr val="black"/>
                </a:solidFill>
                <a:latin typeface="Courier"/>
                <a:cs typeface="Courier"/>
              </a:rPr>
              <a:t>        c </a:t>
            </a:r>
            <a:r>
              <a:rPr lang="ro-RO" sz="32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ro-RO" sz="3200" dirty="0">
                <a:solidFill>
                  <a:prstClr val="black"/>
                </a:solidFill>
                <a:latin typeface="Courier"/>
                <a:cs typeface="Courier"/>
              </a:rPr>
              <a:t> randint(</a:t>
            </a:r>
            <a:r>
              <a:rPr lang="ro-RO" sz="3200" dirty="0">
                <a:solidFill>
                  <a:srgbClr val="666666"/>
                </a:solidFill>
                <a:latin typeface="Courier"/>
                <a:cs typeface="Courier"/>
              </a:rPr>
              <a:t>0</a:t>
            </a:r>
            <a:r>
              <a:rPr lang="ro-RO" sz="3200" dirty="0">
                <a:solidFill>
                  <a:prstClr val="black"/>
                </a:solidFill>
                <a:latin typeface="Courier"/>
                <a:cs typeface="Courier"/>
              </a:rPr>
              <a:t>,</a:t>
            </a:r>
            <a:r>
              <a:rPr lang="ro-RO" sz="3200" dirty="0">
                <a:solidFill>
                  <a:srgbClr val="666666"/>
                </a:solidFill>
                <a:latin typeface="Courier"/>
                <a:cs typeface="Courier"/>
              </a:rPr>
              <a:t>3</a:t>
            </a:r>
            <a:r>
              <a:rPr lang="ro-RO" sz="3200" dirty="0">
                <a:solidFill>
                  <a:prstClr val="black"/>
                </a:solidFill>
                <a:latin typeface="Courier"/>
                <a:cs typeface="Courier"/>
              </a:rPr>
              <a:t>)  </a:t>
            </a:r>
            <a:r>
              <a:rPr lang="ro-RO" sz="3200" i="1" dirty="0">
                <a:solidFill>
                  <a:srgbClr val="408080"/>
                </a:solidFill>
                <a:latin typeface="Courier"/>
                <a:cs typeface="Courier"/>
              </a:rPr>
              <a:t># tirer une couleur au hasard</a:t>
            </a:r>
            <a:endParaRPr lang="ro-RO" sz="32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3200" dirty="0">
                <a:solidFill>
                  <a:prstClr val="black"/>
                </a:solidFill>
                <a:latin typeface="Courier"/>
                <a:cs typeface="Courier"/>
              </a:rPr>
              <a:t>        </a:t>
            </a:r>
            <a:r>
              <a:rPr lang="fr-FR" sz="3200" dirty="0" err="1">
                <a:solidFill>
                  <a:srgbClr val="008000"/>
                </a:solidFill>
                <a:latin typeface="Courier"/>
                <a:cs typeface="Courier"/>
              </a:rPr>
              <a:t>print</a:t>
            </a:r>
            <a:r>
              <a:rPr lang="fr-FR" sz="3200" dirty="0">
                <a:solidFill>
                  <a:srgbClr val="000000"/>
                </a:solidFill>
                <a:latin typeface="Courier"/>
                <a:cs typeface="Courier"/>
              </a:rPr>
              <a:t>(</a:t>
            </a:r>
            <a:r>
              <a:rPr lang="fr-FR" sz="3200" dirty="0" err="1">
                <a:solidFill>
                  <a:srgbClr val="008000"/>
                </a:solidFill>
                <a:latin typeface="Courier"/>
                <a:cs typeface="Courier"/>
              </a:rPr>
              <a:t>str</a:t>
            </a:r>
            <a:r>
              <a:rPr lang="fr-FR" sz="3200" dirty="0">
                <a:solidFill>
                  <a:prstClr val="black"/>
                </a:solidFill>
                <a:latin typeface="Courier"/>
                <a:cs typeface="Courier"/>
              </a:rPr>
              <a:t>(valeur[v]) </a:t>
            </a:r>
            <a:r>
              <a:rPr lang="fr-FR" sz="3200" dirty="0">
                <a:solidFill>
                  <a:srgbClr val="666666"/>
                </a:solidFill>
                <a:latin typeface="Courier"/>
                <a:cs typeface="Courier"/>
              </a:rPr>
              <a:t>+</a:t>
            </a:r>
            <a:r>
              <a:rPr lang="fr-FR" sz="32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3200" dirty="0">
                <a:solidFill>
                  <a:srgbClr val="BA2121"/>
                </a:solidFill>
                <a:latin typeface="Courier"/>
                <a:cs typeface="Courier"/>
              </a:rPr>
              <a:t>" de "</a:t>
            </a:r>
            <a:r>
              <a:rPr lang="fr-FR" sz="32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3200" dirty="0">
                <a:solidFill>
                  <a:srgbClr val="666666"/>
                </a:solidFill>
                <a:latin typeface="Courier"/>
                <a:cs typeface="Courier"/>
              </a:rPr>
              <a:t>+</a:t>
            </a:r>
            <a:r>
              <a:rPr lang="fr-FR" sz="3200" dirty="0">
                <a:solidFill>
                  <a:prstClr val="black"/>
                </a:solidFill>
                <a:latin typeface="Courier"/>
                <a:cs typeface="Courier"/>
              </a:rPr>
              <a:t> couleur[c])</a:t>
            </a:r>
          </a:p>
          <a:p>
            <a:pPr marL="0" indent="0">
              <a:buNone/>
            </a:pPr>
            <a:r>
              <a:rPr lang="it-IT" sz="3200" dirty="0">
                <a:solidFill>
                  <a:prstClr val="black"/>
                </a:solidFill>
                <a:latin typeface="Courier"/>
                <a:cs typeface="Courier"/>
              </a:rPr>
              <a:t>    </a:t>
            </a:r>
            <a:r>
              <a:rPr lang="it-IT" sz="3200" b="1" dirty="0" err="1">
                <a:solidFill>
                  <a:srgbClr val="008000"/>
                </a:solidFill>
                <a:latin typeface="Courier"/>
                <a:cs typeface="Courier"/>
              </a:rPr>
              <a:t>elif</a:t>
            </a:r>
            <a:r>
              <a:rPr lang="it-IT" sz="32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it-IT" sz="3200" dirty="0" err="1">
                <a:solidFill>
                  <a:prstClr val="black"/>
                </a:solidFill>
                <a:latin typeface="Courier"/>
                <a:cs typeface="Courier"/>
              </a:rPr>
              <a:t>entree</a:t>
            </a:r>
            <a:r>
              <a:rPr lang="it-IT" sz="32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it-IT" sz="3200" dirty="0">
                <a:solidFill>
                  <a:srgbClr val="666666"/>
                </a:solidFill>
                <a:latin typeface="Courier"/>
                <a:cs typeface="Courier"/>
              </a:rPr>
              <a:t>==</a:t>
            </a:r>
            <a:r>
              <a:rPr lang="it-IT" sz="32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it-IT" sz="3200" dirty="0">
                <a:solidFill>
                  <a:srgbClr val="BA2121"/>
                </a:solidFill>
                <a:latin typeface="Courier"/>
                <a:cs typeface="Courier"/>
              </a:rPr>
              <a:t>"</a:t>
            </a:r>
            <a:r>
              <a:rPr lang="it-IT" sz="3200" dirty="0" err="1">
                <a:solidFill>
                  <a:srgbClr val="BA2121"/>
                </a:solidFill>
                <a:latin typeface="Courier"/>
                <a:cs typeface="Courier"/>
              </a:rPr>
              <a:t>q</a:t>
            </a:r>
            <a:r>
              <a:rPr lang="it-IT" sz="3200" dirty="0">
                <a:solidFill>
                  <a:srgbClr val="BA2121"/>
                </a:solidFill>
                <a:latin typeface="Courier"/>
                <a:cs typeface="Courier"/>
              </a:rPr>
              <a:t>"</a:t>
            </a:r>
            <a:r>
              <a:rPr lang="it-IT" sz="3200" dirty="0">
                <a:solidFill>
                  <a:prstClr val="black"/>
                </a:solidFill>
                <a:latin typeface="Courier"/>
                <a:cs typeface="Courier"/>
              </a:rPr>
              <a:t>:</a:t>
            </a:r>
          </a:p>
          <a:p>
            <a:pPr marL="0" indent="0">
              <a:buNone/>
            </a:pPr>
            <a:r>
              <a:rPr lang="it-IT" sz="3200" dirty="0">
                <a:solidFill>
                  <a:prstClr val="black"/>
                </a:solidFill>
                <a:latin typeface="Courier"/>
                <a:cs typeface="Courier"/>
              </a:rPr>
              <a:t>    	</a:t>
            </a:r>
            <a:r>
              <a:rPr lang="it-IT" sz="3200" dirty="0" err="1">
                <a:solidFill>
                  <a:srgbClr val="008000"/>
                </a:solidFill>
                <a:latin typeface="Courier"/>
                <a:cs typeface="Courier"/>
              </a:rPr>
              <a:t>print</a:t>
            </a:r>
            <a:r>
              <a:rPr lang="it-IT" sz="3200" dirty="0">
                <a:solidFill>
                  <a:srgbClr val="000000"/>
                </a:solidFill>
                <a:latin typeface="Courier"/>
                <a:cs typeface="Courier"/>
              </a:rPr>
              <a:t>(</a:t>
            </a:r>
            <a:r>
              <a:rPr lang="it-IT" sz="3200" dirty="0">
                <a:solidFill>
                  <a:srgbClr val="BA2121"/>
                </a:solidFill>
                <a:latin typeface="Courier"/>
                <a:cs typeface="Courier"/>
              </a:rPr>
              <a:t>"</a:t>
            </a:r>
            <a:r>
              <a:rPr lang="it-IT" sz="3200" dirty="0" err="1">
                <a:solidFill>
                  <a:srgbClr val="BA2121"/>
                </a:solidFill>
                <a:latin typeface="Courier"/>
                <a:cs typeface="Courier"/>
              </a:rPr>
              <a:t>Tirage</a:t>
            </a:r>
            <a:r>
              <a:rPr lang="it-IT" sz="3200" dirty="0">
                <a:solidFill>
                  <a:srgbClr val="BA2121"/>
                </a:solidFill>
                <a:latin typeface="Courier"/>
                <a:cs typeface="Courier"/>
              </a:rPr>
              <a:t> </a:t>
            </a:r>
            <a:r>
              <a:rPr lang="it-IT" sz="3200" dirty="0" err="1">
                <a:solidFill>
                  <a:srgbClr val="BA2121"/>
                </a:solidFill>
                <a:latin typeface="Courier"/>
                <a:cs typeface="Courier"/>
              </a:rPr>
              <a:t>terminé</a:t>
            </a:r>
            <a:r>
              <a:rPr lang="it-IT" sz="3200" dirty="0">
                <a:solidFill>
                  <a:srgbClr val="BA2121"/>
                </a:solidFill>
                <a:latin typeface="Courier"/>
                <a:cs typeface="Courier"/>
              </a:rPr>
              <a:t>..."</a:t>
            </a:r>
            <a:r>
              <a:rPr lang="it-IT" sz="3200" dirty="0">
                <a:solidFill>
                  <a:srgbClr val="000000"/>
                </a:solidFill>
                <a:latin typeface="Courier"/>
                <a:cs typeface="Courier"/>
              </a:rPr>
              <a:t>)</a:t>
            </a:r>
          </a:p>
          <a:p>
            <a:pPr marL="0" indent="0">
              <a:buNone/>
            </a:pPr>
            <a:r>
              <a:rPr lang="hu-HU" sz="3200" dirty="0">
                <a:solidFill>
                  <a:prstClr val="black"/>
                </a:solidFill>
                <a:latin typeface="Courier"/>
                <a:cs typeface="Courier"/>
              </a:rPr>
              <a:t>    </a:t>
            </a:r>
            <a:r>
              <a:rPr lang="hu-HU" sz="3200" b="1" dirty="0">
                <a:solidFill>
                  <a:srgbClr val="008000"/>
                </a:solidFill>
                <a:latin typeface="Courier"/>
                <a:cs typeface="Courier"/>
              </a:rPr>
              <a:t>else</a:t>
            </a:r>
            <a:r>
              <a:rPr lang="hu-HU" sz="3200" dirty="0">
                <a:solidFill>
                  <a:prstClr val="black"/>
                </a:solidFill>
                <a:latin typeface="Courier"/>
                <a:cs typeface="Courier"/>
              </a:rPr>
              <a:t>:</a:t>
            </a:r>
          </a:p>
          <a:p>
            <a:pPr marL="0" indent="0">
              <a:buNone/>
            </a:pPr>
            <a:r>
              <a:rPr lang="ro-RO" sz="3200" dirty="0">
                <a:solidFill>
                  <a:prstClr val="black"/>
                </a:solidFill>
                <a:latin typeface="Courier"/>
                <a:cs typeface="Courier"/>
              </a:rPr>
              <a:t>        </a:t>
            </a:r>
            <a:r>
              <a:rPr lang="ro-RO" sz="3200" dirty="0">
                <a:solidFill>
                  <a:srgbClr val="008000"/>
                </a:solidFill>
                <a:latin typeface="Courier"/>
                <a:cs typeface="Courier"/>
              </a:rPr>
              <a:t>print</a:t>
            </a:r>
            <a:r>
              <a:rPr lang="ro-RO" sz="3200" dirty="0">
                <a:solidFill>
                  <a:srgbClr val="000000"/>
                </a:solidFill>
                <a:latin typeface="Courier"/>
                <a:cs typeface="Courier"/>
              </a:rPr>
              <a:t>(</a:t>
            </a:r>
            <a:r>
              <a:rPr lang="ro-RO" sz="3200" dirty="0">
                <a:solidFill>
                  <a:srgbClr val="BA2121"/>
                </a:solidFill>
                <a:latin typeface="Courier"/>
                <a:cs typeface="Courier"/>
              </a:rPr>
              <a:t>"Erreur..."</a:t>
            </a:r>
            <a:r>
              <a:rPr lang="ro-RO" sz="3200" dirty="0">
                <a:solidFill>
                  <a:srgbClr val="000000"/>
                </a:solidFill>
                <a:latin typeface="Courier"/>
                <a:cs typeface="Courier"/>
              </a:rPr>
              <a:t>)</a:t>
            </a:r>
            <a:endParaRPr lang="fr-FR" dirty="0">
              <a:solidFill>
                <a:srgbClr val="000000"/>
              </a:solidFill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3351352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</a:t>
            </a:r>
            <a:r>
              <a:rPr lang="fr-FR" dirty="0" err="1"/>
              <a:t>tuples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44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fr-FR" dirty="0"/>
              <a:t>Les </a:t>
            </a:r>
            <a:r>
              <a:rPr lang="fr-FR" dirty="0" err="1"/>
              <a:t>tuples</a:t>
            </a:r>
            <a:r>
              <a:rPr lang="fr-FR" dirty="0"/>
              <a:t> sont des sortes de listes, mais de type </a:t>
            </a:r>
            <a:r>
              <a:rPr lang="fr-FR" b="1" dirty="0"/>
              <a:t>non-modifiable</a:t>
            </a:r>
            <a:r>
              <a:rPr lang="fr-FR" dirty="0"/>
              <a:t>.</a:t>
            </a:r>
          </a:p>
          <a:p>
            <a:r>
              <a:rPr lang="fr-FR" dirty="0"/>
              <a:t>En Python, les </a:t>
            </a:r>
            <a:r>
              <a:rPr lang="fr-FR" dirty="0" err="1"/>
              <a:t>tuples</a:t>
            </a:r>
            <a:r>
              <a:rPr lang="fr-FR" dirty="0"/>
              <a:t> sont des objets de type </a:t>
            </a:r>
            <a:r>
              <a:rPr lang="fr-FR" sz="2400" dirty="0" err="1">
                <a:solidFill>
                  <a:srgbClr val="3366FF"/>
                </a:solidFill>
                <a:latin typeface="Courier"/>
                <a:cs typeface="Courier"/>
              </a:rPr>
              <a:t>tuple</a:t>
            </a:r>
            <a:r>
              <a:rPr lang="fr-FR" dirty="0"/>
              <a:t>.</a:t>
            </a:r>
          </a:p>
          <a:p>
            <a:r>
              <a:rPr lang="fr-FR" dirty="0"/>
              <a:t>Les syntaxe d’un </a:t>
            </a:r>
            <a:r>
              <a:rPr lang="fr-FR" dirty="0" err="1"/>
              <a:t>tuple</a:t>
            </a:r>
            <a:r>
              <a:rPr lang="fr-FR" dirty="0"/>
              <a:t> est la suivante : les éléments sont entre parenthèses et séparés par des virgules.</a:t>
            </a:r>
            <a:endParaRPr lang="fr-FR" sz="1800" dirty="0">
              <a:solidFill>
                <a:prstClr val="black"/>
              </a:solidFill>
              <a:latin typeface="Courier"/>
            </a:endParaRPr>
          </a:p>
          <a:p>
            <a:pPr marL="0" indent="0">
              <a:buNone/>
            </a:pPr>
            <a:endParaRPr lang="fr-FR" sz="1800" dirty="0">
              <a:solidFill>
                <a:prstClr val="black"/>
              </a:solidFill>
              <a:latin typeface="Courier"/>
            </a:endParaRP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</a:rPr>
              <a:t>&gt;&gt;&gt; </a:t>
            </a:r>
            <a:r>
              <a:rPr lang="en-US" sz="1800" dirty="0">
                <a:solidFill>
                  <a:prstClr val="black"/>
                </a:solidFill>
                <a:latin typeface="Courier"/>
              </a:rPr>
              <a:t>t </a:t>
            </a:r>
            <a:r>
              <a:rPr lang="en-US" sz="1800" dirty="0">
                <a:solidFill>
                  <a:srgbClr val="666666"/>
                </a:solidFill>
                <a:latin typeface="Courier"/>
              </a:rPr>
              <a:t>=</a:t>
            </a:r>
            <a:r>
              <a:rPr lang="en-US" sz="1800" dirty="0">
                <a:solidFill>
                  <a:prstClr val="black"/>
                </a:solidFill>
                <a:latin typeface="Courier"/>
              </a:rPr>
              <a:t> (</a:t>
            </a:r>
            <a:r>
              <a:rPr lang="en-US" sz="1800" dirty="0">
                <a:solidFill>
                  <a:srgbClr val="666666"/>
                </a:solidFill>
                <a:latin typeface="Courier"/>
              </a:rPr>
              <a:t>1</a:t>
            </a:r>
            <a:r>
              <a:rPr lang="en-US" sz="1800" dirty="0">
                <a:solidFill>
                  <a:prstClr val="black"/>
                </a:solidFill>
                <a:latin typeface="Courier"/>
              </a:rPr>
              <a:t>,</a:t>
            </a:r>
            <a:r>
              <a:rPr lang="en-US" sz="1800" dirty="0">
                <a:solidFill>
                  <a:srgbClr val="666666"/>
                </a:solidFill>
                <a:latin typeface="Courier"/>
              </a:rPr>
              <a:t>2</a:t>
            </a:r>
            <a:r>
              <a:rPr lang="en-US" sz="1800" dirty="0">
                <a:solidFill>
                  <a:prstClr val="black"/>
                </a:solidFill>
                <a:latin typeface="Courier"/>
              </a:rPr>
              <a:t>,</a:t>
            </a:r>
            <a:r>
              <a:rPr lang="en-US" sz="1800" dirty="0">
                <a:solidFill>
                  <a:srgbClr val="666666"/>
                </a:solidFill>
                <a:latin typeface="Courier"/>
              </a:rPr>
              <a:t>3.538</a:t>
            </a:r>
            <a:r>
              <a:rPr lang="en-US" sz="1800" dirty="0">
                <a:solidFill>
                  <a:prstClr val="black"/>
                </a:solidFill>
                <a:latin typeface="Courier"/>
              </a:rPr>
              <a:t>)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</a:rPr>
              <a:t>&gt;&gt;&gt; </a:t>
            </a:r>
            <a:r>
              <a:rPr lang="en-US" sz="1800" dirty="0">
                <a:solidFill>
                  <a:srgbClr val="008000"/>
                </a:solidFill>
                <a:latin typeface="Courier"/>
              </a:rPr>
              <a:t>type</a:t>
            </a:r>
            <a:r>
              <a:rPr lang="en-US" sz="1800" dirty="0">
                <a:solidFill>
                  <a:prstClr val="black"/>
                </a:solidFill>
                <a:latin typeface="Courier"/>
              </a:rPr>
              <a:t>(t)</a:t>
            </a:r>
          </a:p>
          <a:p>
            <a:pPr marL="0" indent="0">
              <a:buNone/>
            </a:pPr>
            <a:r>
              <a:rPr lang="en-US" sz="1800" dirty="0">
                <a:solidFill>
                  <a:prstClr val="black"/>
                </a:solidFill>
                <a:latin typeface="Courier"/>
              </a:rPr>
              <a:t>&lt;class 'tuple'&gt;</a:t>
            </a:r>
            <a:endParaRPr lang="it-IT" sz="1800" dirty="0">
              <a:solidFill>
                <a:prstClr val="black"/>
              </a:solidFill>
              <a:latin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2169694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</a:t>
            </a:r>
            <a:r>
              <a:rPr lang="fr-FR" dirty="0" err="1"/>
              <a:t>tuples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45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fr-CH" dirty="0"/>
              <a:t>Comme pour les listes, l’opérateur de concaténation sur les tuples se note « + » et l’opérateur de multiplication sur les tuples se note « * ».</a:t>
            </a:r>
            <a:endParaRPr lang="nb-NO" sz="1800" dirty="0">
              <a:solidFill>
                <a:prstClr val="black"/>
              </a:solidFill>
              <a:latin typeface="Courier"/>
            </a:endParaRPr>
          </a:p>
          <a:p>
            <a:r>
              <a:rPr lang="fr-CH" dirty="0"/>
              <a:t>L’indexation (indexing) et le découpage (slicing) des tuples se comportent également de la même manière que pour les listes.</a:t>
            </a:r>
          </a:p>
          <a:p>
            <a:r>
              <a:rPr lang="fr-CH" dirty="0"/>
              <a:t>La longueur d’un tuple est donnée par la fonction </a:t>
            </a:r>
            <a:r>
              <a:rPr lang="fr-CH" sz="2400" dirty="0">
                <a:solidFill>
                  <a:srgbClr val="3366FF"/>
                </a:solidFill>
                <a:latin typeface="Courier"/>
                <a:cs typeface="Courier"/>
              </a:rPr>
              <a:t>len()</a:t>
            </a:r>
            <a:r>
              <a:rPr lang="fr-CH" dirty="0"/>
              <a:t>.</a:t>
            </a:r>
          </a:p>
          <a:p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2257835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</a:t>
            </a:r>
            <a:r>
              <a:rPr lang="fr-FR" dirty="0" err="1"/>
              <a:t>tuples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46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CH" dirty="0"/>
              <a:t>La grande différence est que les tuples ne possèdent pas toutes ces méthodes que l’on a sur les listes, car ce sont des objets non modifiables !</a:t>
            </a:r>
          </a:p>
          <a:p>
            <a:r>
              <a:rPr lang="fr-CH" dirty="0"/>
              <a:t>On ne peut donc pas modifier, ajouter, supprimer, etc. d’éléments dans un tuple. Une fois celui-ci déclaré, il ne changera plus tout au long de l’exécution de votre programme.</a:t>
            </a:r>
          </a:p>
          <a:p>
            <a:r>
              <a:rPr lang="fr-CH" dirty="0"/>
              <a:t>Par contre, on peut concaténer, multiplier, etc. des tuples pour en créer de nouveaux.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66644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</a:t>
            </a:r>
            <a:r>
              <a:rPr lang="fr-FR" dirty="0" err="1"/>
              <a:t>tuples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47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fr-CH" dirty="0"/>
              <a:t>Parcours de tuples : on peut parcourir les éléments successifs d’un tuple </a:t>
            </a:r>
            <a:r>
              <a:rPr lang="fr-FR" dirty="0"/>
              <a:t>via</a:t>
            </a:r>
            <a:r>
              <a:rPr lang="fr-CH" dirty="0"/>
              <a:t> une boucle « for » (cf. chapitre suivant).</a:t>
            </a:r>
            <a:endParaRPr lang="fr-CH" sz="1800" dirty="0">
              <a:solidFill>
                <a:srgbClr val="FF0000"/>
              </a:solidFill>
              <a:latin typeface="Courier"/>
              <a:cs typeface="Courier"/>
            </a:endParaRPr>
          </a:p>
          <a:p>
            <a:r>
              <a:rPr lang="fr-CH" dirty="0"/>
              <a:t>Pour cela, ou utilise la syntaxe : </a:t>
            </a:r>
          </a:p>
          <a:p>
            <a:pPr marL="0" indent="0">
              <a:buNone/>
            </a:pPr>
            <a:r>
              <a:rPr lang="fr-CH" sz="2400" dirty="0">
                <a:solidFill>
                  <a:srgbClr val="3366FF"/>
                </a:solidFill>
                <a:latin typeface="Courier"/>
                <a:cs typeface="Courier"/>
              </a:rPr>
              <a:t>	for var in tuple:</a:t>
            </a:r>
          </a:p>
          <a:p>
            <a:pPr marL="0" indent="0">
              <a:buNone/>
            </a:pPr>
            <a:r>
              <a:rPr lang="fr-CH" sz="2400" dirty="0">
                <a:solidFill>
                  <a:srgbClr val="3366FF"/>
                </a:solidFill>
                <a:latin typeface="Courier"/>
                <a:cs typeface="Courier"/>
              </a:rPr>
              <a:t>		instructions...</a:t>
            </a:r>
            <a:endParaRPr lang="fr-CH" sz="2400" dirty="0"/>
          </a:p>
          <a:p>
            <a:r>
              <a:rPr lang="fr-CH" dirty="0"/>
              <a:t>Ne pas oublier les deux points à la fin de l’instruction « for</a:t>
            </a:r>
            <a:r>
              <a:rPr lang="is-IS" dirty="0"/>
              <a:t>…</a:t>
            </a:r>
            <a:r>
              <a:rPr lang="fr-CH" dirty="0"/>
              <a:t> » et l’indentation obligatoire des instructions imbriquées dans la boucle « for ».</a:t>
            </a:r>
          </a:p>
        </p:txBody>
      </p:sp>
    </p:spTree>
    <p:extLst>
      <p:ext uri="{BB962C8B-B14F-4D97-AF65-F5344CB8AC3E}">
        <p14:creationId xmlns:p14="http://schemas.microsoft.com/office/powerpoint/2010/main" val="2443984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</a:t>
            </a:r>
            <a:r>
              <a:rPr lang="fr-FR" dirty="0" err="1"/>
              <a:t>tuples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48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is-IS" sz="1800" dirty="0">
                <a:solidFill>
                  <a:prstClr val="black"/>
                </a:solidFill>
                <a:latin typeface="Courier"/>
              </a:rPr>
              <a:t>&gt;&gt;&gt; t1 </a:t>
            </a:r>
            <a:r>
              <a:rPr lang="is-IS" sz="1800" dirty="0">
                <a:solidFill>
                  <a:srgbClr val="666666"/>
                </a:solidFill>
                <a:latin typeface="Courier"/>
              </a:rPr>
              <a:t>=</a:t>
            </a:r>
            <a:r>
              <a:rPr lang="is-IS" sz="1800" dirty="0">
                <a:solidFill>
                  <a:prstClr val="black"/>
                </a:solidFill>
                <a:latin typeface="Courier"/>
              </a:rPr>
              <a:t> (</a:t>
            </a:r>
            <a:r>
              <a:rPr lang="is-IS" sz="1800" dirty="0">
                <a:solidFill>
                  <a:srgbClr val="666666"/>
                </a:solidFill>
                <a:latin typeface="Courier"/>
              </a:rPr>
              <a:t>1</a:t>
            </a:r>
            <a:r>
              <a:rPr lang="is-IS" sz="1800" dirty="0">
                <a:solidFill>
                  <a:prstClr val="black"/>
                </a:solidFill>
                <a:latin typeface="Courier"/>
              </a:rPr>
              <a:t>,</a:t>
            </a:r>
            <a:r>
              <a:rPr lang="is-IS" sz="1800" dirty="0">
                <a:solidFill>
                  <a:srgbClr val="666666"/>
                </a:solidFill>
                <a:latin typeface="Courier"/>
              </a:rPr>
              <a:t>2</a:t>
            </a:r>
            <a:r>
              <a:rPr lang="is-IS" sz="1800" dirty="0">
                <a:solidFill>
                  <a:prstClr val="black"/>
                </a:solidFill>
                <a:latin typeface="Courier"/>
              </a:rPr>
              <a:t>,</a:t>
            </a:r>
            <a:r>
              <a:rPr lang="is-IS" sz="1800" dirty="0">
                <a:solidFill>
                  <a:srgbClr val="666666"/>
                </a:solidFill>
                <a:latin typeface="Courier"/>
              </a:rPr>
              <a:t>3</a:t>
            </a:r>
            <a:r>
              <a:rPr lang="is-IS" sz="1800" dirty="0">
                <a:solidFill>
                  <a:prstClr val="black"/>
                </a:solidFill>
                <a:latin typeface="Courier"/>
              </a:rPr>
              <a:t>)</a:t>
            </a:r>
          </a:p>
          <a:p>
            <a:pPr marL="0" indent="0">
              <a:buNone/>
            </a:pPr>
            <a:r>
              <a:rPr lang="is-IS" sz="1800" dirty="0">
                <a:solidFill>
                  <a:prstClr val="black"/>
                </a:solidFill>
                <a:latin typeface="Courier"/>
              </a:rPr>
              <a:t>&gt;&gt;&gt; t2 </a:t>
            </a:r>
            <a:r>
              <a:rPr lang="is-IS" sz="1800" dirty="0">
                <a:solidFill>
                  <a:srgbClr val="666666"/>
                </a:solidFill>
                <a:latin typeface="Courier"/>
              </a:rPr>
              <a:t>=</a:t>
            </a:r>
            <a:r>
              <a:rPr lang="is-IS" sz="1800" dirty="0">
                <a:solidFill>
                  <a:prstClr val="black"/>
                </a:solidFill>
                <a:latin typeface="Courier"/>
              </a:rPr>
              <a:t> (</a:t>
            </a:r>
            <a:r>
              <a:rPr lang="is-IS" sz="1800" dirty="0">
                <a:solidFill>
                  <a:srgbClr val="666666"/>
                </a:solidFill>
                <a:latin typeface="Courier"/>
              </a:rPr>
              <a:t>4</a:t>
            </a:r>
            <a:r>
              <a:rPr lang="is-IS" sz="1800" dirty="0">
                <a:solidFill>
                  <a:prstClr val="black"/>
                </a:solidFill>
                <a:latin typeface="Courier"/>
              </a:rPr>
              <a:t>,</a:t>
            </a:r>
            <a:r>
              <a:rPr lang="is-IS" sz="1800" dirty="0">
                <a:solidFill>
                  <a:srgbClr val="666666"/>
                </a:solidFill>
                <a:latin typeface="Courier"/>
              </a:rPr>
              <a:t>5</a:t>
            </a:r>
            <a:r>
              <a:rPr lang="is-IS" sz="1800" dirty="0">
                <a:solidFill>
                  <a:prstClr val="black"/>
                </a:solidFill>
                <a:latin typeface="Courier"/>
              </a:rPr>
              <a:t>,</a:t>
            </a:r>
            <a:r>
              <a:rPr lang="is-IS" sz="1800" dirty="0">
                <a:solidFill>
                  <a:srgbClr val="666666"/>
                </a:solidFill>
                <a:latin typeface="Courier"/>
              </a:rPr>
              <a:t>6</a:t>
            </a:r>
            <a:r>
              <a:rPr lang="is-IS" sz="1800" dirty="0">
                <a:solidFill>
                  <a:prstClr val="black"/>
                </a:solidFill>
                <a:latin typeface="Courier"/>
              </a:rPr>
              <a:t>)</a:t>
            </a:r>
          </a:p>
          <a:p>
            <a:pPr marL="0" indent="0">
              <a:buNone/>
            </a:pPr>
            <a:r>
              <a:rPr lang="fr-FR" sz="1800" dirty="0">
                <a:solidFill>
                  <a:srgbClr val="000000"/>
                </a:solidFill>
                <a:latin typeface="Courier"/>
              </a:rPr>
              <a:t>&gt;&gt;&gt; 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t1 </a:t>
            </a:r>
            <a:r>
              <a:rPr lang="fr-FR" sz="1800" dirty="0">
                <a:solidFill>
                  <a:srgbClr val="666666"/>
                </a:solidFill>
                <a:latin typeface="Courier"/>
              </a:rPr>
              <a:t>+ 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t2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</a:rPr>
              <a:t>(1,2,3,4,5,6)</a:t>
            </a:r>
          </a:p>
          <a:p>
            <a:pPr marL="0" indent="0">
              <a:buNone/>
            </a:pPr>
            <a:r>
              <a:rPr lang="pt-BR" sz="1800" dirty="0">
                <a:solidFill>
                  <a:prstClr val="black"/>
                </a:solidFill>
                <a:latin typeface="Courier"/>
              </a:rPr>
              <a:t>&gt;&gt;&gt; t1[</a:t>
            </a:r>
            <a:r>
              <a:rPr lang="pt-BR" sz="1800" dirty="0">
                <a:solidFill>
                  <a:srgbClr val="666666"/>
                </a:solidFill>
                <a:latin typeface="Courier"/>
              </a:rPr>
              <a:t>2</a:t>
            </a:r>
            <a:r>
              <a:rPr lang="pt-BR" sz="1800" dirty="0">
                <a:solidFill>
                  <a:prstClr val="black"/>
                </a:solidFill>
                <a:latin typeface="Courier"/>
              </a:rPr>
              <a:t>] </a:t>
            </a:r>
            <a:r>
              <a:rPr lang="pt-BR" sz="1800" dirty="0">
                <a:solidFill>
                  <a:srgbClr val="666666"/>
                </a:solidFill>
                <a:latin typeface="Courier"/>
              </a:rPr>
              <a:t>=</a:t>
            </a:r>
            <a:r>
              <a:rPr lang="pt-BR" sz="1800" dirty="0">
                <a:solidFill>
                  <a:prstClr val="black"/>
                </a:solidFill>
                <a:latin typeface="Courier"/>
              </a:rPr>
              <a:t> </a:t>
            </a:r>
            <a:r>
              <a:rPr lang="pt-BR" sz="1800" dirty="0">
                <a:solidFill>
                  <a:srgbClr val="BA2121"/>
                </a:solidFill>
                <a:latin typeface="Courier"/>
              </a:rPr>
              <a:t>"</a:t>
            </a:r>
            <a:r>
              <a:rPr lang="pt-BR" sz="1800" dirty="0" err="1">
                <a:solidFill>
                  <a:srgbClr val="BA2121"/>
                </a:solidFill>
                <a:latin typeface="Courier"/>
              </a:rPr>
              <a:t>bonjour</a:t>
            </a:r>
            <a:r>
              <a:rPr lang="pt-BR" sz="1800" dirty="0">
                <a:solidFill>
                  <a:srgbClr val="BA2121"/>
                </a:solidFill>
                <a:latin typeface="Courier"/>
              </a:rPr>
              <a:t>"</a:t>
            </a:r>
          </a:p>
          <a:p>
            <a:pPr marL="0" indent="0">
              <a:buNone/>
            </a:pPr>
            <a:r>
              <a:rPr lang="fr-FR" sz="1800" dirty="0" err="1">
                <a:solidFill>
                  <a:srgbClr val="FF0000"/>
                </a:solidFill>
                <a:latin typeface="Courier"/>
                <a:cs typeface="Courier"/>
              </a:rPr>
              <a:t>Traceback</a:t>
            </a:r>
            <a:r>
              <a:rPr lang="fr-FR" sz="1800" dirty="0">
                <a:solidFill>
                  <a:srgbClr val="FF0000"/>
                </a:solidFill>
                <a:latin typeface="Courier"/>
                <a:cs typeface="Courier"/>
              </a:rPr>
              <a:t> (</a:t>
            </a:r>
            <a:r>
              <a:rPr lang="fr-FR" sz="1800" dirty="0" err="1">
                <a:solidFill>
                  <a:srgbClr val="FF0000"/>
                </a:solidFill>
                <a:latin typeface="Courier"/>
                <a:cs typeface="Courier"/>
              </a:rPr>
              <a:t>most</a:t>
            </a:r>
            <a:r>
              <a:rPr lang="fr-FR" sz="1800" dirty="0">
                <a:solidFill>
                  <a:srgbClr val="FF0000"/>
                </a:solidFill>
                <a:latin typeface="Courier"/>
                <a:cs typeface="Courier"/>
              </a:rPr>
              <a:t> </a:t>
            </a:r>
            <a:r>
              <a:rPr lang="fr-FR" sz="1800" dirty="0" err="1">
                <a:solidFill>
                  <a:srgbClr val="FF0000"/>
                </a:solidFill>
                <a:latin typeface="Courier"/>
                <a:cs typeface="Courier"/>
              </a:rPr>
              <a:t>recent</a:t>
            </a:r>
            <a:r>
              <a:rPr lang="fr-FR" sz="1800" dirty="0">
                <a:solidFill>
                  <a:srgbClr val="FF0000"/>
                </a:solidFill>
                <a:latin typeface="Courier"/>
                <a:cs typeface="Courier"/>
              </a:rPr>
              <a:t> call last):</a:t>
            </a:r>
          </a:p>
          <a:p>
            <a:pPr marL="0" indent="0">
              <a:buNone/>
            </a:pPr>
            <a:r>
              <a:rPr lang="fr-FR" sz="1800" dirty="0">
                <a:solidFill>
                  <a:srgbClr val="FF0000"/>
                </a:solidFill>
                <a:latin typeface="Courier"/>
                <a:cs typeface="Courier"/>
              </a:rPr>
              <a:t>  File "&lt;</a:t>
            </a:r>
            <a:r>
              <a:rPr lang="fr-FR" sz="1800" dirty="0" err="1">
                <a:solidFill>
                  <a:srgbClr val="FF0000"/>
                </a:solidFill>
                <a:latin typeface="Courier"/>
                <a:cs typeface="Courier"/>
              </a:rPr>
              <a:t>stdin</a:t>
            </a:r>
            <a:r>
              <a:rPr lang="fr-FR" sz="1800" dirty="0">
                <a:solidFill>
                  <a:srgbClr val="FF0000"/>
                </a:solidFill>
                <a:latin typeface="Courier"/>
                <a:cs typeface="Courier"/>
              </a:rPr>
              <a:t>&gt;", line 1, in &lt;module&gt;</a:t>
            </a:r>
          </a:p>
          <a:p>
            <a:pPr marL="0" indent="0">
              <a:buNone/>
            </a:pPr>
            <a:r>
              <a:rPr lang="fr-FR" sz="1800" dirty="0" err="1">
                <a:solidFill>
                  <a:srgbClr val="FF0000"/>
                </a:solidFill>
                <a:latin typeface="Courier"/>
                <a:cs typeface="Courier"/>
              </a:rPr>
              <a:t>TypeError</a:t>
            </a:r>
            <a:r>
              <a:rPr lang="fr-FR" sz="1800" dirty="0">
                <a:solidFill>
                  <a:srgbClr val="FF0000"/>
                </a:solidFill>
                <a:latin typeface="Courier"/>
                <a:cs typeface="Courier"/>
              </a:rPr>
              <a:t>: '</a:t>
            </a:r>
            <a:r>
              <a:rPr lang="fr-FR" sz="1800" dirty="0" err="1">
                <a:solidFill>
                  <a:srgbClr val="FF0000"/>
                </a:solidFill>
                <a:latin typeface="Courier"/>
                <a:cs typeface="Courier"/>
              </a:rPr>
              <a:t>tuple</a:t>
            </a:r>
            <a:r>
              <a:rPr lang="fr-FR" sz="1800" dirty="0">
                <a:solidFill>
                  <a:srgbClr val="FF0000"/>
                </a:solidFill>
                <a:latin typeface="Courier"/>
                <a:cs typeface="Courier"/>
              </a:rPr>
              <a:t>' </a:t>
            </a:r>
            <a:r>
              <a:rPr lang="fr-FR" sz="1800" dirty="0" err="1">
                <a:solidFill>
                  <a:srgbClr val="FF0000"/>
                </a:solidFill>
                <a:latin typeface="Courier"/>
                <a:cs typeface="Courier"/>
              </a:rPr>
              <a:t>object</a:t>
            </a:r>
            <a:r>
              <a:rPr lang="fr-FR" sz="1800" dirty="0">
                <a:solidFill>
                  <a:srgbClr val="FF0000"/>
                </a:solidFill>
                <a:latin typeface="Courier"/>
                <a:cs typeface="Courier"/>
              </a:rPr>
              <a:t> </a:t>
            </a:r>
            <a:r>
              <a:rPr lang="fr-FR" sz="1800" dirty="0" err="1">
                <a:solidFill>
                  <a:srgbClr val="FF0000"/>
                </a:solidFill>
                <a:latin typeface="Courier"/>
                <a:cs typeface="Courier"/>
              </a:rPr>
              <a:t>does</a:t>
            </a:r>
            <a:r>
              <a:rPr lang="fr-FR" sz="1800" dirty="0">
                <a:solidFill>
                  <a:srgbClr val="FF0000"/>
                </a:solidFill>
                <a:latin typeface="Courier"/>
                <a:cs typeface="Courier"/>
              </a:rPr>
              <a:t> not support item </a:t>
            </a:r>
            <a:r>
              <a:rPr lang="fr-FR" sz="1800" dirty="0" err="1">
                <a:solidFill>
                  <a:srgbClr val="FF0000"/>
                </a:solidFill>
                <a:latin typeface="Courier"/>
                <a:cs typeface="Courier"/>
              </a:rPr>
              <a:t>assignment</a:t>
            </a:r>
            <a:endParaRPr lang="fr-FR" sz="1800" dirty="0">
              <a:solidFill>
                <a:srgbClr val="FF0000"/>
              </a:solidFill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2222202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</a:t>
            </a:r>
            <a:r>
              <a:rPr lang="fr-FR" dirty="0" err="1"/>
              <a:t>tuples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49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</a:rPr>
              <a:t>&gt;&gt;&gt; id </a:t>
            </a:r>
            <a:r>
              <a:rPr lang="fr-FR" sz="1800" dirty="0">
                <a:solidFill>
                  <a:srgbClr val="666666"/>
                </a:solidFill>
                <a:latin typeface="Courier"/>
              </a:rPr>
              <a:t>=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 [(</a:t>
            </a:r>
            <a:r>
              <a:rPr lang="fr-FR" sz="1800" dirty="0">
                <a:solidFill>
                  <a:srgbClr val="BA2121"/>
                </a:solidFill>
                <a:latin typeface="Courier"/>
              </a:rPr>
              <a:t>"</a:t>
            </a:r>
            <a:r>
              <a:rPr lang="fr-FR" sz="1800" dirty="0" err="1">
                <a:solidFill>
                  <a:srgbClr val="BA2121"/>
                </a:solidFill>
                <a:latin typeface="Courier"/>
              </a:rPr>
              <a:t>James"</a:t>
            </a:r>
            <a:r>
              <a:rPr lang="fr-FR" sz="1800" dirty="0" err="1">
                <a:solidFill>
                  <a:prstClr val="black"/>
                </a:solidFill>
                <a:latin typeface="Courier"/>
              </a:rPr>
              <a:t>,</a:t>
            </a:r>
            <a:r>
              <a:rPr lang="fr-FR" sz="1800" dirty="0" err="1">
                <a:solidFill>
                  <a:srgbClr val="BA2121"/>
                </a:solidFill>
                <a:latin typeface="Courier"/>
              </a:rPr>
              <a:t>"Dean</a:t>
            </a:r>
            <a:r>
              <a:rPr lang="fr-FR" sz="1800" dirty="0">
                <a:solidFill>
                  <a:srgbClr val="BA2121"/>
                </a:solidFill>
                <a:latin typeface="Courier"/>
              </a:rPr>
              <a:t>"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), </a:t>
            </a:r>
            <a:r>
              <a:rPr lang="fr-FR" sz="1800" dirty="0">
                <a:solidFill>
                  <a:srgbClr val="BA2121"/>
                </a:solidFill>
                <a:latin typeface="Courier"/>
              </a:rPr>
              <a:t>"Université P2"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, </a:t>
            </a:r>
            <a:r>
              <a:rPr lang="fr-FR" sz="1800" dirty="0">
                <a:solidFill>
                  <a:srgbClr val="BA2121"/>
                </a:solidFill>
                <a:latin typeface="Courier"/>
              </a:rPr>
              <a:t>"M1"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]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</a:rPr>
              <a:t>&gt;&gt;&gt; id[</a:t>
            </a:r>
            <a:r>
              <a:rPr lang="fr-FR" sz="1800" dirty="0">
                <a:solidFill>
                  <a:srgbClr val="666666"/>
                </a:solidFill>
                <a:latin typeface="Courier"/>
              </a:rPr>
              <a:t>1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] </a:t>
            </a:r>
            <a:r>
              <a:rPr lang="fr-FR" sz="1800" dirty="0">
                <a:solidFill>
                  <a:srgbClr val="666666"/>
                </a:solidFill>
                <a:latin typeface="Courier"/>
              </a:rPr>
              <a:t>=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 </a:t>
            </a:r>
            <a:r>
              <a:rPr lang="fr-FR" sz="1800" dirty="0">
                <a:solidFill>
                  <a:srgbClr val="BA2121"/>
                </a:solidFill>
                <a:latin typeface="Courier"/>
              </a:rPr>
              <a:t>"Université Paris 6"</a:t>
            </a:r>
            <a:endParaRPr lang="fr-FR" sz="1800" dirty="0">
              <a:solidFill>
                <a:prstClr val="black"/>
              </a:solidFill>
              <a:latin typeface="Courier"/>
            </a:endParaRP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</a:rPr>
              <a:t>&gt;&gt;&gt; id[</a:t>
            </a:r>
            <a:r>
              <a:rPr lang="fr-FR" sz="1800" dirty="0">
                <a:solidFill>
                  <a:srgbClr val="666666"/>
                </a:solidFill>
                <a:latin typeface="Courier"/>
              </a:rPr>
              <a:t>2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] </a:t>
            </a:r>
            <a:r>
              <a:rPr lang="fr-FR" sz="1800" dirty="0">
                <a:solidFill>
                  <a:srgbClr val="666666"/>
                </a:solidFill>
                <a:latin typeface="Courier"/>
              </a:rPr>
              <a:t>=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 </a:t>
            </a:r>
            <a:r>
              <a:rPr lang="fr-FR" sz="1800" dirty="0">
                <a:solidFill>
                  <a:srgbClr val="BA2121"/>
                </a:solidFill>
                <a:latin typeface="Courier"/>
              </a:rPr>
              <a:t>"M2"</a:t>
            </a:r>
            <a:endParaRPr lang="fr-FR" sz="1800" dirty="0">
              <a:solidFill>
                <a:prstClr val="black"/>
              </a:solidFill>
              <a:latin typeface="Courier"/>
            </a:endParaRP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</a:rPr>
              <a:t>&gt;&gt;&gt; id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</a:rPr>
              <a:t>[('James', 'Dean'), 'Université Paris 6', 'M2']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</a:rPr>
              <a:t>&gt;&gt;&gt; id[</a:t>
            </a:r>
            <a:r>
              <a:rPr lang="fr-FR" sz="1800" dirty="0">
                <a:solidFill>
                  <a:srgbClr val="666666"/>
                </a:solidFill>
                <a:latin typeface="Courier"/>
              </a:rPr>
              <a:t>0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] </a:t>
            </a:r>
            <a:r>
              <a:rPr lang="fr-FR" sz="1800" dirty="0">
                <a:solidFill>
                  <a:srgbClr val="666666"/>
                </a:solidFill>
                <a:latin typeface="Courier"/>
              </a:rPr>
              <a:t>=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 (</a:t>
            </a:r>
            <a:r>
              <a:rPr lang="fr-FR" sz="1800" dirty="0">
                <a:solidFill>
                  <a:srgbClr val="BA2121"/>
                </a:solidFill>
                <a:latin typeface="Courier"/>
              </a:rPr>
              <a:t>"</a:t>
            </a:r>
            <a:r>
              <a:rPr lang="fr-FR" sz="1800" dirty="0" err="1">
                <a:solidFill>
                  <a:srgbClr val="BA2121"/>
                </a:solidFill>
                <a:latin typeface="Courier"/>
              </a:rPr>
              <a:t>James"</a:t>
            </a:r>
            <a:r>
              <a:rPr lang="fr-FR" sz="1800" dirty="0" err="1">
                <a:solidFill>
                  <a:prstClr val="black"/>
                </a:solidFill>
                <a:latin typeface="Courier"/>
              </a:rPr>
              <a:t>,</a:t>
            </a:r>
            <a:r>
              <a:rPr lang="fr-FR" sz="1800" dirty="0" err="1">
                <a:solidFill>
                  <a:srgbClr val="BA2121"/>
                </a:solidFill>
                <a:latin typeface="Courier"/>
              </a:rPr>
              <a:t>"Bond</a:t>
            </a:r>
            <a:r>
              <a:rPr lang="fr-FR" sz="1800" dirty="0">
                <a:solidFill>
                  <a:srgbClr val="BA2121"/>
                </a:solidFill>
                <a:latin typeface="Courier"/>
              </a:rPr>
              <a:t>"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)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</a:rPr>
              <a:t>&gt;&gt;&gt; id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</a:rPr>
              <a:t>[('James', ’Bond'), 'Université Paris 6', 'M2’]</a:t>
            </a:r>
          </a:p>
          <a:p>
            <a:r>
              <a:rPr lang="fr-CH" sz="2400" dirty="0"/>
              <a:t>Dans ce cas, il peut être intéressant d’avoir une structure de donnée non modifiable pour stocker nom et prénom</a:t>
            </a:r>
            <a:r>
              <a:rPr lang="is-IS" sz="2400" dirty="0"/>
              <a:t>…</a:t>
            </a:r>
            <a:endParaRPr lang="fr-CH" sz="2400" dirty="0"/>
          </a:p>
          <a:p>
            <a:pPr marL="0" indent="0">
              <a:buNone/>
            </a:pPr>
            <a:endParaRPr lang="fr-FR" sz="1800" dirty="0">
              <a:solidFill>
                <a:srgbClr val="FF0000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endParaRPr lang="fr-FR" sz="1800" dirty="0"/>
          </a:p>
        </p:txBody>
      </p:sp>
    </p:spTree>
    <p:extLst>
      <p:ext uri="{BB962C8B-B14F-4D97-AF65-F5344CB8AC3E}">
        <p14:creationId xmlns:p14="http://schemas.microsoft.com/office/powerpoint/2010/main" val="3150040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dictionnaires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50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fr-FR" dirty="0"/>
              <a:t>Les dictionnaires sont des tables non ordonnées de couples « clé-valeur ». Ils permettent de stocker des données, les valeurs, en fonction de certains noms qu’on leur donne, les clés.</a:t>
            </a:r>
          </a:p>
          <a:p>
            <a:r>
              <a:rPr lang="fr-FR" dirty="0"/>
              <a:t>Par opposition aux listes, où les éléments sont indexés par des indices (nombres entiers), dans les dictionnaires, les éléments sont indexés par des clés (sortes de noms qu’on leur donne).</a:t>
            </a:r>
          </a:p>
        </p:txBody>
      </p:sp>
    </p:spTree>
    <p:extLst>
      <p:ext uri="{BB962C8B-B14F-4D97-AF65-F5344CB8AC3E}">
        <p14:creationId xmlns:p14="http://schemas.microsoft.com/office/powerpoint/2010/main" val="1254682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dictionnaires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51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fr-FR" dirty="0"/>
              <a:t>Les dictionnaires sont des structures de données de type </a:t>
            </a:r>
            <a:r>
              <a:rPr lang="fr-FR" b="1" dirty="0"/>
              <a:t>modifiable</a:t>
            </a:r>
            <a:r>
              <a:rPr lang="fr-FR" dirty="0"/>
              <a:t>.</a:t>
            </a:r>
          </a:p>
          <a:p>
            <a:r>
              <a:rPr lang="fr-FR" dirty="0"/>
              <a:t>Les clés des dictionnaires sont des objets de types non-modifiables, comme des chaînes, des nombres, ou des </a:t>
            </a:r>
            <a:r>
              <a:rPr lang="fr-FR" dirty="0" err="1"/>
              <a:t>tuples</a:t>
            </a:r>
            <a:r>
              <a:rPr lang="fr-FR" dirty="0"/>
              <a:t> de chaînes et de nombres. </a:t>
            </a:r>
          </a:p>
          <a:p>
            <a:r>
              <a:rPr lang="fr-FR" dirty="0"/>
              <a:t>Les valeurs associées aux clés peuvent être des objets de n’importe quel type (nombres, booléens, chaînes, listes, </a:t>
            </a:r>
            <a:r>
              <a:rPr lang="fr-FR" dirty="0" err="1"/>
              <a:t>tuples</a:t>
            </a:r>
            <a:r>
              <a:rPr lang="fr-FR" dirty="0"/>
              <a:t>, et même dictionnaires</a:t>
            </a:r>
            <a:r>
              <a:rPr lang="is-IS" dirty="0"/>
              <a:t>…</a:t>
            </a:r>
            <a:r>
              <a:rPr lang="fr-FR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243260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dictionnaires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52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fr-FR" dirty="0"/>
              <a:t>En Python, les dictionnaires sont des objets de type </a:t>
            </a:r>
            <a:r>
              <a:rPr lang="fr-FR" sz="2400" dirty="0">
                <a:solidFill>
                  <a:srgbClr val="3366FF"/>
                </a:solidFill>
                <a:latin typeface="Courier"/>
                <a:cs typeface="Courier"/>
              </a:rPr>
              <a:t>dict</a:t>
            </a:r>
            <a:r>
              <a:rPr lang="fr-FR" dirty="0"/>
              <a:t>.</a:t>
            </a:r>
          </a:p>
          <a:p>
            <a:r>
              <a:rPr lang="fr-FR" dirty="0"/>
              <a:t>Les syntaxe d’un dictionnaire est la suivante : la suite des couples « clé-valeur » est entre accolades, chaque couple « clé-valeur » s’écrit sous la forme « clé : valeur », et ces couples sont sont séparés par des virgules.</a:t>
            </a:r>
            <a:endParaRPr lang="fr-FR" sz="1800" dirty="0">
              <a:solidFill>
                <a:prstClr val="black"/>
              </a:solidFill>
              <a:latin typeface="Courier"/>
            </a:endParaRP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</a:rPr>
              <a:t>&gt;&gt;&gt; d </a:t>
            </a:r>
            <a:r>
              <a:rPr lang="fr-FR" sz="1800" dirty="0">
                <a:solidFill>
                  <a:srgbClr val="666666"/>
                </a:solidFill>
                <a:latin typeface="Courier"/>
              </a:rPr>
              <a:t>=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 {</a:t>
            </a:r>
            <a:r>
              <a:rPr lang="fr-FR" sz="1800" dirty="0">
                <a:solidFill>
                  <a:srgbClr val="BA2121"/>
                </a:solidFill>
                <a:latin typeface="Courier"/>
              </a:rPr>
              <a:t>"Alice"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: </a:t>
            </a:r>
            <a:r>
              <a:rPr lang="fr-FR" sz="1800" dirty="0">
                <a:solidFill>
                  <a:srgbClr val="666666"/>
                </a:solidFill>
                <a:latin typeface="Courier"/>
              </a:rPr>
              <a:t>4328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, </a:t>
            </a:r>
            <a:r>
              <a:rPr lang="fr-FR" sz="1800" dirty="0">
                <a:solidFill>
                  <a:srgbClr val="BA2121"/>
                </a:solidFill>
                <a:latin typeface="Courier"/>
              </a:rPr>
              <a:t>"Bob"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: </a:t>
            </a:r>
            <a:r>
              <a:rPr lang="fr-FR" sz="1800" dirty="0">
                <a:solidFill>
                  <a:srgbClr val="666666"/>
                </a:solidFill>
                <a:latin typeface="Courier"/>
              </a:rPr>
              <a:t>4357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, </a:t>
            </a:r>
            <a:r>
              <a:rPr lang="fr-FR" sz="1800" dirty="0">
                <a:solidFill>
                  <a:srgbClr val="BA2121"/>
                </a:solidFill>
                <a:latin typeface="Courier"/>
              </a:rPr>
              <a:t>"Celia"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: </a:t>
            </a:r>
            <a:r>
              <a:rPr lang="fr-FR" sz="1800" dirty="0">
                <a:solidFill>
                  <a:srgbClr val="666666"/>
                </a:solidFill>
                <a:latin typeface="Courier"/>
              </a:rPr>
              <a:t>4392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}</a:t>
            </a:r>
            <a:endParaRPr lang="en-US" sz="1800" dirty="0">
              <a:solidFill>
                <a:prstClr val="black"/>
              </a:solidFill>
              <a:latin typeface="Courier"/>
            </a:endParaRP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</a:rPr>
              <a:t>&gt;&gt;&gt; </a:t>
            </a:r>
            <a:r>
              <a:rPr lang="en-US" sz="1800" dirty="0">
                <a:solidFill>
                  <a:srgbClr val="008000"/>
                </a:solidFill>
                <a:latin typeface="Courier"/>
              </a:rPr>
              <a:t>type</a:t>
            </a:r>
            <a:r>
              <a:rPr lang="en-US" sz="1800" dirty="0">
                <a:solidFill>
                  <a:prstClr val="black"/>
                </a:solidFill>
                <a:latin typeface="Courier"/>
              </a:rPr>
              <a:t>(d)</a:t>
            </a:r>
          </a:p>
          <a:p>
            <a:pPr marL="0" indent="0">
              <a:buNone/>
            </a:pPr>
            <a:r>
              <a:rPr lang="en-US" sz="1800" dirty="0">
                <a:solidFill>
                  <a:prstClr val="black"/>
                </a:solidFill>
                <a:latin typeface="Courier"/>
              </a:rPr>
              <a:t>&lt;class '</a:t>
            </a:r>
            <a:r>
              <a:rPr lang="en-US" sz="1800" dirty="0" err="1">
                <a:solidFill>
                  <a:prstClr val="black"/>
                </a:solidFill>
                <a:latin typeface="Courier"/>
              </a:rPr>
              <a:t>dict</a:t>
            </a:r>
            <a:r>
              <a:rPr lang="en-US" sz="1800" dirty="0">
                <a:solidFill>
                  <a:prstClr val="black"/>
                </a:solidFill>
                <a:latin typeface="Courier"/>
              </a:rPr>
              <a:t>'&gt;</a:t>
            </a:r>
            <a:endParaRPr lang="it-IT" sz="1800" dirty="0">
              <a:solidFill>
                <a:prstClr val="black"/>
              </a:solidFill>
              <a:latin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3532834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dictionnaires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53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fr-FR" dirty="0"/>
              <a:t>Les dictionnaires étant de type modifiable, il </a:t>
            </a:r>
            <a:r>
              <a:rPr lang="fr-CH" dirty="0"/>
              <a:t>est possible de modifier, ajouter, supprimer des couples « clé-valeur » dans un dictionnaire via des instructions de réaffectation.</a:t>
            </a:r>
          </a:p>
          <a:p>
            <a:r>
              <a:rPr lang="fr-CH" dirty="0"/>
              <a:t>Les principales opéations sur les dictionnaires sont :</a:t>
            </a:r>
          </a:p>
          <a:p>
            <a:pPr lvl="1"/>
            <a:r>
              <a:rPr lang="fr-CH" dirty="0"/>
              <a:t>obtention de la valeur associée à une clé</a:t>
            </a:r>
          </a:p>
          <a:p>
            <a:pPr lvl="1"/>
            <a:r>
              <a:rPr lang="fr-CH" dirty="0"/>
              <a:t>ajouter un couple « clé-valeur »</a:t>
            </a:r>
          </a:p>
          <a:p>
            <a:pPr lvl="1"/>
            <a:r>
              <a:rPr lang="fr-CH" dirty="0"/>
              <a:t>supprimer un couple « clé-valeur »</a:t>
            </a:r>
          </a:p>
          <a:p>
            <a:pPr lvl="1"/>
            <a:r>
              <a:rPr lang="fr-CH" dirty="0"/>
              <a:t>modifier un couple « clé-valeur »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54126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dictionnaires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54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fr-FR" dirty="0"/>
              <a:t>L’obtention de la valeur associée à une clé se fait via la syntaxe : </a:t>
            </a:r>
          </a:p>
          <a:p>
            <a:pPr marL="0" indent="0" algn="ctr">
              <a:buNone/>
            </a:pPr>
            <a:r>
              <a:rPr lang="fr-CH" sz="2400" dirty="0">
                <a:solidFill>
                  <a:srgbClr val="3366FF"/>
                </a:solidFill>
                <a:latin typeface="Courier"/>
                <a:cs typeface="Courier"/>
              </a:rPr>
              <a:t>dico[key]		</a:t>
            </a:r>
            <a:endParaRPr lang="fr-FR" dirty="0"/>
          </a:p>
          <a:p>
            <a:r>
              <a:rPr lang="fr-FR" dirty="0"/>
              <a:t>Pour l’ajout d’un couple « clé-valeur » : </a:t>
            </a:r>
          </a:p>
          <a:p>
            <a:pPr marL="0" indent="0" algn="ctr">
              <a:buNone/>
            </a:pPr>
            <a:r>
              <a:rPr lang="fr-CH" sz="2400" dirty="0">
                <a:solidFill>
                  <a:srgbClr val="3366FF"/>
                </a:solidFill>
                <a:latin typeface="Courier"/>
                <a:cs typeface="Courier"/>
              </a:rPr>
              <a:t>dico[new_key] = new_value</a:t>
            </a:r>
            <a:endParaRPr lang="fr-FR" dirty="0"/>
          </a:p>
          <a:p>
            <a:r>
              <a:rPr lang="fr-FR" dirty="0"/>
              <a:t>Pour la suppression d’un couple « clé-valeur » : </a:t>
            </a:r>
          </a:p>
          <a:p>
            <a:pPr marL="0" indent="0" algn="ctr">
              <a:buNone/>
            </a:pPr>
            <a:r>
              <a:rPr lang="fr-CH" sz="2400" dirty="0">
                <a:solidFill>
                  <a:srgbClr val="3366FF"/>
                </a:solidFill>
                <a:latin typeface="Courier"/>
                <a:cs typeface="Courier"/>
              </a:rPr>
              <a:t>del dico[key]</a:t>
            </a:r>
            <a:endParaRPr lang="fr-FR" dirty="0"/>
          </a:p>
          <a:p>
            <a:r>
              <a:rPr lang="fr-FR" dirty="0"/>
              <a:t>Pour La modification d’un couple « clé-valeur » : </a:t>
            </a:r>
          </a:p>
          <a:p>
            <a:pPr marL="0" indent="0" algn="ctr">
              <a:buNone/>
            </a:pPr>
            <a:r>
              <a:rPr lang="fr-CH" sz="2400" dirty="0">
                <a:solidFill>
                  <a:srgbClr val="3366FF"/>
                </a:solidFill>
                <a:latin typeface="Courier"/>
                <a:cs typeface="Courier"/>
              </a:rPr>
              <a:t>dico[key] = new_value</a:t>
            </a:r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567367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dictionnaires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55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92514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&gt;&gt;&gt; d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{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"Alice"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: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4328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, 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"Bob"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: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4357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, 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"Carmen"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: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4392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}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&gt;&gt;&gt; d</a:t>
            </a:r>
          </a:p>
          <a:p>
            <a:pPr marL="0" indent="0">
              <a:buNone/>
            </a:pPr>
            <a:r>
              <a:rPr lang="nl-NL" sz="1800" dirty="0">
                <a:solidFill>
                  <a:prstClr val="black"/>
                </a:solidFill>
                <a:latin typeface="Courier"/>
                <a:cs typeface="Courier"/>
              </a:rPr>
              <a:t>{'Carmen': 4392, 'Alice': 4328, 'Bob': 4357}</a:t>
            </a:r>
          </a:p>
          <a:p>
            <a:pPr marL="0" indent="0">
              <a:buNone/>
            </a:pPr>
            <a:r>
              <a:rPr lang="pt-BR" sz="1800" dirty="0">
                <a:solidFill>
                  <a:prstClr val="black"/>
                </a:solidFill>
                <a:latin typeface="Courier"/>
                <a:cs typeface="Courier"/>
              </a:rPr>
              <a:t>&gt;&gt;&gt; </a:t>
            </a:r>
            <a:r>
              <a:rPr lang="pt-BR" sz="1800" dirty="0" err="1">
                <a:solidFill>
                  <a:prstClr val="black"/>
                </a:solidFill>
                <a:latin typeface="Courier"/>
                <a:cs typeface="Courier"/>
              </a:rPr>
              <a:t>d</a:t>
            </a:r>
            <a:r>
              <a:rPr lang="pt-BR" sz="1800" dirty="0">
                <a:solidFill>
                  <a:prstClr val="black"/>
                </a:solidFill>
                <a:latin typeface="Courier"/>
                <a:cs typeface="Courier"/>
              </a:rPr>
              <a:t>[</a:t>
            </a:r>
            <a:r>
              <a:rPr lang="pt-BR" sz="1800" dirty="0">
                <a:solidFill>
                  <a:srgbClr val="BA2121"/>
                </a:solidFill>
                <a:latin typeface="Courier"/>
                <a:cs typeface="Courier"/>
              </a:rPr>
              <a:t>"Bob"</a:t>
            </a:r>
            <a:r>
              <a:rPr lang="pt-BR" sz="1800" dirty="0">
                <a:solidFill>
                  <a:prstClr val="black"/>
                </a:solidFill>
                <a:latin typeface="Courier"/>
                <a:cs typeface="Courier"/>
              </a:rPr>
              <a:t>]	        </a:t>
            </a:r>
            <a:r>
              <a:rPr lang="fr-FR" sz="1800" i="1" dirty="0">
                <a:solidFill>
                  <a:srgbClr val="408080"/>
                </a:solidFill>
                <a:latin typeface="Courier"/>
                <a:cs typeface="Courier"/>
              </a:rPr>
              <a:t># obtention de valeur associée à Bob</a:t>
            </a:r>
            <a:endParaRPr lang="pt-B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pt-BR" sz="1800" dirty="0">
                <a:solidFill>
                  <a:prstClr val="black"/>
                </a:solidFill>
                <a:latin typeface="Courier"/>
                <a:cs typeface="Courier"/>
              </a:rPr>
              <a:t>4357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&gt;&gt;&gt; </a:t>
            </a:r>
            <a:r>
              <a:rPr lang="pt-BR" sz="1800" dirty="0" err="1">
                <a:solidFill>
                  <a:prstClr val="black"/>
                </a:solidFill>
                <a:latin typeface="Courier"/>
                <a:cs typeface="Courier"/>
              </a:rPr>
              <a:t>d</a:t>
            </a:r>
            <a:r>
              <a:rPr lang="pt-BR" sz="1800" dirty="0">
                <a:solidFill>
                  <a:prstClr val="black"/>
                </a:solidFill>
                <a:latin typeface="Courier"/>
                <a:cs typeface="Courier"/>
              </a:rPr>
              <a:t>[</a:t>
            </a:r>
            <a:r>
              <a:rPr lang="pt-BR" sz="1800" dirty="0">
                <a:solidFill>
                  <a:srgbClr val="BA2121"/>
                </a:solidFill>
                <a:latin typeface="Courier"/>
                <a:cs typeface="Courier"/>
              </a:rPr>
              <a:t>"Dan"</a:t>
            </a:r>
            <a:r>
              <a:rPr lang="pt-BR" sz="1800" dirty="0">
                <a:solidFill>
                  <a:prstClr val="black"/>
                </a:solidFill>
                <a:latin typeface="Courier"/>
                <a:cs typeface="Courier"/>
              </a:rPr>
              <a:t>] </a:t>
            </a:r>
            <a:r>
              <a:rPr lang="pt-BR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pt-B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pt-BR" sz="1800" dirty="0">
                <a:solidFill>
                  <a:srgbClr val="666666"/>
                </a:solidFill>
                <a:latin typeface="Courier"/>
                <a:cs typeface="Courier"/>
              </a:rPr>
              <a:t>4367   </a:t>
            </a:r>
            <a:r>
              <a:rPr lang="fr-FR" sz="1800" i="1" dirty="0">
                <a:solidFill>
                  <a:srgbClr val="408080"/>
                </a:solidFill>
                <a:latin typeface="Courier"/>
                <a:cs typeface="Courier"/>
              </a:rPr>
              <a:t># ajout de « clé-valeur »</a:t>
            </a:r>
            <a:endParaRPr lang="nl-NL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&gt;&gt;&gt; </a:t>
            </a:r>
            <a:r>
              <a:rPr lang="pt-BR" sz="1800" dirty="0" err="1">
                <a:solidFill>
                  <a:prstClr val="black"/>
                </a:solidFill>
                <a:latin typeface="Courier"/>
                <a:cs typeface="Courier"/>
              </a:rPr>
              <a:t>d</a:t>
            </a:r>
            <a:endParaRPr lang="pt-B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nl-NL" sz="1800" dirty="0">
                <a:solidFill>
                  <a:prstClr val="black"/>
                </a:solidFill>
                <a:latin typeface="Courier"/>
                <a:cs typeface="Courier"/>
              </a:rPr>
              <a:t>{'Carmen': 4392, 'Alice': 4328, 'Dan': 4367, 'Bob': 4357}</a:t>
            </a:r>
            <a:endParaRPr lang="pt-B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&gt;&gt;&gt; </a:t>
            </a:r>
            <a:r>
              <a:rPr lang="pt-BR" sz="1800" b="1" dirty="0" err="1">
                <a:solidFill>
                  <a:srgbClr val="008000"/>
                </a:solidFill>
                <a:latin typeface="Courier"/>
                <a:cs typeface="Courier"/>
              </a:rPr>
              <a:t>del</a:t>
            </a:r>
            <a:r>
              <a:rPr lang="pt-B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pt-BR" sz="1800" dirty="0" err="1">
                <a:solidFill>
                  <a:prstClr val="black"/>
                </a:solidFill>
                <a:latin typeface="Courier"/>
                <a:cs typeface="Courier"/>
              </a:rPr>
              <a:t>d</a:t>
            </a:r>
            <a:r>
              <a:rPr lang="pt-BR" sz="1800" dirty="0">
                <a:solidFill>
                  <a:prstClr val="black"/>
                </a:solidFill>
                <a:latin typeface="Courier"/>
                <a:cs typeface="Courier"/>
              </a:rPr>
              <a:t>[</a:t>
            </a:r>
            <a:r>
              <a:rPr lang="pt-BR" sz="1800" dirty="0">
                <a:solidFill>
                  <a:srgbClr val="BA2121"/>
                </a:solidFill>
                <a:latin typeface="Courier"/>
                <a:cs typeface="Courier"/>
              </a:rPr>
              <a:t>"Dan"</a:t>
            </a:r>
            <a:r>
              <a:rPr lang="pt-BR" sz="1800" dirty="0">
                <a:solidFill>
                  <a:prstClr val="black"/>
                </a:solidFill>
                <a:latin typeface="Courier"/>
                <a:cs typeface="Courier"/>
              </a:rPr>
              <a:t>]      </a:t>
            </a:r>
            <a:r>
              <a:rPr lang="fr-FR" sz="1800" i="1" dirty="0">
                <a:solidFill>
                  <a:srgbClr val="408080"/>
                </a:solidFill>
                <a:latin typeface="Courier"/>
                <a:cs typeface="Courier"/>
              </a:rPr>
              <a:t># suppression de « clé-valeur »</a:t>
            </a:r>
            <a:endParaRPr lang="pt-B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&gt;&gt;&gt; </a:t>
            </a:r>
            <a:r>
              <a:rPr lang="pt-BR" sz="1800" dirty="0" err="1">
                <a:solidFill>
                  <a:prstClr val="black"/>
                </a:solidFill>
                <a:latin typeface="Courier"/>
                <a:cs typeface="Courier"/>
              </a:rPr>
              <a:t>d</a:t>
            </a:r>
            <a:endParaRPr lang="pt-B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nl-NL" sz="1800" dirty="0">
                <a:solidFill>
                  <a:prstClr val="black"/>
                </a:solidFill>
                <a:latin typeface="Courier"/>
                <a:cs typeface="Courier"/>
              </a:rPr>
              <a:t>{'Carmen': 4392, 'Alice': 4328, 'Bob': 4357}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&gt;&gt;&gt; </a:t>
            </a:r>
            <a:r>
              <a:rPr lang="is-IS" sz="1800" dirty="0">
                <a:solidFill>
                  <a:prstClr val="black"/>
                </a:solidFill>
                <a:latin typeface="Courier"/>
                <a:cs typeface="Courier"/>
              </a:rPr>
              <a:t>d[</a:t>
            </a:r>
            <a:r>
              <a:rPr lang="is-IS" sz="1800" dirty="0">
                <a:solidFill>
                  <a:srgbClr val="BA2121"/>
                </a:solidFill>
                <a:latin typeface="Courier"/>
                <a:cs typeface="Courier"/>
              </a:rPr>
              <a:t>"Alice"</a:t>
            </a:r>
            <a:r>
              <a:rPr lang="is-IS" sz="1800" dirty="0">
                <a:solidFill>
                  <a:prstClr val="black"/>
                </a:solidFill>
                <a:latin typeface="Courier"/>
                <a:cs typeface="Courier"/>
              </a:rPr>
              <a:t>] </a:t>
            </a:r>
            <a:r>
              <a:rPr lang="is-IS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is-IS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is-IS" sz="1800" dirty="0">
                <a:solidFill>
                  <a:srgbClr val="666666"/>
                </a:solidFill>
                <a:latin typeface="Courier"/>
                <a:cs typeface="Courier"/>
              </a:rPr>
              <a:t>1234 </a:t>
            </a:r>
            <a:r>
              <a:rPr lang="fr-FR" sz="1800" i="1" dirty="0">
                <a:solidFill>
                  <a:srgbClr val="408080"/>
                </a:solidFill>
                <a:latin typeface="Courier"/>
                <a:cs typeface="Courier"/>
              </a:rPr>
              <a:t># modification de « clé-valeur »</a:t>
            </a:r>
            <a:endParaRPr lang="is-IS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&gt;&gt;&gt; d</a:t>
            </a:r>
          </a:p>
          <a:p>
            <a:pPr marL="0" indent="0">
              <a:buNone/>
            </a:pPr>
            <a:r>
              <a:rPr lang="nl-NL" sz="1800" dirty="0">
                <a:solidFill>
                  <a:prstClr val="black"/>
                </a:solidFill>
                <a:latin typeface="Courier"/>
                <a:cs typeface="Courier"/>
              </a:rPr>
              <a:t>{'Carmen': 4392, 'Alice': 1234, 'Bob': 4357}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38350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dictionnaires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56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fr-FR" dirty="0"/>
              <a:t>Pour tester l’appartenance d’un couple « clé-valeur » à un dictionnaire, on utilise la syntaxe : </a:t>
            </a:r>
          </a:p>
          <a:p>
            <a:pPr marL="0" indent="0" algn="ctr">
              <a:buNone/>
            </a:pPr>
            <a:r>
              <a:rPr lang="fr-CH" sz="2400" dirty="0">
                <a:solidFill>
                  <a:srgbClr val="3366FF"/>
                </a:solidFill>
                <a:latin typeface="Courier"/>
                <a:cs typeface="Courier"/>
              </a:rPr>
              <a:t>key in dico</a:t>
            </a:r>
            <a:endParaRPr lang="fr-FR" dirty="0"/>
          </a:p>
          <a:p>
            <a:pPr marL="0" indent="0">
              <a:buNone/>
            </a:pP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&gt;&gt;&gt; d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{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"Alice"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: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4328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, 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"Bob"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: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4357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, 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"Carmen"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: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4392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}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&gt;&gt;&gt; 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"Alice"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b="1" dirty="0">
                <a:solidFill>
                  <a:srgbClr val="AA22FF"/>
                </a:solidFill>
                <a:latin typeface="Courier"/>
                <a:cs typeface="Courier"/>
              </a:rPr>
              <a:t>in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d</a:t>
            </a:r>
          </a:p>
          <a:p>
            <a:pPr marL="0" indent="0">
              <a:buNone/>
            </a:pPr>
            <a:r>
              <a:rPr lang="fr-FR" sz="1800" dirty="0" err="1">
                <a:solidFill>
                  <a:prstClr val="black"/>
                </a:solidFill>
                <a:latin typeface="Courier"/>
                <a:cs typeface="Courier"/>
              </a:rPr>
              <a:t>True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&gt;&gt;&gt; 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"Anna"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b="1" dirty="0">
                <a:solidFill>
                  <a:srgbClr val="AA22FF"/>
                </a:solidFill>
                <a:latin typeface="Courier"/>
                <a:cs typeface="Courier"/>
              </a:rPr>
              <a:t>in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d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False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&gt;&gt;&gt; 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"Anna"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b="1" dirty="0">
                <a:solidFill>
                  <a:srgbClr val="AA22FF"/>
                </a:solidFill>
                <a:latin typeface="Courier"/>
                <a:cs typeface="Courier"/>
              </a:rPr>
              <a:t>not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b="1" dirty="0">
                <a:solidFill>
                  <a:srgbClr val="AA22FF"/>
                </a:solidFill>
                <a:latin typeface="Courier"/>
                <a:cs typeface="Courier"/>
              </a:rPr>
              <a:t>in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d</a:t>
            </a:r>
          </a:p>
          <a:p>
            <a:pPr marL="0" indent="0">
              <a:buNone/>
            </a:pPr>
            <a:r>
              <a:rPr lang="fr-FR" sz="1800" dirty="0" err="1">
                <a:solidFill>
                  <a:prstClr val="black"/>
                </a:solidFill>
                <a:latin typeface="Courier"/>
                <a:cs typeface="Courier"/>
              </a:rPr>
              <a:t>True</a:t>
            </a:r>
            <a:endParaRPr lang="fr-FR" sz="1800" dirty="0"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2960889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dictionnaires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57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fr-CH" b="1" dirty="0"/>
              <a:t>Attention (</a:t>
            </a:r>
            <a:r>
              <a:rPr lang="fr-CH" dirty="0"/>
              <a:t>même remarque que dans le cas des listes) : dans le cas des objets de type modifiable, une copie d’un object original – obtenue via une instruction d’affectation – subira les mêmes modifications que l’objet original.</a:t>
            </a:r>
          </a:p>
        </p:txBody>
      </p:sp>
    </p:spTree>
    <p:extLst>
      <p:ext uri="{BB962C8B-B14F-4D97-AF65-F5344CB8AC3E}">
        <p14:creationId xmlns:p14="http://schemas.microsoft.com/office/powerpoint/2010/main" val="1837322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dictionnaires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58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&gt;&gt;&gt; d1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{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"Alice"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: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4328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, 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"Bob"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: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4357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, 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"Carmen"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: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4392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}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&gt;&gt;&gt; d2 = d1			</a:t>
            </a:r>
            <a:r>
              <a:rPr lang="fr-FR" sz="1800" i="1" dirty="0">
                <a:solidFill>
                  <a:srgbClr val="408080"/>
                </a:solidFill>
                <a:latin typeface="Courier"/>
                <a:cs typeface="Courier"/>
              </a:rPr>
              <a:t># d2 est une copie de d1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&gt;&gt;&gt; </a:t>
            </a:r>
            <a:r>
              <a:rPr lang="pt-BR" sz="1800" dirty="0">
                <a:solidFill>
                  <a:prstClr val="black"/>
                </a:solidFill>
                <a:latin typeface="Courier"/>
                <a:cs typeface="Courier"/>
              </a:rPr>
              <a:t>d1[</a:t>
            </a:r>
            <a:r>
              <a:rPr lang="pt-BR" sz="1800" dirty="0">
                <a:solidFill>
                  <a:srgbClr val="BA2121"/>
                </a:solidFill>
                <a:latin typeface="Courier"/>
                <a:cs typeface="Courier"/>
              </a:rPr>
              <a:t>"Bob"</a:t>
            </a:r>
            <a:r>
              <a:rPr lang="pt-BR" sz="1800" dirty="0">
                <a:solidFill>
                  <a:prstClr val="black"/>
                </a:solidFill>
                <a:latin typeface="Courier"/>
                <a:cs typeface="Courier"/>
              </a:rPr>
              <a:t>] =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1111	</a:t>
            </a:r>
            <a:r>
              <a:rPr lang="fr-FR" sz="1800" i="1" dirty="0">
                <a:solidFill>
                  <a:srgbClr val="408080"/>
                </a:solidFill>
                <a:latin typeface="Courier"/>
                <a:cs typeface="Courier"/>
              </a:rPr>
              <a:t># modification de d1</a:t>
            </a:r>
            <a:endParaRPr lang="pt-B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&gt;&gt;&gt; </a:t>
            </a:r>
            <a:r>
              <a:rPr lang="pt-BR" sz="1800" b="1" dirty="0" err="1">
                <a:solidFill>
                  <a:srgbClr val="008000"/>
                </a:solidFill>
                <a:latin typeface="Courier"/>
                <a:cs typeface="Courier"/>
              </a:rPr>
              <a:t>del</a:t>
            </a:r>
            <a:r>
              <a:rPr lang="pt-BR" sz="1800" dirty="0">
                <a:solidFill>
                  <a:prstClr val="black"/>
                </a:solidFill>
                <a:latin typeface="Courier"/>
                <a:cs typeface="Courier"/>
              </a:rPr>
              <a:t> d1[</a:t>
            </a:r>
            <a:r>
              <a:rPr lang="pt-BR" sz="1800" dirty="0">
                <a:solidFill>
                  <a:srgbClr val="BA2121"/>
                </a:solidFill>
                <a:latin typeface="Courier"/>
                <a:cs typeface="Courier"/>
              </a:rPr>
              <a:t>"Carmen"</a:t>
            </a:r>
            <a:r>
              <a:rPr lang="pt-BR" sz="1800" dirty="0">
                <a:solidFill>
                  <a:prstClr val="black"/>
                </a:solidFill>
                <a:latin typeface="Courier"/>
                <a:cs typeface="Courier"/>
              </a:rPr>
              <a:t>]	</a:t>
            </a:r>
            <a:r>
              <a:rPr lang="fr-FR" sz="1800" i="1" dirty="0">
                <a:solidFill>
                  <a:srgbClr val="408080"/>
                </a:solidFill>
                <a:latin typeface="Courier"/>
                <a:cs typeface="Courier"/>
              </a:rPr>
              <a:t># modification de d1 (bis)</a:t>
            </a:r>
            <a:endParaRPr lang="fr-FR" sz="1800" dirty="0">
              <a:solidFill>
                <a:srgbClr val="008000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&gt;&gt;&gt; d1</a:t>
            </a:r>
          </a:p>
          <a:p>
            <a:pPr marL="0" indent="0">
              <a:buNone/>
            </a:pPr>
            <a:r>
              <a:rPr lang="cs-CZ" sz="1800" dirty="0">
                <a:latin typeface="Courier"/>
                <a:cs typeface="Courier"/>
              </a:rPr>
              <a:t>{'Bob': 1111, 'Alice': 4328}</a:t>
            </a:r>
            <a:r>
              <a:rPr lang="fr-FR" sz="1800" i="1" dirty="0">
                <a:solidFill>
                  <a:srgbClr val="408080"/>
                </a:solidFill>
                <a:latin typeface="Courier"/>
                <a:cs typeface="Courier"/>
              </a:rPr>
              <a:t>	# d1 modifié (normal)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&gt;&gt;&gt; d2</a:t>
            </a:r>
          </a:p>
          <a:p>
            <a:pPr marL="0" indent="0">
              <a:buNone/>
            </a:pPr>
            <a:r>
              <a:rPr lang="cs-CZ" sz="1800" dirty="0">
                <a:latin typeface="Courier"/>
                <a:cs typeface="Courier"/>
              </a:rPr>
              <a:t>{'Bob': 1111, 'Alice': 4328}	</a:t>
            </a:r>
            <a:r>
              <a:rPr lang="fr-FR" sz="1800" i="1" dirty="0">
                <a:solidFill>
                  <a:srgbClr val="408080"/>
                </a:solidFill>
                <a:latin typeface="Courier"/>
                <a:cs typeface="Courier"/>
              </a:rPr>
              <a:t># d2 aussi modifié !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1954204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dictionnaires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59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fr-CH" dirty="0"/>
              <a:t>Il existe plusieurs méthodes que l’on peut appliquer sur les dictionnaires.</a:t>
            </a:r>
            <a:endParaRPr lang="fr-CH" sz="1800" dirty="0">
              <a:solidFill>
                <a:srgbClr val="FF0000"/>
              </a:solidFill>
              <a:latin typeface="Courier"/>
              <a:cs typeface="Courier"/>
            </a:endParaRPr>
          </a:p>
          <a:p>
            <a:r>
              <a:rPr lang="fr-CH" dirty="0"/>
              <a:t>Pour appliquer une méthode à un dictionnaire, ou utilise la syntaxe :</a:t>
            </a:r>
          </a:p>
          <a:p>
            <a:pPr marL="0" indent="0" algn="ctr">
              <a:buNone/>
            </a:pPr>
            <a:r>
              <a:rPr lang="fr-CH" sz="2400" dirty="0">
                <a:solidFill>
                  <a:srgbClr val="3366FF"/>
                </a:solidFill>
                <a:latin typeface="Courier"/>
                <a:cs typeface="Courier"/>
              </a:rPr>
              <a:t>dico.methode(args)</a:t>
            </a:r>
            <a:endParaRPr lang="fr-CH" sz="2400" dirty="0"/>
          </a:p>
          <a:p>
            <a:r>
              <a:rPr lang="fr-CH" dirty="0"/>
              <a:t>Pour connaître toutes les méthodes des dictionnaires, taper « help(dict) »</a:t>
            </a:r>
          </a:p>
        </p:txBody>
      </p:sp>
    </p:spTree>
    <p:extLst>
      <p:ext uri="{BB962C8B-B14F-4D97-AF65-F5344CB8AC3E}">
        <p14:creationId xmlns:p14="http://schemas.microsoft.com/office/powerpoint/2010/main" val="1097635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dictionnaires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790956" lvl="1" indent="-342900">
              <a:defRPr/>
            </a:pPr>
            <a:r>
              <a:rPr lang="fr-FR" sz="2200" dirty="0" err="1">
                <a:solidFill>
                  <a:srgbClr val="3366FF"/>
                </a:solidFill>
                <a:latin typeface="Courier"/>
                <a:cs typeface="Courier"/>
              </a:rPr>
              <a:t>d.clear</a:t>
            </a:r>
            <a:r>
              <a:rPr lang="fr-FR" sz="2200" dirty="0">
                <a:solidFill>
                  <a:srgbClr val="3366FF"/>
                </a:solidFill>
                <a:latin typeface="Courier"/>
                <a:cs typeface="Courier"/>
              </a:rPr>
              <a:t>()</a:t>
            </a:r>
          </a:p>
          <a:p>
            <a:pPr marL="448056" lvl="1" indent="0">
              <a:buNone/>
              <a:defRPr/>
            </a:pPr>
            <a:r>
              <a:rPr lang="fr-FR" dirty="0"/>
              <a:t>Supprime tous les couples « clé-valeur » de d.</a:t>
            </a:r>
            <a:endParaRPr lang="fr-FR" altLang="ja-JP" dirty="0"/>
          </a:p>
          <a:p>
            <a:pPr marL="790956" lvl="1" indent="-342900">
              <a:defRPr/>
            </a:pPr>
            <a:r>
              <a:rPr lang="fr-FR" sz="2200" dirty="0" err="1">
                <a:solidFill>
                  <a:srgbClr val="3366FF"/>
                </a:solidFill>
                <a:latin typeface="Courier"/>
                <a:cs typeface="Courier"/>
              </a:rPr>
              <a:t>d.copy</a:t>
            </a:r>
            <a:r>
              <a:rPr lang="fr-FR" sz="2200" dirty="0">
                <a:solidFill>
                  <a:srgbClr val="3366FF"/>
                </a:solidFill>
                <a:latin typeface="Courier"/>
                <a:cs typeface="Courier"/>
              </a:rPr>
              <a:t>()</a:t>
            </a:r>
          </a:p>
          <a:p>
            <a:pPr marL="402336" lvl="1" indent="0">
              <a:buNone/>
              <a:defRPr/>
            </a:pPr>
            <a:r>
              <a:rPr lang="fr-FR" dirty="0">
                <a:sym typeface="Symbol" charset="0"/>
              </a:rPr>
              <a:t>Retourne une copie de d.</a:t>
            </a:r>
          </a:p>
          <a:p>
            <a:pPr marL="745236" lvl="1" indent="-342900">
              <a:defRPr/>
            </a:pPr>
            <a:r>
              <a:rPr lang="fr-FR" sz="2200" dirty="0" err="1">
                <a:solidFill>
                  <a:srgbClr val="3366FF"/>
                </a:solidFill>
                <a:latin typeface="Courier"/>
                <a:cs typeface="Courier"/>
              </a:rPr>
              <a:t>d.get</a:t>
            </a:r>
            <a:r>
              <a:rPr lang="fr-FR" sz="2200" dirty="0">
                <a:solidFill>
                  <a:srgbClr val="3366FF"/>
                </a:solidFill>
                <a:latin typeface="Courier"/>
                <a:cs typeface="Courier"/>
              </a:rPr>
              <a:t>(</a:t>
            </a:r>
            <a:r>
              <a:rPr lang="fr-FR" sz="2200" dirty="0" err="1">
                <a:solidFill>
                  <a:srgbClr val="3366FF"/>
                </a:solidFill>
                <a:latin typeface="Courier"/>
                <a:cs typeface="Courier"/>
              </a:rPr>
              <a:t>key</a:t>
            </a:r>
            <a:r>
              <a:rPr lang="fr-FR" sz="2200" dirty="0">
                <a:solidFill>
                  <a:srgbClr val="3366FF"/>
                </a:solidFill>
                <a:latin typeface="Courier"/>
                <a:cs typeface="Courier"/>
              </a:rPr>
              <a:t>)</a:t>
            </a:r>
          </a:p>
          <a:p>
            <a:pPr marL="402336" lvl="1" indent="0">
              <a:buNone/>
              <a:defRPr/>
            </a:pPr>
            <a:r>
              <a:rPr lang="fr-FR" dirty="0">
                <a:sym typeface="Symbol" charset="0"/>
              </a:rPr>
              <a:t>Retourne la valeur associée à la clé </a:t>
            </a:r>
            <a:r>
              <a:rPr lang="fr-FR" dirty="0" err="1">
                <a:sym typeface="Symbol" charset="0"/>
              </a:rPr>
              <a:t>key</a:t>
            </a:r>
            <a:r>
              <a:rPr lang="fr-FR" dirty="0">
                <a:sym typeface="Symbol" charset="0"/>
              </a:rPr>
              <a:t> si elle existe.</a:t>
            </a:r>
          </a:p>
          <a:p>
            <a:pPr marL="402336" lvl="1" indent="0">
              <a:buNone/>
              <a:defRPr/>
            </a:pPr>
            <a:r>
              <a:rPr lang="fr-FR" dirty="0">
                <a:sym typeface="Symbol" charset="0"/>
              </a:rPr>
              <a:t>Retourne None sinon.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60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07707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dictionnaires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745236" lvl="1" indent="-342900">
              <a:defRPr/>
            </a:pPr>
            <a:r>
              <a:rPr lang="fr-FR" sz="2200" dirty="0" err="1">
                <a:solidFill>
                  <a:srgbClr val="3366FF"/>
                </a:solidFill>
                <a:latin typeface="Courier"/>
                <a:cs typeface="Courier"/>
              </a:rPr>
              <a:t>d.keys</a:t>
            </a:r>
            <a:r>
              <a:rPr lang="fr-FR" sz="2200" dirty="0">
                <a:solidFill>
                  <a:srgbClr val="3366FF"/>
                </a:solidFill>
                <a:latin typeface="Courier"/>
                <a:cs typeface="Courier"/>
              </a:rPr>
              <a:t>()</a:t>
            </a:r>
          </a:p>
          <a:p>
            <a:pPr marL="402336" lvl="1" indent="0">
              <a:buNone/>
              <a:defRPr/>
            </a:pPr>
            <a:r>
              <a:rPr lang="fr-FR" dirty="0">
                <a:sym typeface="Symbol" charset="0"/>
              </a:rPr>
              <a:t>Retourne un objet correspondant à l’ensemble des clés du dictionnaire d.</a:t>
            </a:r>
          </a:p>
          <a:p>
            <a:pPr marL="745236" lvl="1" indent="-342900">
              <a:defRPr/>
            </a:pPr>
            <a:r>
              <a:rPr lang="fr-FR" sz="2200" dirty="0" err="1">
                <a:solidFill>
                  <a:srgbClr val="3366FF"/>
                </a:solidFill>
                <a:latin typeface="Courier"/>
                <a:cs typeface="Courier"/>
              </a:rPr>
              <a:t>d.values</a:t>
            </a:r>
            <a:r>
              <a:rPr lang="fr-FR" sz="2200" dirty="0">
                <a:solidFill>
                  <a:srgbClr val="3366FF"/>
                </a:solidFill>
                <a:latin typeface="Courier"/>
                <a:cs typeface="Courier"/>
              </a:rPr>
              <a:t>()</a:t>
            </a:r>
          </a:p>
          <a:p>
            <a:pPr marL="402336" lvl="1" indent="0">
              <a:buNone/>
              <a:defRPr/>
            </a:pPr>
            <a:r>
              <a:rPr lang="fr-FR" dirty="0">
                <a:sym typeface="Symbol" charset="0"/>
              </a:rPr>
              <a:t>Retourne un objet correspondant à l’ensemble des valeurs du dictionnaire d.</a:t>
            </a:r>
          </a:p>
          <a:p>
            <a:pPr marL="402336" lvl="1" indent="0">
              <a:buNone/>
              <a:defRPr/>
            </a:pPr>
            <a:endParaRPr lang="fr-FR" dirty="0">
              <a:sym typeface="Symbol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61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86827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dictionnaires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12648" y="1600200"/>
            <a:ext cx="8153400" cy="463711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</a:rPr>
              <a:t>&gt;&gt;&gt; d </a:t>
            </a:r>
            <a:r>
              <a:rPr lang="fr-FR" sz="1800" dirty="0">
                <a:solidFill>
                  <a:srgbClr val="666666"/>
                </a:solidFill>
                <a:latin typeface="Courier"/>
              </a:rPr>
              <a:t>=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 {</a:t>
            </a:r>
            <a:r>
              <a:rPr lang="fr-FR" sz="1800" dirty="0">
                <a:solidFill>
                  <a:srgbClr val="BA2121"/>
                </a:solidFill>
                <a:latin typeface="Courier"/>
              </a:rPr>
              <a:t>"Alice"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: </a:t>
            </a:r>
            <a:r>
              <a:rPr lang="fr-FR" sz="1800" dirty="0">
                <a:solidFill>
                  <a:srgbClr val="666666"/>
                </a:solidFill>
                <a:latin typeface="Courier"/>
              </a:rPr>
              <a:t>4328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, </a:t>
            </a:r>
            <a:r>
              <a:rPr lang="fr-FR" sz="1800" dirty="0">
                <a:solidFill>
                  <a:srgbClr val="BA2121"/>
                </a:solidFill>
                <a:latin typeface="Courier"/>
              </a:rPr>
              <a:t>"Bob"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: </a:t>
            </a:r>
            <a:r>
              <a:rPr lang="fr-FR" sz="1800" dirty="0">
                <a:solidFill>
                  <a:srgbClr val="666666"/>
                </a:solidFill>
                <a:latin typeface="Courier"/>
              </a:rPr>
              <a:t>4357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, </a:t>
            </a:r>
            <a:r>
              <a:rPr lang="fr-FR" sz="1800" dirty="0">
                <a:solidFill>
                  <a:srgbClr val="BA2121"/>
                </a:solidFill>
                <a:latin typeface="Courier"/>
              </a:rPr>
              <a:t>"Carmen"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: </a:t>
            </a:r>
            <a:r>
              <a:rPr lang="fr-FR" sz="1800" dirty="0">
                <a:solidFill>
                  <a:srgbClr val="666666"/>
                </a:solidFill>
                <a:latin typeface="Courier"/>
              </a:rPr>
              <a:t>4392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}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</a:rPr>
              <a:t>&gt;&gt;&gt; </a:t>
            </a:r>
            <a:r>
              <a:rPr lang="fr-FR" sz="1800" dirty="0" err="1">
                <a:solidFill>
                  <a:prstClr val="black"/>
                </a:solidFill>
                <a:latin typeface="Courier"/>
              </a:rPr>
              <a:t>d</a:t>
            </a:r>
            <a:r>
              <a:rPr lang="fr-FR" sz="1800" dirty="0" err="1">
                <a:solidFill>
                  <a:srgbClr val="666666"/>
                </a:solidFill>
                <a:latin typeface="Courier"/>
              </a:rPr>
              <a:t>.</a:t>
            </a:r>
            <a:r>
              <a:rPr lang="fr-FR" sz="1800" dirty="0" err="1">
                <a:solidFill>
                  <a:prstClr val="black"/>
                </a:solidFill>
                <a:latin typeface="Courier"/>
              </a:rPr>
              <a:t>get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(</a:t>
            </a:r>
            <a:r>
              <a:rPr lang="fr-FR" sz="1800" dirty="0">
                <a:solidFill>
                  <a:srgbClr val="BA2121"/>
                </a:solidFill>
                <a:latin typeface="Courier"/>
              </a:rPr>
              <a:t>"Alice"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)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</a:rPr>
              <a:t>4328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</a:rPr>
              <a:t>&gt;&gt;&gt; </a:t>
            </a:r>
            <a:r>
              <a:rPr lang="fr-FR" sz="1800" dirty="0" err="1">
                <a:solidFill>
                  <a:prstClr val="black"/>
                </a:solidFill>
                <a:latin typeface="Courier"/>
              </a:rPr>
              <a:t>d</a:t>
            </a:r>
            <a:r>
              <a:rPr lang="fr-FR" sz="1800" dirty="0" err="1">
                <a:solidFill>
                  <a:srgbClr val="666666"/>
                </a:solidFill>
                <a:latin typeface="Courier"/>
              </a:rPr>
              <a:t>.</a:t>
            </a:r>
            <a:r>
              <a:rPr lang="fr-FR" sz="1800" dirty="0" err="1">
                <a:solidFill>
                  <a:prstClr val="black"/>
                </a:solidFill>
                <a:latin typeface="Courier"/>
              </a:rPr>
              <a:t>keys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()</a:t>
            </a:r>
          </a:p>
          <a:p>
            <a:pPr marL="0" indent="0">
              <a:buNone/>
            </a:pPr>
            <a:r>
              <a:rPr lang="nl-NL" sz="1800" dirty="0" err="1">
                <a:solidFill>
                  <a:prstClr val="black"/>
                </a:solidFill>
                <a:latin typeface="Courier"/>
              </a:rPr>
              <a:t>dict_keys</a:t>
            </a:r>
            <a:r>
              <a:rPr lang="nl-NL" sz="1800" dirty="0">
                <a:solidFill>
                  <a:prstClr val="black"/>
                </a:solidFill>
                <a:latin typeface="Courier"/>
              </a:rPr>
              <a:t>(['Bob', 'Alice', 'Carmen'])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</a:rPr>
              <a:t>&gt;&gt;&gt; </a:t>
            </a:r>
            <a:r>
              <a:rPr lang="fr-FR" sz="1800" dirty="0" err="1">
                <a:solidFill>
                  <a:prstClr val="black"/>
                </a:solidFill>
                <a:latin typeface="Courier"/>
              </a:rPr>
              <a:t>d</a:t>
            </a:r>
            <a:r>
              <a:rPr lang="fr-FR" sz="1800" dirty="0" err="1">
                <a:solidFill>
                  <a:srgbClr val="666666"/>
                </a:solidFill>
                <a:latin typeface="Courier"/>
              </a:rPr>
              <a:t>.</a:t>
            </a:r>
            <a:r>
              <a:rPr lang="fr-FR" sz="1800" dirty="0" err="1">
                <a:solidFill>
                  <a:prstClr val="black"/>
                </a:solidFill>
                <a:latin typeface="Courier"/>
              </a:rPr>
              <a:t>values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()</a:t>
            </a:r>
          </a:p>
          <a:p>
            <a:pPr marL="0" indent="0">
              <a:buNone/>
            </a:pPr>
            <a:r>
              <a:rPr lang="nl-NL" sz="1800" dirty="0" err="1">
                <a:solidFill>
                  <a:prstClr val="black"/>
                </a:solidFill>
                <a:latin typeface="Courier"/>
              </a:rPr>
              <a:t>dict_values</a:t>
            </a:r>
            <a:r>
              <a:rPr lang="nl-NL" sz="1800" dirty="0">
                <a:solidFill>
                  <a:prstClr val="black"/>
                </a:solidFill>
                <a:latin typeface="Courier"/>
              </a:rPr>
              <a:t>([4357, 4328, 4392])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</a:rPr>
              <a:t>&gt;&gt;&gt; </a:t>
            </a:r>
            <a:r>
              <a:rPr lang="it-IT" sz="1800" dirty="0">
                <a:solidFill>
                  <a:prstClr val="black"/>
                </a:solidFill>
                <a:latin typeface="Courier"/>
              </a:rPr>
              <a:t>d2 </a:t>
            </a:r>
            <a:r>
              <a:rPr lang="it-IT" sz="1800" dirty="0">
                <a:solidFill>
                  <a:srgbClr val="666666"/>
                </a:solidFill>
                <a:latin typeface="Courier"/>
              </a:rPr>
              <a:t>=</a:t>
            </a:r>
            <a:r>
              <a:rPr lang="it-IT" sz="1800" dirty="0">
                <a:solidFill>
                  <a:prstClr val="black"/>
                </a:solidFill>
                <a:latin typeface="Courier"/>
              </a:rPr>
              <a:t> </a:t>
            </a:r>
            <a:r>
              <a:rPr lang="it-IT" sz="1800" dirty="0" err="1">
                <a:solidFill>
                  <a:prstClr val="black"/>
                </a:solidFill>
                <a:latin typeface="Courier"/>
              </a:rPr>
              <a:t>d</a:t>
            </a:r>
            <a:r>
              <a:rPr lang="it-IT" sz="1800" dirty="0" err="1">
                <a:solidFill>
                  <a:srgbClr val="666666"/>
                </a:solidFill>
                <a:latin typeface="Courier"/>
              </a:rPr>
              <a:t>.</a:t>
            </a:r>
            <a:r>
              <a:rPr lang="it-IT" sz="1800" dirty="0" err="1">
                <a:solidFill>
                  <a:prstClr val="black"/>
                </a:solidFill>
                <a:latin typeface="Courier"/>
              </a:rPr>
              <a:t>copy</a:t>
            </a:r>
            <a:r>
              <a:rPr lang="it-IT" sz="1800" dirty="0">
                <a:solidFill>
                  <a:prstClr val="black"/>
                </a:solidFill>
                <a:latin typeface="Courier"/>
              </a:rPr>
              <a:t>()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</a:rPr>
              <a:t>&gt;&gt;&gt; </a:t>
            </a:r>
            <a:r>
              <a:rPr lang="it-IT" sz="1800" dirty="0">
                <a:solidFill>
                  <a:prstClr val="black"/>
                </a:solidFill>
                <a:latin typeface="Courier"/>
              </a:rPr>
              <a:t>d2</a:t>
            </a:r>
          </a:p>
          <a:p>
            <a:pPr marL="0" indent="0">
              <a:buNone/>
            </a:pPr>
            <a:r>
              <a:rPr lang="nl-NL" sz="1800" dirty="0">
                <a:solidFill>
                  <a:prstClr val="black"/>
                </a:solidFill>
                <a:latin typeface="Courier"/>
              </a:rPr>
              <a:t>{'Bob': 4357, 'Alice': 4328, 'Carmen': 4392}</a:t>
            </a:r>
            <a:endParaRPr lang="fr-FR" sz="1800" dirty="0">
              <a:solidFill>
                <a:prstClr val="black"/>
              </a:solidFill>
              <a:latin typeface="Courier"/>
            </a:endParaRP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</a:rPr>
              <a:t>&gt;&gt;&gt; </a:t>
            </a:r>
            <a:r>
              <a:rPr lang="it-IT" sz="1800" dirty="0" err="1">
                <a:solidFill>
                  <a:prstClr val="black"/>
                </a:solidFill>
                <a:latin typeface="Courier"/>
              </a:rPr>
              <a:t>d</a:t>
            </a:r>
            <a:r>
              <a:rPr lang="it-IT" sz="1800" dirty="0" err="1">
                <a:solidFill>
                  <a:srgbClr val="666666"/>
                </a:solidFill>
                <a:latin typeface="Courier"/>
              </a:rPr>
              <a:t>.</a:t>
            </a:r>
            <a:r>
              <a:rPr lang="it-IT" sz="1800" dirty="0" err="1">
                <a:solidFill>
                  <a:prstClr val="black"/>
                </a:solidFill>
                <a:latin typeface="Courier"/>
              </a:rPr>
              <a:t>clear</a:t>
            </a:r>
            <a:r>
              <a:rPr lang="it-IT" sz="1800" dirty="0">
                <a:solidFill>
                  <a:prstClr val="black"/>
                </a:solidFill>
                <a:latin typeface="Courier"/>
              </a:rPr>
              <a:t>()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</a:rPr>
              <a:t>&gt;&gt;&gt; </a:t>
            </a:r>
            <a:r>
              <a:rPr lang="it-IT" sz="1800" dirty="0">
                <a:solidFill>
                  <a:prstClr val="black"/>
                </a:solidFill>
                <a:latin typeface="Courier"/>
              </a:rPr>
              <a:t>d</a:t>
            </a:r>
          </a:p>
          <a:p>
            <a:pPr marL="0" indent="0">
              <a:buNone/>
            </a:pPr>
            <a:r>
              <a:rPr lang="it-IT" sz="1800" dirty="0">
                <a:solidFill>
                  <a:prstClr val="black"/>
                </a:solidFill>
                <a:latin typeface="Courier"/>
                <a:sym typeface="Symbol" charset="0"/>
              </a:rPr>
              <a:t>{}</a:t>
            </a:r>
            <a:endParaRPr lang="fr-FR" sz="1800" dirty="0">
              <a:sym typeface="Symbol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62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62486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dictionnaires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63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fr-CH" dirty="0"/>
              <a:t>Parcours de dictionnaires : on peut parcourir les valeurs successives d’un dictionnaire </a:t>
            </a:r>
            <a:r>
              <a:rPr lang="fr-FR" dirty="0"/>
              <a:t>via</a:t>
            </a:r>
            <a:r>
              <a:rPr lang="fr-CH" dirty="0"/>
              <a:t> une boucle « for » sur les clés de celui-ci (cf. chapitre suivant).</a:t>
            </a:r>
            <a:endParaRPr lang="fr-CH" sz="1800" dirty="0">
              <a:solidFill>
                <a:srgbClr val="FF0000"/>
              </a:solidFill>
              <a:latin typeface="Courier"/>
              <a:cs typeface="Courier"/>
            </a:endParaRPr>
          </a:p>
          <a:p>
            <a:r>
              <a:rPr lang="fr-CH" dirty="0"/>
              <a:t>Pour cela, ou utilise la syntaxe : </a:t>
            </a:r>
          </a:p>
          <a:p>
            <a:pPr marL="0" indent="0">
              <a:buNone/>
            </a:pPr>
            <a:r>
              <a:rPr lang="fr-CH" sz="2400" dirty="0">
                <a:solidFill>
                  <a:srgbClr val="3366FF"/>
                </a:solidFill>
                <a:latin typeface="Courier"/>
                <a:cs typeface="Courier"/>
              </a:rPr>
              <a:t>	for var in dico.keys():</a:t>
            </a:r>
          </a:p>
          <a:p>
            <a:pPr marL="0" indent="0">
              <a:buNone/>
            </a:pPr>
            <a:r>
              <a:rPr lang="fr-CH" sz="2400" dirty="0">
                <a:solidFill>
                  <a:srgbClr val="3366FF"/>
                </a:solidFill>
                <a:latin typeface="Courier"/>
                <a:cs typeface="Courier"/>
              </a:rPr>
              <a:t>		instructions...</a:t>
            </a:r>
            <a:endParaRPr lang="fr-CH" sz="2400" dirty="0"/>
          </a:p>
          <a:p>
            <a:r>
              <a:rPr lang="fr-CH" dirty="0"/>
              <a:t>Ne pas oublier les deux points à la fin de l’instruction « for</a:t>
            </a:r>
            <a:r>
              <a:rPr lang="is-IS" dirty="0"/>
              <a:t>…</a:t>
            </a:r>
            <a:r>
              <a:rPr lang="fr-CH" dirty="0"/>
              <a:t> » et l’indentation obligatoire des instructions imbriquées dans la boucle « for ».</a:t>
            </a:r>
          </a:p>
        </p:txBody>
      </p:sp>
    </p:spTree>
    <p:extLst>
      <p:ext uri="{BB962C8B-B14F-4D97-AF65-F5344CB8AC3E}">
        <p14:creationId xmlns:p14="http://schemas.microsoft.com/office/powerpoint/2010/main" val="2184746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dictionnaires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64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&gt;&gt;&gt; </a:t>
            </a:r>
            <a:r>
              <a:rPr lang="en-US" sz="1800" dirty="0" err="1">
                <a:solidFill>
                  <a:prstClr val="black"/>
                </a:solidFill>
                <a:latin typeface="Courier"/>
                <a:cs typeface="Courier"/>
              </a:rPr>
              <a:t>my_dico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{</a:t>
            </a:r>
            <a:r>
              <a:rPr lang="en-US" sz="1800" dirty="0">
                <a:solidFill>
                  <a:srgbClr val="BA2121"/>
                </a:solidFill>
                <a:latin typeface="Courier"/>
                <a:cs typeface="Courier"/>
              </a:rPr>
              <a:t>"Person1"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: [</a:t>
            </a:r>
            <a:r>
              <a:rPr lang="en-US" sz="1800" dirty="0">
                <a:solidFill>
                  <a:srgbClr val="BA2121"/>
                </a:solidFill>
                <a:latin typeface="Courier"/>
                <a:cs typeface="Courier"/>
              </a:rPr>
              <a:t>"Alice"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,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2308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,</a:t>
            </a:r>
            <a:r>
              <a:rPr lang="en-US" sz="1800" dirty="0">
                <a:solidFill>
                  <a:srgbClr val="BA2121"/>
                </a:solidFill>
                <a:latin typeface="Courier"/>
                <a:cs typeface="Courier"/>
              </a:rPr>
              <a:t>"M1"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], \</a:t>
            </a:r>
          </a:p>
          <a:p>
            <a:pPr marL="0" indent="0">
              <a:buNone/>
            </a:pP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		  </a:t>
            </a:r>
            <a:r>
              <a:rPr lang="en-US" sz="1800" dirty="0">
                <a:solidFill>
                  <a:srgbClr val="BA2121"/>
                </a:solidFill>
                <a:latin typeface="Courier"/>
                <a:cs typeface="Courier"/>
              </a:rPr>
              <a:t>"Person2"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: [</a:t>
            </a:r>
            <a:r>
              <a:rPr lang="en-US" sz="1800" dirty="0">
                <a:solidFill>
                  <a:srgbClr val="BA2121"/>
                </a:solidFill>
                <a:latin typeface="Courier"/>
                <a:cs typeface="Courier"/>
              </a:rPr>
              <a:t>"Bob"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,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3407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,</a:t>
            </a:r>
            <a:r>
              <a:rPr lang="en-US" sz="1800" dirty="0">
                <a:solidFill>
                  <a:srgbClr val="BA2121"/>
                </a:solidFill>
                <a:latin typeface="Courier"/>
                <a:cs typeface="Courier"/>
              </a:rPr>
              <a:t>"L3"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], \</a:t>
            </a:r>
          </a:p>
          <a:p>
            <a:pPr marL="0" indent="0">
              <a:buNone/>
            </a:pP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		  </a:t>
            </a:r>
            <a:r>
              <a:rPr lang="en-US" sz="1800" dirty="0">
                <a:solidFill>
                  <a:srgbClr val="BA2121"/>
                </a:solidFill>
                <a:latin typeface="Courier"/>
                <a:cs typeface="Courier"/>
              </a:rPr>
              <a:t>"Person3"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: [</a:t>
            </a:r>
            <a:r>
              <a:rPr lang="en-US" sz="1800" dirty="0">
                <a:solidFill>
                  <a:srgbClr val="BA2121"/>
                </a:solidFill>
                <a:latin typeface="Courier"/>
                <a:cs typeface="Courier"/>
              </a:rPr>
              <a:t>"Carmen"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, 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3276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,</a:t>
            </a:r>
            <a:r>
              <a:rPr lang="en-US" sz="1800" dirty="0">
                <a:solidFill>
                  <a:srgbClr val="BA2121"/>
                </a:solidFill>
                <a:latin typeface="Courier"/>
                <a:cs typeface="Courier"/>
              </a:rPr>
              <a:t>"M2"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]}</a:t>
            </a:r>
          </a:p>
          <a:p>
            <a:pPr marL="0" indent="0">
              <a:buNone/>
            </a:pP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&gt;&gt;&gt; </a:t>
            </a:r>
            <a:r>
              <a:rPr lang="en-US" sz="1800" b="1" dirty="0">
                <a:solidFill>
                  <a:srgbClr val="008000"/>
                </a:solidFill>
                <a:latin typeface="Courier"/>
                <a:cs typeface="Courier"/>
              </a:rPr>
              <a:t>for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k </a:t>
            </a:r>
            <a:r>
              <a:rPr lang="en-US" sz="1800" b="1" dirty="0">
                <a:solidFill>
                  <a:srgbClr val="AA22FF"/>
                </a:solidFill>
                <a:latin typeface="Courier"/>
                <a:cs typeface="Courier"/>
              </a:rPr>
              <a:t>in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Courier"/>
                <a:cs typeface="Courier"/>
              </a:rPr>
              <a:t>my_dico</a:t>
            </a:r>
            <a:r>
              <a:rPr lang="en-US" sz="1800" dirty="0" err="1">
                <a:solidFill>
                  <a:srgbClr val="666666"/>
                </a:solidFill>
                <a:latin typeface="Courier"/>
                <a:cs typeface="Courier"/>
              </a:rPr>
              <a:t>.</a:t>
            </a:r>
            <a:r>
              <a:rPr lang="en-US" sz="1800" dirty="0" err="1">
                <a:solidFill>
                  <a:prstClr val="black"/>
                </a:solidFill>
                <a:latin typeface="Courier"/>
                <a:cs typeface="Courier"/>
              </a:rPr>
              <a:t>keys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():</a:t>
            </a:r>
          </a:p>
          <a:p>
            <a:pPr marL="0" indent="0">
              <a:buNone/>
            </a:pP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	</a:t>
            </a:r>
            <a:r>
              <a:rPr lang="en-US" sz="1800" dirty="0">
                <a:solidFill>
                  <a:srgbClr val="008000"/>
                </a:solidFill>
                <a:latin typeface="Courier"/>
                <a:cs typeface="Courier"/>
              </a:rPr>
              <a:t>print</a:t>
            </a:r>
            <a:r>
              <a:rPr lang="en-US" sz="1800" dirty="0">
                <a:solidFill>
                  <a:srgbClr val="000000"/>
                </a:solidFill>
                <a:latin typeface="Courier"/>
                <a:cs typeface="Courier"/>
              </a:rPr>
              <a:t>(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k, </a:t>
            </a:r>
            <a:r>
              <a:rPr lang="en-US" sz="1800" dirty="0" err="1">
                <a:solidFill>
                  <a:prstClr val="black"/>
                </a:solidFill>
                <a:latin typeface="Courier"/>
                <a:cs typeface="Courier"/>
              </a:rPr>
              <a:t>my_dico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[k])</a:t>
            </a:r>
          </a:p>
          <a:p>
            <a:pPr marL="0" indent="0">
              <a:buNone/>
            </a:pPr>
            <a:r>
              <a:rPr lang="nl-NL" sz="1800" dirty="0">
                <a:latin typeface="Courier"/>
                <a:cs typeface="Courier"/>
              </a:rPr>
              <a:t>Person3 ['Carmen', 3276, 'M2']</a:t>
            </a:r>
          </a:p>
          <a:p>
            <a:pPr marL="0" indent="0">
              <a:buNone/>
            </a:pPr>
            <a:r>
              <a:rPr lang="nl-NL" sz="1800" dirty="0">
                <a:latin typeface="Courier"/>
                <a:cs typeface="Courier"/>
              </a:rPr>
              <a:t>Person2 ['Bob', 3407, 'L3']</a:t>
            </a:r>
          </a:p>
          <a:p>
            <a:pPr marL="0" indent="0">
              <a:buNone/>
            </a:pPr>
            <a:r>
              <a:rPr lang="nl-NL" sz="1800" dirty="0">
                <a:latin typeface="Courier"/>
                <a:cs typeface="Courier"/>
              </a:rPr>
              <a:t>Person1 ['Alice', 2308, 'M1']</a:t>
            </a:r>
            <a:endParaRPr lang="fr-CH" sz="1800" dirty="0"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257362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Programme (faire démo)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65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8531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carnet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{} </a:t>
            </a:r>
            <a:r>
              <a:rPr lang="en-US" sz="1800" i="1" dirty="0">
                <a:solidFill>
                  <a:srgbClr val="408080"/>
                </a:solidFill>
                <a:latin typeface="Courier"/>
                <a:cs typeface="Courier"/>
              </a:rPr>
              <a:t># </a:t>
            </a:r>
            <a:r>
              <a:rPr lang="en-US" sz="1800" i="1" dirty="0" err="1">
                <a:solidFill>
                  <a:srgbClr val="408080"/>
                </a:solidFill>
                <a:latin typeface="Courier"/>
                <a:cs typeface="Courier"/>
              </a:rPr>
              <a:t>création</a:t>
            </a:r>
            <a:r>
              <a:rPr lang="en-US" sz="1800" i="1" dirty="0">
                <a:solidFill>
                  <a:srgbClr val="408080"/>
                </a:solidFill>
                <a:latin typeface="Courier"/>
                <a:cs typeface="Courier"/>
              </a:rPr>
              <a:t> du </a:t>
            </a:r>
            <a:r>
              <a:rPr lang="en-US" sz="1800" i="1" dirty="0" err="1">
                <a:solidFill>
                  <a:srgbClr val="408080"/>
                </a:solidFill>
                <a:latin typeface="Courier"/>
                <a:cs typeface="Courier"/>
              </a:rPr>
              <a:t>dictionnaire</a:t>
            </a:r>
            <a:endParaRPr lang="en-US" sz="1800" i="1" dirty="0">
              <a:solidFill>
                <a:srgbClr val="408080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 err="1">
                <a:solidFill>
                  <a:srgbClr val="008000"/>
                </a:solidFill>
                <a:latin typeface="Courier"/>
                <a:cs typeface="Courier"/>
              </a:rPr>
              <a:t>print</a:t>
            </a:r>
            <a:r>
              <a:rPr lang="fr-FR" sz="1800" dirty="0">
                <a:solidFill>
                  <a:srgbClr val="000000"/>
                </a:solidFill>
                <a:latin typeface="Courier"/>
                <a:cs typeface="Courier"/>
              </a:rPr>
              <a:t>(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"n : Introduire une nouvelle adresse"</a:t>
            </a:r>
            <a:r>
              <a:rPr lang="fr-FR" sz="1800" dirty="0">
                <a:solidFill>
                  <a:srgbClr val="000000"/>
                </a:solidFill>
                <a:latin typeface="Courier"/>
                <a:cs typeface="Courier"/>
              </a:rPr>
              <a:t>)</a:t>
            </a:r>
          </a:p>
          <a:p>
            <a:pPr marL="0" indent="0">
              <a:buNone/>
            </a:pPr>
            <a:r>
              <a:rPr lang="fr-FR" sz="1800" dirty="0" err="1">
                <a:solidFill>
                  <a:srgbClr val="008000"/>
                </a:solidFill>
                <a:latin typeface="Courier"/>
                <a:cs typeface="Courier"/>
              </a:rPr>
              <a:t>print</a:t>
            </a:r>
            <a:r>
              <a:rPr lang="fr-FR" sz="1800" dirty="0">
                <a:solidFill>
                  <a:srgbClr val="000000"/>
                </a:solidFill>
                <a:latin typeface="Courier"/>
                <a:cs typeface="Courier"/>
              </a:rPr>
              <a:t>(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"r : Rechercher une adresse"</a:t>
            </a:r>
            <a:r>
              <a:rPr lang="fr-FR" sz="1800" dirty="0">
                <a:solidFill>
                  <a:srgbClr val="000000"/>
                </a:solidFill>
                <a:latin typeface="Courier"/>
                <a:cs typeface="Courier"/>
              </a:rPr>
              <a:t>)</a:t>
            </a:r>
          </a:p>
          <a:p>
            <a:pPr marL="0" indent="0">
              <a:buNone/>
            </a:pPr>
            <a:r>
              <a:rPr lang="fr-FR" sz="1800" dirty="0" err="1">
                <a:solidFill>
                  <a:srgbClr val="008000"/>
                </a:solidFill>
                <a:latin typeface="Courier"/>
                <a:cs typeface="Courier"/>
              </a:rPr>
              <a:t>print</a:t>
            </a:r>
            <a:r>
              <a:rPr lang="fr-FR" sz="1800" dirty="0">
                <a:solidFill>
                  <a:srgbClr val="000000"/>
                </a:solidFill>
                <a:latin typeface="Courier"/>
                <a:cs typeface="Courier"/>
              </a:rPr>
              <a:t>(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"f : Fin"</a:t>
            </a:r>
            <a:r>
              <a:rPr lang="fr-FR" sz="1800" dirty="0">
                <a:solidFill>
                  <a:srgbClr val="000000"/>
                </a:solidFill>
                <a:latin typeface="Courier"/>
                <a:cs typeface="Courier"/>
              </a:rPr>
              <a:t>)</a:t>
            </a:r>
          </a:p>
          <a:p>
            <a:pPr marL="0" indent="0">
              <a:buNone/>
            </a:pP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b="1" dirty="0" err="1">
                <a:solidFill>
                  <a:srgbClr val="008000"/>
                </a:solidFill>
                <a:latin typeface="Courier"/>
                <a:cs typeface="Courier"/>
              </a:rPr>
              <a:t>while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 err="1">
                <a:solidFill>
                  <a:srgbClr val="666666"/>
                </a:solidFill>
                <a:latin typeface="Courier"/>
                <a:cs typeface="Courier"/>
              </a:rPr>
              <a:t>True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:</a:t>
            </a:r>
          </a:p>
          <a:p>
            <a:pPr marL="0" indent="0">
              <a:buNone/>
            </a:pPr>
            <a:r>
              <a:rPr lang="fr-FR" sz="1800" i="1" dirty="0">
                <a:solidFill>
                  <a:srgbClr val="408080"/>
                </a:solidFill>
                <a:latin typeface="Courier"/>
                <a:cs typeface="Courier"/>
              </a:rPr>
              <a:t># cette boucle est exécutée tout le temps, i.e.,</a:t>
            </a:r>
          </a:p>
          <a:p>
            <a:pPr marL="0" indent="0">
              <a:buNone/>
            </a:pPr>
            <a:r>
              <a:rPr lang="fr-FR" sz="1800" i="1" dirty="0">
                <a:solidFill>
                  <a:srgbClr val="408080"/>
                </a:solidFill>
                <a:latin typeface="Courier"/>
                <a:cs typeface="Courier"/>
              </a:rPr>
              <a:t># tant qu'elle n'est pas interrompue par break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1403657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Programme (faire démo)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66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   action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008000"/>
                </a:solidFill>
                <a:latin typeface="Courier"/>
                <a:cs typeface="Courier"/>
              </a:rPr>
              <a:t>input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"Que voulez-vous faire? "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)</a:t>
            </a:r>
          </a:p>
          <a:p>
            <a:pPr marL="0" indent="0">
              <a:buNone/>
            </a:pP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   </a:t>
            </a:r>
            <a:r>
              <a:rPr lang="en-US" sz="1800" b="1" dirty="0">
                <a:solidFill>
                  <a:srgbClr val="008000"/>
                </a:solidFill>
                <a:latin typeface="Courier"/>
                <a:cs typeface="Courier"/>
              </a:rPr>
              <a:t>if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(action </a:t>
            </a:r>
            <a:r>
              <a:rPr lang="en-US" sz="1800" b="1" dirty="0">
                <a:solidFill>
                  <a:srgbClr val="AA22FF"/>
                </a:solidFill>
                <a:latin typeface="Courier"/>
                <a:cs typeface="Courier"/>
              </a:rPr>
              <a:t>in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[</a:t>
            </a:r>
            <a:r>
              <a:rPr lang="en-US" sz="1800" dirty="0">
                <a:solidFill>
                  <a:srgbClr val="BA2121"/>
                </a:solidFill>
                <a:latin typeface="Courier"/>
                <a:cs typeface="Courier"/>
              </a:rPr>
              <a:t>"n"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, </a:t>
            </a:r>
            <a:r>
              <a:rPr lang="en-US" sz="1800" dirty="0">
                <a:solidFill>
                  <a:srgbClr val="BA2121"/>
                </a:solidFill>
                <a:latin typeface="Courier"/>
                <a:cs typeface="Courier"/>
              </a:rPr>
              <a:t>"N"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]):</a:t>
            </a:r>
          </a:p>
          <a:p>
            <a:pPr marL="0" indent="0">
              <a:buNone/>
            </a:pP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       </a:t>
            </a:r>
            <a:r>
              <a:rPr lang="en-US" sz="1800" i="1" dirty="0">
                <a:solidFill>
                  <a:srgbClr val="408080"/>
                </a:solidFill>
                <a:latin typeface="Courier"/>
                <a:cs typeface="Courier"/>
              </a:rPr>
              <a:t># </a:t>
            </a:r>
            <a:r>
              <a:rPr lang="en-US" sz="1800" i="1" dirty="0" err="1">
                <a:solidFill>
                  <a:srgbClr val="408080"/>
                </a:solidFill>
                <a:latin typeface="Courier"/>
                <a:cs typeface="Courier"/>
              </a:rPr>
              <a:t>introduire</a:t>
            </a:r>
            <a:r>
              <a:rPr lang="en-US" sz="1800" i="1" dirty="0">
                <a:solidFill>
                  <a:srgbClr val="408080"/>
                </a:solidFill>
                <a:latin typeface="Courier"/>
                <a:cs typeface="Courier"/>
              </a:rPr>
              <a:t> </a:t>
            </a:r>
            <a:r>
              <a:rPr lang="en-US" sz="1800" i="1" dirty="0" err="1">
                <a:solidFill>
                  <a:srgbClr val="408080"/>
                </a:solidFill>
                <a:latin typeface="Courier"/>
                <a:cs typeface="Courier"/>
              </a:rPr>
              <a:t>une</a:t>
            </a:r>
            <a:r>
              <a:rPr lang="en-US" sz="1800" i="1" dirty="0">
                <a:solidFill>
                  <a:srgbClr val="408080"/>
                </a:solidFill>
                <a:latin typeface="Courier"/>
                <a:cs typeface="Courier"/>
              </a:rPr>
              <a:t> nouvelle </a:t>
            </a:r>
            <a:r>
              <a:rPr lang="en-US" sz="1800" i="1" dirty="0" err="1">
                <a:solidFill>
                  <a:srgbClr val="408080"/>
                </a:solidFill>
                <a:latin typeface="Courier"/>
                <a:cs typeface="Courier"/>
              </a:rPr>
              <a:t>adresse</a:t>
            </a:r>
            <a:endParaRPr lang="en-US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       nom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008000"/>
                </a:solidFill>
                <a:latin typeface="Courier"/>
                <a:cs typeface="Courier"/>
              </a:rPr>
              <a:t>input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"Entrer un nom: "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)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       </a:t>
            </a:r>
            <a:r>
              <a:rPr lang="fr-FR" sz="1800" b="1" dirty="0">
                <a:solidFill>
                  <a:srgbClr val="008000"/>
                </a:solidFill>
                <a:latin typeface="Courier"/>
                <a:cs typeface="Courier"/>
              </a:rPr>
              <a:t>if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nom </a:t>
            </a:r>
            <a:r>
              <a:rPr lang="fr-FR" sz="1800" b="1" dirty="0">
                <a:solidFill>
                  <a:srgbClr val="AA22FF"/>
                </a:solidFill>
                <a:latin typeface="Courier"/>
                <a:cs typeface="Courier"/>
              </a:rPr>
              <a:t>in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 err="1">
                <a:solidFill>
                  <a:prstClr val="black"/>
                </a:solidFill>
                <a:latin typeface="Courier"/>
                <a:cs typeface="Courier"/>
              </a:rPr>
              <a:t>carnet</a:t>
            </a:r>
            <a:r>
              <a:rPr lang="fr-FR" sz="1800" dirty="0" err="1">
                <a:solidFill>
                  <a:srgbClr val="666666"/>
                </a:solidFill>
                <a:latin typeface="Courier"/>
                <a:cs typeface="Courier"/>
              </a:rPr>
              <a:t>.</a:t>
            </a:r>
            <a:r>
              <a:rPr lang="fr-FR" sz="1800" dirty="0" err="1">
                <a:solidFill>
                  <a:prstClr val="black"/>
                </a:solidFill>
                <a:latin typeface="Courier"/>
                <a:cs typeface="Courier"/>
              </a:rPr>
              <a:t>keys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():</a:t>
            </a:r>
          </a:p>
          <a:p>
            <a:pPr marL="0" indent="0">
              <a:buNone/>
            </a:pPr>
            <a:r>
              <a:rPr lang="ro-RO" sz="1800" dirty="0">
                <a:solidFill>
                  <a:prstClr val="black"/>
                </a:solidFill>
                <a:latin typeface="Courier"/>
                <a:cs typeface="Courier"/>
              </a:rPr>
              <a:t>            </a:t>
            </a:r>
            <a:r>
              <a:rPr lang="ro-RO" sz="1800" dirty="0">
                <a:solidFill>
                  <a:srgbClr val="008000"/>
                </a:solidFill>
                <a:latin typeface="Courier"/>
                <a:cs typeface="Courier"/>
              </a:rPr>
              <a:t>print</a:t>
            </a:r>
            <a:r>
              <a:rPr lang="ro-RO" sz="1800" dirty="0">
                <a:solidFill>
                  <a:srgbClr val="000000"/>
                </a:solidFill>
                <a:latin typeface="Courier"/>
                <a:cs typeface="Courier"/>
              </a:rPr>
              <a:t>(</a:t>
            </a:r>
            <a:r>
              <a:rPr lang="ro-RO" sz="1800" dirty="0">
                <a:solidFill>
                  <a:srgbClr val="BA2121"/>
                </a:solidFill>
                <a:latin typeface="Courier"/>
                <a:cs typeface="Courier"/>
              </a:rPr>
              <a:t>"Ce nom existe deja..."</a:t>
            </a:r>
            <a:r>
              <a:rPr lang="ro-RO" sz="1800" dirty="0">
                <a:solidFill>
                  <a:srgbClr val="000000"/>
                </a:solidFill>
                <a:latin typeface="Courier"/>
                <a:cs typeface="Courier"/>
              </a:rPr>
              <a:t>)</a:t>
            </a:r>
          </a:p>
          <a:p>
            <a:pPr marL="0" indent="0">
              <a:buNone/>
            </a:pPr>
            <a:r>
              <a:rPr lang="hu-HU" sz="1800" dirty="0">
                <a:solidFill>
                  <a:prstClr val="black"/>
                </a:solidFill>
                <a:latin typeface="Courier"/>
                <a:cs typeface="Courier"/>
              </a:rPr>
              <a:t>        </a:t>
            </a:r>
            <a:r>
              <a:rPr lang="hu-HU" sz="1800" b="1" dirty="0">
                <a:solidFill>
                  <a:srgbClr val="008000"/>
                </a:solidFill>
                <a:latin typeface="Courier"/>
                <a:cs typeface="Courier"/>
              </a:rPr>
              <a:t>else</a:t>
            </a:r>
            <a:r>
              <a:rPr lang="hu-HU" sz="1800" dirty="0">
                <a:solidFill>
                  <a:prstClr val="black"/>
                </a:solidFill>
                <a:latin typeface="Courier"/>
                <a:cs typeface="Courier"/>
              </a:rPr>
              <a:t>: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           anniv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008000"/>
                </a:solidFill>
                <a:latin typeface="Courier"/>
                <a:cs typeface="Courier"/>
              </a:rPr>
              <a:t>input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"anniversaire &lt;</a:t>
            </a:r>
            <a:r>
              <a:rPr lang="fr-FR" sz="1800" dirty="0" err="1">
                <a:solidFill>
                  <a:srgbClr val="BA2121"/>
                </a:solidFill>
                <a:latin typeface="Courier"/>
                <a:cs typeface="Courier"/>
              </a:rPr>
              <a:t>j.m.a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&gt;: "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)</a:t>
            </a:r>
          </a:p>
          <a:p>
            <a:pPr marL="0" indent="0">
              <a:buNone/>
            </a:pPr>
            <a:r>
              <a:rPr lang="hu-HU" sz="1800" dirty="0">
                <a:solidFill>
                  <a:prstClr val="black"/>
                </a:solidFill>
                <a:latin typeface="Courier"/>
                <a:cs typeface="Courier"/>
              </a:rPr>
              <a:t>            tel </a:t>
            </a:r>
            <a:r>
              <a:rPr lang="hu-HU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hu-HU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hu-HU" sz="1800" dirty="0">
                <a:solidFill>
                  <a:srgbClr val="008000"/>
                </a:solidFill>
                <a:latin typeface="Courier"/>
                <a:cs typeface="Courier"/>
              </a:rPr>
              <a:t>input</a:t>
            </a:r>
            <a:r>
              <a:rPr lang="hu-HU" sz="1800" dirty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hu-HU" sz="1800" dirty="0">
                <a:solidFill>
                  <a:srgbClr val="BA2121"/>
                </a:solidFill>
                <a:latin typeface="Courier"/>
                <a:cs typeface="Courier"/>
              </a:rPr>
              <a:t>"téléphone: "</a:t>
            </a:r>
            <a:r>
              <a:rPr lang="hu-HU" sz="1800" dirty="0">
                <a:solidFill>
                  <a:prstClr val="black"/>
                </a:solidFill>
                <a:latin typeface="Courier"/>
                <a:cs typeface="Courier"/>
              </a:rPr>
              <a:t>)</a:t>
            </a:r>
          </a:p>
          <a:p>
            <a:pPr marL="0" indent="0">
              <a:buNone/>
            </a:pPr>
            <a:r>
              <a:rPr lang="ro-RO" sz="1800" dirty="0">
                <a:solidFill>
                  <a:prstClr val="black"/>
                </a:solidFill>
                <a:latin typeface="Courier"/>
                <a:cs typeface="Courier"/>
              </a:rPr>
              <a:t>            carnet[nom] </a:t>
            </a:r>
            <a:r>
              <a:rPr lang="ro-RO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ro-RO" sz="1800" dirty="0">
                <a:solidFill>
                  <a:prstClr val="black"/>
                </a:solidFill>
                <a:latin typeface="Courier"/>
                <a:cs typeface="Courier"/>
              </a:rPr>
              <a:t> (anniv, tel)</a:t>
            </a:r>
          </a:p>
        </p:txBody>
      </p:sp>
    </p:spTree>
    <p:extLst>
      <p:ext uri="{BB962C8B-B14F-4D97-AF65-F5344CB8AC3E}">
        <p14:creationId xmlns:p14="http://schemas.microsoft.com/office/powerpoint/2010/main" val="3688884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Programme (faire démo)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67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08000"/>
                </a:solidFill>
                <a:latin typeface="Courier"/>
                <a:cs typeface="Courier"/>
              </a:rPr>
              <a:t>    </a:t>
            </a:r>
            <a:r>
              <a:rPr lang="en-US" sz="1800" b="1" dirty="0" err="1">
                <a:solidFill>
                  <a:srgbClr val="008000"/>
                </a:solidFill>
                <a:latin typeface="Courier"/>
                <a:cs typeface="Courier"/>
              </a:rPr>
              <a:t>elif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(action </a:t>
            </a:r>
            <a:r>
              <a:rPr lang="en-US" sz="1800" b="1" dirty="0">
                <a:solidFill>
                  <a:srgbClr val="AA22FF"/>
                </a:solidFill>
                <a:latin typeface="Courier"/>
                <a:cs typeface="Courier"/>
              </a:rPr>
              <a:t>in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[</a:t>
            </a:r>
            <a:r>
              <a:rPr lang="en-US" sz="1800" dirty="0">
                <a:solidFill>
                  <a:srgbClr val="BA2121"/>
                </a:solidFill>
                <a:latin typeface="Courier"/>
                <a:cs typeface="Courier"/>
              </a:rPr>
              <a:t>"r"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, </a:t>
            </a:r>
            <a:r>
              <a:rPr lang="en-US" sz="1800" dirty="0">
                <a:solidFill>
                  <a:srgbClr val="BA2121"/>
                </a:solidFill>
                <a:latin typeface="Courier"/>
                <a:cs typeface="Courier"/>
              </a:rPr>
              <a:t>"R"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]):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       nom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008000"/>
                </a:solidFill>
                <a:latin typeface="Courier"/>
                <a:cs typeface="Courier"/>
              </a:rPr>
              <a:t>input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"Entrer un nom: "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)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       </a:t>
            </a:r>
            <a:r>
              <a:rPr lang="fr-FR" sz="1800" b="1" dirty="0">
                <a:solidFill>
                  <a:srgbClr val="008000"/>
                </a:solidFill>
                <a:latin typeface="Courier"/>
                <a:cs typeface="Courier"/>
              </a:rPr>
              <a:t>if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nom </a:t>
            </a:r>
            <a:r>
              <a:rPr lang="fr-FR" sz="1800" b="1" dirty="0">
                <a:solidFill>
                  <a:srgbClr val="AA22FF"/>
                </a:solidFill>
                <a:latin typeface="Courier"/>
                <a:cs typeface="Courier"/>
              </a:rPr>
              <a:t>in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 err="1">
                <a:solidFill>
                  <a:prstClr val="black"/>
                </a:solidFill>
                <a:latin typeface="Courier"/>
                <a:cs typeface="Courier"/>
              </a:rPr>
              <a:t>carnet</a:t>
            </a:r>
            <a:r>
              <a:rPr lang="fr-FR" sz="1800" dirty="0" err="1">
                <a:solidFill>
                  <a:srgbClr val="666666"/>
                </a:solidFill>
                <a:latin typeface="Courier"/>
                <a:cs typeface="Courier"/>
              </a:rPr>
              <a:t>.</a:t>
            </a:r>
            <a:r>
              <a:rPr lang="fr-FR" sz="1800" dirty="0" err="1">
                <a:solidFill>
                  <a:prstClr val="black"/>
                </a:solidFill>
                <a:latin typeface="Courier"/>
                <a:cs typeface="Courier"/>
              </a:rPr>
              <a:t>keys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():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           </a:t>
            </a:r>
            <a:r>
              <a:rPr lang="fr-FR" sz="1800" dirty="0" err="1">
                <a:solidFill>
                  <a:srgbClr val="008000"/>
                </a:solidFill>
                <a:latin typeface="Courier"/>
                <a:cs typeface="Courier"/>
              </a:rPr>
              <a:t>print</a:t>
            </a:r>
            <a:r>
              <a:rPr lang="fr-FR" sz="1800" dirty="0">
                <a:solidFill>
                  <a:srgbClr val="000000"/>
                </a:solidFill>
                <a:latin typeface="Courier"/>
                <a:cs typeface="Courier"/>
              </a:rPr>
              <a:t>(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"anniversaire:"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, carnet[nom][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0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])</a:t>
            </a:r>
          </a:p>
          <a:p>
            <a:pPr marL="0" indent="0">
              <a:buNone/>
            </a:pPr>
            <a:r>
              <a:rPr lang="hu-HU" sz="1800" dirty="0">
                <a:solidFill>
                  <a:prstClr val="black"/>
                </a:solidFill>
                <a:latin typeface="Courier"/>
                <a:cs typeface="Courier"/>
              </a:rPr>
              <a:t>            </a:t>
            </a:r>
            <a:r>
              <a:rPr lang="fr-FR" sz="1800" dirty="0" err="1">
                <a:solidFill>
                  <a:srgbClr val="008000"/>
                </a:solidFill>
                <a:latin typeface="Courier"/>
                <a:cs typeface="Courier"/>
              </a:rPr>
              <a:t>print</a:t>
            </a:r>
            <a:r>
              <a:rPr lang="fr-FR" sz="1800" dirty="0">
                <a:solidFill>
                  <a:srgbClr val="000000"/>
                </a:solidFill>
                <a:latin typeface="Courier"/>
                <a:cs typeface="Courier"/>
              </a:rPr>
              <a:t>(</a:t>
            </a:r>
            <a:r>
              <a:rPr lang="hu-HU" sz="1800" dirty="0">
                <a:solidFill>
                  <a:srgbClr val="BA2121"/>
                </a:solidFill>
                <a:latin typeface="Courier"/>
                <a:cs typeface="Courier"/>
              </a:rPr>
              <a:t>"telephone:"</a:t>
            </a:r>
            <a:r>
              <a:rPr lang="hu-HU" sz="1800" dirty="0">
                <a:solidFill>
                  <a:prstClr val="black"/>
                </a:solidFill>
                <a:latin typeface="Courier"/>
                <a:cs typeface="Courier"/>
              </a:rPr>
              <a:t>, carnet[nom][</a:t>
            </a:r>
            <a:r>
              <a:rPr lang="hu-HU" sz="1800" dirty="0">
                <a:solidFill>
                  <a:srgbClr val="666666"/>
                </a:solidFill>
                <a:latin typeface="Courier"/>
                <a:cs typeface="Courier"/>
              </a:rPr>
              <a:t>1</a:t>
            </a:r>
            <a:r>
              <a:rPr lang="hu-HU" sz="1800" dirty="0">
                <a:solidFill>
                  <a:prstClr val="black"/>
                </a:solidFill>
                <a:latin typeface="Courier"/>
                <a:cs typeface="Courier"/>
              </a:rPr>
              <a:t>])</a:t>
            </a:r>
          </a:p>
          <a:p>
            <a:pPr marL="0" indent="0">
              <a:buNone/>
            </a:pPr>
            <a:r>
              <a:rPr lang="hu-HU" sz="1800" dirty="0">
                <a:solidFill>
                  <a:prstClr val="black"/>
                </a:solidFill>
                <a:latin typeface="Courier"/>
                <a:cs typeface="Courier"/>
              </a:rPr>
              <a:t>        </a:t>
            </a:r>
            <a:r>
              <a:rPr lang="hu-HU" sz="1800" b="1" dirty="0">
                <a:solidFill>
                  <a:srgbClr val="008000"/>
                </a:solidFill>
                <a:latin typeface="Courier"/>
                <a:cs typeface="Courier"/>
              </a:rPr>
              <a:t>else</a:t>
            </a:r>
            <a:r>
              <a:rPr lang="hu-HU" sz="1800" dirty="0">
                <a:solidFill>
                  <a:prstClr val="black"/>
                </a:solidFill>
                <a:latin typeface="Courier"/>
                <a:cs typeface="Courier"/>
              </a:rPr>
              <a:t>:</a:t>
            </a:r>
          </a:p>
          <a:p>
            <a:pPr marL="0" indent="0">
              <a:buNone/>
            </a:pPr>
            <a:r>
              <a:rPr lang="it-IT" sz="1800" dirty="0">
                <a:solidFill>
                  <a:prstClr val="black"/>
                </a:solidFill>
                <a:latin typeface="Courier"/>
                <a:cs typeface="Courier"/>
              </a:rPr>
              <a:t>            </a:t>
            </a:r>
            <a:r>
              <a:rPr lang="it-IT" sz="1800" dirty="0" err="1">
                <a:solidFill>
                  <a:srgbClr val="008000"/>
                </a:solidFill>
                <a:latin typeface="Courier"/>
                <a:cs typeface="Courier"/>
              </a:rPr>
              <a:t>print</a:t>
            </a:r>
            <a:r>
              <a:rPr lang="fr-FR" sz="1800" dirty="0">
                <a:solidFill>
                  <a:srgbClr val="000000"/>
                </a:solidFill>
                <a:latin typeface="Courier"/>
                <a:cs typeface="Courier"/>
              </a:rPr>
              <a:t>(</a:t>
            </a:r>
            <a:r>
              <a:rPr lang="it-IT" sz="1800" dirty="0">
                <a:solidFill>
                  <a:srgbClr val="BA2121"/>
                </a:solidFill>
                <a:latin typeface="Courier"/>
                <a:cs typeface="Courier"/>
              </a:rPr>
              <a:t>"Ce </a:t>
            </a:r>
            <a:r>
              <a:rPr lang="it-IT" sz="1800" dirty="0" err="1">
                <a:solidFill>
                  <a:srgbClr val="BA2121"/>
                </a:solidFill>
                <a:latin typeface="Courier"/>
                <a:cs typeface="Courier"/>
              </a:rPr>
              <a:t>nom</a:t>
            </a:r>
            <a:r>
              <a:rPr lang="it-IT" sz="1800" dirty="0">
                <a:solidFill>
                  <a:srgbClr val="BA2121"/>
                </a:solidFill>
                <a:latin typeface="Courier"/>
                <a:cs typeface="Courier"/>
              </a:rPr>
              <a:t> n'</a:t>
            </a:r>
            <a:r>
              <a:rPr lang="it-IT" sz="1800" dirty="0" err="1">
                <a:solidFill>
                  <a:srgbClr val="BA2121"/>
                </a:solidFill>
                <a:latin typeface="Courier"/>
                <a:cs typeface="Courier"/>
              </a:rPr>
              <a:t>existe</a:t>
            </a:r>
            <a:r>
              <a:rPr lang="it-IT" sz="1800" dirty="0">
                <a:solidFill>
                  <a:srgbClr val="BA2121"/>
                </a:solidFill>
                <a:latin typeface="Courier"/>
                <a:cs typeface="Courier"/>
              </a:rPr>
              <a:t> </a:t>
            </a:r>
            <a:r>
              <a:rPr lang="it-IT" sz="1800" dirty="0" err="1">
                <a:solidFill>
                  <a:srgbClr val="BA2121"/>
                </a:solidFill>
                <a:latin typeface="Courier"/>
                <a:cs typeface="Courier"/>
              </a:rPr>
              <a:t>pas</a:t>
            </a:r>
            <a:r>
              <a:rPr lang="it-IT" sz="1800" dirty="0">
                <a:solidFill>
                  <a:srgbClr val="BA2121"/>
                </a:solidFill>
                <a:latin typeface="Courier"/>
                <a:cs typeface="Courier"/>
              </a:rPr>
              <a:t>..."</a:t>
            </a:r>
            <a:r>
              <a:rPr lang="it-IT" sz="1800" dirty="0">
                <a:solidFill>
                  <a:srgbClr val="000000"/>
                </a:solidFill>
                <a:latin typeface="Courier"/>
                <a:cs typeface="Courier"/>
              </a:rPr>
              <a:t>)</a:t>
            </a:r>
          </a:p>
          <a:p>
            <a:pPr marL="0" indent="0">
              <a:buNone/>
            </a:pP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   </a:t>
            </a:r>
            <a:r>
              <a:rPr lang="en-US" sz="1800" b="1" dirty="0" err="1">
                <a:solidFill>
                  <a:srgbClr val="008000"/>
                </a:solidFill>
                <a:latin typeface="Courier"/>
                <a:cs typeface="Courier"/>
              </a:rPr>
              <a:t>elif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action </a:t>
            </a:r>
            <a:r>
              <a:rPr lang="en-US" sz="1800" b="1" dirty="0">
                <a:solidFill>
                  <a:srgbClr val="AA22FF"/>
                </a:solidFill>
                <a:latin typeface="Courier"/>
                <a:cs typeface="Courier"/>
              </a:rPr>
              <a:t>in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[</a:t>
            </a:r>
            <a:r>
              <a:rPr lang="en-US" sz="1800" dirty="0">
                <a:solidFill>
                  <a:srgbClr val="BA2121"/>
                </a:solidFill>
                <a:latin typeface="Courier"/>
                <a:cs typeface="Courier"/>
              </a:rPr>
              <a:t>"f"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, </a:t>
            </a:r>
            <a:r>
              <a:rPr lang="en-US" sz="1800" dirty="0">
                <a:solidFill>
                  <a:srgbClr val="BA2121"/>
                </a:solidFill>
                <a:latin typeface="Courier"/>
                <a:cs typeface="Courier"/>
              </a:rPr>
              <a:t>"F"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]:</a:t>
            </a:r>
          </a:p>
          <a:p>
            <a:pPr marL="0" indent="0">
              <a:buNone/>
            </a:pP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	</a:t>
            </a:r>
            <a:r>
              <a:rPr lang="en-US" sz="1800" i="1" dirty="0">
                <a:solidFill>
                  <a:srgbClr val="408080"/>
                </a:solidFill>
                <a:latin typeface="Courier"/>
                <a:cs typeface="Courier"/>
              </a:rPr>
              <a:t># impression du </a:t>
            </a:r>
            <a:r>
              <a:rPr lang="en-US" sz="1800" i="1" dirty="0" err="1">
                <a:solidFill>
                  <a:srgbClr val="408080"/>
                </a:solidFill>
                <a:latin typeface="Courier"/>
                <a:cs typeface="Courier"/>
              </a:rPr>
              <a:t>dico</a:t>
            </a:r>
            <a:r>
              <a:rPr lang="en-US" sz="1800" i="1" dirty="0">
                <a:solidFill>
                  <a:srgbClr val="408080"/>
                </a:solidFill>
                <a:latin typeface="Courier"/>
                <a:cs typeface="Courier"/>
              </a:rPr>
              <a:t> carnet</a:t>
            </a:r>
            <a:endParaRPr lang="en-US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   	</a:t>
            </a:r>
            <a:r>
              <a:rPr lang="en-US" sz="1800" b="1" dirty="0">
                <a:solidFill>
                  <a:srgbClr val="008000"/>
                </a:solidFill>
                <a:latin typeface="Courier"/>
                <a:cs typeface="Courier"/>
              </a:rPr>
              <a:t>for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k </a:t>
            </a:r>
            <a:r>
              <a:rPr lang="en-US" sz="1800" b="1" dirty="0">
                <a:solidFill>
                  <a:srgbClr val="AA22FF"/>
                </a:solidFill>
                <a:latin typeface="Courier"/>
                <a:cs typeface="Courier"/>
              </a:rPr>
              <a:t>in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Courier"/>
                <a:cs typeface="Courier"/>
              </a:rPr>
              <a:t>carnet</a:t>
            </a:r>
            <a:r>
              <a:rPr lang="en-US" sz="1800" dirty="0" err="1">
                <a:solidFill>
                  <a:srgbClr val="666666"/>
                </a:solidFill>
                <a:latin typeface="Courier"/>
                <a:cs typeface="Courier"/>
              </a:rPr>
              <a:t>.</a:t>
            </a:r>
            <a:r>
              <a:rPr lang="en-US" sz="1800" dirty="0" err="1">
                <a:solidFill>
                  <a:prstClr val="black"/>
                </a:solidFill>
                <a:latin typeface="Courier"/>
                <a:cs typeface="Courier"/>
              </a:rPr>
              <a:t>keys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():</a:t>
            </a:r>
          </a:p>
          <a:p>
            <a:pPr marL="0" indent="0">
              <a:buNone/>
            </a:pP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   		</a:t>
            </a:r>
            <a:r>
              <a:rPr lang="en-US" sz="1800" dirty="0">
                <a:solidFill>
                  <a:srgbClr val="008000"/>
                </a:solidFill>
                <a:latin typeface="Courier"/>
                <a:cs typeface="Courier"/>
              </a:rPr>
              <a:t>print</a:t>
            </a:r>
            <a:r>
              <a:rPr lang="en-US" sz="1800" dirty="0">
                <a:solidFill>
                  <a:srgbClr val="000000"/>
                </a:solidFill>
                <a:latin typeface="Courier"/>
                <a:cs typeface="Courier"/>
              </a:rPr>
              <a:t>(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k, carnet[k][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0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], carnet[k][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1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])</a:t>
            </a:r>
          </a:p>
          <a:p>
            <a:pPr marL="0" indent="0">
              <a:buNone/>
            </a:pP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   	</a:t>
            </a:r>
            <a:r>
              <a:rPr lang="en-US" sz="1800" b="1" dirty="0">
                <a:solidFill>
                  <a:srgbClr val="008000"/>
                </a:solidFill>
                <a:latin typeface="Courier"/>
                <a:cs typeface="Courier"/>
              </a:rPr>
              <a:t>break </a:t>
            </a:r>
            <a:r>
              <a:rPr lang="en-US" sz="1800" i="1" dirty="0">
                <a:solidFill>
                  <a:srgbClr val="408080"/>
                </a:solidFill>
                <a:latin typeface="Courier"/>
                <a:cs typeface="Courier"/>
              </a:rPr>
              <a:t># interruption de la boucle while</a:t>
            </a:r>
            <a:endParaRPr lang="fr-CH" sz="1800" dirty="0"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2431525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Transtypage 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68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fr-CH" dirty="0"/>
              <a:t>Transtypage : les fonctions </a:t>
            </a:r>
            <a:r>
              <a:rPr lang="fr-CH" sz="2400" dirty="0">
                <a:solidFill>
                  <a:srgbClr val="3366FF"/>
                </a:solidFill>
                <a:latin typeface="Courier"/>
                <a:cs typeface="Courier"/>
              </a:rPr>
              <a:t>int(arg)</a:t>
            </a:r>
            <a:r>
              <a:rPr lang="fr-CH" dirty="0"/>
              <a:t>, </a:t>
            </a:r>
            <a:r>
              <a:rPr lang="fr-CH" sz="2400" dirty="0">
                <a:solidFill>
                  <a:srgbClr val="3366FF"/>
                </a:solidFill>
                <a:latin typeface="Courier"/>
                <a:cs typeface="Courier"/>
              </a:rPr>
              <a:t>float(arg)</a:t>
            </a:r>
            <a:r>
              <a:rPr lang="fr-CH" dirty="0"/>
              <a:t> et </a:t>
            </a:r>
            <a:r>
              <a:rPr lang="fr-CH" sz="2400" dirty="0">
                <a:solidFill>
                  <a:srgbClr val="3366FF"/>
                </a:solidFill>
                <a:latin typeface="Courier"/>
                <a:cs typeface="Courier"/>
              </a:rPr>
              <a:t>str(arg)</a:t>
            </a:r>
            <a:r>
              <a:rPr lang="fr-CH" dirty="0"/>
              <a:t> permettent (dans la limite du possible) de convertir leur arguement en un entier, un flottant et une chaîne, respectivement.</a:t>
            </a:r>
            <a:endParaRPr lang="fr-CH" sz="1800" dirty="0">
              <a:solidFill>
                <a:srgbClr val="FF0000"/>
              </a:solidFill>
              <a:latin typeface="Courier"/>
              <a:cs typeface="Courier"/>
            </a:endParaRPr>
          </a:p>
          <a:p>
            <a:r>
              <a:rPr lang="fr-CH" dirty="0"/>
              <a:t>Ces fonctions de transtypage sont couramment utilisées. </a:t>
            </a:r>
          </a:p>
        </p:txBody>
      </p:sp>
    </p:spTree>
    <p:extLst>
      <p:ext uri="{BB962C8B-B14F-4D97-AF65-F5344CB8AC3E}">
        <p14:creationId xmlns:p14="http://schemas.microsoft.com/office/powerpoint/2010/main" val="1884931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Transtypage 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69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it-IT" sz="1800" dirty="0">
                <a:latin typeface="Courier"/>
              </a:rPr>
              <a:t>&gt;&gt;&gt; </a:t>
            </a:r>
            <a:r>
              <a:rPr lang="it-IT" sz="1800" dirty="0" err="1">
                <a:solidFill>
                  <a:srgbClr val="008000"/>
                </a:solidFill>
                <a:latin typeface="Courier"/>
              </a:rPr>
              <a:t>int</a:t>
            </a:r>
            <a:r>
              <a:rPr lang="it-IT" sz="1800" dirty="0">
                <a:solidFill>
                  <a:prstClr val="black"/>
                </a:solidFill>
                <a:latin typeface="Courier"/>
              </a:rPr>
              <a:t>(</a:t>
            </a:r>
            <a:r>
              <a:rPr lang="it-IT" sz="1800" dirty="0">
                <a:solidFill>
                  <a:srgbClr val="BA2121"/>
                </a:solidFill>
                <a:latin typeface="Courier"/>
              </a:rPr>
              <a:t>"2"</a:t>
            </a:r>
            <a:r>
              <a:rPr lang="it-IT" sz="1800" dirty="0">
                <a:solidFill>
                  <a:prstClr val="black"/>
                </a:solidFill>
                <a:latin typeface="Courier"/>
              </a:rPr>
              <a:t>)</a:t>
            </a:r>
          </a:p>
          <a:p>
            <a:pPr marL="0" indent="0">
              <a:buNone/>
            </a:pPr>
            <a:r>
              <a:rPr lang="it-IT" sz="1800" dirty="0">
                <a:solidFill>
                  <a:prstClr val="black"/>
                </a:solidFill>
                <a:latin typeface="Courier"/>
              </a:rPr>
              <a:t>2</a:t>
            </a:r>
          </a:p>
          <a:p>
            <a:pPr marL="0" indent="0">
              <a:buNone/>
            </a:pPr>
            <a:r>
              <a:rPr lang="it-IT" sz="1800" dirty="0">
                <a:latin typeface="Courier"/>
              </a:rPr>
              <a:t>&gt;&gt;&gt; </a:t>
            </a:r>
            <a:r>
              <a:rPr lang="ro-RO" sz="1800" dirty="0">
                <a:solidFill>
                  <a:srgbClr val="008000"/>
                </a:solidFill>
                <a:latin typeface="Courier"/>
              </a:rPr>
              <a:t>float</a:t>
            </a:r>
            <a:r>
              <a:rPr lang="ro-RO" sz="1800" dirty="0">
                <a:solidFill>
                  <a:prstClr val="black"/>
                </a:solidFill>
                <a:latin typeface="Courier"/>
              </a:rPr>
              <a:t>(</a:t>
            </a:r>
            <a:r>
              <a:rPr lang="ro-RO" sz="1800" dirty="0">
                <a:solidFill>
                  <a:srgbClr val="BA2121"/>
                </a:solidFill>
                <a:latin typeface="Courier"/>
              </a:rPr>
              <a:t>"2.34"</a:t>
            </a:r>
            <a:r>
              <a:rPr lang="ro-RO" sz="1800" dirty="0">
                <a:solidFill>
                  <a:prstClr val="black"/>
                </a:solidFill>
                <a:latin typeface="Courier"/>
              </a:rPr>
              <a:t>)</a:t>
            </a:r>
          </a:p>
          <a:p>
            <a:pPr marL="0" indent="0">
              <a:buNone/>
            </a:pPr>
            <a:r>
              <a:rPr lang="it-IT" sz="1800" dirty="0">
                <a:latin typeface="Courier"/>
              </a:rPr>
              <a:t>2.34</a:t>
            </a:r>
          </a:p>
          <a:p>
            <a:pPr marL="0" indent="0">
              <a:buNone/>
            </a:pPr>
            <a:r>
              <a:rPr lang="it-IT" sz="1800" dirty="0">
                <a:latin typeface="Courier"/>
              </a:rPr>
              <a:t>&gt;&gt;&gt; </a:t>
            </a:r>
            <a:r>
              <a:rPr lang="ro-RO" sz="1800" dirty="0">
                <a:solidFill>
                  <a:srgbClr val="008000"/>
                </a:solidFill>
                <a:latin typeface="Courier"/>
              </a:rPr>
              <a:t>str</a:t>
            </a:r>
            <a:r>
              <a:rPr lang="ro-RO" sz="1800" dirty="0">
                <a:solidFill>
                  <a:prstClr val="black"/>
                </a:solidFill>
                <a:latin typeface="Courier"/>
              </a:rPr>
              <a:t>(</a:t>
            </a:r>
            <a:r>
              <a:rPr lang="ro-RO" sz="1800" dirty="0">
                <a:solidFill>
                  <a:srgbClr val="666666"/>
                </a:solidFill>
                <a:latin typeface="Courier"/>
              </a:rPr>
              <a:t>18</a:t>
            </a:r>
            <a:r>
              <a:rPr lang="ro-RO" sz="1800" dirty="0">
                <a:solidFill>
                  <a:prstClr val="black"/>
                </a:solidFill>
                <a:latin typeface="Courier"/>
              </a:rPr>
              <a:t>)</a:t>
            </a:r>
          </a:p>
          <a:p>
            <a:pPr marL="0" indent="0">
              <a:buNone/>
            </a:pPr>
            <a:r>
              <a:rPr lang="uk-UA" sz="1800" dirty="0">
                <a:latin typeface="Courier"/>
                <a:cs typeface="Courier"/>
              </a:rPr>
              <a:t>'</a:t>
            </a:r>
            <a:r>
              <a:rPr lang="fr-CH" sz="1800" dirty="0">
                <a:latin typeface="Courier"/>
                <a:cs typeface="Courier"/>
              </a:rPr>
              <a:t>18</a:t>
            </a:r>
            <a:r>
              <a:rPr lang="uk-UA" sz="1800" dirty="0">
                <a:latin typeface="Courier"/>
                <a:cs typeface="Courier"/>
              </a:rPr>
              <a:t>'</a:t>
            </a:r>
            <a:endParaRPr lang="ro-RO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it-IT" sz="1800" dirty="0">
                <a:latin typeface="Courier"/>
              </a:rPr>
              <a:t>&gt;&gt;&gt; </a:t>
            </a:r>
            <a:r>
              <a:rPr lang="is-IS" sz="1800" dirty="0">
                <a:solidFill>
                  <a:srgbClr val="008000"/>
                </a:solidFill>
                <a:latin typeface="Courier"/>
              </a:rPr>
              <a:t>str</a:t>
            </a:r>
            <a:r>
              <a:rPr lang="is-IS" sz="1800" dirty="0">
                <a:solidFill>
                  <a:prstClr val="black"/>
                </a:solidFill>
                <a:latin typeface="Courier"/>
              </a:rPr>
              <a:t>(</a:t>
            </a:r>
            <a:r>
              <a:rPr lang="is-IS" sz="1800" dirty="0">
                <a:solidFill>
                  <a:srgbClr val="666666"/>
                </a:solidFill>
                <a:latin typeface="Courier"/>
              </a:rPr>
              <a:t>7.56</a:t>
            </a:r>
            <a:r>
              <a:rPr lang="is-IS" sz="1800" dirty="0">
                <a:solidFill>
                  <a:prstClr val="black"/>
                </a:solidFill>
                <a:latin typeface="Courier"/>
              </a:rPr>
              <a:t>)</a:t>
            </a:r>
          </a:p>
          <a:p>
            <a:pPr marL="0" indent="0">
              <a:buNone/>
            </a:pPr>
            <a:r>
              <a:rPr lang="uk-UA" sz="1800" dirty="0">
                <a:latin typeface="Courier"/>
                <a:cs typeface="Courier"/>
              </a:rPr>
              <a:t>'</a:t>
            </a:r>
            <a:r>
              <a:rPr lang="fr-CH" sz="1800" dirty="0">
                <a:latin typeface="Courier"/>
                <a:cs typeface="Courier"/>
              </a:rPr>
              <a:t>7.56</a:t>
            </a:r>
            <a:r>
              <a:rPr lang="uk-UA" sz="1800" dirty="0">
                <a:latin typeface="Courier"/>
                <a:cs typeface="Courier"/>
              </a:rPr>
              <a:t>'</a:t>
            </a:r>
            <a:endParaRPr lang="ro-RO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it-IT" sz="1800" dirty="0">
                <a:latin typeface="Courier"/>
              </a:rPr>
              <a:t>&gt;&gt;&gt; </a:t>
            </a:r>
            <a:r>
              <a:rPr lang="pt-BR" sz="1800" dirty="0" err="1">
                <a:solidFill>
                  <a:srgbClr val="008000"/>
                </a:solidFill>
                <a:latin typeface="Courier"/>
              </a:rPr>
              <a:t>str</a:t>
            </a:r>
            <a:r>
              <a:rPr lang="pt-BR" sz="1800" dirty="0">
                <a:solidFill>
                  <a:prstClr val="black"/>
                </a:solidFill>
                <a:latin typeface="Courier"/>
              </a:rPr>
              <a:t>([</a:t>
            </a:r>
            <a:r>
              <a:rPr lang="pt-BR" sz="1800" dirty="0">
                <a:solidFill>
                  <a:srgbClr val="666666"/>
                </a:solidFill>
                <a:latin typeface="Courier"/>
              </a:rPr>
              <a:t>1</a:t>
            </a:r>
            <a:r>
              <a:rPr lang="pt-BR" sz="1800" dirty="0">
                <a:solidFill>
                  <a:prstClr val="black"/>
                </a:solidFill>
                <a:latin typeface="Courier"/>
              </a:rPr>
              <a:t>,</a:t>
            </a:r>
            <a:r>
              <a:rPr lang="pt-BR" sz="1800" dirty="0">
                <a:solidFill>
                  <a:srgbClr val="666666"/>
                </a:solidFill>
                <a:latin typeface="Courier"/>
              </a:rPr>
              <a:t>2</a:t>
            </a:r>
            <a:r>
              <a:rPr lang="pt-BR" sz="1800" dirty="0">
                <a:solidFill>
                  <a:prstClr val="black"/>
                </a:solidFill>
                <a:latin typeface="Courier"/>
              </a:rPr>
              <a:t>,</a:t>
            </a:r>
            <a:r>
              <a:rPr lang="pt-BR" sz="1800" dirty="0">
                <a:solidFill>
                  <a:srgbClr val="666666"/>
                </a:solidFill>
                <a:latin typeface="Courier"/>
              </a:rPr>
              <a:t>3</a:t>
            </a:r>
            <a:r>
              <a:rPr lang="pt-BR" sz="1800" dirty="0">
                <a:solidFill>
                  <a:prstClr val="black"/>
                </a:solidFill>
                <a:latin typeface="Courier"/>
              </a:rPr>
              <a:t>])</a:t>
            </a:r>
          </a:p>
          <a:p>
            <a:pPr marL="0" indent="0">
              <a:buNone/>
            </a:pPr>
            <a:r>
              <a:rPr lang="uk-UA" sz="1800" dirty="0">
                <a:latin typeface="Courier"/>
                <a:cs typeface="Courier"/>
              </a:rPr>
              <a:t>'</a:t>
            </a:r>
            <a:r>
              <a:rPr lang="fr-CH" sz="1800" dirty="0">
                <a:latin typeface="Courier"/>
                <a:cs typeface="Courier"/>
              </a:rPr>
              <a:t>[1, 2, 3]</a:t>
            </a:r>
            <a:r>
              <a:rPr lang="uk-UA" sz="1800" dirty="0">
                <a:latin typeface="Courier"/>
                <a:cs typeface="Courier"/>
              </a:rPr>
              <a:t>'</a:t>
            </a:r>
            <a:endParaRPr lang="ro-RO" sz="1800" dirty="0">
              <a:solidFill>
                <a:prstClr val="black"/>
              </a:solidFill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1315554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édian">
  <a:themeElements>
    <a:clrScheme name="Mé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édian">
      <a:majorFont>
        <a:latin typeface="Tw Cen MT"/>
        <a:ea typeface=""/>
        <a:cs typeface=""/>
        <a:font script="Grek" typeface="Calibri"/>
        <a:font script="Cyrl" typeface="Calibri"/>
        <a:font script="Jpan" typeface="ＭＳ Ｐゴシック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ＭＳ Ｐゴシック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é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Médian.thmx</Template>
  <TotalTime>6033</TotalTime>
  <Words>3348</Words>
  <Application>Microsoft Macintosh PowerPoint</Application>
  <PresentationFormat>On-screen Show (4:3)</PresentationFormat>
  <Paragraphs>622</Paragraphs>
  <Slides>69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69</vt:i4>
      </vt:variant>
    </vt:vector>
  </HeadingPairs>
  <TitlesOfParts>
    <vt:vector size="79" baseType="lpstr">
      <vt:lpstr>ＭＳ Ｐゴシック</vt:lpstr>
      <vt:lpstr>Arial</vt:lpstr>
      <vt:lpstr>Courier</vt:lpstr>
      <vt:lpstr>Courier-Bold</vt:lpstr>
      <vt:lpstr>Symbol</vt:lpstr>
      <vt:lpstr>Times</vt:lpstr>
      <vt:lpstr>Tw Cen MT</vt:lpstr>
      <vt:lpstr>Wingdings</vt:lpstr>
      <vt:lpstr>Wingdings 2</vt:lpstr>
      <vt:lpstr>Médian</vt:lpstr>
      <vt:lpstr>Chapitre 4 Les types de base – Partie 2</vt:lpstr>
      <vt:lpstr>Les chaînes de caractères</vt:lpstr>
      <vt:lpstr>Les chaînes de caractères</vt:lpstr>
      <vt:lpstr>Les chaînes de caractères</vt:lpstr>
      <vt:lpstr>Les chaînes de caractères</vt:lpstr>
      <vt:lpstr>Les chaînes de caractères</vt:lpstr>
      <vt:lpstr>Les chaînes de caractères</vt:lpstr>
      <vt:lpstr>Les chaînes de caractères</vt:lpstr>
      <vt:lpstr>Les chaînes de caractères</vt:lpstr>
      <vt:lpstr>Les chaînes de caractères</vt:lpstr>
      <vt:lpstr>Les chaînes de caractères</vt:lpstr>
      <vt:lpstr>Les chaînes de caractères</vt:lpstr>
      <vt:lpstr>Les chaînes de caractères</vt:lpstr>
      <vt:lpstr>Les chaînes de caractères</vt:lpstr>
      <vt:lpstr>Les chaînes de caractères</vt:lpstr>
      <vt:lpstr>Les chaînes de caractères</vt:lpstr>
      <vt:lpstr>Les chaînes de caractères</vt:lpstr>
      <vt:lpstr>Programme (faire démo)</vt:lpstr>
      <vt:lpstr>Programme (faire démo)</vt:lpstr>
      <vt:lpstr>Les listes</vt:lpstr>
      <vt:lpstr>Les listes</vt:lpstr>
      <vt:lpstr>Les listes</vt:lpstr>
      <vt:lpstr>Les listes</vt:lpstr>
      <vt:lpstr>Les listes</vt:lpstr>
      <vt:lpstr>Les listes</vt:lpstr>
      <vt:lpstr>Les listes</vt:lpstr>
      <vt:lpstr>Les listes</vt:lpstr>
      <vt:lpstr>Les listes</vt:lpstr>
      <vt:lpstr>Les listes</vt:lpstr>
      <vt:lpstr>Les listes</vt:lpstr>
      <vt:lpstr>Les listes</vt:lpstr>
      <vt:lpstr>Les listes</vt:lpstr>
      <vt:lpstr>Les listes</vt:lpstr>
      <vt:lpstr>Les listes</vt:lpstr>
      <vt:lpstr>Les listes</vt:lpstr>
      <vt:lpstr>Les listes</vt:lpstr>
      <vt:lpstr>Les listes</vt:lpstr>
      <vt:lpstr>Les listes</vt:lpstr>
      <vt:lpstr>Les listes</vt:lpstr>
      <vt:lpstr>Les listes</vt:lpstr>
      <vt:lpstr>Les listes</vt:lpstr>
      <vt:lpstr>Les listes</vt:lpstr>
      <vt:lpstr>Programme (faire démo)</vt:lpstr>
      <vt:lpstr>Les tuples</vt:lpstr>
      <vt:lpstr>Les tuples</vt:lpstr>
      <vt:lpstr>Les tuples</vt:lpstr>
      <vt:lpstr>Les tuples</vt:lpstr>
      <vt:lpstr>Les tuples</vt:lpstr>
      <vt:lpstr>Les tuples</vt:lpstr>
      <vt:lpstr>Les dictionnaires</vt:lpstr>
      <vt:lpstr>Les dictionnaires</vt:lpstr>
      <vt:lpstr>Les dictionnaires</vt:lpstr>
      <vt:lpstr>Les dictionnaires</vt:lpstr>
      <vt:lpstr>Les dictionnaires</vt:lpstr>
      <vt:lpstr>Les dictionnaires</vt:lpstr>
      <vt:lpstr>Les dictionnaires</vt:lpstr>
      <vt:lpstr>Les dictionnaires</vt:lpstr>
      <vt:lpstr>Les dictionnaires</vt:lpstr>
      <vt:lpstr>Les dictionnaires</vt:lpstr>
      <vt:lpstr>Les dictionnaires</vt:lpstr>
      <vt:lpstr>Les dictionnaires</vt:lpstr>
      <vt:lpstr>Les dictionnaires</vt:lpstr>
      <vt:lpstr>Les dictionnaires</vt:lpstr>
      <vt:lpstr>Les dictionnaires</vt:lpstr>
      <vt:lpstr>Programme (faire démo)</vt:lpstr>
      <vt:lpstr>Programme (faire démo)</vt:lpstr>
      <vt:lpstr>Programme (faire démo)</vt:lpstr>
      <vt:lpstr>Transtypage </vt:lpstr>
      <vt:lpstr>Transtypage </vt:lpstr>
    </vt:vector>
  </TitlesOfParts>
  <Company>Université de Lausanne</Company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 INTRODUCTION</dc:title>
  <dc:creator>Campus Agreement</dc:creator>
  <cp:lastModifiedBy>Microsoft Office User</cp:lastModifiedBy>
  <cp:revision>1670</cp:revision>
  <cp:lastPrinted>2011-09-18T10:53:10Z</cp:lastPrinted>
  <dcterms:created xsi:type="dcterms:W3CDTF">2002-10-22T15:56:56Z</dcterms:created>
  <dcterms:modified xsi:type="dcterms:W3CDTF">2018-10-17T18:24:45Z</dcterms:modified>
</cp:coreProperties>
</file>