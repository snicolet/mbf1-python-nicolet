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7"/>
  </p:notesMasterIdLst>
  <p:handoutMasterIdLst>
    <p:handoutMasterId r:id="rId18"/>
  </p:handoutMasterIdLst>
  <p:sldIdLst>
    <p:sldId id="375" r:id="rId2"/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8" r:id="rId11"/>
    <p:sldId id="385" r:id="rId12"/>
    <p:sldId id="387" r:id="rId13"/>
    <p:sldId id="386" r:id="rId14"/>
    <p:sldId id="389" r:id="rId15"/>
    <p:sldId id="390" r:id="rId16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CCFF"/>
    <a:srgbClr val="99FFCC"/>
    <a:srgbClr val="CCFFFF"/>
    <a:srgbClr val="FF00FF"/>
    <a:srgbClr val="FF0000"/>
    <a:srgbClr val="0099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>
        <p:scale>
          <a:sx n="125" d="100"/>
          <a:sy n="125" d="100"/>
        </p:scale>
        <p:origin x="-920" y="-2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 smtClean="0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CH" smtClean="0"/>
              <a:t>Deuxième niveau</a:t>
            </a:r>
          </a:p>
          <a:p>
            <a:pPr lvl="2" eaLnBrk="1" latinLnBrk="0" hangingPunct="1"/>
            <a:r>
              <a:rPr kumimoji="0" lang="fr-CH" smtClean="0"/>
              <a:t>Troisième niveau</a:t>
            </a:r>
          </a:p>
          <a:p>
            <a:pPr lvl="3" eaLnBrk="1" latinLnBrk="0" hangingPunct="1"/>
            <a:r>
              <a:rPr kumimoji="0" lang="fr-CH" smtClean="0"/>
              <a:t>Quatrième niveau</a:t>
            </a:r>
          </a:p>
          <a:p>
            <a:pPr lvl="4" eaLnBrk="1" latinLnBrk="0" hangingPunct="1"/>
            <a:r>
              <a:rPr kumimoji="0" lang="fr-CH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 smtClean="0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dirty="0" smtClean="0"/>
              <a:t>UNIL - Informatique I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mtClean="0"/>
              <a:t>Chapitre </a:t>
            </a:r>
            <a:r>
              <a:rPr lang="fr-FR" smtClean="0"/>
              <a:t>8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gestion des exceptions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Programmation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78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Exceptions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997152"/>
          </a:xfrm>
        </p:spPr>
        <p:txBody>
          <a:bodyPr>
            <a:normAutofit lnSpcReduction="10000"/>
          </a:bodyPr>
          <a:lstStyle/>
          <a:p>
            <a:r>
              <a:rPr lang="fr-FR" dirty="0" smtClean="0"/>
              <a:t>L’exécution de programmes Python peut déboucher sur divers types d’erreurs. Par exemple, des erreurs surviennent pour signaler :</a:t>
            </a:r>
          </a:p>
          <a:p>
            <a:pPr lvl="1"/>
            <a:r>
              <a:rPr lang="fr-FR" dirty="0" smtClean="0"/>
              <a:t>une interdiction de diviser un nombre par 0</a:t>
            </a:r>
          </a:p>
          <a:p>
            <a:pPr lvl="1"/>
            <a:r>
              <a:rPr lang="fr-FR" dirty="0" smtClean="0"/>
              <a:t>une interdiction d’additionner un nombre et une chaîne</a:t>
            </a:r>
          </a:p>
          <a:p>
            <a:pPr lvl="1"/>
            <a:r>
              <a:rPr lang="fr-FR" dirty="0" smtClean="0"/>
              <a:t>plus généralement, une interdiction d’appliquer certains opérateurs sur des variables de types différents</a:t>
            </a:r>
          </a:p>
          <a:p>
            <a:pPr lvl="1"/>
            <a:r>
              <a:rPr lang="fr-FR" dirty="0" smtClean="0"/>
              <a:t>un appel à des indices de listes ou de chaînes inappropriés</a:t>
            </a:r>
          </a:p>
          <a:p>
            <a:pPr lvl="1"/>
            <a:r>
              <a:rPr lang="fr-FR" dirty="0" smtClean="0"/>
              <a:t>des utilisations de méthodes inexistantes ou inadéquates</a:t>
            </a:r>
          </a:p>
          <a:p>
            <a:pPr lvl="1"/>
            <a:r>
              <a:rPr lang="fr-FR" dirty="0" err="1" smtClean="0"/>
              <a:t>etc</a:t>
            </a:r>
            <a:r>
              <a:rPr lang="is-IS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52234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Exceptions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639872" cy="499715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bg-BG" sz="7200" dirty="0">
                <a:solidFill>
                  <a:srgbClr val="666666"/>
                </a:solidFill>
                <a:latin typeface="Courier"/>
                <a:cs typeface="Courier"/>
              </a:rPr>
              <a:t>&gt;&gt;&gt;</a:t>
            </a:r>
            <a:r>
              <a:rPr lang="bg-BG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bg-BG" sz="7200" dirty="0" smtClean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fr-CH" sz="7200" dirty="0" smtClean="0">
                <a:solidFill>
                  <a:srgbClr val="666666"/>
                </a:solidFill>
                <a:latin typeface="Courier"/>
                <a:cs typeface="Courier"/>
              </a:rPr>
              <a:t> </a:t>
            </a:r>
            <a:r>
              <a:rPr lang="bg-BG" sz="7200" dirty="0" smtClean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CH" sz="7200" dirty="0" smtClean="0">
                <a:solidFill>
                  <a:srgbClr val="666666"/>
                </a:solidFill>
                <a:latin typeface="Courier"/>
                <a:cs typeface="Courier"/>
              </a:rPr>
              <a:t> </a:t>
            </a:r>
            <a:r>
              <a:rPr lang="bg-BG" sz="7200" dirty="0" smtClean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endParaRPr lang="bg-BG" sz="7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7200" dirty="0" err="1">
                <a:solidFill>
                  <a:prstClr val="black"/>
                </a:solidFill>
                <a:latin typeface="Courier"/>
                <a:cs typeface="Courier"/>
              </a:rPr>
              <a:t>Traceback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7200" dirty="0" err="1">
                <a:solidFill>
                  <a:prstClr val="black"/>
                </a:solidFill>
                <a:latin typeface="Courier"/>
                <a:cs typeface="Courier"/>
              </a:rPr>
              <a:t>most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7200" dirty="0" err="1">
                <a:solidFill>
                  <a:prstClr val="black"/>
                </a:solidFill>
                <a:latin typeface="Courier"/>
                <a:cs typeface="Courier"/>
              </a:rPr>
              <a:t>recent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 call last):</a:t>
            </a:r>
          </a:p>
          <a:p>
            <a:pPr marL="0" indent="0">
              <a:buNone/>
            </a:pP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  File </a:t>
            </a:r>
            <a:r>
              <a:rPr lang="fr-FR" sz="7200" dirty="0">
                <a:solidFill>
                  <a:srgbClr val="BA2121"/>
                </a:solidFill>
                <a:latin typeface="Courier"/>
                <a:cs typeface="Courier"/>
              </a:rPr>
              <a:t>"&lt;</a:t>
            </a:r>
            <a:r>
              <a:rPr lang="fr-FR" sz="7200" dirty="0" err="1">
                <a:solidFill>
                  <a:srgbClr val="BA2121"/>
                </a:solidFill>
                <a:latin typeface="Courier"/>
                <a:cs typeface="Courier"/>
              </a:rPr>
              <a:t>stdin</a:t>
            </a:r>
            <a:r>
              <a:rPr lang="fr-FR" sz="7200" dirty="0">
                <a:solidFill>
                  <a:srgbClr val="BA2121"/>
                </a:solidFill>
                <a:latin typeface="Courier"/>
                <a:cs typeface="Courier"/>
              </a:rPr>
              <a:t>&gt;"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, line </a:t>
            </a:r>
            <a:r>
              <a:rPr lang="fr-FR" sz="72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72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72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module</a:t>
            </a:r>
            <a:r>
              <a:rPr lang="fr-FR" sz="7200" dirty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endParaRPr lang="fr-FR" sz="7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7200" b="1" dirty="0" err="1">
                <a:solidFill>
                  <a:srgbClr val="D2413A"/>
                </a:solidFill>
                <a:latin typeface="Courier"/>
                <a:cs typeface="Courier"/>
              </a:rPr>
              <a:t>ZeroDivisionError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7200" dirty="0" err="1">
                <a:solidFill>
                  <a:prstClr val="black"/>
                </a:solidFill>
                <a:latin typeface="Courier"/>
                <a:cs typeface="Courier"/>
              </a:rPr>
              <a:t>integer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 division </a:t>
            </a:r>
            <a:r>
              <a:rPr lang="fr-FR" sz="7200" b="1" dirty="0">
                <a:solidFill>
                  <a:srgbClr val="AA22FF"/>
                </a:solidFill>
                <a:latin typeface="Courier"/>
                <a:cs typeface="Courier"/>
              </a:rPr>
              <a:t>or</a:t>
            </a:r>
            <a:r>
              <a:rPr lang="fr-FR" sz="7200" dirty="0">
                <a:solidFill>
                  <a:prstClr val="black"/>
                </a:solidFill>
                <a:latin typeface="Courier"/>
                <a:cs typeface="Courier"/>
              </a:rPr>
              <a:t> modulo by </a:t>
            </a:r>
            <a:r>
              <a:rPr lang="fr-FR" sz="7200" dirty="0" err="1">
                <a:solidFill>
                  <a:prstClr val="black"/>
                </a:solidFill>
                <a:latin typeface="Courier"/>
                <a:cs typeface="Courier"/>
              </a:rPr>
              <a:t>zero</a:t>
            </a:r>
            <a:endParaRPr lang="fr-FR" sz="7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7200" dirty="0">
                <a:solidFill>
                  <a:srgbClr val="666666"/>
                </a:solidFill>
                <a:latin typeface="Courier"/>
                <a:cs typeface="Courier"/>
              </a:rPr>
              <a:t>&gt;&gt;&gt;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72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72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7200" dirty="0">
                <a:solidFill>
                  <a:srgbClr val="BA2121"/>
                </a:solidFill>
                <a:latin typeface="Courier"/>
                <a:cs typeface="Courier"/>
              </a:rPr>
              <a:t>"a"</a:t>
            </a:r>
            <a:endParaRPr lang="en-US" sz="7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7200" dirty="0" err="1">
                <a:solidFill>
                  <a:prstClr val="black"/>
                </a:solidFill>
                <a:latin typeface="Courier"/>
                <a:cs typeface="Courier"/>
              </a:rPr>
              <a:t>Traceback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 (most recent call last):</a:t>
            </a:r>
          </a:p>
          <a:p>
            <a:pPr marL="0" indent="0">
              <a:buNone/>
            </a:pP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  File </a:t>
            </a:r>
            <a:r>
              <a:rPr lang="en-US" sz="7200" dirty="0">
                <a:solidFill>
                  <a:srgbClr val="BA2121"/>
                </a:solidFill>
                <a:latin typeface="Courier"/>
                <a:cs typeface="Courier"/>
              </a:rPr>
              <a:t>"&lt;</a:t>
            </a:r>
            <a:r>
              <a:rPr lang="en-US" sz="7200" dirty="0" err="1">
                <a:solidFill>
                  <a:srgbClr val="BA2121"/>
                </a:solidFill>
                <a:latin typeface="Courier"/>
                <a:cs typeface="Courier"/>
              </a:rPr>
              <a:t>stdin</a:t>
            </a:r>
            <a:r>
              <a:rPr lang="en-US" sz="7200" dirty="0">
                <a:solidFill>
                  <a:srgbClr val="BA2121"/>
                </a:solidFill>
                <a:latin typeface="Courier"/>
                <a:cs typeface="Courier"/>
              </a:rPr>
              <a:t>&gt;"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, line </a:t>
            </a:r>
            <a:r>
              <a:rPr lang="en-US" sz="72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72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72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module</a:t>
            </a:r>
            <a:r>
              <a:rPr lang="en-US" sz="7200" dirty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endParaRPr lang="en-US" sz="7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7200" b="1" dirty="0" err="1">
                <a:solidFill>
                  <a:srgbClr val="D2413A"/>
                </a:solidFill>
                <a:latin typeface="Courier"/>
                <a:cs typeface="Courier"/>
              </a:rPr>
              <a:t>TypeError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: unsupported operand </a:t>
            </a:r>
            <a:r>
              <a:rPr lang="en-US" sz="72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(s) </a:t>
            </a:r>
            <a:r>
              <a:rPr lang="en-US" sz="72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72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en-US" sz="7200" dirty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en-US" sz="7200" dirty="0" err="1">
                <a:solidFill>
                  <a:srgbClr val="BA2121"/>
                </a:solidFill>
                <a:latin typeface="Courier"/>
                <a:cs typeface="Courier"/>
              </a:rPr>
              <a:t>int</a:t>
            </a:r>
            <a:r>
              <a:rPr lang="en-US" sz="7200" dirty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7200" b="1" dirty="0" smtClean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en-US" sz="7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7200" dirty="0" smtClean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en-US" sz="7200" dirty="0" err="1" smtClean="0">
                <a:solidFill>
                  <a:srgbClr val="BA2121"/>
                </a:solidFill>
                <a:latin typeface="Courier"/>
                <a:cs typeface="Courier"/>
              </a:rPr>
              <a:t>str</a:t>
            </a:r>
            <a:r>
              <a:rPr lang="en-US" sz="7200" dirty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endParaRPr lang="en-US" sz="7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7200" dirty="0" smtClean="0">
                <a:solidFill>
                  <a:srgbClr val="666666"/>
                </a:solidFill>
                <a:latin typeface="Courier"/>
                <a:cs typeface="Courier"/>
              </a:rPr>
              <a:t>&gt;&gt;&gt;</a:t>
            </a:r>
            <a:r>
              <a:rPr lang="pt-BR" sz="7200" dirty="0" smtClean="0">
                <a:solidFill>
                  <a:prstClr val="black"/>
                </a:solidFill>
                <a:latin typeface="Courier"/>
                <a:cs typeface="Courier"/>
              </a:rPr>
              <a:t> l </a:t>
            </a:r>
            <a:r>
              <a:rPr lang="pt-BR" sz="7200" dirty="0" smtClean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7200" dirty="0" smtClean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pt-BR" sz="7200" dirty="0" smtClean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pt-BR" sz="7200" dirty="0" smtClean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pt-BR" sz="7200" dirty="0" smtClean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pt-BR" sz="7200" dirty="0" smtClean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pt-BR" sz="7200" dirty="0" smtClean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7200" dirty="0" smtClean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es-ES_tradnl" sz="7200" dirty="0" smtClean="0">
                <a:solidFill>
                  <a:srgbClr val="666666"/>
                </a:solidFill>
                <a:latin typeface="Courier"/>
                <a:cs typeface="Courier"/>
              </a:rPr>
              <a:t>&gt;&gt;&gt;</a:t>
            </a:r>
            <a:r>
              <a:rPr lang="es-ES_tradnl" sz="7200" dirty="0" smtClean="0">
                <a:solidFill>
                  <a:prstClr val="black"/>
                </a:solidFill>
                <a:latin typeface="Courier"/>
                <a:cs typeface="Courier"/>
              </a:rPr>
              <a:t> l </a:t>
            </a:r>
            <a:r>
              <a:rPr lang="es-ES_tradnl" sz="7200" dirty="0" smtClean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7200" dirty="0" smtClean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s-ES_tradnl" sz="7200" dirty="0" smtClean="0">
                <a:solidFill>
                  <a:srgbClr val="BA2121"/>
                </a:solidFill>
                <a:latin typeface="Courier"/>
                <a:cs typeface="Courier"/>
              </a:rPr>
              <a:t>"a"</a:t>
            </a:r>
            <a:r>
              <a:rPr lang="es-ES_tradnl" sz="72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s-ES_tradnl" sz="7200" dirty="0" smtClean="0">
                <a:solidFill>
                  <a:srgbClr val="BA2121"/>
                </a:solidFill>
                <a:latin typeface="Courier"/>
                <a:cs typeface="Courier"/>
              </a:rPr>
              <a:t>"b"</a:t>
            </a:r>
            <a:r>
              <a:rPr lang="es-ES_tradnl" sz="72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s-ES_tradnl" sz="7200" dirty="0" smtClean="0">
                <a:solidFill>
                  <a:srgbClr val="BA2121"/>
                </a:solidFill>
                <a:latin typeface="Courier"/>
                <a:cs typeface="Courier"/>
              </a:rPr>
              <a:t>"c"</a:t>
            </a:r>
            <a:r>
              <a:rPr lang="es-ES_tradnl" sz="7200" dirty="0" smtClean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rgbClr val="666666"/>
                </a:solidFill>
                <a:latin typeface="Courier"/>
                <a:cs typeface="Courier"/>
              </a:rPr>
              <a:t>&gt;&gt;&gt;</a:t>
            </a: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 l[</a:t>
            </a:r>
            <a:r>
              <a:rPr lang="en-US" sz="7200" dirty="0" smtClean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en-US" sz="7200" dirty="0" err="1" smtClean="0">
                <a:solidFill>
                  <a:prstClr val="black"/>
                </a:solidFill>
                <a:latin typeface="Courier"/>
                <a:cs typeface="Courier"/>
              </a:rPr>
              <a:t>Traceback</a:t>
            </a: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 (most recent call last):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  File </a:t>
            </a:r>
            <a:r>
              <a:rPr lang="en-US" sz="7200" dirty="0" smtClean="0">
                <a:solidFill>
                  <a:srgbClr val="BA2121"/>
                </a:solidFill>
                <a:latin typeface="Courier"/>
                <a:cs typeface="Courier"/>
              </a:rPr>
              <a:t>"&lt;</a:t>
            </a:r>
            <a:r>
              <a:rPr lang="en-US" sz="7200" dirty="0" err="1" smtClean="0">
                <a:solidFill>
                  <a:srgbClr val="BA2121"/>
                </a:solidFill>
                <a:latin typeface="Courier"/>
                <a:cs typeface="Courier"/>
              </a:rPr>
              <a:t>stdin</a:t>
            </a:r>
            <a:r>
              <a:rPr lang="en-US" sz="7200" dirty="0" smtClean="0">
                <a:solidFill>
                  <a:srgbClr val="BA2121"/>
                </a:solidFill>
                <a:latin typeface="Courier"/>
                <a:cs typeface="Courier"/>
              </a:rPr>
              <a:t>&gt;"</a:t>
            </a: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, line </a:t>
            </a:r>
            <a:r>
              <a:rPr lang="en-US" sz="7200" dirty="0" smtClean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7200" b="1" dirty="0" smtClean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7200" dirty="0" smtClean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module</a:t>
            </a:r>
            <a:r>
              <a:rPr lang="en-US" sz="7200" dirty="0" smtClean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endParaRPr lang="en-US" sz="72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7200" b="1" dirty="0" err="1" smtClean="0">
                <a:solidFill>
                  <a:srgbClr val="D2413A"/>
                </a:solidFill>
                <a:latin typeface="Courier"/>
                <a:cs typeface="Courier"/>
              </a:rPr>
              <a:t>IndexError</a:t>
            </a: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en-US" sz="7200" dirty="0" smtClean="0">
                <a:solidFill>
                  <a:srgbClr val="008000"/>
                </a:solidFill>
                <a:latin typeface="Courier"/>
                <a:cs typeface="Courier"/>
              </a:rPr>
              <a:t>list</a:t>
            </a:r>
            <a:r>
              <a:rPr lang="en-US" sz="7200" dirty="0" smtClean="0">
                <a:solidFill>
                  <a:prstClr val="black"/>
                </a:solidFill>
                <a:latin typeface="Courier"/>
                <a:cs typeface="Courier"/>
              </a:rPr>
              <a:t> index out of </a:t>
            </a:r>
            <a:r>
              <a:rPr lang="en-US" sz="7200" dirty="0" smtClean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endParaRPr lang="en-US" sz="7200" dirty="0" smtClean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339916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Exceptions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99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solidFill>
                  <a:srgbClr val="666666"/>
                </a:solidFill>
                <a:latin typeface="Courier"/>
                <a:cs typeface="Courier"/>
              </a:rPr>
              <a:t>&gt;&gt;&gt;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</a:t>
            </a:r>
            <a:r>
              <a:rPr lang="en-US" sz="1800" dirty="0" err="1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ma_methode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()</a:t>
            </a:r>
          </a:p>
          <a:p>
            <a:pPr marL="0" indent="0">
              <a:buNone/>
            </a:pP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Traceback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(most recent call last):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File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"&lt;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stdin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&gt;"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, line </a:t>
            </a:r>
            <a:r>
              <a:rPr lang="en-US" sz="1800" dirty="0" smtClean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b="1" dirty="0" smtClean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module</a:t>
            </a:r>
            <a:r>
              <a:rPr lang="en-US" sz="1800" dirty="0" smtClean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err="1" smtClean="0">
                <a:solidFill>
                  <a:srgbClr val="D2413A"/>
                </a:solidFill>
                <a:latin typeface="Courier"/>
                <a:cs typeface="Courier"/>
              </a:rPr>
              <a:t>AttributeError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'list'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object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has no attribute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ma_methode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&gt;&gt;&gt;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d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{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: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"a"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: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"b"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}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srgbClr val="666666"/>
                </a:solidFill>
                <a:latin typeface="Courier"/>
                <a:cs typeface="Courier"/>
              </a:rPr>
              <a:t>&gt;&gt;&gt;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d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 smtClean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Traceback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most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recent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call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last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 File </a:t>
            </a:r>
            <a:r>
              <a:rPr lang="pt-BR" sz="1800" dirty="0" smtClean="0">
                <a:solidFill>
                  <a:srgbClr val="BA2121"/>
                </a:solidFill>
                <a:latin typeface="Courier"/>
                <a:cs typeface="Courier"/>
              </a:rPr>
              <a:t>"&lt;</a:t>
            </a:r>
            <a:r>
              <a:rPr lang="pt-BR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stdin</a:t>
            </a:r>
            <a:r>
              <a:rPr lang="pt-BR" sz="1800" dirty="0" smtClean="0">
                <a:solidFill>
                  <a:srgbClr val="BA2121"/>
                </a:solidFill>
                <a:latin typeface="Courier"/>
                <a:cs typeface="Courier"/>
              </a:rPr>
              <a:t>&gt;"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line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smtClean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pt-BR" sz="1800" b="1" dirty="0" smtClean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smtClean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module</a:t>
            </a:r>
            <a:r>
              <a:rPr lang="pt-BR" sz="1800" dirty="0" smtClean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endParaRPr lang="pt-B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b="1" dirty="0" err="1" smtClean="0">
                <a:solidFill>
                  <a:srgbClr val="D2413A"/>
                </a:solidFill>
                <a:latin typeface="Courier"/>
                <a:cs typeface="Courier"/>
              </a:rPr>
              <a:t>KeyError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pt-BR" sz="1800" dirty="0" smtClean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7296046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Exceptions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997152"/>
          </a:xfrm>
        </p:spPr>
        <p:txBody>
          <a:bodyPr>
            <a:normAutofit lnSpcReduction="10000"/>
          </a:bodyPr>
          <a:lstStyle/>
          <a:p>
            <a:r>
              <a:rPr lang="fr-CH" dirty="0" smtClean="0"/>
              <a:t>Dans ces exemples, on voit apparâitre des erreurs de types différents :</a:t>
            </a:r>
          </a:p>
          <a:p>
            <a:pPr lvl="1"/>
            <a:r>
              <a:rPr lang="fr-FR" sz="2400" b="1" dirty="0" err="1" smtClean="0">
                <a:solidFill>
                  <a:srgbClr val="D2413A"/>
                </a:solidFill>
                <a:latin typeface="Courier"/>
                <a:cs typeface="Courier"/>
              </a:rPr>
              <a:t>ZeroDivisionError</a:t>
            </a:r>
            <a:endParaRPr lang="fr-FR" sz="2400" b="1" dirty="0" smtClean="0">
              <a:solidFill>
                <a:srgbClr val="D2413A"/>
              </a:solidFill>
              <a:latin typeface="Courier"/>
              <a:cs typeface="Courier"/>
            </a:endParaRPr>
          </a:p>
          <a:p>
            <a:pPr lvl="1"/>
            <a:r>
              <a:rPr lang="fr-FR" sz="2400" b="1" dirty="0" err="1" smtClean="0">
                <a:solidFill>
                  <a:srgbClr val="D2413A"/>
                </a:solidFill>
                <a:latin typeface="Courier"/>
                <a:cs typeface="Courier"/>
              </a:rPr>
              <a:t>TypeError</a:t>
            </a:r>
            <a:endParaRPr lang="fr-FR" sz="2400" b="1" dirty="0" smtClean="0">
              <a:solidFill>
                <a:srgbClr val="D2413A"/>
              </a:solidFill>
              <a:latin typeface="Courier"/>
              <a:cs typeface="Courier"/>
            </a:endParaRPr>
          </a:p>
          <a:p>
            <a:pPr lvl="1"/>
            <a:r>
              <a:rPr lang="fr-FR" sz="2400" b="1" dirty="0" err="1" smtClean="0">
                <a:solidFill>
                  <a:srgbClr val="D2413A"/>
                </a:solidFill>
                <a:latin typeface="Courier"/>
                <a:cs typeface="Courier"/>
              </a:rPr>
              <a:t>IndexError</a:t>
            </a:r>
            <a:endParaRPr lang="fr-FR" sz="2400" b="1" dirty="0" smtClean="0">
              <a:solidFill>
                <a:srgbClr val="D2413A"/>
              </a:solidFill>
              <a:latin typeface="Courier"/>
              <a:cs typeface="Courier"/>
            </a:endParaRPr>
          </a:p>
          <a:p>
            <a:pPr lvl="1"/>
            <a:r>
              <a:rPr lang="fr-FR" sz="2400" b="1" dirty="0" err="1" smtClean="0">
                <a:solidFill>
                  <a:srgbClr val="D2413A"/>
                </a:solidFill>
                <a:latin typeface="Courier"/>
                <a:cs typeface="Courier"/>
              </a:rPr>
              <a:t>AttributeError</a:t>
            </a:r>
            <a:endParaRPr lang="fr-FR" sz="2400" b="1" dirty="0" smtClean="0">
              <a:solidFill>
                <a:srgbClr val="D2413A"/>
              </a:solidFill>
              <a:latin typeface="Courier"/>
              <a:cs typeface="Courier"/>
            </a:endParaRPr>
          </a:p>
          <a:p>
            <a:pPr lvl="1"/>
            <a:r>
              <a:rPr lang="fr-FR" sz="2400" b="1" dirty="0" err="1" smtClean="0">
                <a:solidFill>
                  <a:srgbClr val="D2413A"/>
                </a:solidFill>
                <a:latin typeface="Courier"/>
                <a:cs typeface="Courier"/>
              </a:rPr>
              <a:t>KeyError</a:t>
            </a:r>
            <a:endParaRPr lang="fr-FR" sz="2400" b="1" dirty="0" smtClean="0">
              <a:solidFill>
                <a:srgbClr val="D2413A"/>
              </a:solidFill>
              <a:latin typeface="Courier"/>
              <a:cs typeface="Courier"/>
            </a:endParaRPr>
          </a:p>
          <a:p>
            <a:pPr lvl="1"/>
            <a:r>
              <a:rPr lang="fr-FR" sz="2400" b="1" dirty="0" smtClean="0">
                <a:solidFill>
                  <a:srgbClr val="D2413A"/>
                </a:solidFill>
                <a:latin typeface="Courier"/>
                <a:cs typeface="Courier"/>
              </a:rPr>
              <a:t>...</a:t>
            </a:r>
          </a:p>
          <a:p>
            <a:r>
              <a:rPr lang="fr-CH" dirty="0" smtClean="0"/>
              <a:t>L’ensemble et la hiérarchisation des </a:t>
            </a:r>
            <a:r>
              <a:rPr lang="fr-CH" dirty="0"/>
              <a:t>types d’erreurs est donnée à </a:t>
            </a:r>
            <a:r>
              <a:rPr lang="fr-CH" dirty="0" smtClean="0"/>
              <a:t>l’adresse :</a:t>
            </a:r>
            <a:endParaRPr lang="fr-CH" dirty="0"/>
          </a:p>
          <a:p>
            <a:pPr marL="0" indent="0" algn="ctr">
              <a:buNone/>
            </a:pPr>
            <a:r>
              <a:rPr lang="fr-CH" dirty="0"/>
              <a:t>https://docs.python.org/2/library/exceptions.html</a:t>
            </a:r>
          </a:p>
          <a:p>
            <a:pPr lvl="1"/>
            <a:endParaRPr lang="fr-CH" sz="2400" dirty="0" smtClean="0"/>
          </a:p>
        </p:txBody>
      </p:sp>
    </p:spTree>
    <p:extLst>
      <p:ext uri="{BB962C8B-B14F-4D97-AF65-F5344CB8AC3E}">
        <p14:creationId xmlns:p14="http://schemas.microsoft.com/office/powerpoint/2010/main" val="4224561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Exceptions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997152"/>
          </a:xfrm>
        </p:spPr>
        <p:txBody>
          <a:bodyPr>
            <a:normAutofit/>
          </a:bodyPr>
          <a:lstStyle/>
          <a:p>
            <a:r>
              <a:rPr lang="fr-CH" dirty="0" smtClean="0"/>
              <a:t>Une </a:t>
            </a:r>
            <a:r>
              <a:rPr lang="fr-CH" b="1" dirty="0" smtClean="0"/>
              <a:t>exception</a:t>
            </a:r>
            <a:r>
              <a:rPr lang="fr-CH" dirty="0" smtClean="0"/>
              <a:t> est une opération </a:t>
            </a:r>
            <a:r>
              <a:rPr lang="fr-CH" dirty="0"/>
              <a:t>qu’effectue un interpréteur ou un compilateur lorsqu’une erreur </a:t>
            </a:r>
            <a:r>
              <a:rPr lang="fr-CH" dirty="0" smtClean="0"/>
              <a:t>d’un certain type est </a:t>
            </a:r>
            <a:r>
              <a:rPr lang="fr-CH" dirty="0"/>
              <a:t>détectée au cours de l’exécution d’un programme. </a:t>
            </a:r>
            <a:endParaRPr lang="fr-CH" dirty="0" smtClean="0"/>
          </a:p>
          <a:p>
            <a:r>
              <a:rPr lang="fr-FR" dirty="0" smtClean="0"/>
              <a:t>Pour </a:t>
            </a:r>
            <a:r>
              <a:rPr lang="fr-FR" dirty="0"/>
              <a:t>simplifier le traitement des erreurs, il est possible d'associer un mécanisme de surveillance à tout ensemble d'instructions</a:t>
            </a:r>
            <a:r>
              <a:rPr lang="fr-FR" dirty="0" smtClean="0"/>
              <a:t>.</a:t>
            </a:r>
          </a:p>
          <a:p>
            <a:r>
              <a:rPr lang="fr-FR" dirty="0" smtClean="0"/>
              <a:t>Ce sont des mécanismes de traitement ou gestion des exceptions.</a:t>
            </a:r>
            <a:endParaRPr lang="fr-CH" dirty="0"/>
          </a:p>
          <a:p>
            <a:endParaRPr lang="fr-CH" dirty="0" smtClean="0"/>
          </a:p>
        </p:txBody>
      </p:sp>
    </p:spTree>
    <p:extLst>
      <p:ext uri="{BB962C8B-B14F-4D97-AF65-F5344CB8AC3E}">
        <p14:creationId xmlns:p14="http://schemas.microsoft.com/office/powerpoint/2010/main" val="2593299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instructions « </a:t>
            </a:r>
            <a:r>
              <a:rPr lang="fr-FR" dirty="0" err="1" smtClean="0"/>
              <a:t>try</a:t>
            </a:r>
            <a:r>
              <a:rPr lang="fr-FR" dirty="0" smtClean="0"/>
              <a:t> – </a:t>
            </a:r>
            <a:r>
              <a:rPr lang="fr-FR" dirty="0" err="1" smtClean="0"/>
              <a:t>except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4997152"/>
          </a:xfrm>
        </p:spPr>
        <p:txBody>
          <a:bodyPr>
            <a:normAutofit/>
          </a:bodyPr>
          <a:lstStyle/>
          <a:p>
            <a:r>
              <a:rPr lang="fr-CH" dirty="0" smtClean="0"/>
              <a:t>Le traitement d’une exception s’effectue via la synaxe suivante :</a:t>
            </a:r>
          </a:p>
          <a:p>
            <a:r>
              <a:rPr lang="fr-CH" dirty="0"/>
              <a:t>Pour cela, ou utilise la syntaxe : </a:t>
            </a: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try: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bloc d’istructiions 1</a:t>
            </a:r>
            <a:endParaRPr lang="is-IS" sz="2400" dirty="0" smtClean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is-IS" sz="2400" dirty="0" smtClean="0">
                <a:solidFill>
                  <a:srgbClr val="3366FF"/>
                </a:solidFill>
                <a:latin typeface="Courier"/>
                <a:cs typeface="Courier"/>
              </a:rPr>
              <a:t>except [type d’erreur]:</a:t>
            </a:r>
          </a:p>
          <a:p>
            <a:pPr marL="0" indent="0">
              <a:buNone/>
            </a:pP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is-IS" sz="2400" dirty="0" smtClean="0">
                <a:solidFill>
                  <a:srgbClr val="3366FF"/>
                </a:solidFill>
                <a:latin typeface="Courier"/>
                <a:cs typeface="Courier"/>
              </a:rPr>
              <a:t>	bloc d’instructions 2</a:t>
            </a:r>
          </a:p>
          <a:p>
            <a:r>
              <a:rPr lang="fr-CH" dirty="0" smtClean="0"/>
              <a:t>La spécification du type d’erreur est facultative.</a:t>
            </a:r>
          </a:p>
        </p:txBody>
      </p:sp>
    </p:spTree>
    <p:extLst>
      <p:ext uri="{BB962C8B-B14F-4D97-AF65-F5344CB8AC3E}">
        <p14:creationId xmlns:p14="http://schemas.microsoft.com/office/powerpoint/2010/main" val="798078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instructions « </a:t>
            </a:r>
            <a:r>
              <a:rPr lang="fr-FR" dirty="0" err="1" smtClean="0"/>
              <a:t>try</a:t>
            </a:r>
            <a:r>
              <a:rPr lang="fr-FR" dirty="0" smtClean="0"/>
              <a:t> – </a:t>
            </a:r>
            <a:r>
              <a:rPr lang="fr-FR" dirty="0" err="1" smtClean="0"/>
              <a:t>except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499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try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bloc d’istructiions 1</a:t>
            </a:r>
            <a:endParaRPr lang="is-IS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	except [type d’erreur]:</a:t>
            </a:r>
          </a:p>
          <a:p>
            <a:pPr marL="0" indent="0">
              <a:buNone/>
            </a:pP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		bloc d’instructions 2</a:t>
            </a:r>
            <a:endParaRPr lang="fr-CH" sz="2400" dirty="0" smtClean="0">
              <a:latin typeface="Courier"/>
              <a:cs typeface="Courier"/>
            </a:endParaRPr>
          </a:p>
          <a:p>
            <a:r>
              <a:rPr lang="fr-CH" dirty="0" smtClean="0"/>
              <a:t>Ces instruction se comprennent ainsi :</a:t>
            </a:r>
          </a:p>
          <a:p>
            <a:pPr lvl="1"/>
            <a:r>
              <a:rPr lang="fr-CH" dirty="0" smtClean="0"/>
              <a:t>essayer d’effectuer le bloc d’instruction qui suit le </a:t>
            </a:r>
            <a:r>
              <a:rPr lang="fr-CH" sz="2200" dirty="0" smtClean="0">
                <a:solidFill>
                  <a:srgbClr val="3366FF"/>
                </a:solidFill>
                <a:latin typeface="Courier"/>
                <a:cs typeface="Courier"/>
              </a:rPr>
              <a:t>try</a:t>
            </a:r>
            <a:r>
              <a:rPr lang="fr-CH" sz="2400" dirty="0"/>
              <a:t>;</a:t>
            </a:r>
            <a:endParaRPr lang="fr-CH" sz="2200" dirty="0" smtClean="0">
              <a:solidFill>
                <a:srgbClr val="3366FF"/>
              </a:solidFill>
              <a:latin typeface="Courier"/>
              <a:cs typeface="Courier"/>
            </a:endParaRPr>
          </a:p>
          <a:p>
            <a:pPr lvl="1"/>
            <a:r>
              <a:rPr lang="fr-CH" dirty="0" smtClean="0"/>
              <a:t>si une exception – d’un certain type </a:t>
            </a:r>
            <a:r>
              <a:rPr lang="is-IS" sz="2200" dirty="0">
                <a:solidFill>
                  <a:srgbClr val="3366FF"/>
                </a:solidFill>
                <a:latin typeface="Courier"/>
                <a:cs typeface="Courier"/>
              </a:rPr>
              <a:t>type d’erreur</a:t>
            </a:r>
            <a:r>
              <a:rPr lang="fr-CH" dirty="0" smtClean="0"/>
              <a:t> spécifié ou non – est générée, exécuter le bloc d’instructions qui suit le </a:t>
            </a:r>
            <a:r>
              <a:rPr lang="fr-CH" sz="2200" dirty="0" smtClean="0">
                <a:solidFill>
                  <a:srgbClr val="3366FF"/>
                </a:solidFill>
                <a:latin typeface="Courier"/>
                <a:cs typeface="Courier"/>
              </a:rPr>
              <a:t>except</a:t>
            </a:r>
            <a:r>
              <a:rPr lang="fr-CH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0686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instructions « </a:t>
            </a:r>
            <a:r>
              <a:rPr lang="fr-FR" dirty="0" err="1" smtClean="0"/>
              <a:t>try</a:t>
            </a:r>
            <a:r>
              <a:rPr lang="fr-FR" dirty="0" smtClean="0"/>
              <a:t> – </a:t>
            </a:r>
            <a:r>
              <a:rPr lang="fr-FR" dirty="0" err="1" smtClean="0"/>
              <a:t>except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5141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nombre: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nombre: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try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(b)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except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"Division par 0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interdite..."</a:t>
            </a:r>
          </a:p>
        </p:txBody>
      </p:sp>
    </p:spTree>
    <p:extLst>
      <p:ext uri="{BB962C8B-B14F-4D97-AF65-F5344CB8AC3E}">
        <p14:creationId xmlns:p14="http://schemas.microsoft.com/office/powerpoint/2010/main" val="4135767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instructions « </a:t>
            </a:r>
            <a:r>
              <a:rPr lang="fr-FR" dirty="0" err="1" smtClean="0"/>
              <a:t>try</a:t>
            </a:r>
            <a:r>
              <a:rPr lang="fr-FR" dirty="0" smtClean="0"/>
              <a:t> – </a:t>
            </a:r>
            <a:r>
              <a:rPr lang="fr-FR" dirty="0" err="1" smtClean="0"/>
              <a:t>except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5141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err="1" smtClean="0">
                <a:solidFill>
                  <a:prstClr val="black"/>
                </a:solidFill>
                <a:latin typeface="Courier"/>
                <a:cs typeface="Courier"/>
              </a:rPr>
              <a:t>Executions</a:t>
            </a:r>
            <a:endParaRPr lang="fr-FR" sz="1800" b="1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Entrer un nombre: 1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Entrer un nombre: 2</a:t>
            </a:r>
          </a:p>
          <a:p>
            <a:pPr marL="0" indent="0">
              <a:buNone/>
            </a:pPr>
            <a:r>
              <a:rPr lang="nb-NO" sz="1800" dirty="0" smtClean="0">
                <a:latin typeface="Courier"/>
                <a:cs typeface="Courier"/>
              </a:rPr>
              <a:t>0.5</a:t>
            </a:r>
          </a:p>
          <a:p>
            <a:pPr marL="0" indent="0">
              <a:buNone/>
            </a:pPr>
            <a:endParaRPr lang="nb-NO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b-NO" sz="1800" dirty="0">
                <a:latin typeface="Courier"/>
                <a:cs typeface="Courier"/>
              </a:rPr>
              <a:t>Entrer </a:t>
            </a:r>
            <a:r>
              <a:rPr lang="nb-NO" sz="1800" dirty="0" err="1">
                <a:latin typeface="Courier"/>
                <a:cs typeface="Courier"/>
              </a:rPr>
              <a:t>un</a:t>
            </a:r>
            <a:r>
              <a:rPr lang="nb-NO" sz="1800" dirty="0">
                <a:latin typeface="Courier"/>
                <a:cs typeface="Courier"/>
              </a:rPr>
              <a:t> </a:t>
            </a:r>
            <a:r>
              <a:rPr lang="nb-NO" sz="1800" dirty="0" err="1">
                <a:latin typeface="Courier"/>
                <a:cs typeface="Courier"/>
              </a:rPr>
              <a:t>nombre</a:t>
            </a:r>
            <a:r>
              <a:rPr lang="nb-NO" sz="1800" dirty="0">
                <a:latin typeface="Courier"/>
                <a:cs typeface="Courier"/>
              </a:rPr>
              <a:t>: 1</a:t>
            </a:r>
          </a:p>
          <a:p>
            <a:pPr marL="0" indent="0">
              <a:buNone/>
            </a:pPr>
            <a:r>
              <a:rPr lang="nb-NO" sz="1800" dirty="0">
                <a:latin typeface="Courier"/>
                <a:cs typeface="Courier"/>
              </a:rPr>
              <a:t>Entrer </a:t>
            </a:r>
            <a:r>
              <a:rPr lang="nb-NO" sz="1800" dirty="0" err="1">
                <a:latin typeface="Courier"/>
                <a:cs typeface="Courier"/>
              </a:rPr>
              <a:t>un</a:t>
            </a:r>
            <a:r>
              <a:rPr lang="nb-NO" sz="1800" dirty="0">
                <a:latin typeface="Courier"/>
                <a:cs typeface="Courier"/>
              </a:rPr>
              <a:t> </a:t>
            </a:r>
            <a:r>
              <a:rPr lang="nb-NO" sz="1800" dirty="0" err="1">
                <a:latin typeface="Courier"/>
                <a:cs typeface="Courier"/>
              </a:rPr>
              <a:t>nombre</a:t>
            </a:r>
            <a:r>
              <a:rPr lang="nb-NO" sz="1800" dirty="0">
                <a:latin typeface="Courier"/>
                <a:cs typeface="Courier"/>
              </a:rPr>
              <a:t>: 0</a:t>
            </a:r>
          </a:p>
          <a:p>
            <a:pPr marL="0" indent="0">
              <a:buNone/>
            </a:pPr>
            <a:r>
              <a:rPr lang="nb-NO" sz="1800" dirty="0" err="1">
                <a:latin typeface="Courier"/>
                <a:cs typeface="Courier"/>
              </a:rPr>
              <a:t>Division</a:t>
            </a:r>
            <a:r>
              <a:rPr lang="nb-NO" sz="1800" dirty="0">
                <a:latin typeface="Courier"/>
                <a:cs typeface="Courier"/>
              </a:rPr>
              <a:t> par 0 </a:t>
            </a:r>
            <a:r>
              <a:rPr lang="nb-NO" sz="1800" dirty="0" err="1">
                <a:latin typeface="Courier"/>
                <a:cs typeface="Courier"/>
              </a:rPr>
              <a:t>interdite</a:t>
            </a:r>
            <a:r>
              <a:rPr lang="nb-NO" sz="1800" dirty="0">
                <a:latin typeface="Courier"/>
                <a:cs typeface="Courier"/>
              </a:rPr>
              <a:t>...</a:t>
            </a:r>
            <a:endParaRPr lang="fr-FR" sz="1800" b="1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9734479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instructions « </a:t>
            </a:r>
            <a:r>
              <a:rPr lang="fr-FR" dirty="0" err="1" smtClean="0"/>
              <a:t>try</a:t>
            </a:r>
            <a:r>
              <a:rPr lang="fr-FR" dirty="0" smtClean="0"/>
              <a:t> – </a:t>
            </a:r>
            <a:r>
              <a:rPr lang="fr-FR" dirty="0" err="1" smtClean="0"/>
              <a:t>except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499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fr-FR" sz="1800" i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peut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spécifier le type d’exception à gérer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nombre: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nombre: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try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(b)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except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D2413A"/>
                </a:solidFill>
                <a:latin typeface="Courier"/>
                <a:cs typeface="Courier"/>
              </a:rPr>
              <a:t>ZeroDivisionError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"Division par 0 interdite..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."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1800" dirty="0" smtClean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7015698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instructions « </a:t>
            </a:r>
            <a:r>
              <a:rPr lang="fr-FR" dirty="0" err="1" smtClean="0"/>
              <a:t>try</a:t>
            </a:r>
            <a:r>
              <a:rPr lang="fr-FR" dirty="0" smtClean="0"/>
              <a:t> – </a:t>
            </a:r>
            <a:r>
              <a:rPr lang="fr-FR" dirty="0" err="1" smtClean="0"/>
              <a:t>except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5141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err="1" smtClean="0">
                <a:latin typeface="Courier"/>
                <a:cs typeface="Courier"/>
              </a:rPr>
              <a:t>Executions</a:t>
            </a:r>
            <a:endParaRPr lang="fr-FR" sz="1800" b="1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b-NO" sz="1800" dirty="0" smtClean="0">
                <a:latin typeface="Courier"/>
                <a:cs typeface="Courier"/>
              </a:rPr>
              <a:t>Entrer </a:t>
            </a:r>
            <a:r>
              <a:rPr lang="nb-NO" sz="1800" dirty="0" err="1">
                <a:latin typeface="Courier"/>
                <a:cs typeface="Courier"/>
              </a:rPr>
              <a:t>un</a:t>
            </a:r>
            <a:r>
              <a:rPr lang="nb-NO" sz="1800" dirty="0">
                <a:latin typeface="Courier"/>
                <a:cs typeface="Courier"/>
              </a:rPr>
              <a:t> </a:t>
            </a:r>
            <a:r>
              <a:rPr lang="nb-NO" sz="1800" dirty="0" err="1">
                <a:latin typeface="Courier"/>
                <a:cs typeface="Courier"/>
              </a:rPr>
              <a:t>nombre</a:t>
            </a:r>
            <a:r>
              <a:rPr lang="nb-NO" sz="1800" dirty="0">
                <a:latin typeface="Courier"/>
                <a:cs typeface="Courier"/>
              </a:rPr>
              <a:t>: 1</a:t>
            </a:r>
          </a:p>
          <a:p>
            <a:pPr marL="0" indent="0">
              <a:buNone/>
            </a:pPr>
            <a:r>
              <a:rPr lang="nb-NO" sz="1800" dirty="0">
                <a:latin typeface="Courier"/>
                <a:cs typeface="Courier"/>
              </a:rPr>
              <a:t>Entrer </a:t>
            </a:r>
            <a:r>
              <a:rPr lang="nb-NO" sz="1800" dirty="0" err="1">
                <a:latin typeface="Courier"/>
                <a:cs typeface="Courier"/>
              </a:rPr>
              <a:t>un</a:t>
            </a:r>
            <a:r>
              <a:rPr lang="nb-NO" sz="1800" dirty="0">
                <a:latin typeface="Courier"/>
                <a:cs typeface="Courier"/>
              </a:rPr>
              <a:t> </a:t>
            </a:r>
            <a:r>
              <a:rPr lang="nb-NO" sz="1800" dirty="0" err="1">
                <a:latin typeface="Courier"/>
                <a:cs typeface="Courier"/>
              </a:rPr>
              <a:t>nombre</a:t>
            </a:r>
            <a:r>
              <a:rPr lang="nb-NO" sz="1800" dirty="0">
                <a:latin typeface="Courier"/>
                <a:cs typeface="Courier"/>
              </a:rPr>
              <a:t>: 0</a:t>
            </a:r>
          </a:p>
          <a:p>
            <a:pPr marL="0" indent="0">
              <a:buNone/>
            </a:pPr>
            <a:r>
              <a:rPr lang="nb-NO" sz="1800" dirty="0" err="1">
                <a:latin typeface="Courier"/>
                <a:cs typeface="Courier"/>
              </a:rPr>
              <a:t>Division</a:t>
            </a:r>
            <a:r>
              <a:rPr lang="nb-NO" sz="1800" dirty="0">
                <a:latin typeface="Courier"/>
                <a:cs typeface="Courier"/>
              </a:rPr>
              <a:t> par 0 </a:t>
            </a:r>
            <a:r>
              <a:rPr lang="nb-NO" sz="1800" dirty="0" err="1">
                <a:latin typeface="Courier"/>
                <a:cs typeface="Courier"/>
              </a:rPr>
              <a:t>interdite</a:t>
            </a:r>
            <a:r>
              <a:rPr lang="nb-NO" sz="1800" dirty="0">
                <a:latin typeface="Courier"/>
                <a:cs typeface="Courier"/>
              </a:rPr>
              <a:t>..</a:t>
            </a:r>
            <a:r>
              <a:rPr lang="nb-NO" sz="1800" dirty="0" smtClean="0">
                <a:latin typeface="Courier"/>
                <a:cs typeface="Courier"/>
              </a:rPr>
              <a:t>.</a:t>
            </a:r>
          </a:p>
          <a:p>
            <a:pPr marL="0" indent="0">
              <a:buNone/>
            </a:pPr>
            <a:endParaRPr lang="nb-NO" sz="1800" b="1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Entrer un nombre: 1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Entrer un nombre: [1,2,3</a:t>
            </a:r>
            <a:r>
              <a:rPr lang="fr-FR" sz="1800" dirty="0" smtClean="0">
                <a:latin typeface="Courier"/>
                <a:cs typeface="Courier"/>
              </a:rPr>
              <a:t>]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on entre une liste...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latin typeface="Courier"/>
                <a:cs typeface="Courier"/>
              </a:rPr>
              <a:t>Traceback</a:t>
            </a:r>
            <a:r>
              <a:rPr lang="fr-FR" sz="1800" dirty="0">
                <a:latin typeface="Courier"/>
                <a:cs typeface="Courier"/>
              </a:rPr>
              <a:t> (</a:t>
            </a:r>
            <a:r>
              <a:rPr lang="fr-FR" sz="1800" dirty="0" err="1">
                <a:latin typeface="Courier"/>
                <a:cs typeface="Courier"/>
              </a:rPr>
              <a:t>most</a:t>
            </a:r>
            <a:r>
              <a:rPr lang="fr-FR" sz="1800" dirty="0">
                <a:latin typeface="Courier"/>
                <a:cs typeface="Courier"/>
              </a:rPr>
              <a:t> </a:t>
            </a:r>
            <a:r>
              <a:rPr lang="fr-FR" sz="1800" dirty="0" err="1">
                <a:latin typeface="Courier"/>
                <a:cs typeface="Courier"/>
              </a:rPr>
              <a:t>recent</a:t>
            </a:r>
            <a:r>
              <a:rPr lang="fr-FR" sz="1800" dirty="0">
                <a:latin typeface="Courier"/>
                <a:cs typeface="Courier"/>
              </a:rPr>
              <a:t> call last):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  File "code7.py", line 44, in &lt;module&gt;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    </a:t>
            </a:r>
            <a:r>
              <a:rPr lang="fr-FR" sz="1800" dirty="0" err="1">
                <a:latin typeface="Courier"/>
                <a:cs typeface="Courier"/>
              </a:rPr>
              <a:t>print</a:t>
            </a:r>
            <a:r>
              <a:rPr lang="fr-FR" sz="1800" dirty="0">
                <a:latin typeface="Courier"/>
                <a:cs typeface="Courier"/>
              </a:rPr>
              <a:t> a / </a:t>
            </a:r>
            <a:r>
              <a:rPr lang="fr-FR" sz="1800" dirty="0" err="1">
                <a:latin typeface="Courier"/>
                <a:cs typeface="Courier"/>
              </a:rPr>
              <a:t>float</a:t>
            </a:r>
            <a:r>
              <a:rPr lang="fr-FR" sz="1800" dirty="0">
                <a:latin typeface="Courier"/>
                <a:cs typeface="Courier"/>
              </a:rPr>
              <a:t>(b)</a:t>
            </a:r>
          </a:p>
          <a:p>
            <a:pPr marL="0" indent="0">
              <a:buNone/>
            </a:pPr>
            <a:r>
              <a:rPr lang="fr-FR" sz="1800" dirty="0" err="1">
                <a:latin typeface="Courier"/>
                <a:cs typeface="Courier"/>
              </a:rPr>
              <a:t>TypeError</a:t>
            </a:r>
            <a:r>
              <a:rPr lang="fr-FR" sz="1800" dirty="0">
                <a:latin typeface="Courier"/>
                <a:cs typeface="Courier"/>
              </a:rPr>
              <a:t>: </a:t>
            </a:r>
            <a:r>
              <a:rPr lang="fr-FR" sz="1800" dirty="0" err="1">
                <a:latin typeface="Courier"/>
                <a:cs typeface="Courier"/>
              </a:rPr>
              <a:t>float</a:t>
            </a:r>
            <a:r>
              <a:rPr lang="fr-FR" sz="1800" dirty="0">
                <a:latin typeface="Courier"/>
                <a:cs typeface="Courier"/>
              </a:rPr>
              <a:t>() argument must </a:t>
            </a:r>
            <a:r>
              <a:rPr lang="fr-FR" sz="1800" dirty="0" err="1">
                <a:latin typeface="Courier"/>
                <a:cs typeface="Courier"/>
              </a:rPr>
              <a:t>be</a:t>
            </a:r>
            <a:r>
              <a:rPr lang="fr-FR" sz="1800" dirty="0">
                <a:latin typeface="Courier"/>
                <a:cs typeface="Courier"/>
              </a:rPr>
              <a:t> a string or a </a:t>
            </a:r>
            <a:r>
              <a:rPr lang="fr-FR" sz="1800" dirty="0" err="1" smtClean="0">
                <a:latin typeface="Courier"/>
                <a:cs typeface="Courier"/>
              </a:rPr>
              <a:t>number</a:t>
            </a:r>
            <a:endParaRPr lang="fr-FR" sz="1800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Ceci est une erreur de type autre que </a:t>
            </a:r>
            <a:r>
              <a:rPr lang="fr-F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ZeroDivisionError</a:t>
            </a:r>
            <a:endParaRPr lang="fr-FR" sz="1800" i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Elle n’a donc pas été gérée...</a:t>
            </a:r>
            <a:endParaRPr lang="fr-FR" sz="1800" i="1" dirty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b="1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4671262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instructions « </a:t>
            </a:r>
            <a:r>
              <a:rPr lang="fr-FR" dirty="0" err="1" smtClean="0"/>
              <a:t>try</a:t>
            </a:r>
            <a:r>
              <a:rPr lang="fr-FR" dirty="0" smtClean="0"/>
              <a:t> – </a:t>
            </a:r>
            <a:r>
              <a:rPr lang="fr-FR" dirty="0" err="1" smtClean="0"/>
              <a:t>except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499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peut spécifier le type d’exception à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gérer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et multiplier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les blocs "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except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nombre: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nombre: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try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(b)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except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D2413A"/>
                </a:solidFill>
                <a:latin typeface="Courier"/>
                <a:cs typeface="Courier"/>
              </a:rPr>
              <a:t>ZeroDivisionError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"Division par 0 interdite..."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except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"Autre type d'erreur..."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1800" dirty="0" smtClean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1768014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instructions « </a:t>
            </a:r>
            <a:r>
              <a:rPr lang="fr-FR" dirty="0" err="1" smtClean="0"/>
              <a:t>try</a:t>
            </a:r>
            <a:r>
              <a:rPr lang="fr-FR" dirty="0" smtClean="0"/>
              <a:t> – </a:t>
            </a:r>
            <a:r>
              <a:rPr lang="fr-FR" dirty="0" err="1" smtClean="0"/>
              <a:t>except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5141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err="1" smtClean="0">
                <a:latin typeface="Courier"/>
                <a:cs typeface="Courier"/>
              </a:rPr>
              <a:t>Executions</a:t>
            </a:r>
            <a:endParaRPr lang="fr-FR" sz="1800" b="1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b-NO" sz="1800" dirty="0" smtClean="0">
                <a:latin typeface="Courier"/>
                <a:cs typeface="Courier"/>
              </a:rPr>
              <a:t>Entrer </a:t>
            </a:r>
            <a:r>
              <a:rPr lang="nb-NO" sz="1800" dirty="0" err="1">
                <a:latin typeface="Courier"/>
                <a:cs typeface="Courier"/>
              </a:rPr>
              <a:t>un</a:t>
            </a:r>
            <a:r>
              <a:rPr lang="nb-NO" sz="1800" dirty="0">
                <a:latin typeface="Courier"/>
                <a:cs typeface="Courier"/>
              </a:rPr>
              <a:t> </a:t>
            </a:r>
            <a:r>
              <a:rPr lang="nb-NO" sz="1800" dirty="0" err="1">
                <a:latin typeface="Courier"/>
                <a:cs typeface="Courier"/>
              </a:rPr>
              <a:t>nombre</a:t>
            </a:r>
            <a:r>
              <a:rPr lang="nb-NO" sz="1800" dirty="0">
                <a:latin typeface="Courier"/>
                <a:cs typeface="Courier"/>
              </a:rPr>
              <a:t>: 1</a:t>
            </a:r>
          </a:p>
          <a:p>
            <a:pPr marL="0" indent="0">
              <a:buNone/>
            </a:pPr>
            <a:r>
              <a:rPr lang="nb-NO" sz="1800" dirty="0">
                <a:latin typeface="Courier"/>
                <a:cs typeface="Courier"/>
              </a:rPr>
              <a:t>Entrer </a:t>
            </a:r>
            <a:r>
              <a:rPr lang="nb-NO" sz="1800" dirty="0" err="1">
                <a:latin typeface="Courier"/>
                <a:cs typeface="Courier"/>
              </a:rPr>
              <a:t>un</a:t>
            </a:r>
            <a:r>
              <a:rPr lang="nb-NO" sz="1800" dirty="0">
                <a:latin typeface="Courier"/>
                <a:cs typeface="Courier"/>
              </a:rPr>
              <a:t> </a:t>
            </a:r>
            <a:r>
              <a:rPr lang="nb-NO" sz="1800" dirty="0" err="1">
                <a:latin typeface="Courier"/>
                <a:cs typeface="Courier"/>
              </a:rPr>
              <a:t>nombre</a:t>
            </a:r>
            <a:r>
              <a:rPr lang="nb-NO" sz="1800" dirty="0">
                <a:latin typeface="Courier"/>
                <a:cs typeface="Courier"/>
              </a:rPr>
              <a:t>: 0</a:t>
            </a:r>
          </a:p>
          <a:p>
            <a:pPr marL="0" indent="0">
              <a:buNone/>
            </a:pPr>
            <a:r>
              <a:rPr lang="nb-NO" sz="1800" dirty="0" err="1">
                <a:latin typeface="Courier"/>
                <a:cs typeface="Courier"/>
              </a:rPr>
              <a:t>Division</a:t>
            </a:r>
            <a:r>
              <a:rPr lang="nb-NO" sz="1800" dirty="0">
                <a:latin typeface="Courier"/>
                <a:cs typeface="Courier"/>
              </a:rPr>
              <a:t> par 0 </a:t>
            </a:r>
            <a:r>
              <a:rPr lang="nb-NO" sz="1800" dirty="0" err="1">
                <a:latin typeface="Courier"/>
                <a:cs typeface="Courier"/>
              </a:rPr>
              <a:t>interdite</a:t>
            </a:r>
            <a:r>
              <a:rPr lang="nb-NO" sz="1800" dirty="0">
                <a:latin typeface="Courier"/>
                <a:cs typeface="Courier"/>
              </a:rPr>
              <a:t>..</a:t>
            </a:r>
            <a:r>
              <a:rPr lang="nb-NO" sz="1800" dirty="0" smtClean="0">
                <a:latin typeface="Courier"/>
                <a:cs typeface="Courier"/>
              </a:rPr>
              <a:t>.</a:t>
            </a:r>
          </a:p>
          <a:p>
            <a:pPr marL="0" indent="0">
              <a:buNone/>
            </a:pPr>
            <a:endParaRPr lang="nb-NO" sz="1800" b="1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Entrer un nombre: 1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Entrer un nombre: [1,2,3</a:t>
            </a:r>
            <a:r>
              <a:rPr lang="fr-FR" sz="1800" dirty="0" smtClean="0">
                <a:latin typeface="Courier"/>
                <a:cs typeface="Courier"/>
              </a:rPr>
              <a:t>]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entre une liste...</a:t>
            </a:r>
            <a:endParaRPr lang="fr-FR" sz="1800" dirty="0" smtClean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latin typeface="Courier"/>
                <a:cs typeface="Courier"/>
              </a:rPr>
              <a:t>Autre type d’erreur... </a:t>
            </a:r>
            <a:endParaRPr lang="fr-FR" sz="1800" i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Toute erreur de type autre que </a:t>
            </a:r>
            <a:r>
              <a:rPr lang="fr-F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ZeroDivisionError</a:t>
            </a:r>
            <a:endParaRPr lang="fr-FR" sz="1800" i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est capturée par le dernier bloc </a:t>
            </a:r>
            <a:r>
              <a:rPr lang="fr-F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except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...</a:t>
            </a:r>
            <a:endParaRPr lang="fr-FR" sz="1800" i="1" dirty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b="1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236857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instructions « </a:t>
            </a:r>
            <a:r>
              <a:rPr lang="fr-FR" dirty="0" err="1" smtClean="0"/>
              <a:t>try</a:t>
            </a:r>
            <a:r>
              <a:rPr lang="fr-FR" dirty="0" smtClean="0"/>
              <a:t> – </a:t>
            </a:r>
            <a:r>
              <a:rPr lang="fr-FR" dirty="0" err="1" smtClean="0"/>
              <a:t>except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5141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smtClean="0">
                <a:latin typeface="Courier"/>
                <a:cs typeface="Courier"/>
              </a:rPr>
              <a:t>Programme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print_sorted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(collection):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try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collection</a:t>
            </a:r>
            <a:r>
              <a:rPr lang="en-US" sz="1800" dirty="0" err="1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sort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except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 err="1">
                <a:solidFill>
                  <a:srgbClr val="D2413A"/>
                </a:solidFill>
                <a:latin typeface="Courier"/>
                <a:cs typeface="Courier"/>
              </a:rPr>
              <a:t>AttributeError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pass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collection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latin typeface="Courier"/>
                <a:cs typeface="Courier"/>
              </a:rPr>
              <a:t>Executions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print_sorted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pt-BR" sz="1800" dirty="0">
                <a:latin typeface="Courier"/>
                <a:cs typeface="Courier"/>
              </a:rPr>
              <a:t>[1, 2, 3]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print_sorted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pt-BR" sz="1800" dirty="0" err="1">
                <a:solidFill>
                  <a:srgbClr val="BA2121"/>
                </a:solidFill>
                <a:latin typeface="Courier"/>
                <a:cs typeface="Courier"/>
              </a:rPr>
              <a:t>acb</a:t>
            </a:r>
            <a:r>
              <a:rPr lang="pt-B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fr-FR" sz="1800" dirty="0" err="1" smtClean="0">
                <a:latin typeface="Courier"/>
                <a:cs typeface="Courier"/>
              </a:rPr>
              <a:t>acb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b="1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9016548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8399</TotalTime>
  <Words>909</Words>
  <Application>Microsoft Macintosh PowerPoint</Application>
  <PresentationFormat>Présentation à l'écran (4:3)</PresentationFormat>
  <Paragraphs>157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Médian</vt:lpstr>
      <vt:lpstr>Chapitre 8 gestion des exceptions</vt:lpstr>
      <vt:lpstr>Exceptions</vt:lpstr>
      <vt:lpstr>Exceptions</vt:lpstr>
      <vt:lpstr>Exceptions</vt:lpstr>
      <vt:lpstr>Exceptions</vt:lpstr>
      <vt:lpstr>Exceptions</vt:lpstr>
      <vt:lpstr>Les instructions « try – except »</vt:lpstr>
      <vt:lpstr>Les instructions « try – except »</vt:lpstr>
      <vt:lpstr>Les instructions « try – except »</vt:lpstr>
      <vt:lpstr>Les instructions « try – except »</vt:lpstr>
      <vt:lpstr>Les instructions « try – except »</vt:lpstr>
      <vt:lpstr>Les instructions « try – except »</vt:lpstr>
      <vt:lpstr>Les instructions « try – except »</vt:lpstr>
      <vt:lpstr>Les instructions « try – except »</vt:lpstr>
      <vt:lpstr>Les instructions « try – except »</vt:lpstr>
    </vt:vector>
  </TitlesOfParts>
  <Company>Université de Lausanne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UNIL</cp:lastModifiedBy>
  <cp:revision>2370</cp:revision>
  <cp:lastPrinted>2011-09-18T10:53:10Z</cp:lastPrinted>
  <dcterms:created xsi:type="dcterms:W3CDTF">2002-10-22T15:56:56Z</dcterms:created>
  <dcterms:modified xsi:type="dcterms:W3CDTF">2016-09-16T12:42:50Z</dcterms:modified>
</cp:coreProperties>
</file>