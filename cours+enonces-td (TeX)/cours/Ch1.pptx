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32" r:id="rId1"/>
  </p:sldMasterIdLst>
  <p:notesMasterIdLst>
    <p:notesMasterId r:id="rId12"/>
  </p:notesMasterIdLst>
  <p:handoutMasterIdLst>
    <p:handoutMasterId r:id="rId13"/>
  </p:handoutMasterIdLst>
  <p:sldIdLst>
    <p:sldId id="375" r:id="rId2"/>
    <p:sldId id="366" r:id="rId3"/>
    <p:sldId id="376" r:id="rId4"/>
    <p:sldId id="368" r:id="rId5"/>
    <p:sldId id="369" r:id="rId6"/>
    <p:sldId id="370" r:id="rId7"/>
    <p:sldId id="371" r:id="rId8"/>
    <p:sldId id="372" r:id="rId9"/>
    <p:sldId id="373" r:id="rId10"/>
    <p:sldId id="374" r:id="rId11"/>
  </p:sldIdLst>
  <p:sldSz cx="9144000" cy="6858000" type="screen4x3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5pPr>
    <a:lvl6pPr marL="2286000" algn="l" defTabSz="457200" rtl="0" eaLnBrk="1" latinLnBrk="0" hangingPunct="1"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6pPr>
    <a:lvl7pPr marL="2743200" algn="l" defTabSz="457200" rtl="0" eaLnBrk="1" latinLnBrk="0" hangingPunct="1"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7pPr>
    <a:lvl8pPr marL="3200400" algn="l" defTabSz="457200" rtl="0" eaLnBrk="1" latinLnBrk="0" hangingPunct="1"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8pPr>
    <a:lvl9pPr marL="3657600" algn="l" defTabSz="457200" rtl="0" eaLnBrk="1" latinLnBrk="0" hangingPunct="1">
      <a:defRPr sz="2400" kern="1200">
        <a:solidFill>
          <a:schemeClr val="tx2"/>
        </a:solidFill>
        <a:latin typeface="Arial" charset="0"/>
        <a:ea typeface="ＭＳ Ｐゴシック" charset="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FF"/>
    <a:srgbClr val="FFCCFF"/>
    <a:srgbClr val="99FFCC"/>
    <a:srgbClr val="CCFFFF"/>
    <a:srgbClr val="FF00FF"/>
    <a:srgbClr val="FF0000"/>
    <a:srgbClr val="009900"/>
    <a:srgbClr val="E1E1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08" autoAdjust="0"/>
    <p:restoredTop sz="90964"/>
  </p:normalViewPr>
  <p:slideViewPr>
    <p:cSldViewPr>
      <p:cViewPr varScale="1">
        <p:scale>
          <a:sx n="104" d="100"/>
          <a:sy n="104" d="100"/>
        </p:scale>
        <p:origin x="166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18" d="100"/>
          <a:sy n="118" d="100"/>
        </p:scale>
        <p:origin x="-4256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ACD6F964-0E01-0347-96A4-C37FEA3034E6}" type="slidenum">
              <a:rPr lang="fr-FR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03468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=""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2BB96183-5730-AF4B-A221-215C0AAD25FC}" type="slidenum">
              <a:rPr lang="fr-FR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42413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B96183-5730-AF4B-A221-215C0AAD25FC}" type="slidenum">
              <a:rPr lang="fr-FR" smtClean="0"/>
              <a:pPr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6457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CH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r>
              <a:rPr lang="fr-CH"/>
              <a:t>25.09.12</a:t>
            </a:r>
            <a:endParaRPr lang="fr-FR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UNIL - Informatique I</a:t>
            </a:r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D2109F-C210-9F4F-BE50-DE6D04027247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25.09.12</a:t>
            </a: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UNIL - Informatique I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84C434B-4C1C-AA4B-9FC7-3C7BDD6F6ADC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fr-CH"/>
              <a:t>Cliquez pour modifier les styles du texte du masque</a:t>
            </a:r>
          </a:p>
          <a:p>
            <a:pPr lvl="1" eaLnBrk="1" latinLnBrk="0" hangingPunct="1"/>
            <a:r>
              <a:rPr lang="fr-CH"/>
              <a:t>Deuxième niveau</a:t>
            </a:r>
          </a:p>
          <a:p>
            <a:pPr lvl="2" eaLnBrk="1" latinLnBrk="0" hangingPunct="1"/>
            <a:r>
              <a:rPr lang="fr-CH"/>
              <a:t>Troisième niveau</a:t>
            </a:r>
          </a:p>
          <a:p>
            <a:pPr lvl="3" eaLnBrk="1" latinLnBrk="0" hangingPunct="1"/>
            <a:r>
              <a:rPr lang="fr-CH"/>
              <a:t>Quatrième niveau</a:t>
            </a:r>
          </a:p>
          <a:p>
            <a:pPr lvl="4" eaLnBrk="1" latinLnBrk="0" hangingPunct="1"/>
            <a:r>
              <a:rPr lang="fr-CH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-tête de sec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CH"/>
              <a:t>Cliquez pour modifier les styles du texte du masque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25.09.12</a:t>
            </a:r>
            <a:endParaRPr lang="fr-FR"/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CA062017-3E5F-D545-803C-22C050AB8223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/>
              <a:t>UNIL - Informatique 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fr-CH"/>
              <a:t>Cliquez pour modifier les styles du texte du masque</a:t>
            </a:r>
          </a:p>
          <a:p>
            <a:pPr lvl="1" eaLnBrk="1" latinLnBrk="0" hangingPunct="1"/>
            <a:r>
              <a:rPr lang="fr-CH"/>
              <a:t>Deuxième niveau</a:t>
            </a:r>
          </a:p>
          <a:p>
            <a:pPr lvl="2" eaLnBrk="1" latinLnBrk="0" hangingPunct="1"/>
            <a:r>
              <a:rPr lang="fr-CH"/>
              <a:t>Troisième niveau</a:t>
            </a:r>
          </a:p>
          <a:p>
            <a:pPr lvl="3" eaLnBrk="1" latinLnBrk="0" hangingPunct="1"/>
            <a:r>
              <a:rPr lang="fr-CH"/>
              <a:t>Quatrième niveau</a:t>
            </a:r>
          </a:p>
          <a:p>
            <a:pPr lvl="4" eaLnBrk="1" latinLnBrk="0" hangingPunct="1"/>
            <a:r>
              <a:rPr lang="fr-CH"/>
              <a:t>Cinquième niveau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fr-CH"/>
              <a:t>Cliquez pour modifier les styles du texte du masque</a:t>
            </a:r>
          </a:p>
          <a:p>
            <a:pPr lvl="1" eaLnBrk="1" latinLnBrk="0" hangingPunct="1"/>
            <a:r>
              <a:rPr lang="fr-CH"/>
              <a:t>Deuxième niveau</a:t>
            </a:r>
          </a:p>
          <a:p>
            <a:pPr lvl="2" eaLnBrk="1" latinLnBrk="0" hangingPunct="1"/>
            <a:r>
              <a:rPr lang="fr-CH"/>
              <a:t>Troisième niveau</a:t>
            </a:r>
          </a:p>
          <a:p>
            <a:pPr lvl="3" eaLnBrk="1" latinLnBrk="0" hangingPunct="1"/>
            <a:r>
              <a:rPr lang="fr-CH"/>
              <a:t>Quatrième niveau</a:t>
            </a:r>
          </a:p>
          <a:p>
            <a:pPr lvl="4" eaLnBrk="1" latinLnBrk="0" hangingPunct="1"/>
            <a:r>
              <a:rPr lang="fr-CH"/>
              <a:t>Cinquième niveau</a:t>
            </a:r>
            <a:endParaRPr kumimoji="0" lang="en-US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r>
              <a:rPr lang="fr-CH"/>
              <a:t>25.09.12</a:t>
            </a:r>
            <a:endParaRPr lang="fr-FR"/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0BA543E-D95F-E941-884E-49F19CC3D311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2" name="Espace réservé du pied de page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fr-FR"/>
              <a:t>UNIL - Informatique I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fr-CH"/>
              <a:t>Cliquez pour modifier les styles du texte du masque</a:t>
            </a:r>
          </a:p>
          <a:p>
            <a:pPr lvl="1" eaLnBrk="1" latinLnBrk="0" hangingPunct="1"/>
            <a:r>
              <a:rPr lang="fr-CH"/>
              <a:t>Deuxième niveau</a:t>
            </a:r>
          </a:p>
          <a:p>
            <a:pPr lvl="2" eaLnBrk="1" latinLnBrk="0" hangingPunct="1"/>
            <a:r>
              <a:rPr lang="fr-CH"/>
              <a:t>Troisième niveau</a:t>
            </a:r>
          </a:p>
          <a:p>
            <a:pPr lvl="3" eaLnBrk="1" latinLnBrk="0" hangingPunct="1"/>
            <a:r>
              <a:rPr lang="fr-CH"/>
              <a:t>Quatrième niveau</a:t>
            </a:r>
          </a:p>
          <a:p>
            <a:pPr lvl="4" eaLnBrk="1" latinLnBrk="0" hangingPunct="1"/>
            <a:r>
              <a:rPr lang="fr-CH"/>
              <a:t>Cinquième niveau</a:t>
            </a:r>
            <a:endParaRPr kumimoji="0"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fr-CH"/>
              <a:t>Cliquez pour modifier les styles du texte du masque</a:t>
            </a:r>
          </a:p>
          <a:p>
            <a:pPr lvl="1" eaLnBrk="1" latinLnBrk="0" hangingPunct="1"/>
            <a:r>
              <a:rPr lang="fr-CH"/>
              <a:t>Deuxième niveau</a:t>
            </a:r>
          </a:p>
          <a:p>
            <a:pPr lvl="2" eaLnBrk="1" latinLnBrk="0" hangingPunct="1"/>
            <a:r>
              <a:rPr lang="fr-CH"/>
              <a:t>Troisième niveau</a:t>
            </a:r>
          </a:p>
          <a:p>
            <a:pPr lvl="3" eaLnBrk="1" latinLnBrk="0" hangingPunct="1"/>
            <a:r>
              <a:rPr lang="fr-CH"/>
              <a:t>Quatrième niveau</a:t>
            </a:r>
          </a:p>
          <a:p>
            <a:pPr lvl="4" eaLnBrk="1" latinLnBrk="0" hangingPunct="1"/>
            <a:r>
              <a:rPr lang="fr-CH"/>
              <a:t>Cinquième niveau</a:t>
            </a:r>
            <a:endParaRPr kumimoji="0" lang="en-US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r>
              <a:rPr lang="fr-CH"/>
              <a:t>25.09.12</a:t>
            </a:r>
            <a:endParaRPr lang="fr-FR"/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9F22BEEB-CA8A-C040-983A-AAABE0F651E1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fr-FR"/>
              <a:t>UNIL - Informatique I</a:t>
            </a:r>
          </a:p>
        </p:txBody>
      </p:sp>
      <p:sp>
        <p:nvSpPr>
          <p:cNvPr id="16" name="Espace réservé du texte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CH"/>
              <a:t>Cliquez pour modifier les styles du texte du masque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CH"/>
              <a:t>Cliquez pour modifier les styles du texte du masque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25.09.12</a:t>
            </a:r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UNIL - Informatique I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D9B8300-181C-054A-A328-E2139B9AD5F7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25.09.12</a:t>
            </a:r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UNIL - Informatique I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1A05B3F-7440-4047-9795-78A3F4158249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25.09.12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UNIL - Informatique I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92FAD62-4CC2-5B40-ACA0-2FA3AD3CFBCF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CH"/>
              <a:t>Cliquez pour modifier les styles du texte du masque</a:t>
            </a:r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fr-CH"/>
              <a:t>Cliquez pour modifier les styles du texte du masque</a:t>
            </a:r>
          </a:p>
          <a:p>
            <a:pPr lvl="1" eaLnBrk="1" latinLnBrk="0" hangingPunct="1"/>
            <a:r>
              <a:rPr lang="fr-CH"/>
              <a:t>Deuxième niveau</a:t>
            </a:r>
          </a:p>
          <a:p>
            <a:pPr lvl="2" eaLnBrk="1" latinLnBrk="0" hangingPunct="1"/>
            <a:r>
              <a:rPr lang="fr-CH"/>
              <a:t>Troisième niveau</a:t>
            </a:r>
          </a:p>
          <a:p>
            <a:pPr lvl="3" eaLnBrk="1" latinLnBrk="0" hangingPunct="1"/>
            <a:r>
              <a:rPr lang="fr-CH"/>
              <a:t>Quatrième niveau</a:t>
            </a:r>
          </a:p>
          <a:p>
            <a:pPr lvl="4" eaLnBrk="1" latinLnBrk="0" hangingPunct="1"/>
            <a:r>
              <a:rPr lang="fr-CH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fr-CH"/>
              <a:t>Cliquez pour modifier les styles du texte du masque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r>
              <a:rPr lang="fr-CH"/>
              <a:t>25.09.12</a:t>
            </a:r>
            <a:endParaRPr lang="fr-FR"/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CC79D76C-33C8-DF41-AB83-387084CEC10B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r>
              <a:rPr lang="fr-FR"/>
              <a:t>UNIL - Informatique I</a:t>
            </a:r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CH"/>
              <a:t>Faire glisser l'image vers l'espace réservé ou cliquer sur l'icône pour l'ajouter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CH"/>
              <a:t>Cliquez pour modifier les styles du texte du masque</a:t>
            </a:r>
          </a:p>
          <a:p>
            <a:pPr lvl="1" eaLnBrk="1" latinLnBrk="0" hangingPunct="1"/>
            <a:r>
              <a:rPr lang="fr-CH"/>
              <a:t>Deuxième niveau</a:t>
            </a:r>
          </a:p>
          <a:p>
            <a:pPr lvl="2" eaLnBrk="1" latinLnBrk="0" hangingPunct="1"/>
            <a:r>
              <a:rPr lang="fr-CH"/>
              <a:t>Troisième niveau</a:t>
            </a:r>
          </a:p>
          <a:p>
            <a:pPr lvl="3" eaLnBrk="1" latinLnBrk="0" hangingPunct="1"/>
            <a:r>
              <a:rPr lang="fr-CH"/>
              <a:t>Quatrième niveau</a:t>
            </a:r>
          </a:p>
          <a:p>
            <a:pPr lvl="4" eaLnBrk="1" latinLnBrk="0" hangingPunct="1"/>
            <a:r>
              <a:rPr lang="fr-CH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/>
              <a:t>25.09.12</a:t>
            </a: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UNIL - Informatique I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8A849-4122-6640-96DA-97F7188E7D39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fr-CH"/>
              <a:t>Cliquez pour modifier les styles du texte du masque</a:t>
            </a:r>
          </a:p>
          <a:p>
            <a:pPr lvl="1" eaLnBrk="1" latinLnBrk="0" hangingPunct="1"/>
            <a:r>
              <a:rPr lang="fr-CH"/>
              <a:t>Deuxième niveau</a:t>
            </a:r>
          </a:p>
          <a:p>
            <a:pPr lvl="2" eaLnBrk="1" latinLnBrk="0" hangingPunct="1"/>
            <a:r>
              <a:rPr lang="fr-CH"/>
              <a:t>Troisième niveau</a:t>
            </a:r>
          </a:p>
          <a:p>
            <a:pPr lvl="3" eaLnBrk="1" latinLnBrk="0" hangingPunct="1"/>
            <a:r>
              <a:rPr lang="fr-CH"/>
              <a:t>Quatrième niveau</a:t>
            </a:r>
          </a:p>
          <a:p>
            <a:pPr lvl="4" eaLnBrk="1" latinLnBrk="0" hangingPunct="1"/>
            <a:r>
              <a:rPr lang="fr-CH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r>
              <a:rPr lang="fr-CH"/>
              <a:t>25.09.12</a:t>
            </a: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r>
              <a:rPr lang="fr-FR"/>
              <a:t>UNIL - Informatique I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F97011EA-94E7-C94D-AD82-14E12DD73888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fr-CH"/>
              <a:t>Cliquez et modifiez le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CH"/>
              <a:t>Cliquez pour modifier les styles du texte du masque</a:t>
            </a:r>
          </a:p>
          <a:p>
            <a:pPr lvl="1" eaLnBrk="1" latinLnBrk="0" hangingPunct="1"/>
            <a:r>
              <a:rPr kumimoji="0" lang="fr-CH"/>
              <a:t>Deuxième niveau</a:t>
            </a:r>
          </a:p>
          <a:p>
            <a:pPr lvl="2" eaLnBrk="1" latinLnBrk="0" hangingPunct="1"/>
            <a:r>
              <a:rPr kumimoji="0" lang="fr-CH"/>
              <a:t>Troisième niveau</a:t>
            </a:r>
          </a:p>
          <a:p>
            <a:pPr lvl="3" eaLnBrk="1" latinLnBrk="0" hangingPunct="1"/>
            <a:r>
              <a:rPr kumimoji="0" lang="fr-CH"/>
              <a:t>Quatrième niveau</a:t>
            </a:r>
          </a:p>
          <a:p>
            <a:pPr lvl="4" eaLnBrk="1" latinLnBrk="0" hangingPunct="1"/>
            <a:r>
              <a:rPr kumimoji="0" lang="fr-CH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fr-CH"/>
              <a:t>25.09.12</a:t>
            </a:r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fr-FR"/>
              <a:t>UNIL - Informatique I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6BE7D13C-A807-CA4C-B7E6-D4B4CB6419C0}" type="slidenum">
              <a:rPr lang="fr-FR" smtClean="0"/>
              <a:pPr/>
              <a:t>‹#›</a:t>
            </a:fld>
            <a:endParaRPr lang="fr-FR"/>
          </a:p>
        </p:txBody>
      </p:sp>
      <p:pic>
        <p:nvPicPr>
          <p:cNvPr id="10" name="Picture 12" descr="logoBlancTransparent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6130925"/>
            <a:ext cx="1152525" cy="62547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Chapitre 1</a:t>
            </a:r>
            <a:br>
              <a:rPr lang="fr-FR" dirty="0"/>
            </a:br>
            <a:r>
              <a:rPr lang="fr-FR" dirty="0"/>
              <a:t>Premiers pas en Python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Programmation en Python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109F-C210-9F4F-BE50-DE6D04027247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3377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Lancement de Python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/>
              <a:t>Pour lancer Python, ouvrir un terminal (invite de commandes) et taper « python » ou « </a:t>
            </a:r>
            <a:r>
              <a:rPr lang="fr-FR" dirty="0" err="1"/>
              <a:t>ipython</a:t>
            </a:r>
            <a:r>
              <a:rPr lang="fr-FR" dirty="0"/>
              <a:t> ».</a:t>
            </a:r>
          </a:p>
          <a:p>
            <a:endParaRPr lang="fr-FR" dirty="0"/>
          </a:p>
        </p:txBody>
      </p:sp>
      <p:pic>
        <p:nvPicPr>
          <p:cNvPr id="7" name="Image 6" descr="Screen Shot 2016-08-08 at 18.11.43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2754" y="2708920"/>
            <a:ext cx="5678492" cy="3729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885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IDE &amp; Web-</a:t>
            </a:r>
            <a:r>
              <a:rPr lang="fr-FR" dirty="0" err="1"/>
              <a:t>based</a:t>
            </a:r>
            <a:r>
              <a:rPr lang="fr-FR" dirty="0"/>
              <a:t> interactive </a:t>
            </a:r>
            <a:r>
              <a:rPr lang="fr-FR" dirty="0" err="1"/>
              <a:t>environment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/>
              <a:t>Nous allons utiliser l’environnement de développement (IDE) « </a:t>
            </a:r>
            <a:r>
              <a:rPr lang="fr-FR" dirty="0" err="1"/>
              <a:t>Spyder</a:t>
            </a:r>
            <a:r>
              <a:rPr lang="fr-FR" dirty="0"/>
              <a:t> ».</a:t>
            </a:r>
          </a:p>
          <a:p>
            <a:r>
              <a:rPr lang="fr-FR" dirty="0"/>
              <a:t>Il y a également l’application web de développement interactif « </a:t>
            </a:r>
            <a:r>
              <a:rPr lang="fr-FR" dirty="0" err="1"/>
              <a:t>Jupyter</a:t>
            </a:r>
            <a:r>
              <a:rPr lang="fr-FR" dirty="0"/>
              <a:t> ».</a:t>
            </a:r>
          </a:p>
          <a:p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900" y="3717032"/>
            <a:ext cx="5366201" cy="280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101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Entiers et flottants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4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s-IS" sz="1800" dirty="0">
                <a:latin typeface="Courier"/>
                <a:cs typeface="Courier"/>
              </a:rPr>
              <a:t>&gt;&gt;&gt;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ceci est un commentaire, il est ignoré par Python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is-IS" sz="1800" dirty="0">
                <a:latin typeface="Courier"/>
                <a:cs typeface="Courier"/>
              </a:rPr>
              <a:t>&gt;&gt;&gt;</a:t>
            </a:r>
          </a:p>
          <a:p>
            <a:pPr marL="0" indent="0">
              <a:buNone/>
            </a:pPr>
            <a:r>
              <a:rPr lang="is-IS" sz="1800" dirty="0">
                <a:latin typeface="Courier"/>
                <a:cs typeface="Courier"/>
              </a:rPr>
              <a:t>&gt;&gt;&gt; </a:t>
            </a:r>
            <a:r>
              <a:rPr lang="is-IS" sz="1800" dirty="0">
                <a:solidFill>
                  <a:srgbClr val="666666"/>
                </a:solidFill>
                <a:latin typeface="Courier"/>
                <a:cs typeface="Courier"/>
              </a:rPr>
              <a:t>2+2</a:t>
            </a:r>
            <a:endParaRPr lang="is-I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4</a:t>
            </a:r>
          </a:p>
          <a:p>
            <a:pPr marL="0" indent="0">
              <a:buNone/>
            </a:pPr>
            <a:r>
              <a:rPr lang="is-IS" sz="1800" dirty="0">
                <a:latin typeface="Courier"/>
                <a:cs typeface="Courier"/>
              </a:rPr>
              <a:t>&gt;&gt;&gt; </a:t>
            </a:r>
            <a:r>
              <a:rPr lang="is-IS" sz="1800" dirty="0">
                <a:solidFill>
                  <a:srgbClr val="666666"/>
                </a:solidFill>
                <a:latin typeface="Courier"/>
                <a:cs typeface="Courier"/>
              </a:rPr>
              <a:t>2*3</a:t>
            </a:r>
            <a:endParaRPr lang="is-I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is-IS" sz="1800" dirty="0">
                <a:latin typeface="Courier"/>
                <a:cs typeface="Courier"/>
              </a:rPr>
              <a:t>6</a:t>
            </a:r>
          </a:p>
          <a:p>
            <a:pPr marL="0" indent="0">
              <a:buNone/>
            </a:pPr>
            <a:r>
              <a:rPr lang="is-IS" sz="1800" dirty="0">
                <a:latin typeface="Courier"/>
                <a:cs typeface="Courier"/>
              </a:rPr>
              <a:t>&gt;&gt;&gt; </a:t>
            </a:r>
            <a:r>
              <a:rPr lang="is-IS" sz="1800" dirty="0">
                <a:solidFill>
                  <a:srgbClr val="666666"/>
                </a:solidFill>
                <a:latin typeface="Courier"/>
                <a:cs typeface="Courier"/>
              </a:rPr>
              <a:t>2.5*3.2</a:t>
            </a:r>
            <a:endParaRPr lang="is-I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is-IS" sz="1800" dirty="0">
                <a:latin typeface="Courier"/>
                <a:cs typeface="Courier"/>
              </a:rPr>
              <a:t>8.0</a:t>
            </a:r>
          </a:p>
          <a:p>
            <a:pPr marL="0" indent="0">
              <a:buNone/>
            </a:pPr>
            <a:r>
              <a:rPr lang="is-IS" sz="1800" dirty="0">
                <a:latin typeface="Courier"/>
                <a:cs typeface="Courier"/>
              </a:rPr>
              <a:t>&gt;&gt;&gt; </a:t>
            </a:r>
            <a:r>
              <a:rPr lang="fi-FI" sz="1800" dirty="0">
                <a:solidFill>
                  <a:srgbClr val="666666"/>
                </a:solidFill>
                <a:latin typeface="Courier"/>
                <a:cs typeface="Courier"/>
              </a:rPr>
              <a:t>7/2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division entière en Python 2 (par en Python 3)</a:t>
            </a:r>
            <a:endParaRPr lang="fi-FI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is-IS" sz="1800" dirty="0">
                <a:latin typeface="Courier"/>
                <a:cs typeface="Courier"/>
              </a:rPr>
              <a:t>3</a:t>
            </a:r>
          </a:p>
          <a:p>
            <a:pPr marL="0" indent="0">
              <a:buNone/>
            </a:pPr>
            <a:r>
              <a:rPr lang="is-IS" sz="1800" dirty="0">
                <a:latin typeface="Courier"/>
                <a:cs typeface="Courier"/>
              </a:rPr>
              <a:t>&gt;&gt;&gt; </a:t>
            </a:r>
            <a:r>
              <a:rPr lang="it-IT" sz="1800" dirty="0">
                <a:solidFill>
                  <a:srgbClr val="666666"/>
                </a:solidFill>
                <a:latin typeface="Courier"/>
                <a:cs typeface="Courier"/>
              </a:rPr>
              <a:t>7.0/2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division réelle</a:t>
            </a:r>
            <a:endParaRPr lang="it-IT" sz="1800" dirty="0">
              <a:solidFill>
                <a:srgbClr val="666666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is-IS" sz="1800" dirty="0">
                <a:latin typeface="Courier"/>
                <a:cs typeface="Courier"/>
              </a:rPr>
              <a:t>3.5</a:t>
            </a:r>
          </a:p>
        </p:txBody>
      </p:sp>
    </p:spTree>
    <p:extLst>
      <p:ext uri="{BB962C8B-B14F-4D97-AF65-F5344CB8AC3E}">
        <p14:creationId xmlns:p14="http://schemas.microsoft.com/office/powerpoint/2010/main" val="418066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Entiers et flottants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5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10//3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division entière en Python 3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3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is-IS" sz="1800" dirty="0">
                <a:solidFill>
                  <a:srgbClr val="666666"/>
                </a:solidFill>
                <a:latin typeface="Courier"/>
                <a:cs typeface="Courier"/>
              </a:rPr>
              <a:t>27//4</a:t>
            </a:r>
          </a:p>
          <a:p>
            <a:pPr marL="0" indent="0">
              <a:buNone/>
            </a:pPr>
            <a:r>
              <a:rPr lang="is-IS" sz="1800" dirty="0">
                <a:solidFill>
                  <a:srgbClr val="000000"/>
                </a:solidFill>
                <a:latin typeface="Courier"/>
                <a:cs typeface="Courier"/>
              </a:rPr>
              <a:t>6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2**3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opérateur de puissance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0000"/>
                </a:solidFill>
                <a:latin typeface="Courier"/>
                <a:cs typeface="Courier"/>
              </a:rPr>
              <a:t>8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2**10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urier"/>
                <a:cs typeface="Courier"/>
              </a:rPr>
              <a:t>1024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en-US" sz="1800" dirty="0">
                <a:solidFill>
                  <a:srgbClr val="666666"/>
                </a:solidFill>
                <a:latin typeface="Courier"/>
                <a:cs typeface="Courier"/>
              </a:rPr>
              <a:t>10%3</a:t>
            </a:r>
            <a:r>
              <a:rPr lang="en-U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# </a:t>
            </a:r>
            <a:r>
              <a:rPr lang="en-US" sz="1800" i="1" dirty="0" err="1">
                <a:solidFill>
                  <a:srgbClr val="408080"/>
                </a:solidFill>
                <a:latin typeface="Courier"/>
                <a:cs typeface="Courier"/>
              </a:rPr>
              <a:t>opérateur</a:t>
            </a:r>
            <a:r>
              <a:rPr lang="en-US" sz="1800" i="1" dirty="0">
                <a:solidFill>
                  <a:srgbClr val="408080"/>
                </a:solidFill>
                <a:latin typeface="Courier"/>
                <a:cs typeface="Courier"/>
              </a:rPr>
              <a:t> de modulo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urier"/>
                <a:cs typeface="Courier"/>
              </a:rPr>
              <a:t>1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is-IS" sz="1800" dirty="0">
                <a:solidFill>
                  <a:srgbClr val="666666"/>
                </a:solidFill>
                <a:latin typeface="Courier"/>
                <a:cs typeface="Courier"/>
              </a:rPr>
              <a:t>27%4</a:t>
            </a:r>
          </a:p>
          <a:p>
            <a:pPr marL="0" indent="0">
              <a:buNone/>
            </a:pPr>
            <a:r>
              <a:rPr lang="is-IS" sz="1800" dirty="0">
                <a:solidFill>
                  <a:srgbClr val="000000"/>
                </a:solidFill>
                <a:latin typeface="Courier"/>
                <a:cs typeface="Courier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895074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fonction « </a:t>
            </a:r>
            <a:r>
              <a:rPr lang="fr-FR" dirty="0" err="1"/>
              <a:t>print</a:t>
            </a:r>
            <a:r>
              <a:rPr lang="fr-FR" dirty="0"/>
              <a:t> »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6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En </a:t>
            </a:r>
            <a:r>
              <a:rPr lang="fr-FR" sz="1800" i="1" dirty="0" err="1">
                <a:solidFill>
                  <a:srgbClr val="408080"/>
                </a:solidFill>
                <a:latin typeface="Courier"/>
                <a:cs typeface="Courier"/>
              </a:rPr>
              <a:t>Pyhton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 2, on utilise </a:t>
            </a:r>
            <a:r>
              <a:rPr lang="fr-FR" sz="1800" i="1" dirty="0" err="1">
                <a:solidFill>
                  <a:srgbClr val="408080"/>
                </a:solidFill>
                <a:latin typeface="Courier"/>
                <a:cs typeface="Courier"/>
              </a:rPr>
              <a:t>print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 x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# En </a:t>
            </a:r>
            <a:r>
              <a:rPr lang="fr-FR" sz="1800" i="1" dirty="0" err="1">
                <a:solidFill>
                  <a:srgbClr val="408080"/>
                </a:solidFill>
                <a:latin typeface="Courier"/>
                <a:cs typeface="Courier"/>
              </a:rPr>
              <a:t>Pyhton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 3, on utilise </a:t>
            </a:r>
            <a:r>
              <a:rPr lang="fr-FR" sz="1800" i="1" dirty="0" err="1">
                <a:solidFill>
                  <a:srgbClr val="408080"/>
                </a:solidFill>
                <a:latin typeface="Courier"/>
                <a:cs typeface="Courier"/>
              </a:rPr>
              <a:t>print</a:t>
            </a:r>
            <a:r>
              <a:rPr lang="fr-FR" sz="1800" i="1" dirty="0">
                <a:solidFill>
                  <a:srgbClr val="408080"/>
                </a:solidFill>
                <a:latin typeface="Courier"/>
                <a:cs typeface="Courier"/>
              </a:rPr>
              <a:t>(x) (comme une fonction)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dirty="0" err="1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"Hello world")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Hello world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dirty="0" err="1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(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"Bonjour")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Bonjour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dirty="0" err="1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(</a:t>
            </a:r>
            <a:r>
              <a:rPr lang="is-IS" sz="1800" dirty="0">
                <a:solidFill>
                  <a:srgbClr val="666666"/>
                </a:solidFill>
                <a:latin typeface="Courier"/>
                <a:cs typeface="Courier"/>
              </a:rPr>
              <a:t>2 + 2)</a:t>
            </a:r>
            <a:endParaRPr lang="is-I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4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dirty="0" err="1">
                <a:solidFill>
                  <a:srgbClr val="008000"/>
                </a:solidFill>
                <a:latin typeface="Courier"/>
                <a:cs typeface="Courier"/>
              </a:rPr>
              <a:t>print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(</a:t>
            </a:r>
            <a:r>
              <a:rPr lang="is-IS" sz="1800" dirty="0">
                <a:solidFill>
                  <a:srgbClr val="666666"/>
                </a:solidFill>
                <a:latin typeface="Courier"/>
                <a:cs typeface="Courier"/>
              </a:rPr>
              <a:t>3.0 * 5)</a:t>
            </a:r>
            <a:endParaRPr lang="is-I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15.0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endParaRPr lang="is-IS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073084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Affectation de variables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7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x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3</a:t>
            </a:r>
            <a:endParaRPr lang="fr-F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hr-HR" sz="1800" dirty="0">
                <a:solidFill>
                  <a:prstClr val="black"/>
                </a:solidFill>
                <a:latin typeface="Courier"/>
                <a:cs typeface="Courier"/>
              </a:rPr>
              <a:t>y </a:t>
            </a:r>
            <a:r>
              <a:rPr lang="hr-H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hr-H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hr-HR" sz="1800" dirty="0">
                <a:solidFill>
                  <a:srgbClr val="666666"/>
                </a:solidFill>
                <a:latin typeface="Courier"/>
                <a:cs typeface="Courier"/>
              </a:rPr>
              <a:t>4.0</a:t>
            </a:r>
            <a:endParaRPr lang="hr-HR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z </a:t>
            </a:r>
            <a:r>
              <a:rPr lang="fr-FR" sz="1800" dirty="0">
                <a:solidFill>
                  <a:srgbClr val="666666"/>
                </a:solidFill>
                <a:latin typeface="Courier"/>
                <a:cs typeface="Courier"/>
              </a:rPr>
              <a:t>=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fr-FR" sz="1800" dirty="0">
                <a:solidFill>
                  <a:srgbClr val="BA2121"/>
                </a:solidFill>
                <a:latin typeface="Courier"/>
                <a:cs typeface="Courier"/>
              </a:rPr>
              <a:t>"bonjour"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x</a:t>
            </a:r>
          </a:p>
          <a:p>
            <a:pPr marL="0" indent="0">
              <a:buNone/>
            </a:pPr>
            <a:r>
              <a:rPr lang="fr-FR" sz="1800" dirty="0">
                <a:latin typeface="Courier"/>
                <a:cs typeface="Courier"/>
              </a:rPr>
              <a:t>3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y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4.0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z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bonjour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</a:t>
            </a:r>
            <a:endParaRPr lang="fr-FR" sz="1800" dirty="0">
              <a:latin typeface="Courier"/>
              <a:cs typeface="Courier"/>
            </a:endParaRPr>
          </a:p>
          <a:p>
            <a:pPr marL="0" indent="0">
              <a:buNone/>
            </a:pPr>
            <a:endParaRPr lang="fr-FR" sz="1800" dirty="0"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993511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Affectation de variables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8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x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+ 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y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7.0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x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* 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y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12.0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z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+ 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z</a:t>
            </a:r>
          </a:p>
          <a:p>
            <a:pPr marL="0" indent="0">
              <a:buNone/>
            </a:pPr>
            <a:r>
              <a:rPr lang="fr-FR" sz="1800" dirty="0" err="1">
                <a:solidFill>
                  <a:prstClr val="black"/>
                </a:solidFill>
                <a:latin typeface="Courier"/>
              </a:rPr>
              <a:t>bonjourbonjour</a:t>
            </a:r>
            <a:endParaRPr lang="fr-FR" sz="1800" dirty="0">
              <a:solidFill>
                <a:prstClr val="black"/>
              </a:solidFill>
              <a:latin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 x </a:t>
            </a:r>
            <a:r>
              <a:rPr lang="fr-FR" sz="1800" dirty="0">
                <a:solidFill>
                  <a:srgbClr val="666666"/>
                </a:solidFill>
                <a:latin typeface="Courier"/>
              </a:rPr>
              <a:t>+ </a:t>
            </a:r>
            <a:r>
              <a:rPr lang="fr-FR" sz="1800" dirty="0">
                <a:solidFill>
                  <a:prstClr val="black"/>
                </a:solidFill>
                <a:latin typeface="Courier"/>
              </a:rPr>
              <a:t>z</a:t>
            </a:r>
          </a:p>
          <a:p>
            <a:pPr marL="0" indent="0">
              <a:buNone/>
            </a:pPr>
            <a:r>
              <a:rPr lang="fr-FR" sz="1800" dirty="0" err="1">
                <a:solidFill>
                  <a:srgbClr val="FF0000"/>
                </a:solidFill>
                <a:latin typeface="Courier"/>
                <a:cs typeface="Courier"/>
              </a:rPr>
              <a:t>Traceback</a:t>
            </a:r>
            <a:r>
              <a:rPr lang="fr-FR" sz="1800" dirty="0">
                <a:solidFill>
                  <a:srgbClr val="FF0000"/>
                </a:solidFill>
                <a:latin typeface="Courier"/>
                <a:cs typeface="Courier"/>
              </a:rPr>
              <a:t> (</a:t>
            </a:r>
            <a:r>
              <a:rPr lang="fr-FR" sz="1800" dirty="0" err="1">
                <a:solidFill>
                  <a:srgbClr val="FF0000"/>
                </a:solidFill>
                <a:latin typeface="Courier"/>
                <a:cs typeface="Courier"/>
              </a:rPr>
              <a:t>most</a:t>
            </a:r>
            <a:r>
              <a:rPr lang="fr-FR" sz="1800" dirty="0">
                <a:solidFill>
                  <a:srgbClr val="FF0000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srgbClr val="FF0000"/>
                </a:solidFill>
                <a:latin typeface="Courier"/>
                <a:cs typeface="Courier"/>
              </a:rPr>
              <a:t>recent</a:t>
            </a:r>
            <a:r>
              <a:rPr lang="fr-FR" sz="1800" dirty="0">
                <a:solidFill>
                  <a:srgbClr val="FF0000"/>
                </a:solidFill>
                <a:latin typeface="Courier"/>
                <a:cs typeface="Courier"/>
              </a:rPr>
              <a:t> call last):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FF0000"/>
                </a:solidFill>
                <a:latin typeface="Courier"/>
                <a:cs typeface="Courier"/>
              </a:rPr>
              <a:t>  File "&lt;</a:t>
            </a:r>
            <a:r>
              <a:rPr lang="fr-FR" sz="1800" dirty="0" err="1">
                <a:solidFill>
                  <a:srgbClr val="FF0000"/>
                </a:solidFill>
                <a:latin typeface="Courier"/>
                <a:cs typeface="Courier"/>
              </a:rPr>
              <a:t>stdin</a:t>
            </a:r>
            <a:r>
              <a:rPr lang="fr-FR" sz="1800" dirty="0">
                <a:solidFill>
                  <a:srgbClr val="FF0000"/>
                </a:solidFill>
                <a:latin typeface="Courier"/>
                <a:cs typeface="Courier"/>
              </a:rPr>
              <a:t>&gt;", line 1, in &lt;module&gt;</a:t>
            </a:r>
          </a:p>
          <a:p>
            <a:pPr marL="0" indent="0">
              <a:buNone/>
            </a:pPr>
            <a:r>
              <a:rPr lang="fr-FR" sz="1800" dirty="0" err="1">
                <a:solidFill>
                  <a:srgbClr val="FF0000"/>
                </a:solidFill>
                <a:latin typeface="Courier"/>
                <a:cs typeface="Courier"/>
              </a:rPr>
              <a:t>TypeError</a:t>
            </a:r>
            <a:r>
              <a:rPr lang="fr-FR" sz="1800" dirty="0">
                <a:solidFill>
                  <a:srgbClr val="FF0000"/>
                </a:solidFill>
                <a:latin typeface="Courier"/>
                <a:cs typeface="Courier"/>
              </a:rPr>
              <a:t>: </a:t>
            </a:r>
            <a:r>
              <a:rPr lang="fr-FR" sz="1800" dirty="0" err="1">
                <a:solidFill>
                  <a:srgbClr val="FF0000"/>
                </a:solidFill>
                <a:latin typeface="Courier"/>
                <a:cs typeface="Courier"/>
              </a:rPr>
              <a:t>unsupported</a:t>
            </a:r>
            <a:r>
              <a:rPr lang="fr-FR" sz="1800" dirty="0">
                <a:solidFill>
                  <a:srgbClr val="FF0000"/>
                </a:solidFill>
                <a:latin typeface="Courier"/>
                <a:cs typeface="Courier"/>
              </a:rPr>
              <a:t> </a:t>
            </a:r>
            <a:r>
              <a:rPr lang="fr-FR" sz="1800" dirty="0" err="1">
                <a:solidFill>
                  <a:srgbClr val="FF0000"/>
                </a:solidFill>
                <a:latin typeface="Courier"/>
                <a:cs typeface="Courier"/>
              </a:rPr>
              <a:t>operand</a:t>
            </a:r>
            <a:r>
              <a:rPr lang="fr-FR" sz="1800" dirty="0">
                <a:solidFill>
                  <a:srgbClr val="FF0000"/>
                </a:solidFill>
                <a:latin typeface="Courier"/>
                <a:cs typeface="Courier"/>
              </a:rPr>
              <a:t> type(s) for +: '</a:t>
            </a:r>
            <a:r>
              <a:rPr lang="fr-FR" sz="1800" dirty="0" err="1">
                <a:solidFill>
                  <a:srgbClr val="FF0000"/>
                </a:solidFill>
                <a:latin typeface="Courier"/>
                <a:cs typeface="Courier"/>
              </a:rPr>
              <a:t>int</a:t>
            </a:r>
            <a:r>
              <a:rPr lang="fr-FR" sz="1800" dirty="0">
                <a:solidFill>
                  <a:srgbClr val="FF0000"/>
                </a:solidFill>
                <a:latin typeface="Courier"/>
                <a:cs typeface="Courier"/>
              </a:rPr>
              <a:t>' and '</a:t>
            </a:r>
            <a:r>
              <a:rPr lang="fr-FR" sz="1800" dirty="0" err="1">
                <a:solidFill>
                  <a:srgbClr val="FF0000"/>
                </a:solidFill>
                <a:latin typeface="Courier"/>
                <a:cs typeface="Courier"/>
              </a:rPr>
              <a:t>str</a:t>
            </a:r>
            <a:r>
              <a:rPr lang="fr-FR" sz="1800" dirty="0">
                <a:solidFill>
                  <a:srgbClr val="FF0000"/>
                </a:solidFill>
                <a:latin typeface="Courier"/>
                <a:cs typeface="Courier"/>
              </a:rPr>
              <a:t>'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</a:rPr>
              <a:t>&gt;&gt;&gt;</a:t>
            </a:r>
            <a:endParaRPr lang="fr-FR" sz="1800" dirty="0"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311924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Expressions booléennes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9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667072" y="1600200"/>
            <a:ext cx="8153400" cy="449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is-IS" sz="1800" dirty="0">
                <a:solidFill>
                  <a:srgbClr val="666666"/>
                </a:solidFill>
                <a:latin typeface="Courier"/>
                <a:cs typeface="Courier"/>
              </a:rPr>
              <a:t>2</a:t>
            </a: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is-IS" sz="1800" dirty="0">
                <a:solidFill>
                  <a:srgbClr val="666666"/>
                </a:solidFill>
                <a:latin typeface="Courier"/>
                <a:cs typeface="Courier"/>
              </a:rPr>
              <a:t>&lt;</a:t>
            </a: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is-IS" sz="1800" dirty="0">
                <a:solidFill>
                  <a:srgbClr val="666666"/>
                </a:solidFill>
                <a:latin typeface="Courier"/>
                <a:cs typeface="Courier"/>
              </a:rPr>
              <a:t>3</a:t>
            </a:r>
            <a:endParaRPr lang="is-I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True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it-IT" sz="1800" dirty="0">
                <a:solidFill>
                  <a:srgbClr val="666666"/>
                </a:solidFill>
                <a:latin typeface="Courier"/>
                <a:cs typeface="Courier"/>
              </a:rPr>
              <a:t>7</a:t>
            </a: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it-IT" sz="1800" dirty="0">
                <a:solidFill>
                  <a:srgbClr val="666666"/>
                </a:solidFill>
                <a:latin typeface="Courier"/>
                <a:cs typeface="Courier"/>
              </a:rPr>
              <a:t>&gt;</a:t>
            </a: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it-IT" sz="1800" dirty="0">
                <a:solidFill>
                  <a:srgbClr val="666666"/>
                </a:solidFill>
                <a:latin typeface="Courier"/>
                <a:cs typeface="Courier"/>
              </a:rPr>
              <a:t>12</a:t>
            </a:r>
            <a:endParaRPr lang="it-IT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False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nl-NL" sz="1800" dirty="0">
                <a:solidFill>
                  <a:srgbClr val="666666"/>
                </a:solidFill>
                <a:latin typeface="Courier"/>
                <a:cs typeface="Courier"/>
              </a:rPr>
              <a:t>3</a:t>
            </a:r>
            <a:r>
              <a:rPr lang="nl-NL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nl-NL" sz="1800" dirty="0">
                <a:solidFill>
                  <a:srgbClr val="666666"/>
                </a:solidFill>
                <a:latin typeface="Courier"/>
                <a:cs typeface="Courier"/>
              </a:rPr>
              <a:t>==</a:t>
            </a:r>
            <a:r>
              <a:rPr lang="nl-NL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nl-NL" sz="1800" dirty="0">
                <a:solidFill>
                  <a:srgbClr val="666666"/>
                </a:solidFill>
                <a:latin typeface="Courier"/>
                <a:cs typeface="Courier"/>
              </a:rPr>
              <a:t>4</a:t>
            </a:r>
            <a:endParaRPr lang="nl-NL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nl-NL" sz="1800" dirty="0" err="1">
                <a:solidFill>
                  <a:prstClr val="black"/>
                </a:solidFill>
                <a:latin typeface="Courier"/>
                <a:cs typeface="Courier"/>
              </a:rPr>
              <a:t>False</a:t>
            </a:r>
            <a:endParaRPr lang="nl-NL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is-IS" sz="1800" dirty="0">
                <a:solidFill>
                  <a:srgbClr val="666666"/>
                </a:solidFill>
                <a:latin typeface="Courier"/>
                <a:cs typeface="Courier"/>
              </a:rPr>
              <a:t>12</a:t>
            </a: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is-IS" sz="1800" dirty="0">
                <a:solidFill>
                  <a:srgbClr val="666666"/>
                </a:solidFill>
                <a:latin typeface="Courier"/>
                <a:cs typeface="Courier"/>
              </a:rPr>
              <a:t>==</a:t>
            </a: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is-IS" sz="1800" dirty="0">
                <a:solidFill>
                  <a:srgbClr val="666666"/>
                </a:solidFill>
                <a:latin typeface="Courier"/>
                <a:cs typeface="Courier"/>
              </a:rPr>
              <a:t>12</a:t>
            </a:r>
            <a:endParaRPr lang="is-I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True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nl-NL" sz="1800" dirty="0">
                <a:solidFill>
                  <a:srgbClr val="666666"/>
                </a:solidFill>
                <a:latin typeface="Courier"/>
                <a:cs typeface="Courier"/>
              </a:rPr>
              <a:t>3</a:t>
            </a:r>
            <a:r>
              <a:rPr lang="nl-NL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nl-NL" sz="1800" dirty="0">
                <a:solidFill>
                  <a:srgbClr val="666666"/>
                </a:solidFill>
                <a:latin typeface="Courier"/>
                <a:cs typeface="Courier"/>
              </a:rPr>
              <a:t>&lt;=</a:t>
            </a:r>
            <a:r>
              <a:rPr lang="nl-NL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nl-NL" sz="1800" dirty="0">
                <a:solidFill>
                  <a:srgbClr val="666666"/>
                </a:solidFill>
                <a:latin typeface="Courier"/>
                <a:cs typeface="Courier"/>
              </a:rPr>
              <a:t>5</a:t>
            </a:r>
            <a:endParaRPr lang="nl-NL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nl-NL" sz="1800" dirty="0">
                <a:solidFill>
                  <a:prstClr val="black"/>
                </a:solidFill>
                <a:latin typeface="Courier"/>
                <a:cs typeface="Courier"/>
              </a:rPr>
              <a:t>True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it-IT" sz="1800" dirty="0">
                <a:solidFill>
                  <a:srgbClr val="666666"/>
                </a:solidFill>
                <a:latin typeface="Courier"/>
                <a:cs typeface="Courier"/>
              </a:rPr>
              <a:t>3</a:t>
            </a: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it-IT" sz="1800" dirty="0">
                <a:solidFill>
                  <a:srgbClr val="666666"/>
                </a:solidFill>
                <a:latin typeface="Courier"/>
                <a:cs typeface="Courier"/>
              </a:rPr>
              <a:t>&gt;=</a:t>
            </a:r>
            <a:r>
              <a:rPr lang="it-IT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it-IT" sz="1800" dirty="0">
                <a:solidFill>
                  <a:srgbClr val="666666"/>
                </a:solidFill>
                <a:latin typeface="Courier"/>
                <a:cs typeface="Courier"/>
              </a:rPr>
              <a:t>5</a:t>
            </a:r>
            <a:endParaRPr lang="fr-FR" sz="1800" dirty="0"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False</a:t>
            </a:r>
            <a:endParaRPr lang="it-IT" sz="1800" dirty="0">
              <a:solidFill>
                <a:prstClr val="black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723754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Types de données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984C434B-4C1C-AA4B-9FC7-3C7BDD6F6ADC}" type="slidenum">
              <a:rPr lang="fr-FR" smtClean="0"/>
              <a:pPr/>
              <a:t>10</a:t>
            </a:fld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type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(x)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&lt;class '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int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'&gt;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type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(y)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&lt;class '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float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'&gt;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fr-FR" sz="1800" dirty="0">
                <a:solidFill>
                  <a:srgbClr val="008000"/>
                </a:solidFill>
                <a:latin typeface="Courier"/>
                <a:cs typeface="Courier"/>
              </a:rPr>
              <a:t>type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(z)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&lt;class '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str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'&gt;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is-IS" sz="1800" dirty="0">
                <a:solidFill>
                  <a:srgbClr val="008000"/>
                </a:solidFill>
                <a:latin typeface="Courier"/>
                <a:cs typeface="Courier"/>
              </a:rPr>
              <a:t>type</a:t>
            </a: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is-IS" sz="1800" dirty="0">
                <a:solidFill>
                  <a:srgbClr val="666666"/>
                </a:solidFill>
                <a:latin typeface="Courier"/>
                <a:cs typeface="Courier"/>
              </a:rPr>
              <a:t>2</a:t>
            </a: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is-IS" sz="1800" dirty="0">
                <a:solidFill>
                  <a:srgbClr val="666666"/>
                </a:solidFill>
                <a:latin typeface="Courier"/>
                <a:cs typeface="Courier"/>
              </a:rPr>
              <a:t>&lt;</a:t>
            </a: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is-IS" sz="1800" dirty="0">
                <a:solidFill>
                  <a:srgbClr val="666666"/>
                </a:solidFill>
                <a:latin typeface="Courier"/>
                <a:cs typeface="Courier"/>
              </a:rPr>
              <a:t>3</a:t>
            </a:r>
            <a:r>
              <a:rPr lang="is-IS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&lt;class '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bool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'&gt;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&gt;&gt;&gt; </a:t>
            </a:r>
            <a:r>
              <a:rPr lang="nl-NL" sz="1800" dirty="0">
                <a:solidFill>
                  <a:srgbClr val="008000"/>
                </a:solidFill>
                <a:latin typeface="Courier"/>
                <a:cs typeface="Courier"/>
              </a:rPr>
              <a:t>type</a:t>
            </a:r>
            <a:r>
              <a:rPr lang="nl-NL" sz="1800" dirty="0">
                <a:solidFill>
                  <a:prstClr val="black"/>
                </a:solidFill>
                <a:latin typeface="Courier"/>
                <a:cs typeface="Courier"/>
              </a:rPr>
              <a:t>(</a:t>
            </a:r>
            <a:r>
              <a:rPr lang="nl-NL" sz="1800" dirty="0">
                <a:solidFill>
                  <a:srgbClr val="666666"/>
                </a:solidFill>
                <a:latin typeface="Courier"/>
                <a:cs typeface="Courier"/>
              </a:rPr>
              <a:t>3</a:t>
            </a:r>
            <a:r>
              <a:rPr lang="nl-NL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nl-NL" sz="1800" dirty="0">
                <a:solidFill>
                  <a:srgbClr val="666666"/>
                </a:solidFill>
                <a:latin typeface="Courier"/>
                <a:cs typeface="Courier"/>
              </a:rPr>
              <a:t>==</a:t>
            </a:r>
            <a:r>
              <a:rPr lang="nl-NL" sz="1800" dirty="0">
                <a:solidFill>
                  <a:prstClr val="black"/>
                </a:solidFill>
                <a:latin typeface="Courier"/>
                <a:cs typeface="Courier"/>
              </a:rPr>
              <a:t> </a:t>
            </a:r>
            <a:r>
              <a:rPr lang="nl-NL" sz="1800" dirty="0">
                <a:solidFill>
                  <a:srgbClr val="666666"/>
                </a:solidFill>
                <a:latin typeface="Courier"/>
                <a:cs typeface="Courier"/>
              </a:rPr>
              <a:t>4</a:t>
            </a:r>
            <a:r>
              <a:rPr lang="nl-NL" sz="1800" dirty="0">
                <a:solidFill>
                  <a:prstClr val="black"/>
                </a:solidFill>
                <a:latin typeface="Courier"/>
                <a:cs typeface="Courier"/>
              </a:rPr>
              <a:t>)</a:t>
            </a:r>
          </a:p>
          <a:p>
            <a:pPr marL="0" indent="0">
              <a:buNone/>
            </a:pP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&lt;class '</a:t>
            </a:r>
            <a:r>
              <a:rPr lang="fr-FR" sz="1800" dirty="0" err="1">
                <a:solidFill>
                  <a:prstClr val="black"/>
                </a:solidFill>
                <a:latin typeface="Courier"/>
                <a:cs typeface="Courier"/>
              </a:rPr>
              <a:t>bool</a:t>
            </a:r>
            <a:r>
              <a:rPr lang="fr-FR" sz="1800" dirty="0">
                <a:solidFill>
                  <a:prstClr val="black"/>
                </a:solidFill>
                <a:latin typeface="Courier"/>
                <a:cs typeface="Courier"/>
              </a:rPr>
              <a:t>'&gt;</a:t>
            </a:r>
            <a:endParaRPr lang="is-IS" sz="1800" dirty="0">
              <a:solidFill>
                <a:prstClr val="black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fr-FR" sz="1800" dirty="0">
                <a:latin typeface="Courier"/>
                <a:cs typeface="Courier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1268544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édian">
  <a:themeElements>
    <a:clrScheme name="Mé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édian">
      <a:majorFont>
        <a:latin typeface="Tw Cen MT"/>
        <a:ea typeface=""/>
        <a:cs typeface=""/>
        <a:font script="Grek" typeface="Calibri"/>
        <a:font script="Cyrl" typeface="Calibri"/>
        <a:font script="Jpan" typeface="ＭＳ Ｐゴシック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ＭＳ Ｐゴシック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é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Médian.thmx</Template>
  <TotalTime>4245</TotalTime>
  <Words>347</Words>
  <Application>Microsoft Macintosh PowerPoint</Application>
  <PresentationFormat>On-screen Show (4:3)</PresentationFormat>
  <Paragraphs>105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ＭＳ Ｐゴシック</vt:lpstr>
      <vt:lpstr>Arial</vt:lpstr>
      <vt:lpstr>Courier</vt:lpstr>
      <vt:lpstr>Times</vt:lpstr>
      <vt:lpstr>Tw Cen MT</vt:lpstr>
      <vt:lpstr>Wingdings</vt:lpstr>
      <vt:lpstr>Wingdings 2</vt:lpstr>
      <vt:lpstr>Médian</vt:lpstr>
      <vt:lpstr>Chapitre 1 Premiers pas en Python</vt:lpstr>
      <vt:lpstr>Lancement de Python</vt:lpstr>
      <vt:lpstr>IDE &amp; Web-based interactive environment</vt:lpstr>
      <vt:lpstr>Entiers et flottants</vt:lpstr>
      <vt:lpstr>Entiers et flottants</vt:lpstr>
      <vt:lpstr>La fonction « print »</vt:lpstr>
      <vt:lpstr>Affectation de variables</vt:lpstr>
      <vt:lpstr>Affectation de variables</vt:lpstr>
      <vt:lpstr>Expressions booléennes</vt:lpstr>
      <vt:lpstr>Types de données</vt:lpstr>
    </vt:vector>
  </TitlesOfParts>
  <Company>Université de Lausanne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INTRODUCTION</dc:title>
  <dc:creator>Campus Agreement</dc:creator>
  <cp:lastModifiedBy>Microsoft Office User</cp:lastModifiedBy>
  <cp:revision>422</cp:revision>
  <cp:lastPrinted>2011-09-18T10:53:10Z</cp:lastPrinted>
  <dcterms:created xsi:type="dcterms:W3CDTF">2002-10-22T15:56:56Z</dcterms:created>
  <dcterms:modified xsi:type="dcterms:W3CDTF">2018-10-17T18:19:49Z</dcterms:modified>
</cp:coreProperties>
</file>