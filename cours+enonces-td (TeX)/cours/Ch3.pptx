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27"/>
  </p:notesMasterIdLst>
  <p:handoutMasterIdLst>
    <p:handoutMasterId r:id="rId28"/>
  </p:handoutMasterIdLst>
  <p:sldIdLst>
    <p:sldId id="375" r:id="rId2"/>
    <p:sldId id="377" r:id="rId3"/>
    <p:sldId id="376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98" r:id="rId16"/>
    <p:sldId id="399" r:id="rId17"/>
    <p:sldId id="389" r:id="rId18"/>
    <p:sldId id="390" r:id="rId19"/>
    <p:sldId id="391" r:id="rId20"/>
    <p:sldId id="392" r:id="rId21"/>
    <p:sldId id="393" r:id="rId22"/>
    <p:sldId id="395" r:id="rId23"/>
    <p:sldId id="394" r:id="rId24"/>
    <p:sldId id="396" r:id="rId25"/>
    <p:sldId id="397" r:id="rId26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99CCFF"/>
    <a:srgbClr val="FFCCFF"/>
    <a:srgbClr val="99FFCC"/>
    <a:srgbClr val="CCFFFF"/>
    <a:srgbClr val="FF00FF"/>
    <a:srgbClr val="FF0000"/>
    <a:srgbClr val="009900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43"/>
    <p:restoredTop sz="90959"/>
  </p:normalViewPr>
  <p:slideViewPr>
    <p:cSldViewPr>
      <p:cViewPr varScale="1">
        <p:scale>
          <a:sx n="104" d="100"/>
          <a:sy n="104" d="100"/>
        </p:scale>
        <p:origin x="89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-425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CD6F964-0E01-0347-96A4-C37FEA3034E6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034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BB96183-5730-AF4B-A221-215C0AAD25FC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2413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CH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r>
              <a:rPr lang="fr-CH"/>
              <a:t>30.10.12</a:t>
            </a:r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UNIL - Informatique I</a:t>
            </a: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D2109F-C210-9F4F-BE50-DE6D04027247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84C434B-4C1C-AA4B-9FC7-3C7BDD6F6AD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A062017-3E5F-D545-803C-22C050AB8223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0BA543E-D95F-E941-884E-49F19CC3D31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/>
              <a:t>UNIL - Informatique I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F22BEEB-CA8A-C040-983A-AAABE0F651E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/>
              <a:t>UNIL - Informatique I</a:t>
            </a:r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9B8300-181C-054A-A328-E2139B9AD5F7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1A05B3F-7440-4047-9795-78A3F4158249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AD62-4CC2-5B40-ACA0-2FA3AD3CFBCF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C79D76C-33C8-DF41-AB83-387084CEC10B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fr-FR"/>
              <a:t>UNIL - Informatique I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CH"/>
              <a:t>Faire glisser l'image vers l'espace réservé ou cliquer sur l'icône pour l'ajouter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A849-4122-6640-96DA-97F7188E7D39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97011EA-94E7-C94D-AD82-14E12DD73888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CH"/>
              <a:t>Cliquez pour modifier les styles du texte du masque</a:t>
            </a:r>
          </a:p>
          <a:p>
            <a:pPr lvl="1" eaLnBrk="1" latinLnBrk="0" hangingPunct="1"/>
            <a:r>
              <a:rPr kumimoji="0" lang="fr-CH"/>
              <a:t>Deuxième niveau</a:t>
            </a:r>
          </a:p>
          <a:p>
            <a:pPr lvl="2" eaLnBrk="1" latinLnBrk="0" hangingPunct="1"/>
            <a:r>
              <a:rPr kumimoji="0" lang="fr-CH"/>
              <a:t>Troisième niveau</a:t>
            </a:r>
          </a:p>
          <a:p>
            <a:pPr lvl="3" eaLnBrk="1" latinLnBrk="0" hangingPunct="1"/>
            <a:r>
              <a:rPr kumimoji="0" lang="fr-CH"/>
              <a:t>Quatrième niveau</a:t>
            </a:r>
          </a:p>
          <a:p>
            <a:pPr lvl="4" eaLnBrk="1" latinLnBrk="0" hangingPunct="1"/>
            <a:r>
              <a:rPr kumimoji="0" lang="fr-CH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CH"/>
              <a:t>30.10.12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FR"/>
              <a:t>UNIL - Informatique I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BE7D13C-A807-CA4C-B7E6-D4B4CB6419C0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0" name="Picture 12" descr="logoBlancTransparent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130925"/>
            <a:ext cx="1152525" cy="6254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Chapitre 3</a:t>
            </a:r>
            <a:br>
              <a:rPr lang="fr-FR" dirty="0"/>
            </a:br>
            <a:r>
              <a:rPr lang="fr-FR" dirty="0"/>
              <a:t>Les types de base – </a:t>
            </a:r>
            <a:r>
              <a:rPr lang="fr-FR" dirty="0" err="1"/>
              <a:t>parTiE</a:t>
            </a:r>
            <a:r>
              <a:rPr lang="fr-FR" dirty="0"/>
              <a:t> 1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Programmation en Python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109F-C210-9F4F-BE50-DE6D04027247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327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Types de données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En Python, il est possible de manipuler différents types de données :</a:t>
            </a:r>
          </a:p>
          <a:p>
            <a:pPr lvl="1"/>
            <a:r>
              <a:rPr lang="fr-FR" dirty="0"/>
              <a:t>nombres entiers</a:t>
            </a:r>
          </a:p>
          <a:p>
            <a:pPr lvl="1"/>
            <a:r>
              <a:rPr lang="fr-FR" dirty="0"/>
              <a:t>nombres réels (à virgules)</a:t>
            </a:r>
          </a:p>
          <a:p>
            <a:pPr lvl="1"/>
            <a:r>
              <a:rPr lang="fr-FR" dirty="0"/>
              <a:t>nombres complexes</a:t>
            </a:r>
          </a:p>
          <a:p>
            <a:pPr lvl="1"/>
            <a:r>
              <a:rPr lang="fr-FR" dirty="0"/>
              <a:t>booléens (le vrai et le faux) </a:t>
            </a:r>
          </a:p>
          <a:p>
            <a:pPr lvl="1"/>
            <a:r>
              <a:rPr lang="fr-FR" dirty="0"/>
              <a:t>chaînes de caractères</a:t>
            </a:r>
          </a:p>
          <a:p>
            <a:pPr lvl="1"/>
            <a:r>
              <a:rPr lang="fr-FR" dirty="0"/>
              <a:t>listes</a:t>
            </a:r>
          </a:p>
          <a:p>
            <a:pPr lvl="1"/>
            <a:r>
              <a:rPr lang="fr-FR" dirty="0" err="1"/>
              <a:t>tuples</a:t>
            </a:r>
            <a:r>
              <a:rPr lang="fr-FR" dirty="0"/>
              <a:t> (listes de taille est non modifiables)</a:t>
            </a:r>
          </a:p>
          <a:p>
            <a:pPr lvl="1"/>
            <a:r>
              <a:rPr lang="fr-FR" dirty="0"/>
              <a:t>dictionnaires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921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entiers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nombres entiers, appelé « </a:t>
            </a:r>
            <a:r>
              <a:rPr lang="fr-FR" dirty="0" err="1"/>
              <a:t>integers</a:t>
            </a:r>
            <a:r>
              <a:rPr lang="fr-FR" dirty="0"/>
              <a:t> » en anglais, désignent les nombres sans virgules, positifs ou négatifs.</a:t>
            </a:r>
          </a:p>
          <a:p>
            <a:r>
              <a:rPr lang="fr-FR" dirty="0"/>
              <a:t>En Python, les nombres entiers sont des objets de type 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int</a:t>
            </a:r>
            <a:r>
              <a:rPr lang="fr-FR" dirty="0"/>
              <a:t> (abréviation de </a:t>
            </a:r>
            <a:r>
              <a:rPr lang="fr-FR" dirty="0" err="1"/>
              <a:t>integer</a:t>
            </a:r>
            <a:r>
              <a:rPr lang="fr-FR" dirty="0"/>
              <a:t>).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x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3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fr-FR" sz="1800" dirty="0">
                <a:solidFill>
                  <a:srgbClr val="008000"/>
                </a:solidFill>
                <a:latin typeface="Courier"/>
              </a:rPr>
              <a:t>type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(x)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&lt;class '</a:t>
            </a:r>
            <a:r>
              <a:rPr lang="fr-FR" sz="1800" dirty="0" err="1">
                <a:latin typeface="Courier"/>
                <a:cs typeface="Courier"/>
              </a:rPr>
              <a:t>int</a:t>
            </a:r>
            <a:r>
              <a:rPr lang="fr-FR" sz="1800" dirty="0">
                <a:latin typeface="Courier"/>
                <a:cs typeface="Courier"/>
              </a:rPr>
              <a:t>'&gt;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201544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entiers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Comme on a déjà vu informellement au chapitre 1, il est possible d’effectuer des opérations mathématiques sur les entiers en utilisant les opérateurs arithmétiques usuels :</a:t>
            </a:r>
          </a:p>
          <a:p>
            <a:pPr lvl="1"/>
            <a:r>
              <a:rPr lang="fr-FR" dirty="0"/>
              <a:t>addition : opérateur « + »</a:t>
            </a:r>
          </a:p>
          <a:p>
            <a:pPr lvl="1"/>
            <a:r>
              <a:rPr lang="fr-FR" dirty="0"/>
              <a:t>soustraction : opérateur « - »</a:t>
            </a:r>
          </a:p>
          <a:p>
            <a:pPr lvl="1"/>
            <a:r>
              <a:rPr lang="fr-FR" dirty="0"/>
              <a:t>multiplication : opérateur « * »</a:t>
            </a:r>
          </a:p>
          <a:p>
            <a:pPr lvl="1"/>
            <a:r>
              <a:rPr lang="fr-FR" dirty="0"/>
              <a:t>puissance : opérateur « ** »</a:t>
            </a:r>
          </a:p>
          <a:p>
            <a:pPr lvl="1"/>
            <a:r>
              <a:rPr lang="fr-FR" dirty="0"/>
              <a:t>division entière : « / » et « // » en Python 2 et 3, </a:t>
            </a:r>
            <a:r>
              <a:rPr lang="fr-FR" dirty="0" err="1"/>
              <a:t>resp</a:t>
            </a:r>
            <a:r>
              <a:rPr lang="fr-FR" dirty="0"/>
              <a:t>. </a:t>
            </a:r>
          </a:p>
          <a:p>
            <a:pPr lvl="1"/>
            <a:r>
              <a:rPr lang="fr-FR" dirty="0"/>
              <a:t>modulo : opérateur « %</a:t>
            </a:r>
            <a:r>
              <a:rPr lang="fr-FR"/>
              <a:t> »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584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entiers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7+3</a:t>
            </a:r>
          </a:p>
          <a:p>
            <a:pPr marL="0" indent="0">
              <a:buNone/>
            </a:pPr>
            <a:r>
              <a:rPr lang="it-IT" sz="1800" dirty="0">
                <a:latin typeface="Courier"/>
                <a:cs typeface="Courier"/>
              </a:rPr>
              <a:t>10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7-3</a:t>
            </a:r>
          </a:p>
          <a:p>
            <a:pPr marL="0" indent="0">
              <a:buNone/>
            </a:pPr>
            <a:r>
              <a:rPr lang="fi-FI" sz="1800" dirty="0">
                <a:solidFill>
                  <a:srgbClr val="000000"/>
                </a:solidFill>
                <a:latin typeface="Courier"/>
                <a:cs typeface="Courier"/>
              </a:rPr>
              <a:t>4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7*3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i-FI" sz="1800" dirty="0">
                <a:solidFill>
                  <a:srgbClr val="000000"/>
                </a:solidFill>
                <a:latin typeface="Courier"/>
                <a:cs typeface="Courier"/>
              </a:rPr>
              <a:t>21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7**3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puissance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i-FI" sz="1800" dirty="0">
                <a:solidFill>
                  <a:srgbClr val="000000"/>
                </a:solidFill>
                <a:latin typeface="Courier"/>
                <a:cs typeface="Courier"/>
              </a:rPr>
              <a:t>343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7//3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division entière (résultat sans les décimales)</a:t>
            </a:r>
            <a:endParaRPr lang="en-US" sz="1800" dirty="0">
              <a:solidFill>
                <a:srgbClr val="666666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i-FI" sz="1800" dirty="0">
                <a:solidFill>
                  <a:srgbClr val="000000"/>
                </a:solidFill>
                <a:latin typeface="Courier"/>
                <a:cs typeface="Courier"/>
              </a:rPr>
              <a:t>2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7%3</a:t>
            </a: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i-FI" sz="1800" dirty="0">
                <a:solidFill>
                  <a:srgbClr val="000000"/>
                </a:solidFill>
                <a:latin typeface="Courier"/>
                <a:cs typeface="Courier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3268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entiers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En Python 2, lorsque nous utilisons la barre de division classique « / », nous effectuons une division entière. En python 3, nous effectuons une division classique et donc obtenons un nombre à virgule, de type </a:t>
            </a:r>
            <a:r>
              <a:rPr lang="fr-FR" dirty="0" err="1"/>
              <a:t>float</a:t>
            </a:r>
            <a:r>
              <a:rPr lang="fr-FR" dirty="0"/>
              <a:t> et non de type </a:t>
            </a:r>
            <a:r>
              <a:rPr lang="fr-FR" dirty="0" err="1"/>
              <a:t>int</a:t>
            </a:r>
            <a:r>
              <a:rPr lang="fr-FR" dirty="0"/>
              <a:t> (cf. </a:t>
            </a:r>
            <a:r>
              <a:rPr lang="fr-FR" dirty="0" err="1"/>
              <a:t>slides</a:t>
            </a:r>
            <a:r>
              <a:rPr lang="fr-FR" dirty="0"/>
              <a:t> suivants).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7/3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Python 2, division entière (sans décimales)</a:t>
            </a:r>
            <a:endParaRPr lang="en-US" sz="1800" dirty="0">
              <a:solidFill>
                <a:srgbClr val="666666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hr-HR" sz="1800" dirty="0">
                <a:solidFill>
                  <a:prstClr val="black"/>
                </a:solidFill>
                <a:latin typeface="Courier"/>
                <a:cs typeface="Courier"/>
              </a:rPr>
              <a:t>2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7/3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Python 3, division normale (avec décimales)</a:t>
            </a:r>
            <a:endParaRPr lang="en-US" sz="1800" dirty="0">
              <a:solidFill>
                <a:srgbClr val="666666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hr-HR" sz="1800" dirty="0">
                <a:solidFill>
                  <a:prstClr val="black"/>
                </a:solidFill>
                <a:latin typeface="Courier"/>
                <a:cs typeface="Courier"/>
              </a:rPr>
              <a:t>2.3333333333333335 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endParaRPr lang="fr-FR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55846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entiers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Puisque la mémoire de l’ordinateur est finie, nous ne pouvons évidemment pas représenter l’infinité des nombres entiers en Python, il y a un maximum et un minimum.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00FF"/>
                </a:solidFill>
                <a:latin typeface="Courier"/>
                <a:cs typeface="Courier"/>
              </a:rPr>
              <a:t>os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sys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importation de la fonction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sys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 de la librairie os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sys</a:t>
            </a:r>
            <a:r>
              <a:rPr lang="fr-FR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maxsize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9223372036854775807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</a:p>
          <a:p>
            <a:pPr marL="0" indent="0">
              <a:buNone/>
            </a:pPr>
            <a:endParaRPr lang="fr-FR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76816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réels ou flottants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Les nombres réels ou flottants, appelé « </a:t>
            </a:r>
            <a:r>
              <a:rPr lang="fr-FR" dirty="0" err="1"/>
              <a:t>floating</a:t>
            </a:r>
            <a:r>
              <a:rPr lang="fr-FR" dirty="0"/>
              <a:t> </a:t>
            </a:r>
            <a:r>
              <a:rPr lang="fr-FR" dirty="0" err="1"/>
              <a:t>numbers</a:t>
            </a:r>
            <a:r>
              <a:rPr lang="fr-FR" dirty="0"/>
              <a:t> » en programmation, désignent les nombres à virgules, positifs ou négatifs.</a:t>
            </a:r>
          </a:p>
          <a:p>
            <a:r>
              <a:rPr lang="fr-FR" dirty="0"/>
              <a:t>En Python, les nombres réels sont des objets de type 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float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nb-NO" sz="1800" dirty="0">
                <a:solidFill>
                  <a:prstClr val="black"/>
                </a:solidFill>
                <a:latin typeface="Courier"/>
              </a:rPr>
              <a:t>x </a:t>
            </a:r>
            <a:r>
              <a:rPr lang="nb-NO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nb-NO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nb-NO" sz="1800" dirty="0">
                <a:solidFill>
                  <a:srgbClr val="666666"/>
                </a:solidFill>
                <a:latin typeface="Courier"/>
              </a:rPr>
              <a:t>2.54</a:t>
            </a:r>
            <a:endParaRPr lang="nb-NO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nb-NO" sz="1800" dirty="0">
                <a:solidFill>
                  <a:srgbClr val="008000"/>
                </a:solidFill>
                <a:latin typeface="Courier"/>
              </a:rPr>
              <a:t>type</a:t>
            </a:r>
            <a:r>
              <a:rPr lang="nb-NO" sz="1800" dirty="0">
                <a:solidFill>
                  <a:prstClr val="black"/>
                </a:solidFill>
                <a:latin typeface="Courier"/>
              </a:rPr>
              <a:t>(x)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&lt;class '</a:t>
            </a:r>
            <a:r>
              <a:rPr lang="fr-FR" sz="1800" dirty="0" err="1">
                <a:latin typeface="Courier"/>
                <a:cs typeface="Courier"/>
              </a:rPr>
              <a:t>float</a:t>
            </a:r>
            <a:r>
              <a:rPr lang="fr-FR" sz="1800" dirty="0">
                <a:latin typeface="Courier"/>
                <a:cs typeface="Courier"/>
              </a:rPr>
              <a:t>'&gt;</a:t>
            </a:r>
            <a:endParaRPr lang="nb-NO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hr-HR" sz="1800" dirty="0">
                <a:solidFill>
                  <a:prstClr val="black"/>
                </a:solidFill>
                <a:latin typeface="Courier"/>
              </a:rPr>
              <a:t>y </a:t>
            </a:r>
            <a:r>
              <a:rPr lang="hr-H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hr-H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hr-HR" sz="1800" dirty="0">
                <a:solidFill>
                  <a:srgbClr val="666666"/>
                </a:solidFill>
                <a:latin typeface="Courier"/>
              </a:rPr>
              <a:t>3.0</a:t>
            </a:r>
            <a:endParaRPr lang="hr-H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fr-FR" sz="1800" dirty="0">
                <a:solidFill>
                  <a:srgbClr val="008000"/>
                </a:solidFill>
                <a:latin typeface="Courier"/>
              </a:rPr>
              <a:t>type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(y)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&lt;class '</a:t>
            </a:r>
            <a:r>
              <a:rPr lang="fr-FR" sz="1800" dirty="0" err="1">
                <a:latin typeface="Courier"/>
                <a:cs typeface="Courier"/>
              </a:rPr>
              <a:t>float</a:t>
            </a:r>
            <a:r>
              <a:rPr lang="fr-FR" sz="1800" dirty="0">
                <a:latin typeface="Courier"/>
                <a:cs typeface="Courier"/>
              </a:rPr>
              <a:t>’&gt;</a:t>
            </a:r>
          </a:p>
        </p:txBody>
      </p:sp>
    </p:spTree>
    <p:extLst>
      <p:ext uri="{BB962C8B-B14F-4D97-AF65-F5344CB8AC3E}">
        <p14:creationId xmlns:p14="http://schemas.microsoft.com/office/powerpoint/2010/main" val="339316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réels ou flottants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On effectue des opérations mathématiques sur les réels en utilisant les opérateurs arithmétiques usuels :</a:t>
            </a:r>
          </a:p>
          <a:p>
            <a:pPr lvl="1"/>
            <a:r>
              <a:rPr lang="fr-FR" dirty="0"/>
              <a:t>addition : opérateur « + »</a:t>
            </a:r>
          </a:p>
          <a:p>
            <a:pPr lvl="1"/>
            <a:r>
              <a:rPr lang="fr-FR" dirty="0"/>
              <a:t>soustraction : opérateur « - »</a:t>
            </a:r>
          </a:p>
          <a:p>
            <a:pPr lvl="1"/>
            <a:r>
              <a:rPr lang="fr-FR" dirty="0"/>
              <a:t>multiplication : opérateur « * »</a:t>
            </a:r>
          </a:p>
          <a:p>
            <a:pPr lvl="1"/>
            <a:r>
              <a:rPr lang="fr-FR" dirty="0"/>
              <a:t>division : opérateurs « / » ou « // » en Python 2 et 3</a:t>
            </a:r>
          </a:p>
          <a:p>
            <a:pPr lvl="1"/>
            <a:r>
              <a:rPr lang="fr-FR" dirty="0"/>
              <a:t>puissance : opérateur « ** »</a:t>
            </a:r>
          </a:p>
          <a:p>
            <a:pPr lvl="1"/>
            <a:r>
              <a:rPr lang="fr-FR" dirty="0"/>
              <a:t>modulo : opérateur « % »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249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réels ou flottants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7.2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+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3.4</a:t>
            </a:r>
            <a:endParaRPr lang="it-IT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srgbClr val="000000"/>
                </a:solidFill>
                <a:latin typeface="Courier"/>
              </a:rPr>
              <a:t>10.6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</a:t>
            </a:r>
            <a:r>
              <a:rPr lang="is-IS" sz="1800" dirty="0">
                <a:solidFill>
                  <a:srgbClr val="008000"/>
                </a:solidFill>
                <a:latin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7.232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3</a:t>
            </a:r>
            <a:endParaRPr lang="is-IS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srgbClr val="000000"/>
                </a:solidFill>
                <a:latin typeface="Courier"/>
              </a:rPr>
              <a:t>4.232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</a:t>
            </a:r>
            <a:r>
              <a:rPr lang="hr-HR" sz="1800" dirty="0">
                <a:solidFill>
                  <a:srgbClr val="008000"/>
                </a:solidFill>
                <a:latin typeface="Courier"/>
              </a:rPr>
              <a:t> </a:t>
            </a:r>
            <a:r>
              <a:rPr lang="hr-HR" sz="1800" dirty="0">
                <a:solidFill>
                  <a:srgbClr val="666666"/>
                </a:solidFill>
                <a:latin typeface="Courier"/>
              </a:rPr>
              <a:t>7</a:t>
            </a:r>
            <a:r>
              <a:rPr lang="hr-H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hr-HR" sz="1800" dirty="0">
                <a:solidFill>
                  <a:srgbClr val="666666"/>
                </a:solidFill>
                <a:latin typeface="Courier"/>
              </a:rPr>
              <a:t>*</a:t>
            </a:r>
            <a:r>
              <a:rPr lang="hr-H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hr-HR" sz="1800" dirty="0">
                <a:solidFill>
                  <a:srgbClr val="666666"/>
                </a:solidFill>
                <a:latin typeface="Courier"/>
              </a:rPr>
              <a:t>3.0</a:t>
            </a:r>
            <a:endParaRPr lang="hr-H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srgbClr val="000000"/>
                </a:solidFill>
                <a:latin typeface="Courier"/>
              </a:rPr>
              <a:t>21.0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</a:t>
            </a:r>
            <a:r>
              <a:rPr lang="en-US" sz="1800" dirty="0">
                <a:solidFill>
                  <a:srgbClr val="008000"/>
                </a:solidFill>
                <a:latin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7.0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**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3</a:t>
            </a:r>
            <a:endParaRPr lang="en-US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srgbClr val="000000"/>
                </a:solidFill>
                <a:latin typeface="Courier"/>
              </a:rPr>
              <a:t>343.0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</a:t>
            </a:r>
            <a:r>
              <a:rPr lang="is-IS" sz="1800" dirty="0">
                <a:solidFill>
                  <a:srgbClr val="008000"/>
                </a:solidFill>
                <a:latin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7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/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3.23</a:t>
            </a:r>
            <a:endParaRPr lang="is-IS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srgbClr val="000000"/>
                </a:solidFill>
                <a:latin typeface="Courier"/>
              </a:rPr>
              <a:t>2.1671826625387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</a:t>
            </a:r>
            <a:r>
              <a:rPr lang="fr-FR" sz="1800" dirty="0">
                <a:solidFill>
                  <a:srgbClr val="008000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7.0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%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3</a:t>
            </a:r>
          </a:p>
          <a:p>
            <a:pPr marL="0" indent="0">
              <a:buNone/>
            </a:pPr>
            <a:r>
              <a:rPr lang="is-IS" sz="1800" dirty="0">
                <a:solidFill>
                  <a:srgbClr val="000000"/>
                </a:solidFill>
                <a:latin typeface="Courier"/>
              </a:rPr>
              <a:t>1.0</a:t>
            </a:r>
            <a:endParaRPr lang="it-IT" sz="1800" dirty="0">
              <a:solidFill>
                <a:srgbClr val="000000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94093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00FF"/>
                </a:solidFill>
                <a:latin typeface="Courier"/>
                <a:cs typeface="Courier"/>
              </a:rPr>
              <a:t>math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importation de la librairie math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"Soit l’équation du second degré a*x^2 + b*x + c:"</a:t>
            </a:r>
            <a:r>
              <a:rPr lang="fr-FR" sz="1800" dirty="0"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le coefficient a: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le coefficient b: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le coefficient c: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a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</a:rPr>
              <a:t>float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(a)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</a:rPr>
              <a:t>float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(b)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c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</a:rPr>
              <a:t>float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(c)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1363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delta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b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**2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4*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a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*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c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b="1" dirty="0">
                <a:solidFill>
                  <a:srgbClr val="008000"/>
                </a:solidFill>
                <a:latin typeface="Courier-Bold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delta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&lt;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fr-FR" sz="1800" dirty="0" err="1">
                <a:solidFill>
                  <a:srgbClr val="008000"/>
                </a:solidFill>
                <a:latin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"Pas de solution..."</a:t>
            </a:r>
            <a:r>
              <a:rPr lang="fr-FR" sz="1800" dirty="0">
                <a:solidFill>
                  <a:srgbClr val="000000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-Bold"/>
              </a:rPr>
              <a:t>elif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delta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fr-FR" sz="1800" dirty="0" err="1">
                <a:solidFill>
                  <a:srgbClr val="008000"/>
                </a:solidFill>
                <a:latin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"Une seule solution:"</a:t>
            </a:r>
            <a:r>
              <a:rPr lang="fr-FR" sz="1800" dirty="0">
                <a:solidFill>
                  <a:srgbClr val="000000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en-US" sz="1800" dirty="0">
                <a:solidFill>
                  <a:srgbClr val="008000"/>
                </a:solidFill>
                <a:latin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b 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/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 (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2*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a)</a:t>
            </a:r>
            <a:r>
              <a:rPr lang="en-US" sz="1800" dirty="0">
                <a:solidFill>
                  <a:srgbClr val="000000"/>
                </a:solidFill>
                <a:latin typeface="Courier"/>
              </a:rPr>
              <a:t>)</a:t>
            </a:r>
            <a:endParaRPr lang="en-US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-Bold"/>
              </a:rPr>
              <a:t>else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en-US" sz="1800" dirty="0">
                <a:solidFill>
                  <a:srgbClr val="008000"/>
                </a:solidFill>
                <a:latin typeface="Courier"/>
              </a:rPr>
              <a:t>print</a:t>
            </a:r>
            <a:r>
              <a:rPr lang="en-US" sz="1800" dirty="0">
                <a:solidFill>
                  <a:srgbClr val="000000"/>
                </a:solidFill>
                <a:latin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</a:rPr>
              <a:t>Deux</a:t>
            </a:r>
            <a:r>
              <a:rPr lang="en-US" sz="1800" dirty="0">
                <a:solidFill>
                  <a:srgbClr val="BA2121"/>
                </a:solidFill>
                <a:latin typeface="Courier"/>
              </a:rPr>
              <a:t> solutions:"</a:t>
            </a:r>
            <a:r>
              <a:rPr lang="en-US" sz="1800" dirty="0">
                <a:solidFill>
                  <a:srgbClr val="000000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it-IT" sz="1800" dirty="0" err="1">
                <a:solidFill>
                  <a:srgbClr val="008000"/>
                </a:solidFill>
                <a:latin typeface="Courier"/>
              </a:rPr>
              <a:t>print</a:t>
            </a:r>
            <a:r>
              <a:rPr lang="en-US" sz="1800" dirty="0">
                <a:solidFill>
                  <a:srgbClr val="000000"/>
                </a:solidFill>
                <a:latin typeface="Courier"/>
              </a:rPr>
              <a:t>(</a:t>
            </a:r>
            <a:r>
              <a:rPr lang="it-IT" sz="1800" dirty="0">
                <a:solidFill>
                  <a:srgbClr val="008000"/>
                </a:solidFill>
                <a:latin typeface="Courier"/>
              </a:rPr>
              <a:t> 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b 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+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it-IT" sz="1800" dirty="0" err="1">
                <a:solidFill>
                  <a:prstClr val="black"/>
                </a:solidFill>
                <a:latin typeface="Courier"/>
              </a:rPr>
              <a:t>sqrt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(delta)) 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/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 (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2*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a) </a:t>
            </a:r>
            <a:r>
              <a:rPr lang="en-US" sz="1800" dirty="0">
                <a:solidFill>
                  <a:srgbClr val="000000"/>
                </a:solidFill>
                <a:latin typeface="Courier"/>
              </a:rPr>
              <a:t>)</a:t>
            </a:r>
            <a:endParaRPr lang="it-IT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it-IT" sz="1800" dirty="0" err="1">
                <a:solidFill>
                  <a:srgbClr val="008000"/>
                </a:solidFill>
                <a:latin typeface="Courier"/>
              </a:rPr>
              <a:t>print</a:t>
            </a:r>
            <a:r>
              <a:rPr lang="en-US" sz="1800" dirty="0">
                <a:solidFill>
                  <a:srgbClr val="000000"/>
                </a:solidFill>
                <a:latin typeface="Courier"/>
              </a:rPr>
              <a:t>(</a:t>
            </a:r>
            <a:r>
              <a:rPr lang="it-IT" sz="1800" dirty="0">
                <a:solidFill>
                  <a:srgbClr val="008000"/>
                </a:solidFill>
                <a:latin typeface="Courier"/>
              </a:rPr>
              <a:t> 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b 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it-IT" sz="1800" dirty="0" err="1">
                <a:solidFill>
                  <a:prstClr val="black"/>
                </a:solidFill>
                <a:latin typeface="Courier"/>
              </a:rPr>
              <a:t>sqrt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(delta)) 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/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 (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2*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a)</a:t>
            </a:r>
            <a:r>
              <a:rPr lang="en-US" sz="1800" dirty="0">
                <a:solidFill>
                  <a:srgbClr val="000000"/>
                </a:solidFill>
                <a:latin typeface="Courier"/>
              </a:rPr>
              <a:t> )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09943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complexes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nombres complexes désignent les nombres de la forme a + i*b, avec a et b réels et .</a:t>
            </a:r>
          </a:p>
          <a:p>
            <a:r>
              <a:rPr lang="fr-FR" dirty="0"/>
              <a:t>En Python, les nombres complexes sont des objets de type 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complex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1.5 + 0.5j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type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(x)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&lt;class '</a:t>
            </a:r>
            <a:r>
              <a:rPr lang="fr-FR" sz="1800" dirty="0" err="1">
                <a:latin typeface="Courier"/>
                <a:cs typeface="Courier"/>
              </a:rPr>
              <a:t>complex</a:t>
            </a:r>
            <a:r>
              <a:rPr lang="fr-FR" sz="1800" dirty="0">
                <a:latin typeface="Courier"/>
                <a:cs typeface="Courier"/>
              </a:rPr>
              <a:t>'&gt;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&gt;&gt;&gt; </a:t>
            </a:r>
            <a:r>
              <a:rPr lang="fr-FR" sz="1800" dirty="0" err="1">
                <a:latin typeface="Courier"/>
                <a:cs typeface="Courier"/>
              </a:rPr>
              <a:t>x.real</a:t>
            </a:r>
            <a:r>
              <a:rPr lang="fr-FR" sz="1800" dirty="0">
                <a:latin typeface="Courier"/>
                <a:cs typeface="Courier"/>
              </a:rPr>
              <a:t>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partie réelle de x</a:t>
            </a: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1.5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&gt;&gt;&gt; </a:t>
            </a:r>
            <a:r>
              <a:rPr lang="fr-FR" sz="1800" dirty="0" err="1">
                <a:latin typeface="Courier"/>
                <a:cs typeface="Courier"/>
              </a:rPr>
              <a:t>x.imag</a:t>
            </a:r>
            <a:r>
              <a:rPr lang="fr-FR" sz="1800" dirty="0">
                <a:latin typeface="Courier"/>
                <a:cs typeface="Courier"/>
              </a:rPr>
              <a:t>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partie imaginaire de x</a:t>
            </a: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0.5</a:t>
            </a:r>
          </a:p>
        </p:txBody>
      </p:sp>
    </p:spTree>
    <p:extLst>
      <p:ext uri="{BB962C8B-B14F-4D97-AF65-F5344CB8AC3E}">
        <p14:creationId xmlns:p14="http://schemas.microsoft.com/office/powerpoint/2010/main" val="240816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complexes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&gt;&gt;&gt; x </a:t>
            </a:r>
            <a:r>
              <a:rPr lang="nb-NO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b-NO" sz="1800" dirty="0">
                <a:solidFill>
                  <a:srgbClr val="666666"/>
                </a:solidFill>
                <a:latin typeface="Courier"/>
                <a:cs typeface="Courier"/>
              </a:rPr>
              <a:t>1.5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b-NO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b-NO" sz="1800" dirty="0">
                <a:solidFill>
                  <a:srgbClr val="666666"/>
                </a:solidFill>
                <a:latin typeface="Courier"/>
                <a:cs typeface="Courier"/>
              </a:rPr>
              <a:t>0.5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j</a:t>
            </a:r>
          </a:p>
          <a:p>
            <a:pPr marL="0" indent="0"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de-DE" sz="1800" dirty="0" err="1">
                <a:solidFill>
                  <a:prstClr val="black"/>
                </a:solidFill>
                <a:latin typeface="Courier"/>
                <a:cs typeface="Courier"/>
              </a:rPr>
              <a:t>y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dirty="0">
                <a:solidFill>
                  <a:srgbClr val="666666"/>
                </a:solidFill>
                <a:latin typeface="Courier"/>
                <a:cs typeface="Courier"/>
              </a:rPr>
              <a:t>-3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dirty="0">
                <a:solidFill>
                  <a:srgbClr val="666666"/>
                </a:solidFill>
                <a:latin typeface="Courier"/>
                <a:cs typeface="Courier"/>
              </a:rPr>
              <a:t>7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j</a:t>
            </a:r>
          </a:p>
          <a:p>
            <a:pPr marL="0" indent="0"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r>
              <a:rPr lang="de-DE" sz="1800" dirty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x </a:t>
            </a:r>
            <a:r>
              <a:rPr lang="de-DE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dirty="0" err="1">
                <a:solidFill>
                  <a:prstClr val="black"/>
                </a:solidFill>
                <a:latin typeface="Courier"/>
                <a:cs typeface="Courier"/>
              </a:rPr>
              <a:t>y</a:t>
            </a:r>
            <a:endParaRPr lang="de-DE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(-1.5+7.5j)</a:t>
            </a:r>
          </a:p>
          <a:p>
            <a:pPr marL="0" indent="0"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r>
              <a:rPr lang="de-DE" sz="1800" dirty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x </a:t>
            </a:r>
            <a:r>
              <a:rPr lang="de-DE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dirty="0" err="1">
                <a:solidFill>
                  <a:prstClr val="black"/>
                </a:solidFill>
                <a:latin typeface="Courier"/>
                <a:cs typeface="Courier"/>
              </a:rPr>
              <a:t>y</a:t>
            </a:r>
            <a:endParaRPr lang="de-DE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(4.5-6.5j)</a:t>
            </a:r>
          </a:p>
          <a:p>
            <a:pPr marL="0" indent="0"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x </a:t>
            </a:r>
            <a:r>
              <a:rPr lang="de-DE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dirty="0" err="1">
                <a:solidFill>
                  <a:prstClr val="black"/>
                </a:solidFill>
                <a:latin typeface="Courier"/>
                <a:cs typeface="Courier"/>
              </a:rPr>
              <a:t>y</a:t>
            </a:r>
            <a:endParaRPr lang="de-DE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(-8+9j)</a:t>
            </a:r>
          </a:p>
          <a:p>
            <a:pPr marL="0" indent="0"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a, b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c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a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b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*1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j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création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du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nombre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complexe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a +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ib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c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(-2+3j)</a:t>
            </a:r>
            <a:endParaRPr lang="de-DE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22688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00FF"/>
                </a:solidFill>
                <a:latin typeface="Courier"/>
                <a:cs typeface="Courier"/>
              </a:rPr>
              <a:t>math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importation de la librairie math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-Bold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"Soit l’équation du second degré a*x^2 + b*x + c:"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a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"Entrer le coefficient a: 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"Entrer le coefficient b: 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c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"Entrer le coefficient c: 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a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</a:rPr>
              <a:t>float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(a)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</a:rPr>
              <a:t>float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(b)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c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</a:rPr>
              <a:t>float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(c)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delta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b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**2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4*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a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*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4364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>
                <a:solidFill>
                  <a:srgbClr val="008000"/>
                </a:solidFill>
                <a:latin typeface="Courier-Bold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delta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&lt;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fr-FR" sz="1800" b="1" dirty="0" err="1">
                <a:solidFill>
                  <a:srgbClr val="008000"/>
                </a:solidFill>
                <a:latin typeface="Courier-Bold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"Les solutions sont complexes:"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	aux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(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sqrt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delta))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*1j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-Oblique"/>
              </a:rPr>
              <a:t># nb complexe </a:t>
            </a:r>
            <a:r>
              <a:rPr lang="fr-FR" sz="1800" i="1" dirty="0" err="1">
                <a:solidFill>
                  <a:srgbClr val="408080"/>
                </a:solidFill>
                <a:latin typeface="Courier-Oblique"/>
              </a:rPr>
              <a:t>sqrt</a:t>
            </a:r>
            <a:r>
              <a:rPr lang="fr-FR" sz="1800" i="1" dirty="0">
                <a:solidFill>
                  <a:srgbClr val="408080"/>
                </a:solidFill>
                <a:latin typeface="Courier-Oblique"/>
              </a:rPr>
              <a:t>(delta)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fr-FR" sz="1800" b="1" dirty="0" err="1">
                <a:solidFill>
                  <a:srgbClr val="008000"/>
                </a:solidFill>
                <a:latin typeface="Courier-Bold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 (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aux)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/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(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2*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a) 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fr-FR" sz="1800" b="1" dirty="0" err="1">
                <a:solidFill>
                  <a:srgbClr val="008000"/>
                </a:solidFill>
                <a:latin typeface="Courier-Bold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 (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aux)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/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(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2*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a) )</a:t>
            </a: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-Bold"/>
              </a:rPr>
              <a:t>elif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delta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fr-FR" sz="1800" b="1" dirty="0" err="1">
                <a:solidFill>
                  <a:srgbClr val="008000"/>
                </a:solidFill>
                <a:latin typeface="Courier-Bold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"Une seule solution:"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en-US" sz="1800" b="1" dirty="0">
                <a:solidFill>
                  <a:srgbClr val="008000"/>
                </a:solidFill>
                <a:latin typeface="Courier-Bold"/>
              </a:rPr>
              <a:t>print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( 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b 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/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 (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2*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a) )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-Bold"/>
              </a:rPr>
              <a:t>else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en-US" sz="1800" b="1" dirty="0">
                <a:solidFill>
                  <a:srgbClr val="008000"/>
                </a:solidFill>
                <a:latin typeface="Courier-Bold"/>
              </a:rPr>
              <a:t>print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</a:rPr>
              <a:t>Deux</a:t>
            </a:r>
            <a:r>
              <a:rPr lang="en-US" sz="1800" dirty="0">
                <a:solidFill>
                  <a:srgbClr val="BA2121"/>
                </a:solidFill>
                <a:latin typeface="Courier"/>
              </a:rPr>
              <a:t> solutions:"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it-IT" sz="1800" b="1" dirty="0" err="1">
                <a:solidFill>
                  <a:srgbClr val="008000"/>
                </a:solidFill>
                <a:latin typeface="Courier-Bold"/>
              </a:rPr>
              <a:t>print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( (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b 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+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it-IT" sz="1800" dirty="0" err="1">
                <a:solidFill>
                  <a:prstClr val="black"/>
                </a:solidFill>
                <a:latin typeface="Courier"/>
              </a:rPr>
              <a:t>sqrt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(delta)) 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/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 (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2*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a) )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it-IT" sz="1800" b="1" dirty="0" err="1">
                <a:solidFill>
                  <a:srgbClr val="008000"/>
                </a:solidFill>
                <a:latin typeface="Courier-Bold"/>
              </a:rPr>
              <a:t>print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( (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b 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it-IT" sz="1800" dirty="0" err="1">
                <a:solidFill>
                  <a:prstClr val="black"/>
                </a:solidFill>
                <a:latin typeface="Courier"/>
              </a:rPr>
              <a:t>sqrt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(delta)) 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/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 (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2*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a) )</a:t>
            </a:r>
          </a:p>
        </p:txBody>
      </p:sp>
    </p:spTree>
    <p:extLst>
      <p:ext uri="{BB962C8B-B14F-4D97-AF65-F5344CB8AC3E}">
        <p14:creationId xmlns:p14="http://schemas.microsoft.com/office/powerpoint/2010/main" val="428413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booléens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En logique, les valeurs booléennes sont le « vrai » et le « faux ».</a:t>
            </a:r>
          </a:p>
          <a:p>
            <a:r>
              <a:rPr lang="fr-FR" dirty="0"/>
              <a:t>En Python, le vrai et le faux sont désignés par 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True</a:t>
            </a:r>
            <a:r>
              <a:rPr lang="fr-FR" dirty="0"/>
              <a:t> et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False</a:t>
            </a:r>
            <a:r>
              <a:rPr lang="fr-FR" dirty="0"/>
              <a:t>.</a:t>
            </a:r>
          </a:p>
          <a:p>
            <a:r>
              <a:rPr lang="fr-FR" dirty="0"/>
              <a:t>Les booléens sont des objets de type 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bool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y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type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(x)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&lt;class '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bool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'&gt;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type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(y)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&lt;class '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bool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'&gt;</a:t>
            </a:r>
            <a:endParaRPr lang="nb-NO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58058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booléens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En Python, il existe cinq opérations possibles sur les booléens :</a:t>
            </a:r>
          </a:p>
          <a:p>
            <a:pPr lvl="1"/>
            <a:r>
              <a:rPr lang="fr-FR" dirty="0"/>
              <a:t>le test d’égalité : opérateur binaire « == »</a:t>
            </a:r>
          </a:p>
          <a:p>
            <a:pPr lvl="1"/>
            <a:r>
              <a:rPr lang="fr-FR" dirty="0"/>
              <a:t>le test de non égalité : opérateur binaire « != »</a:t>
            </a:r>
          </a:p>
          <a:p>
            <a:pPr lvl="1"/>
            <a:r>
              <a:rPr lang="fr-FR" dirty="0"/>
              <a:t>négation : opérateur unaire « not »</a:t>
            </a:r>
          </a:p>
          <a:p>
            <a:pPr lvl="1"/>
            <a:r>
              <a:rPr lang="fr-FR" dirty="0"/>
              <a:t>conjonction (« et » logique) : opérateur binaire « and »</a:t>
            </a:r>
          </a:p>
          <a:p>
            <a:pPr lvl="1"/>
            <a:r>
              <a:rPr lang="fr-FR" dirty="0"/>
              <a:t>disjonction (« ou » logique) : opérateur binaire « or »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572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booléens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La négation, i.e. l’opérateur unaire « </a:t>
            </a:r>
            <a:r>
              <a:rPr lang="fr-FR" dirty="0">
                <a:solidFill>
                  <a:srgbClr val="3366FF"/>
                </a:solidFill>
              </a:rPr>
              <a:t>not</a:t>
            </a:r>
            <a:r>
              <a:rPr lang="fr-FR" dirty="0"/>
              <a:t> », inverse la valeur de vérité de la variable booléenne.</a:t>
            </a:r>
          </a:p>
          <a:p>
            <a:r>
              <a:rPr lang="fr-FR" dirty="0"/>
              <a:t>La table de vérité de cet opérateur est :</a:t>
            </a:r>
          </a:p>
          <a:p>
            <a:endParaRPr lang="fr-FR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483274"/>
              </p:ext>
            </p:extLst>
          </p:nvPr>
        </p:nvGraphicFramePr>
        <p:xfrm>
          <a:off x="1403648" y="3429000"/>
          <a:ext cx="60960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rgbClr val="3366FF"/>
                          </a:solidFill>
                        </a:rPr>
                        <a:t>not</a:t>
                      </a:r>
                      <a:r>
                        <a:rPr lang="fr-FR" sz="2400" b="1" dirty="0"/>
                        <a:t> 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True</a:t>
                      </a:r>
                      <a:r>
                        <a:rPr lang="fr-FR" sz="2400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>
                          <a:solidFill>
                            <a:srgbClr val="3366FF"/>
                          </a:solidFill>
                        </a:rPr>
                        <a:t>False (0)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False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>
                          <a:solidFill>
                            <a:srgbClr val="3366FF"/>
                          </a:solidFill>
                        </a:rPr>
                        <a:t>True</a:t>
                      </a:r>
                      <a:r>
                        <a:rPr lang="fr-FR" sz="2400" dirty="0">
                          <a:solidFill>
                            <a:srgbClr val="3366FF"/>
                          </a:solidFill>
                        </a:rPr>
                        <a:t> 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1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booléens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not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fr-FR" sz="1800" b="1" dirty="0">
              <a:solidFill>
                <a:srgbClr val="008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False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not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not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False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 </a:t>
            </a:r>
            <a:endParaRPr lang="fr-FR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460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booléens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La conjonction, i.e. l’opérateur binaire « </a:t>
            </a:r>
            <a:r>
              <a:rPr lang="fr-FR" dirty="0">
                <a:solidFill>
                  <a:srgbClr val="3366FF"/>
                </a:solidFill>
              </a:rPr>
              <a:t>and</a:t>
            </a:r>
            <a:r>
              <a:rPr lang="fr-FR" dirty="0"/>
              <a:t> », renvoie la valeur « vrai » </a:t>
            </a:r>
            <a:r>
              <a:rPr lang="fr-FR" dirty="0" err="1"/>
              <a:t>ssi</a:t>
            </a:r>
            <a:r>
              <a:rPr lang="fr-FR" dirty="0"/>
              <a:t> les deux variables booléennes sont vraies, et revoie la valeur « faux » sinon.</a:t>
            </a:r>
          </a:p>
          <a:p>
            <a:r>
              <a:rPr lang="fr-FR" dirty="0"/>
              <a:t>La table de vérité de cet opérateur est :</a:t>
            </a:r>
          </a:p>
          <a:p>
            <a:endParaRPr lang="fr-FR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593586"/>
              </p:ext>
            </p:extLst>
          </p:nvPr>
        </p:nvGraphicFramePr>
        <p:xfrm>
          <a:off x="1043608" y="4167336"/>
          <a:ext cx="756084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rgbClr val="000000"/>
                          </a:solidFill>
                        </a:rPr>
                        <a:t>Var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rgbClr val="000000"/>
                          </a:solidFill>
                        </a:rPr>
                        <a:t>Var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rgbClr val="000000"/>
                          </a:solidFill>
                        </a:rPr>
                        <a:t>Var 1</a:t>
                      </a:r>
                      <a:r>
                        <a:rPr lang="fr-FR" sz="2400" b="1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fr-FR" sz="2400" b="1" baseline="0" dirty="0">
                          <a:solidFill>
                            <a:srgbClr val="3366FF"/>
                          </a:solidFill>
                        </a:rPr>
                        <a:t>and</a:t>
                      </a:r>
                      <a:r>
                        <a:rPr lang="fr-FR" sz="2400" b="1" baseline="0" dirty="0">
                          <a:solidFill>
                            <a:srgbClr val="000000"/>
                          </a:solidFill>
                        </a:rPr>
                        <a:t> Var 2</a:t>
                      </a:r>
                      <a:endParaRPr lang="fr-FR" sz="2400" b="1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True</a:t>
                      </a:r>
                      <a:r>
                        <a:rPr lang="fr-FR" sz="2400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True</a:t>
                      </a:r>
                      <a:r>
                        <a:rPr lang="fr-FR" sz="2400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err="1">
                          <a:solidFill>
                            <a:srgbClr val="3366FF"/>
                          </a:solidFill>
                        </a:rPr>
                        <a:t>True</a:t>
                      </a:r>
                      <a:r>
                        <a:rPr lang="fr-FR" sz="2400" dirty="0">
                          <a:solidFill>
                            <a:srgbClr val="3366FF"/>
                          </a:solidFill>
                        </a:rPr>
                        <a:t> 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True</a:t>
                      </a:r>
                      <a:r>
                        <a:rPr lang="fr-FR" sz="2400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False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>
                          <a:solidFill>
                            <a:srgbClr val="3366FF"/>
                          </a:solidFill>
                        </a:rPr>
                        <a:t>False (0)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False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True</a:t>
                      </a:r>
                      <a:r>
                        <a:rPr lang="fr-FR" sz="2400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>
                          <a:solidFill>
                            <a:srgbClr val="3366FF"/>
                          </a:solidFill>
                        </a:rPr>
                        <a:t>False (0)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False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False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>
                          <a:solidFill>
                            <a:srgbClr val="3366FF"/>
                          </a:solidFill>
                        </a:rPr>
                        <a:t>False (0)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16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booléens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False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False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False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&gt;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True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6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False</a:t>
            </a:r>
          </a:p>
          <a:p>
            <a:pPr marL="0" indent="0">
              <a:buNone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60873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booléens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La disjonction, i.e. l’opérateur binaire « </a:t>
            </a:r>
            <a:r>
              <a:rPr lang="fr-FR" dirty="0">
                <a:solidFill>
                  <a:srgbClr val="3366FF"/>
                </a:solidFill>
              </a:rPr>
              <a:t>or</a:t>
            </a:r>
            <a:r>
              <a:rPr lang="fr-FR" dirty="0"/>
              <a:t> », renvoie la valeur « faux » </a:t>
            </a:r>
            <a:r>
              <a:rPr lang="fr-FR" dirty="0" err="1"/>
              <a:t>ssi</a:t>
            </a:r>
            <a:r>
              <a:rPr lang="fr-FR" dirty="0"/>
              <a:t> les deux variables booléennes sont fausses, et revoie la valeur « vraie » sinon.</a:t>
            </a:r>
          </a:p>
          <a:p>
            <a:r>
              <a:rPr lang="fr-FR" dirty="0"/>
              <a:t>La table de vérité de cet opérateur est :</a:t>
            </a:r>
          </a:p>
          <a:p>
            <a:endParaRPr lang="fr-FR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450553"/>
              </p:ext>
            </p:extLst>
          </p:nvPr>
        </p:nvGraphicFramePr>
        <p:xfrm>
          <a:off x="1043608" y="4077072"/>
          <a:ext cx="756084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rgbClr val="000000"/>
                          </a:solidFill>
                        </a:rPr>
                        <a:t>Var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rgbClr val="000000"/>
                          </a:solidFill>
                        </a:rPr>
                        <a:t>Var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rgbClr val="000000"/>
                          </a:solidFill>
                        </a:rPr>
                        <a:t>Var 1</a:t>
                      </a:r>
                      <a:r>
                        <a:rPr lang="fr-FR" sz="2400" b="1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fr-FR" sz="2400" b="1" baseline="0" dirty="0">
                          <a:solidFill>
                            <a:srgbClr val="3366FF"/>
                          </a:solidFill>
                        </a:rPr>
                        <a:t>or </a:t>
                      </a:r>
                      <a:r>
                        <a:rPr lang="fr-FR" sz="2400" b="1" baseline="0" dirty="0">
                          <a:solidFill>
                            <a:srgbClr val="000000"/>
                          </a:solidFill>
                        </a:rPr>
                        <a:t>Var 2</a:t>
                      </a:r>
                      <a:endParaRPr lang="fr-FR" sz="2400" b="1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True</a:t>
                      </a:r>
                      <a:r>
                        <a:rPr lang="fr-FR" sz="2400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True</a:t>
                      </a:r>
                      <a:r>
                        <a:rPr lang="fr-FR" sz="2400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err="1">
                          <a:solidFill>
                            <a:srgbClr val="3366FF"/>
                          </a:solidFill>
                        </a:rPr>
                        <a:t>True</a:t>
                      </a:r>
                      <a:r>
                        <a:rPr lang="fr-FR" sz="2400" dirty="0">
                          <a:solidFill>
                            <a:srgbClr val="3366FF"/>
                          </a:solidFill>
                        </a:rPr>
                        <a:t> 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True</a:t>
                      </a:r>
                      <a:r>
                        <a:rPr lang="fr-FR" sz="2400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False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err="1">
                          <a:solidFill>
                            <a:srgbClr val="3366FF"/>
                          </a:solidFill>
                        </a:rPr>
                        <a:t>True</a:t>
                      </a:r>
                      <a:r>
                        <a:rPr lang="fr-FR" sz="2400" dirty="0">
                          <a:solidFill>
                            <a:srgbClr val="3366FF"/>
                          </a:solidFill>
                        </a:rPr>
                        <a:t> 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False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True</a:t>
                      </a:r>
                      <a:r>
                        <a:rPr lang="fr-FR" sz="2400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err="1">
                          <a:solidFill>
                            <a:srgbClr val="3366FF"/>
                          </a:solidFill>
                        </a:rPr>
                        <a:t>True</a:t>
                      </a:r>
                      <a:r>
                        <a:rPr lang="fr-FR" sz="2400" dirty="0">
                          <a:solidFill>
                            <a:srgbClr val="3366FF"/>
                          </a:solidFill>
                        </a:rPr>
                        <a:t> 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False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False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>
                          <a:solidFill>
                            <a:srgbClr val="3366FF"/>
                          </a:solidFill>
                        </a:rPr>
                        <a:t>False (0)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85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booléens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or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or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or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fr-FR" sz="180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>
                <a:solidFill>
                  <a:srgbClr val="AA22FF"/>
                </a:solidFill>
                <a:latin typeface="Courier"/>
                <a:cs typeface="Courier"/>
              </a:rPr>
              <a:t>or </a:t>
            </a:r>
            <a:r>
              <a:rPr lang="fr-FR" sz="1800" b="1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False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not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or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&gt;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True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not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or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6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58741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name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"Name?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password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Password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?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name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"Dan"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password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 "123456"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"Welcome..."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"Access denied."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73618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dian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Médian.thmx</Template>
  <TotalTime>5211</TotalTime>
  <Words>970</Words>
  <Application>Microsoft Macintosh PowerPoint</Application>
  <PresentationFormat>On-screen Show (4:3)</PresentationFormat>
  <Paragraphs>291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ＭＳ Ｐゴシック</vt:lpstr>
      <vt:lpstr>Arial</vt:lpstr>
      <vt:lpstr>Courier</vt:lpstr>
      <vt:lpstr>Courier-Bold</vt:lpstr>
      <vt:lpstr>Courier-Oblique</vt:lpstr>
      <vt:lpstr>Times</vt:lpstr>
      <vt:lpstr>Tw Cen MT</vt:lpstr>
      <vt:lpstr>Wingdings</vt:lpstr>
      <vt:lpstr>Wingdings 2</vt:lpstr>
      <vt:lpstr>Médian</vt:lpstr>
      <vt:lpstr>Chapitre 3 Les types de base – parTiE 1</vt:lpstr>
      <vt:lpstr>Types de données</vt:lpstr>
      <vt:lpstr>Les entiers</vt:lpstr>
      <vt:lpstr>Les entiers</vt:lpstr>
      <vt:lpstr>Les entiers</vt:lpstr>
      <vt:lpstr>Les entiers</vt:lpstr>
      <vt:lpstr>Les entiers</vt:lpstr>
      <vt:lpstr>Les réels ou flottants </vt:lpstr>
      <vt:lpstr>Les réels ou flottants </vt:lpstr>
      <vt:lpstr>Les réels ou flottants </vt:lpstr>
      <vt:lpstr>Programme (faire démo)</vt:lpstr>
      <vt:lpstr>Programme (faire démo)</vt:lpstr>
      <vt:lpstr>Les complexes</vt:lpstr>
      <vt:lpstr>Les complexes</vt:lpstr>
      <vt:lpstr>Programme (faire démo)</vt:lpstr>
      <vt:lpstr>Programme (faire démo)</vt:lpstr>
      <vt:lpstr>Les booléens</vt:lpstr>
      <vt:lpstr>Les booléens</vt:lpstr>
      <vt:lpstr>Les booléens</vt:lpstr>
      <vt:lpstr>Les booléens</vt:lpstr>
      <vt:lpstr>Les booléens</vt:lpstr>
      <vt:lpstr>Les booléens</vt:lpstr>
      <vt:lpstr>Les booléens</vt:lpstr>
      <vt:lpstr>Les booléens</vt:lpstr>
      <vt:lpstr>Programme (faire démo)</vt:lpstr>
    </vt:vector>
  </TitlesOfParts>
  <Company>Université de Lausanne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INTRODUCTION</dc:title>
  <dc:creator>Campus Agreement</dc:creator>
  <cp:lastModifiedBy>Microsoft Office User</cp:lastModifiedBy>
  <cp:revision>1078</cp:revision>
  <cp:lastPrinted>2017-09-05T14:11:37Z</cp:lastPrinted>
  <dcterms:created xsi:type="dcterms:W3CDTF">2002-10-22T15:56:56Z</dcterms:created>
  <dcterms:modified xsi:type="dcterms:W3CDTF">2019-09-04T08:50:16Z</dcterms:modified>
</cp:coreProperties>
</file>