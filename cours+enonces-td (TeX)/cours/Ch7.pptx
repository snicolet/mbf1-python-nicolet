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45"/>
  </p:notesMasterIdLst>
  <p:handoutMasterIdLst>
    <p:handoutMasterId r:id="rId46"/>
  </p:handoutMasterIdLst>
  <p:sldIdLst>
    <p:sldId id="353" r:id="rId2"/>
    <p:sldId id="322" r:id="rId3"/>
    <p:sldId id="323" r:id="rId4"/>
    <p:sldId id="324" r:id="rId5"/>
    <p:sldId id="325" r:id="rId6"/>
    <p:sldId id="327" r:id="rId7"/>
    <p:sldId id="328" r:id="rId8"/>
    <p:sldId id="354" r:id="rId9"/>
    <p:sldId id="342" r:id="rId10"/>
    <p:sldId id="339" r:id="rId11"/>
    <p:sldId id="334" r:id="rId12"/>
    <p:sldId id="355" r:id="rId13"/>
    <p:sldId id="329" r:id="rId14"/>
    <p:sldId id="330" r:id="rId15"/>
    <p:sldId id="357" r:id="rId16"/>
    <p:sldId id="356" r:id="rId17"/>
    <p:sldId id="358" r:id="rId18"/>
    <p:sldId id="359" r:id="rId19"/>
    <p:sldId id="360" r:id="rId20"/>
    <p:sldId id="343" r:id="rId21"/>
    <p:sldId id="344" r:id="rId22"/>
    <p:sldId id="361" r:id="rId23"/>
    <p:sldId id="345" r:id="rId24"/>
    <p:sldId id="362" r:id="rId25"/>
    <p:sldId id="310" r:id="rId26"/>
    <p:sldId id="286" r:id="rId27"/>
    <p:sldId id="307" r:id="rId28"/>
    <p:sldId id="309" r:id="rId29"/>
    <p:sldId id="311" r:id="rId30"/>
    <p:sldId id="312" r:id="rId31"/>
    <p:sldId id="313" r:id="rId32"/>
    <p:sldId id="315" r:id="rId33"/>
    <p:sldId id="316" r:id="rId34"/>
    <p:sldId id="319" r:id="rId35"/>
    <p:sldId id="320" r:id="rId36"/>
    <p:sldId id="321" r:id="rId37"/>
    <p:sldId id="363" r:id="rId38"/>
    <p:sldId id="317" r:id="rId39"/>
    <p:sldId id="364" r:id="rId40"/>
    <p:sldId id="365" r:id="rId41"/>
    <p:sldId id="366" r:id="rId42"/>
    <p:sldId id="367" r:id="rId43"/>
    <p:sldId id="368" r:id="rId44"/>
  </p:sldIdLst>
  <p:sldSz cx="9906000" cy="6858000" type="A4"/>
  <p:notesSz cx="6888163" cy="962342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31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7316E"/>
    <a:srgbClr val="000098"/>
    <a:srgbClr val="FC0128"/>
    <a:srgbClr val="FFFFFF"/>
    <a:srgbClr val="FCFEB9"/>
    <a:srgbClr val="00FF00"/>
    <a:srgbClr val="00D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78" autoAdjust="0"/>
    <p:restoredTop sz="94660"/>
  </p:normalViewPr>
  <p:slideViewPr>
    <p:cSldViewPr>
      <p:cViewPr varScale="1">
        <p:scale>
          <a:sx n="115" d="100"/>
          <a:sy n="115" d="100"/>
        </p:scale>
        <p:origin x="1328" y="20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24"/>
    </p:cViewPr>
  </p:sorterViewPr>
  <p:notesViewPr>
    <p:cSldViewPr>
      <p:cViewPr varScale="1">
        <p:scale>
          <a:sx n="55" d="100"/>
          <a:sy n="55" d="100"/>
        </p:scale>
        <p:origin x="-1830" y="-84"/>
      </p:cViewPr>
      <p:guideLst>
        <p:guide orient="horz" pos="3031"/>
        <p:guide pos="21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74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3300" y="835025"/>
            <a:ext cx="4881563" cy="33797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570413"/>
            <a:ext cx="5049837" cy="4332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de texte du masque</a:t>
            </a:r>
          </a:p>
          <a:p>
            <a:pPr lvl="1"/>
            <a:r>
              <a:rPr lang="fr-FR"/>
              <a:t>Second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066280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906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906" y="6053328"/>
            <a:ext cx="2436876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5748" y="6044184"/>
            <a:ext cx="73502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559050" y="4038600"/>
            <a:ext cx="701675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559050" y="6050037"/>
            <a:ext cx="72644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82550" y="6068699"/>
            <a:ext cx="222885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259176" y="236539"/>
            <a:ext cx="635635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667750" y="228600"/>
            <a:ext cx="90805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A6613-7373-4D82-8C15-608AF2E7E30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3702" y="228600"/>
            <a:ext cx="883285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38D8C3-A677-4A68-BAE4-733414589DC8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85900" y="2743200"/>
            <a:ext cx="7716706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906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40335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485900" y="1600200"/>
            <a:ext cx="84201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5900" y="1600200"/>
            <a:ext cx="8255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40335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A7CB768-00BB-4452-B892-B51DA958B1A3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60400" y="1589567"/>
            <a:ext cx="421005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5248643" y="1589567"/>
            <a:ext cx="421005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5534476-BD66-4D43-BB73-544C7DA3F1B5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7850" y="273050"/>
            <a:ext cx="883285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60400" y="2438400"/>
            <a:ext cx="421005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5200650" y="2438400"/>
            <a:ext cx="421005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46EC9D8-B380-48C3-8556-921821327997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60400" y="1752600"/>
            <a:ext cx="421005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5200650" y="1752600"/>
            <a:ext cx="421005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270B89B-D03E-44AA-8AE8-7D145D8F2354}" type="slidenum">
              <a:rPr lang="fr-FR" smtClean="0"/>
              <a:pPr/>
              <a:t>‹#›</a:t>
            </a:fld>
            <a:endParaRPr lang="fr-FR" sz="1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7785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6A5D97-F46F-4F00-B8AA-32D6A4DAD42D}" type="slidenum">
              <a:rPr lang="fr-FR" smtClean="0"/>
              <a:pPr/>
              <a:t>‹#›</a:t>
            </a:fld>
            <a:endParaRPr lang="fr-FR" sz="1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400" y="273050"/>
            <a:ext cx="87503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3CF2458-FA2E-4D0F-BC93-DBE7CD37B1B8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60400" y="1752600"/>
            <a:ext cx="173355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559050" y="1752600"/>
            <a:ext cx="69342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33550" y="5486400"/>
            <a:ext cx="79248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906" y="4572000"/>
            <a:ext cx="9906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906" y="4663440"/>
            <a:ext cx="158496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674114" y="4654296"/>
            <a:ext cx="8231886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33550" y="4648200"/>
            <a:ext cx="79248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568450" y="0"/>
            <a:ext cx="108966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769100" y="6248401"/>
            <a:ext cx="2889250" cy="365125"/>
          </a:xfrm>
        </p:spPr>
        <p:txBody>
          <a:bodyPr rtlCol="0"/>
          <a:lstStyle/>
          <a:p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56845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A99D74C-890C-4C65-907C-EDC576093D5F}" type="slidenum">
              <a:rPr lang="fr-FR" smtClean="0"/>
              <a:pPr/>
              <a:t>‹#›</a:t>
            </a:fld>
            <a:endParaRPr lang="fr-FR" sz="140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733550" y="6248207"/>
            <a:ext cx="4953000" cy="365125"/>
          </a:xfrm>
        </p:spPr>
        <p:txBody>
          <a:bodyPr rtlCol="0"/>
          <a:lstStyle/>
          <a:p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690624" y="0"/>
            <a:ext cx="8215376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E3D90-7262-4B2E-B2D8-BA9422A3F84E}" type="slidenum">
              <a:rPr lang="fr-FR" smtClean="0"/>
              <a:pPr/>
              <a:t>‹#›</a:t>
            </a:fld>
            <a:endParaRPr lang="fr-FR"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99300" y="609601"/>
            <a:ext cx="222885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609600"/>
            <a:ext cx="602615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99300" y="6248403"/>
            <a:ext cx="239395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95302" y="6248208"/>
            <a:ext cx="603794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6604345" y="0"/>
            <a:ext cx="34671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653875" y="609600"/>
            <a:ext cx="24765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653875" y="0"/>
            <a:ext cx="24765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6511000" y="134276"/>
            <a:ext cx="533400" cy="264849"/>
          </a:xfrm>
        </p:spPr>
        <p:txBody>
          <a:bodyPr/>
          <a:lstStyle/>
          <a:p>
            <a:fld id="{490DAFDB-56F3-467B-BE36-7BB123169AA6}" type="slidenum">
              <a:rPr lang="fr-FR" smtClean="0"/>
              <a:pPr/>
              <a:t>‹#›</a:t>
            </a:fld>
            <a:endParaRPr lang="fr-FR" sz="1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60400" y="228600"/>
            <a:ext cx="883285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63702" y="1600200"/>
            <a:ext cx="883285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604000" y="6248401"/>
            <a:ext cx="288925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60401" y="6248207"/>
            <a:ext cx="587284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906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7785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39762" y="1280160"/>
            <a:ext cx="9266238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7785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A7CB768-00BB-4452-B892-B51DA958B1A3}" type="slidenum">
              <a:rPr lang="fr-FR" smtClean="0"/>
              <a:pPr/>
              <a:t>‹#›</a:t>
            </a:fld>
            <a:endParaRPr lang="fr-FR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Chapitre 7</a:t>
            </a:r>
            <a:br>
              <a:rPr lang="fr-FR"/>
            </a:br>
            <a:r>
              <a:rPr lang="fr-FR"/>
              <a:t>éléments </a:t>
            </a:r>
            <a:r>
              <a:rPr lang="fr-FR" dirty="0"/>
              <a:t>de récursivité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6613-7373-4D82-8C15-608AF2E7E305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5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CB768-00BB-4452-B892-B51DA958B1A3}" type="slidenum">
              <a:rPr lang="fr-FR" smtClean="0"/>
              <a:pPr/>
              <a:t>2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379557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En informatique, une fonction est dite </a:t>
            </a:r>
            <a:r>
              <a:rPr lang="fr-FR" b="1" dirty="0"/>
              <a:t>récursive</a:t>
            </a:r>
            <a:r>
              <a:rPr lang="fr-FR" dirty="0"/>
              <a:t> si cette fonction fait appel à elle-même dans sa définition.</a:t>
            </a:r>
          </a:p>
          <a:p>
            <a:r>
              <a:rPr lang="fr-FR" dirty="0"/>
              <a:t>Au premier abord, on pourrait penser que les fonctions récursives sont mal définies (définition cyclique).</a:t>
            </a:r>
          </a:p>
          <a:p>
            <a:r>
              <a:rPr lang="fr-FR" dirty="0"/>
              <a:t>Le plus célèbre exemple d’une fonction récursive est la fonction </a:t>
            </a:r>
            <a:r>
              <a:rPr lang="fr-FR" b="1" dirty="0"/>
              <a:t>factorielle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50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4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rappelle que la </a:t>
            </a:r>
            <a:r>
              <a:rPr lang="fr-FR" b="1" dirty="0"/>
              <a:t>factorielle</a:t>
            </a:r>
            <a:r>
              <a:rPr lang="fr-FR" dirty="0"/>
              <a:t> d’un nombre entier positif n, noté </a:t>
            </a:r>
            <a:r>
              <a:rPr lang="fr-FR" b="1" dirty="0"/>
              <a:t>n!</a:t>
            </a:r>
            <a:r>
              <a:rPr lang="fr-FR" dirty="0"/>
              <a:t>, est le produit des nombres entiers strictement positifs inférieurs ou égaux à n (avec 0! = 1 par convention).</a:t>
            </a:r>
          </a:p>
          <a:p>
            <a:pPr lvl="1"/>
            <a:r>
              <a:rPr lang="fr-FR" b="1" dirty="0"/>
              <a:t>Exemples :</a:t>
            </a:r>
          </a:p>
          <a:p>
            <a:pPr marL="722376" lvl="2" indent="0">
              <a:buNone/>
            </a:pPr>
            <a:r>
              <a:rPr lang="fr-FR" sz="2400" dirty="0"/>
              <a:t>0! = 1 (par convention)</a:t>
            </a:r>
          </a:p>
          <a:p>
            <a:pPr marL="722376" lvl="2" indent="0">
              <a:buNone/>
            </a:pPr>
            <a:r>
              <a:rPr lang="fr-FR" sz="2400" dirty="0"/>
              <a:t>4! = 4·3·2·1 = 24</a:t>
            </a:r>
          </a:p>
          <a:p>
            <a:pPr marL="722376" lvl="2" indent="0">
              <a:buNone/>
            </a:pPr>
            <a:r>
              <a:rPr lang="fr-FR" sz="2400" dirty="0"/>
              <a:t>7! = 7·6·5·4·3·2·1 = 5040</a:t>
            </a:r>
          </a:p>
          <a:p>
            <a:pPr marL="722376" lvl="2" indent="0">
              <a:buNone/>
            </a:pPr>
            <a:r>
              <a:rPr lang="fr-FR" sz="2400" dirty="0"/>
              <a:t>11! = 11·10·9·8·7·6·5·4·3·2·1 = 39’916’800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972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5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Il existe une définition récursive simple de la fonction factorielle :</a:t>
            </a:r>
          </a:p>
          <a:p>
            <a:pPr marL="118872" indent="0">
              <a:buNone/>
            </a:pPr>
            <a:r>
              <a:rPr lang="fr-FR" dirty="0"/>
              <a:t>		    1			si n = 0</a:t>
            </a:r>
          </a:p>
          <a:p>
            <a:r>
              <a:rPr lang="fr-FR" dirty="0" err="1"/>
              <a:t>Fact</a:t>
            </a:r>
            <a:r>
              <a:rPr lang="fr-FR" dirty="0"/>
              <a:t>(n) =</a:t>
            </a:r>
          </a:p>
          <a:p>
            <a:pPr marL="118872" indent="0">
              <a:buNone/>
            </a:pPr>
            <a:r>
              <a:rPr lang="fr-FR" dirty="0"/>
              <a:t>		    n * </a:t>
            </a:r>
            <a:r>
              <a:rPr lang="fr-FR" dirty="0" err="1"/>
              <a:t>Fact</a:t>
            </a:r>
            <a:r>
              <a:rPr lang="fr-FR" dirty="0"/>
              <a:t>(n-1)	si n &gt; 0</a:t>
            </a:r>
          </a:p>
          <a:p>
            <a:r>
              <a:rPr lang="fr-FR" dirty="0"/>
              <a:t>On voit que cette définition de la fonction factorielle s’appelle elle-même dans sa propre définition.</a:t>
            </a:r>
            <a:endParaRPr lang="fr-FR" baseline="30000" dirty="0"/>
          </a:p>
        </p:txBody>
      </p:sp>
      <p:sp>
        <p:nvSpPr>
          <p:cNvPr id="5" name="Accolade ouvrante 4"/>
          <p:cNvSpPr/>
          <p:nvPr/>
        </p:nvSpPr>
        <p:spPr>
          <a:xfrm>
            <a:off x="2576736" y="2708920"/>
            <a:ext cx="216024" cy="1440160"/>
          </a:xfrm>
          <a:prstGeom prst="leftBrace">
            <a:avLst>
              <a:gd name="adj1" fmla="val 27025"/>
              <a:gd name="adj2" fmla="val 47201"/>
            </a:avLst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52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6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Exemple d’exécution de la fonction récursive factorielle :</a:t>
            </a:r>
          </a:p>
          <a:p>
            <a:pPr marL="118872" indent="0">
              <a:buNone/>
            </a:pPr>
            <a:r>
              <a:rPr lang="fr-FR" dirty="0"/>
              <a:t>		    1			si n = 0</a:t>
            </a:r>
          </a:p>
          <a:p>
            <a:r>
              <a:rPr lang="fr-FR" dirty="0" err="1"/>
              <a:t>Fact</a:t>
            </a:r>
            <a:r>
              <a:rPr lang="fr-FR" dirty="0"/>
              <a:t>(n) =</a:t>
            </a:r>
          </a:p>
          <a:p>
            <a:pPr marL="118872" indent="0">
              <a:buNone/>
            </a:pPr>
            <a:r>
              <a:rPr lang="fr-FR" dirty="0"/>
              <a:t>		    n * </a:t>
            </a:r>
            <a:r>
              <a:rPr lang="fr-FR" dirty="0" err="1"/>
              <a:t>Fact</a:t>
            </a:r>
            <a:r>
              <a:rPr lang="fr-FR" dirty="0"/>
              <a:t>(n-1)	si n &gt; 0</a:t>
            </a:r>
          </a:p>
          <a:p>
            <a:pPr marL="118872" indent="0">
              <a:buNone/>
            </a:pPr>
            <a:endParaRPr lang="fr-FR" dirty="0"/>
          </a:p>
        </p:txBody>
      </p:sp>
      <p:graphicFrame>
        <p:nvGraphicFramePr>
          <p:cNvPr id="4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1930273"/>
              </p:ext>
            </p:extLst>
          </p:nvPr>
        </p:nvGraphicFramePr>
        <p:xfrm>
          <a:off x="992560" y="4149080"/>
          <a:ext cx="7920880" cy="2286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1064568" y="458112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4 * </a:t>
            </a:r>
            <a:r>
              <a:rPr lang="fr-FR" dirty="0" err="1">
                <a:latin typeface="+mn-lt"/>
              </a:rPr>
              <a:t>Fact</a:t>
            </a:r>
            <a:r>
              <a:rPr lang="fr-FR" dirty="0">
                <a:latin typeface="+mn-lt"/>
              </a:rPr>
              <a:t>(3)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856656" y="501317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3 * </a:t>
            </a:r>
            <a:r>
              <a:rPr lang="fr-FR" dirty="0" err="1">
                <a:latin typeface="+mn-lt"/>
              </a:rPr>
              <a:t>Fact</a:t>
            </a:r>
            <a:r>
              <a:rPr lang="fr-FR" dirty="0">
                <a:latin typeface="+mn-lt"/>
              </a:rPr>
              <a:t>(2)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76736" y="548761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2 * </a:t>
            </a:r>
            <a:r>
              <a:rPr lang="fr-FR" dirty="0" err="1">
                <a:latin typeface="+mn-lt"/>
              </a:rPr>
              <a:t>Fact</a:t>
            </a:r>
            <a:r>
              <a:rPr lang="fr-FR" dirty="0">
                <a:latin typeface="+mn-lt"/>
              </a:rPr>
              <a:t>(1)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368824" y="5949280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1 * </a:t>
            </a:r>
            <a:r>
              <a:rPr lang="fr-FR" dirty="0" err="1">
                <a:latin typeface="+mn-lt"/>
              </a:rPr>
              <a:t>Fact</a:t>
            </a:r>
            <a:r>
              <a:rPr lang="fr-FR" dirty="0">
                <a:latin typeface="+mn-lt"/>
              </a:rPr>
              <a:t>(0)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097016" y="5949280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= 1 * 1 = 1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097016" y="551723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= 2 * 1 = 2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097016" y="5013176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= 3 * 2 = 6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097016" y="4581128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= 4 * 6 = 24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64568" y="411946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+mn-lt"/>
              </a:rPr>
              <a:t>Fact</a:t>
            </a:r>
            <a:r>
              <a:rPr lang="fr-FR" b="1" dirty="0">
                <a:latin typeface="+mn-lt"/>
              </a:rPr>
              <a:t>(4)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169024" y="407707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+mn-lt"/>
              </a:rPr>
              <a:t>24</a:t>
            </a:r>
          </a:p>
        </p:txBody>
      </p:sp>
      <p:sp>
        <p:nvSpPr>
          <p:cNvPr id="16" name="Accolade ouvrante 15"/>
          <p:cNvSpPr/>
          <p:nvPr/>
        </p:nvSpPr>
        <p:spPr>
          <a:xfrm>
            <a:off x="2576736" y="2276872"/>
            <a:ext cx="216024" cy="1440160"/>
          </a:xfrm>
          <a:prstGeom prst="leftBrace">
            <a:avLst>
              <a:gd name="adj1" fmla="val 27025"/>
              <a:gd name="adj2" fmla="val 47201"/>
            </a:avLst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14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7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facto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"""Fonction factorielle"""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facto(n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703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factorielle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8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925144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(faire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facto(x)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fr-FR" sz="1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latin typeface="Courier"/>
                <a:cs typeface="Courier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latin typeface="Courier"/>
                <a:cs typeface="Courier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6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24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120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720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5040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40320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362880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2080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 de </a:t>
            </a:r>
            <a:r>
              <a:rPr lang="fr-FR" dirty="0" err="1"/>
              <a:t>Fibonacci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CB768-00BB-4452-B892-B51DA958B1A3}" type="slidenum">
              <a:rPr lang="fr-FR" smtClean="0"/>
              <a:pPr/>
              <a:t>9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69872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Suite de </a:t>
            </a:r>
            <a:r>
              <a:rPr lang="fr-FR" dirty="0" err="1"/>
              <a:t>Fibonacci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10</a:t>
            </a:fld>
            <a:endParaRPr lang="fr-FR" sz="1400"/>
          </a:p>
        </p:txBody>
      </p:sp>
      <p:sp>
        <p:nvSpPr>
          <p:cNvPr id="295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5898" y="1775192"/>
            <a:ext cx="8994204" cy="4625609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La </a:t>
            </a:r>
            <a:r>
              <a:rPr lang="fr-FR" sz="2800" b="1" dirty="0">
                <a:solidFill>
                  <a:schemeClr val="accent1">
                    <a:lumMod val="10000"/>
                  </a:schemeClr>
                </a:solidFill>
              </a:rPr>
              <a:t>suite de </a:t>
            </a:r>
            <a:r>
              <a:rPr lang="fr-FR" b="1" dirty="0" err="1">
                <a:solidFill>
                  <a:schemeClr val="accent1">
                    <a:lumMod val="10000"/>
                  </a:schemeClr>
                </a:solidFill>
              </a:rPr>
              <a:t>Fibonacci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est une suite infinie de nombre définie récursivement de la manière suivante :</a:t>
            </a:r>
            <a:endParaRPr lang="fr-FR" sz="2800" dirty="0">
              <a:solidFill>
                <a:schemeClr val="accent1">
                  <a:lumMod val="10000"/>
                </a:schemeClr>
              </a:solidFill>
            </a:endParaRPr>
          </a:p>
          <a:p>
            <a:pPr marL="118872" indent="0">
              <a:buNone/>
            </a:pP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	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(0) =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(1) = 1</a:t>
            </a:r>
          </a:p>
          <a:p>
            <a:pPr marL="118872" indent="0">
              <a:buNone/>
            </a:pP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	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(n) =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(n-1) +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(n-2), pour tout n &gt; 1</a:t>
            </a:r>
          </a:p>
          <a:p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Cette suite est dite récursive car sa définition fait appel à elle-même…</a:t>
            </a:r>
          </a:p>
          <a:p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Ainsi, on a les premiers termes suivants :</a:t>
            </a:r>
          </a:p>
          <a:p>
            <a:pPr marL="411480" lvl="1" indent="0">
              <a:buNone/>
            </a:pP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(0) = 1, 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(1) = 1,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(2) = 1 + 1 = 2,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(3) = 2 + 1 = 3,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(4) = 3 + 2 = 5, </a:t>
            </a:r>
            <a:r>
              <a:rPr lang="fr-FR" sz="2800" dirty="0" err="1">
                <a:solidFill>
                  <a:schemeClr val="accent1">
                    <a:lumMod val="10000"/>
                  </a:schemeClr>
                </a:solidFill>
              </a:rPr>
              <a:t>fib</a:t>
            </a:r>
            <a:r>
              <a:rPr lang="fr-FR" sz="2800" dirty="0">
                <a:solidFill>
                  <a:schemeClr val="accent1">
                    <a:lumMod val="10000"/>
                  </a:schemeClr>
                </a:solidFill>
              </a:rPr>
              <a:t>(5) = 5 + 3 = 8, etc.</a:t>
            </a:r>
          </a:p>
        </p:txBody>
      </p:sp>
    </p:spTree>
    <p:extLst>
      <p:ext uri="{BB962C8B-B14F-4D97-AF65-F5344CB8AC3E}">
        <p14:creationId xmlns:p14="http://schemas.microsoft.com/office/powerpoint/2010/main" val="397837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Suite de </a:t>
            </a:r>
            <a:r>
              <a:rPr lang="fr-FR" dirty="0" err="1"/>
              <a:t>Fibonacci</a:t>
            </a:r>
            <a:r>
              <a:rPr lang="fr-FR" dirty="0"/>
              <a:t> en Python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11</a:t>
            </a:fld>
            <a:endParaRPr lang="fr-FR" sz="1400"/>
          </a:p>
        </p:txBody>
      </p:sp>
      <p:sp>
        <p:nvSpPr>
          <p:cNvPr id="2979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fibonacci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"""Suite de </a:t>
            </a:r>
            <a:r>
              <a:rPr lang="fr-FR" sz="1800" i="1" dirty="0" err="1">
                <a:solidFill>
                  <a:srgbClr val="BA2121"/>
                </a:solidFill>
                <a:latin typeface="Courier"/>
                <a:cs typeface="Courier"/>
              </a:rPr>
              <a:t>Fibonacci</a:t>
            </a:r>
            <a:r>
              <a:rPr lang="fr-FR" sz="1800" i="1" dirty="0">
                <a:solidFill>
                  <a:srgbClr val="BA2121"/>
                </a:solidFill>
                <a:latin typeface="Courier"/>
                <a:cs typeface="Courier"/>
              </a:rPr>
              <a:t>"""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fibonacci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(n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fibonacci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(n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-2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876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Suite de </a:t>
            </a:r>
            <a:r>
              <a:rPr lang="fr-FR" dirty="0" err="1"/>
              <a:t>Fibonacci</a:t>
            </a:r>
            <a:r>
              <a:rPr lang="fr-FR" dirty="0"/>
              <a:t> en Python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12</a:t>
            </a:fld>
            <a:endParaRPr lang="fr-FR" sz="1400"/>
          </a:p>
        </p:txBody>
      </p:sp>
      <p:sp>
        <p:nvSpPr>
          <p:cNvPr id="297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63702" y="1600200"/>
            <a:ext cx="8832850" cy="4925144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(faire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fibonacci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b="1" dirty="0">
                <a:latin typeface="Courier"/>
                <a:cs typeface="Courier"/>
              </a:rPr>
              <a:t>Exécution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latin typeface="Courier"/>
                <a:cs typeface="Courier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latin typeface="Courier"/>
                <a:cs typeface="Courier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8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s-IS" sz="1800" dirty="0">
                <a:latin typeface="Courier"/>
                <a:cs typeface="Courier"/>
              </a:rPr>
              <a:t>13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cs-CZ" sz="1800" dirty="0">
                <a:latin typeface="Courier"/>
                <a:cs typeface="Courier"/>
              </a:rPr>
              <a:t>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800" dirty="0">
                <a:latin typeface="Courier"/>
                <a:cs typeface="Courier"/>
              </a:rPr>
              <a:t>34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1800" dirty="0">
                <a:latin typeface="Courier"/>
                <a:cs typeface="Courier"/>
              </a:rPr>
              <a:t>55</a:t>
            </a: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5095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5900" y="1556792"/>
            <a:ext cx="8255000" cy="990600"/>
          </a:xfrm>
        </p:spPr>
        <p:txBody>
          <a:bodyPr>
            <a:normAutofit fontScale="90000"/>
          </a:bodyPr>
          <a:lstStyle/>
          <a:p>
            <a:r>
              <a:rPr lang="fr-FR" dirty="0"/>
              <a:t>Algorithme de conversion décimal-binaire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CB768-00BB-4452-B892-B51DA958B1A3}" type="slidenum">
              <a:rPr lang="fr-FR" smtClean="0"/>
              <a:pPr/>
              <a:t>13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328272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14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969818" cy="4495800"/>
          </a:xfrm>
        </p:spPr>
        <p:txBody>
          <a:bodyPr>
            <a:normAutofit/>
          </a:bodyPr>
          <a:lstStyle/>
          <a:p>
            <a:r>
              <a:rPr lang="fr-FR" dirty="0"/>
              <a:t>Il existe une procédure récursive simple pour convertir un nombre entier positif décimal en binaire.</a:t>
            </a:r>
          </a:p>
          <a:p>
            <a:r>
              <a:rPr lang="fr-FR" dirty="0"/>
              <a:t>On rappelle que dans le système décimal, les positions successives des chiffres de droite à gauche représentent les puissances successives de </a:t>
            </a:r>
            <a:r>
              <a:rPr lang="fr-FR" dirty="0">
                <a:solidFill>
                  <a:srgbClr val="3366FF"/>
                </a:solidFill>
              </a:rPr>
              <a:t>10</a:t>
            </a:r>
            <a:r>
              <a:rPr lang="fr-FR" dirty="0"/>
              <a:t> (10</a:t>
            </a:r>
            <a:r>
              <a:rPr lang="fr-FR" baseline="30000" dirty="0"/>
              <a:t>0</a:t>
            </a:r>
            <a:r>
              <a:rPr lang="fr-FR" dirty="0"/>
              <a:t>, 10</a:t>
            </a:r>
            <a:r>
              <a:rPr lang="fr-FR" baseline="30000" dirty="0"/>
              <a:t>1</a:t>
            </a:r>
            <a:r>
              <a:rPr lang="fr-FR" dirty="0"/>
              <a:t>, 10</a:t>
            </a:r>
            <a:r>
              <a:rPr lang="fr-FR" baseline="30000" dirty="0"/>
              <a:t>2</a:t>
            </a:r>
            <a:r>
              <a:rPr lang="fr-FR" dirty="0"/>
              <a:t>, 10</a:t>
            </a:r>
            <a:r>
              <a:rPr lang="fr-FR" baseline="30000" dirty="0"/>
              <a:t>3</a:t>
            </a:r>
            <a:r>
              <a:rPr lang="fr-FR" dirty="0"/>
              <a:t>, etc.).</a:t>
            </a:r>
          </a:p>
          <a:p>
            <a:r>
              <a:rPr lang="fr-FR" b="1" dirty="0"/>
              <a:t>Exemple :</a:t>
            </a:r>
          </a:p>
          <a:p>
            <a:pPr marL="365760" lvl="1" indent="0">
              <a:buNone/>
            </a:pPr>
            <a:r>
              <a:rPr lang="fr-FR" dirty="0">
                <a:solidFill>
                  <a:srgbClr val="FF0000"/>
                </a:solidFill>
              </a:rPr>
              <a:t>29453</a:t>
            </a:r>
            <a:r>
              <a:rPr lang="fr-FR" dirty="0"/>
              <a:t> = </a:t>
            </a:r>
            <a:r>
              <a:rPr lang="fr-FR" dirty="0">
                <a:solidFill>
                  <a:srgbClr val="FF0000"/>
                </a:solidFill>
              </a:rPr>
              <a:t>3</a:t>
            </a:r>
            <a:r>
              <a:rPr lang="fr-FR" dirty="0"/>
              <a:t> * 10</a:t>
            </a:r>
            <a:r>
              <a:rPr lang="fr-FR" baseline="30000" dirty="0"/>
              <a:t>0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5</a:t>
            </a:r>
            <a:r>
              <a:rPr lang="fr-FR" dirty="0"/>
              <a:t> * 10</a:t>
            </a:r>
            <a:r>
              <a:rPr lang="fr-FR" baseline="30000" dirty="0"/>
              <a:t>1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4</a:t>
            </a:r>
            <a:r>
              <a:rPr lang="fr-FR" dirty="0"/>
              <a:t> * 10</a:t>
            </a:r>
            <a:r>
              <a:rPr lang="fr-FR" baseline="30000" dirty="0"/>
              <a:t>2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9</a:t>
            </a:r>
            <a:r>
              <a:rPr lang="fr-FR" dirty="0"/>
              <a:t> * 10</a:t>
            </a:r>
            <a:r>
              <a:rPr lang="fr-FR" baseline="30000" dirty="0"/>
              <a:t>3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2</a:t>
            </a:r>
            <a:r>
              <a:rPr lang="fr-FR" dirty="0"/>
              <a:t> * 10</a:t>
            </a:r>
            <a:r>
              <a:rPr lang="fr-FR" baseline="30000" dirty="0"/>
              <a:t>4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670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663702" y="1600200"/>
            <a:ext cx="8832850" cy="4853136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b="1" dirty="0">
                <a:solidFill>
                  <a:srgbClr val="000000"/>
                </a:solidFill>
              </a:rPr>
              <a:t>Exemples 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signifie le nombre </a:t>
            </a:r>
            <a:r>
              <a:rPr lang="fr-FR" dirty="0">
                <a:solidFill>
                  <a:srgbClr val="0000FF"/>
                </a:solidFill>
              </a:rPr>
              <a:t>décimal</a:t>
            </a:r>
            <a:r>
              <a:rPr lang="fr-FR" dirty="0">
                <a:solidFill>
                  <a:srgbClr val="000000"/>
                </a:solidFill>
              </a:rPr>
              <a:t> (base </a:t>
            </a:r>
            <a:r>
              <a:rPr lang="fr-FR" dirty="0">
                <a:solidFill>
                  <a:srgbClr val="0000FF"/>
                </a:solidFill>
              </a:rPr>
              <a:t>10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dirty="0">
                <a:solidFill>
                  <a:srgbClr val="FF0000"/>
                </a:solidFill>
              </a:rPr>
              <a:t>5478</a:t>
            </a:r>
            <a:r>
              <a:rPr lang="fr-FR" dirty="0">
                <a:solidFill>
                  <a:srgbClr val="000000"/>
                </a:solidFill>
              </a:rPr>
              <a:t> 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  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=10000  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=1000  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=100  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=10  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        …	       </a:t>
            </a:r>
            <a:r>
              <a:rPr lang="fr-FR" sz="2400" dirty="0">
                <a:solidFill>
                  <a:srgbClr val="FF0000"/>
                </a:solidFill>
              </a:rPr>
              <a:t>           5                 4              7             8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fr-FR" sz="2400" dirty="0">
              <a:solidFill>
                <a:srgbClr val="FF0000"/>
              </a:solidFill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signifie le nombre </a:t>
            </a:r>
            <a:r>
              <a:rPr lang="fr-FR" dirty="0">
                <a:solidFill>
                  <a:srgbClr val="0000FF"/>
                </a:solidFill>
              </a:rPr>
              <a:t>décimal</a:t>
            </a:r>
            <a:r>
              <a:rPr lang="fr-FR" dirty="0">
                <a:solidFill>
                  <a:srgbClr val="000000"/>
                </a:solidFill>
              </a:rPr>
              <a:t> (base </a:t>
            </a:r>
            <a:r>
              <a:rPr lang="fr-FR" dirty="0">
                <a:solidFill>
                  <a:srgbClr val="0000FF"/>
                </a:solidFill>
              </a:rPr>
              <a:t>10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dirty="0">
                <a:solidFill>
                  <a:srgbClr val="FF0000"/>
                </a:solidFill>
              </a:rPr>
              <a:t>362’458</a:t>
            </a:r>
            <a:r>
              <a:rPr lang="fr-FR" dirty="0">
                <a:solidFill>
                  <a:srgbClr val="000000"/>
                </a:solidFill>
              </a:rPr>
              <a:t> 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5</a:t>
            </a:r>
            <a:r>
              <a:rPr lang="fr-FR" sz="2400" dirty="0">
                <a:solidFill>
                  <a:srgbClr val="000000"/>
                </a:solidFill>
              </a:rPr>
              <a:t>=100000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=10000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=1000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=100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=10 </a:t>
            </a:r>
            <a:r>
              <a:rPr lang="fr-FR" sz="2400" dirty="0">
                <a:solidFill>
                  <a:srgbClr val="0000FF"/>
                </a:solidFill>
              </a:rPr>
              <a:t>10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	</a:t>
            </a:r>
            <a:r>
              <a:rPr lang="fr-FR" sz="2400" dirty="0">
                <a:solidFill>
                  <a:srgbClr val="FF0000"/>
                </a:solidFill>
              </a:rPr>
              <a:t>3                   6                 2               4             5          8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87EF3D6-C112-439D-9651-EC079D1CC74F}" type="slidenum">
              <a:rPr lang="fr-FR"/>
              <a:pPr/>
              <a:t>15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257494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16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Dans le système binaire, les positions successives des chiffres de droite à gauche représentent les puissances successives de </a:t>
            </a:r>
            <a:r>
              <a:rPr lang="fr-FR" dirty="0">
                <a:solidFill>
                  <a:srgbClr val="3366FF"/>
                </a:solidFill>
              </a:rPr>
              <a:t>2</a:t>
            </a:r>
            <a:r>
              <a:rPr lang="fr-FR" dirty="0"/>
              <a:t> (2</a:t>
            </a:r>
            <a:r>
              <a:rPr lang="fr-FR" baseline="30000" dirty="0"/>
              <a:t>0</a:t>
            </a:r>
            <a:r>
              <a:rPr lang="fr-FR" dirty="0"/>
              <a:t>, 2</a:t>
            </a:r>
            <a:r>
              <a:rPr lang="fr-FR" baseline="30000" dirty="0"/>
              <a:t>1</a:t>
            </a:r>
            <a:r>
              <a:rPr lang="fr-FR" dirty="0"/>
              <a:t>, 2</a:t>
            </a:r>
            <a:r>
              <a:rPr lang="fr-FR" baseline="30000" dirty="0"/>
              <a:t>2</a:t>
            </a:r>
            <a:r>
              <a:rPr lang="fr-FR" dirty="0"/>
              <a:t>, 2</a:t>
            </a:r>
            <a:r>
              <a:rPr lang="fr-FR" baseline="30000" dirty="0"/>
              <a:t>3</a:t>
            </a:r>
            <a:r>
              <a:rPr lang="fr-FR" dirty="0"/>
              <a:t>, etc.).</a:t>
            </a:r>
          </a:p>
          <a:p>
            <a:r>
              <a:rPr lang="fr-FR" b="1" dirty="0"/>
              <a:t>Exemple :</a:t>
            </a:r>
            <a:endParaRPr lang="fr-FR" dirty="0"/>
          </a:p>
          <a:p>
            <a:pPr marL="365760" lvl="1" indent="0">
              <a:buNone/>
            </a:pPr>
            <a:r>
              <a:rPr lang="fr-FR" dirty="0">
                <a:solidFill>
                  <a:srgbClr val="FF0000"/>
                </a:solidFill>
              </a:rPr>
              <a:t>10011</a:t>
            </a:r>
            <a:r>
              <a:rPr lang="fr-FR" dirty="0"/>
              <a:t> = </a:t>
            </a:r>
            <a:r>
              <a:rPr lang="fr-FR" dirty="0">
                <a:solidFill>
                  <a:srgbClr val="FF0000"/>
                </a:solidFill>
              </a:rPr>
              <a:t>1</a:t>
            </a:r>
            <a:r>
              <a:rPr lang="fr-FR" dirty="0"/>
              <a:t> * 2</a:t>
            </a:r>
            <a:r>
              <a:rPr lang="fr-FR" baseline="30000" dirty="0"/>
              <a:t>0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1</a:t>
            </a:r>
            <a:r>
              <a:rPr lang="fr-FR" dirty="0"/>
              <a:t> * 2</a:t>
            </a:r>
            <a:r>
              <a:rPr lang="fr-FR" baseline="30000" dirty="0"/>
              <a:t>1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0</a:t>
            </a:r>
            <a:r>
              <a:rPr lang="fr-FR" dirty="0"/>
              <a:t> * 2</a:t>
            </a:r>
            <a:r>
              <a:rPr lang="fr-FR" baseline="30000" dirty="0"/>
              <a:t>2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0</a:t>
            </a:r>
            <a:r>
              <a:rPr lang="fr-FR" dirty="0"/>
              <a:t> * 2</a:t>
            </a:r>
            <a:r>
              <a:rPr lang="fr-FR" baseline="30000" dirty="0"/>
              <a:t>3</a:t>
            </a:r>
            <a:r>
              <a:rPr lang="fr-FR" dirty="0"/>
              <a:t> + </a:t>
            </a:r>
            <a:r>
              <a:rPr lang="fr-FR" dirty="0">
                <a:solidFill>
                  <a:srgbClr val="FF0000"/>
                </a:solidFill>
              </a:rPr>
              <a:t>1</a:t>
            </a:r>
            <a:r>
              <a:rPr lang="fr-FR" dirty="0"/>
              <a:t> * 2</a:t>
            </a:r>
            <a:r>
              <a:rPr lang="fr-FR" baseline="30000" dirty="0"/>
              <a:t>4</a:t>
            </a:r>
            <a:r>
              <a:rPr lang="fr-FR" dirty="0"/>
              <a:t> </a:t>
            </a:r>
            <a:endParaRPr lang="fr-FR" baseline="30000" dirty="0"/>
          </a:p>
        </p:txBody>
      </p:sp>
    </p:spTree>
    <p:extLst>
      <p:ext uri="{BB962C8B-B14F-4D97-AF65-F5344CB8AC3E}">
        <p14:creationId xmlns:p14="http://schemas.microsoft.com/office/powerpoint/2010/main" val="262965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Système binaire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b="1" dirty="0">
                <a:solidFill>
                  <a:srgbClr val="000000"/>
                </a:solidFill>
              </a:rPr>
              <a:t>Exemples 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signifie le nombre </a:t>
            </a:r>
            <a:r>
              <a:rPr lang="fr-FR" dirty="0">
                <a:solidFill>
                  <a:srgbClr val="0000FF"/>
                </a:solidFill>
              </a:rPr>
              <a:t>binaire </a:t>
            </a:r>
            <a:r>
              <a:rPr lang="fr-FR" dirty="0">
                <a:solidFill>
                  <a:srgbClr val="000000"/>
                </a:solidFill>
              </a:rPr>
              <a:t>(base </a:t>
            </a:r>
            <a:r>
              <a:rPr lang="fr-FR" dirty="0">
                <a:solidFill>
                  <a:srgbClr val="0000FF"/>
                </a:solidFill>
              </a:rPr>
              <a:t>2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dirty="0">
                <a:solidFill>
                  <a:srgbClr val="FF0000"/>
                </a:solidFill>
              </a:rPr>
              <a:t>1101</a:t>
            </a:r>
            <a:r>
              <a:rPr lang="fr-FR" dirty="0">
                <a:solidFill>
                  <a:srgbClr val="000000"/>
                </a:solidFill>
              </a:rPr>
              <a:t> 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  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=16   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=8   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=4   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=2   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         …	      </a:t>
            </a:r>
            <a:r>
              <a:rPr lang="fr-FR" sz="2400" dirty="0">
                <a:solidFill>
                  <a:srgbClr val="FF0000"/>
                </a:solidFill>
              </a:rPr>
              <a:t>1              1             0              1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fr-FR" sz="2400" dirty="0">
              <a:solidFill>
                <a:srgbClr val="FF0000"/>
              </a:solidFill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signifie le nombre </a:t>
            </a:r>
            <a:r>
              <a:rPr lang="fr-FR" dirty="0">
                <a:solidFill>
                  <a:srgbClr val="0000FF"/>
                </a:solidFill>
              </a:rPr>
              <a:t>binaire </a:t>
            </a:r>
            <a:r>
              <a:rPr lang="fr-FR" dirty="0">
                <a:solidFill>
                  <a:srgbClr val="000000"/>
                </a:solidFill>
              </a:rPr>
              <a:t>(base </a:t>
            </a:r>
            <a:r>
              <a:rPr lang="fr-FR" dirty="0">
                <a:solidFill>
                  <a:srgbClr val="0000FF"/>
                </a:solidFill>
              </a:rPr>
              <a:t>2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dirty="0">
                <a:solidFill>
                  <a:srgbClr val="FF0000"/>
                </a:solidFill>
              </a:rPr>
              <a:t>101101</a:t>
            </a:r>
            <a:r>
              <a:rPr lang="fr-FR" dirty="0">
                <a:solidFill>
                  <a:srgbClr val="000000"/>
                </a:solidFill>
              </a:rPr>
              <a:t> 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5</a:t>
            </a:r>
            <a:r>
              <a:rPr lang="fr-FR" sz="2400" dirty="0">
                <a:solidFill>
                  <a:srgbClr val="000000"/>
                </a:solidFill>
              </a:rPr>
              <a:t>=32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=16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=8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=4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=2     </a:t>
            </a:r>
            <a:r>
              <a:rPr lang="fr-FR" sz="2400" dirty="0">
                <a:solidFill>
                  <a:srgbClr val="0000FF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… 	       </a:t>
            </a:r>
            <a:r>
              <a:rPr lang="fr-FR" sz="2400" dirty="0">
                <a:solidFill>
                  <a:srgbClr val="FF0000"/>
                </a:solidFill>
              </a:rPr>
              <a:t>1             0            1           1           0          1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87EF3D6-C112-439D-9651-EC079D1CC74F}" type="slidenum">
              <a:rPr lang="fr-FR"/>
              <a:pPr/>
              <a:t>17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362516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Conversion binaire - décimal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663702" y="1600200"/>
            <a:ext cx="8832850" cy="4925144"/>
          </a:xfrm>
        </p:spPr>
        <p:txBody>
          <a:bodyPr>
            <a:normAutofit fontScale="925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3100" b="1" dirty="0">
                <a:solidFill>
                  <a:srgbClr val="000000"/>
                </a:solidFill>
              </a:rPr>
              <a:t>Exemples 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sz="2800" dirty="0">
                <a:solidFill>
                  <a:srgbClr val="000000"/>
                </a:solidFill>
              </a:rPr>
              <a:t>Que vaut en décimal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0000"/>
                </a:solidFill>
              </a:rPr>
              <a:t>le nombre </a:t>
            </a:r>
            <a:r>
              <a:rPr lang="fr-FR" sz="2800" dirty="0"/>
              <a:t>binaire</a:t>
            </a:r>
            <a:r>
              <a:rPr lang="fr-FR" sz="2800" dirty="0">
                <a:solidFill>
                  <a:srgbClr val="0000FF"/>
                </a:solidFill>
              </a:rPr>
              <a:t> 1101 </a:t>
            </a:r>
            <a:r>
              <a:rPr lang="fr-FR" sz="2800" dirty="0">
                <a:solidFill>
                  <a:srgbClr val="000000"/>
                </a:solidFill>
              </a:rPr>
              <a:t>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>
                <a:solidFill>
                  <a:srgbClr val="000000"/>
                </a:solidFill>
              </a:rPr>
              <a:t>…        2</a:t>
            </a:r>
            <a:r>
              <a:rPr lang="fr-FR" baseline="30000" dirty="0">
                <a:solidFill>
                  <a:srgbClr val="000000"/>
                </a:solidFill>
              </a:rPr>
              <a:t>4</a:t>
            </a:r>
            <a:r>
              <a:rPr lang="fr-FR" dirty="0">
                <a:solidFill>
                  <a:srgbClr val="000000"/>
                </a:solidFill>
              </a:rPr>
              <a:t>=16        2</a:t>
            </a:r>
            <a:r>
              <a:rPr lang="fr-FR" baseline="30000" dirty="0">
                <a:solidFill>
                  <a:srgbClr val="000000"/>
                </a:solidFill>
              </a:rPr>
              <a:t>3</a:t>
            </a:r>
            <a:r>
              <a:rPr lang="fr-FR" dirty="0">
                <a:solidFill>
                  <a:srgbClr val="000000"/>
                </a:solidFill>
              </a:rPr>
              <a:t>=8        2</a:t>
            </a:r>
            <a:r>
              <a:rPr lang="fr-FR" baseline="30000" dirty="0">
                <a:solidFill>
                  <a:srgbClr val="000000"/>
                </a:solidFill>
              </a:rPr>
              <a:t>2</a:t>
            </a:r>
            <a:r>
              <a:rPr lang="fr-FR" dirty="0">
                <a:solidFill>
                  <a:srgbClr val="000000"/>
                </a:solidFill>
              </a:rPr>
              <a:t>=4        2</a:t>
            </a:r>
            <a:r>
              <a:rPr lang="fr-FR" baseline="30000" dirty="0">
                <a:solidFill>
                  <a:srgbClr val="000000"/>
                </a:solidFill>
              </a:rPr>
              <a:t>1</a:t>
            </a:r>
            <a:r>
              <a:rPr lang="fr-FR" dirty="0">
                <a:solidFill>
                  <a:srgbClr val="000000"/>
                </a:solidFill>
              </a:rPr>
              <a:t>=2        2</a:t>
            </a:r>
            <a:r>
              <a:rPr lang="fr-FR" baseline="30000" dirty="0">
                <a:solidFill>
                  <a:srgbClr val="000000"/>
                </a:solidFill>
              </a:rPr>
              <a:t>0</a:t>
            </a:r>
            <a:r>
              <a:rPr lang="fr-FR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>
                <a:solidFill>
                  <a:srgbClr val="000000"/>
                </a:solidFill>
              </a:rPr>
              <a:t>…          …	     </a:t>
            </a:r>
            <a:r>
              <a:rPr lang="fr-FR" dirty="0">
                <a:solidFill>
                  <a:srgbClr val="0000FF"/>
                </a:solidFill>
              </a:rPr>
              <a:t>1              1              0             1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>
                <a:solidFill>
                  <a:srgbClr val="000000"/>
                </a:solidFill>
              </a:rPr>
              <a:t>Donc </a:t>
            </a:r>
            <a:r>
              <a:rPr lang="fr-FR" dirty="0">
                <a:solidFill>
                  <a:srgbClr val="0000FF"/>
                </a:solidFill>
              </a:rPr>
              <a:t>1101 </a:t>
            </a:r>
            <a:r>
              <a:rPr lang="fr-FR" dirty="0">
                <a:solidFill>
                  <a:srgbClr val="000000"/>
                </a:solidFill>
              </a:rPr>
              <a:t>vaut 8 + 4 + 1 = </a:t>
            </a:r>
            <a:r>
              <a:rPr lang="fr-FR" dirty="0">
                <a:solidFill>
                  <a:srgbClr val="FF0000"/>
                </a:solidFill>
              </a:rPr>
              <a:t>13</a:t>
            </a:r>
            <a:r>
              <a:rPr lang="fr-FR" dirty="0">
                <a:solidFill>
                  <a:srgbClr val="000000"/>
                </a:solidFill>
              </a:rPr>
              <a:t> (en décimal)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sz="2800" dirty="0">
                <a:solidFill>
                  <a:srgbClr val="000000"/>
                </a:solidFill>
              </a:rPr>
              <a:t>Que vaut en décimal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0000"/>
                </a:solidFill>
              </a:rPr>
              <a:t>le nombre binaire </a:t>
            </a:r>
            <a:r>
              <a:rPr lang="fr-FR" sz="2800" dirty="0">
                <a:solidFill>
                  <a:srgbClr val="0000FF"/>
                </a:solidFill>
              </a:rPr>
              <a:t>10101101 </a:t>
            </a:r>
            <a:r>
              <a:rPr lang="fr-FR" sz="2800" dirty="0">
                <a:solidFill>
                  <a:srgbClr val="000000"/>
                </a:solidFill>
              </a:rPr>
              <a:t>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>
                <a:solidFill>
                  <a:srgbClr val="000000"/>
                </a:solidFill>
              </a:rPr>
              <a:t>2</a:t>
            </a:r>
            <a:r>
              <a:rPr lang="fr-FR" baseline="30000" dirty="0">
                <a:solidFill>
                  <a:srgbClr val="000000"/>
                </a:solidFill>
              </a:rPr>
              <a:t>7</a:t>
            </a:r>
            <a:r>
              <a:rPr lang="fr-FR" dirty="0">
                <a:solidFill>
                  <a:srgbClr val="000000"/>
                </a:solidFill>
              </a:rPr>
              <a:t>=128   2</a:t>
            </a:r>
            <a:r>
              <a:rPr lang="fr-FR" baseline="30000" dirty="0">
                <a:solidFill>
                  <a:srgbClr val="000000"/>
                </a:solidFill>
              </a:rPr>
              <a:t>6</a:t>
            </a:r>
            <a:r>
              <a:rPr lang="fr-FR" dirty="0">
                <a:solidFill>
                  <a:srgbClr val="000000"/>
                </a:solidFill>
              </a:rPr>
              <a:t>=64   2</a:t>
            </a:r>
            <a:r>
              <a:rPr lang="fr-FR" baseline="30000" dirty="0">
                <a:solidFill>
                  <a:srgbClr val="000000"/>
                </a:solidFill>
              </a:rPr>
              <a:t>5</a:t>
            </a:r>
            <a:r>
              <a:rPr lang="fr-FR" dirty="0">
                <a:solidFill>
                  <a:srgbClr val="000000"/>
                </a:solidFill>
              </a:rPr>
              <a:t>=32   2</a:t>
            </a:r>
            <a:r>
              <a:rPr lang="fr-FR" baseline="30000" dirty="0">
                <a:solidFill>
                  <a:srgbClr val="000000"/>
                </a:solidFill>
              </a:rPr>
              <a:t>4</a:t>
            </a:r>
            <a:r>
              <a:rPr lang="fr-FR" dirty="0">
                <a:solidFill>
                  <a:srgbClr val="000000"/>
                </a:solidFill>
              </a:rPr>
              <a:t>=16   2</a:t>
            </a:r>
            <a:r>
              <a:rPr lang="fr-FR" baseline="30000" dirty="0">
                <a:solidFill>
                  <a:srgbClr val="000000"/>
                </a:solidFill>
              </a:rPr>
              <a:t>3</a:t>
            </a:r>
            <a:r>
              <a:rPr lang="fr-FR" dirty="0">
                <a:solidFill>
                  <a:srgbClr val="000000"/>
                </a:solidFill>
              </a:rPr>
              <a:t>=8   2</a:t>
            </a:r>
            <a:r>
              <a:rPr lang="fr-FR" baseline="30000" dirty="0">
                <a:solidFill>
                  <a:srgbClr val="000000"/>
                </a:solidFill>
              </a:rPr>
              <a:t>2</a:t>
            </a:r>
            <a:r>
              <a:rPr lang="fr-FR" dirty="0">
                <a:solidFill>
                  <a:srgbClr val="000000"/>
                </a:solidFill>
              </a:rPr>
              <a:t>=4   2</a:t>
            </a:r>
            <a:r>
              <a:rPr lang="fr-FR" baseline="30000" dirty="0">
                <a:solidFill>
                  <a:srgbClr val="000000"/>
                </a:solidFill>
              </a:rPr>
              <a:t>1</a:t>
            </a:r>
            <a:r>
              <a:rPr lang="fr-FR" dirty="0">
                <a:solidFill>
                  <a:srgbClr val="000000"/>
                </a:solidFill>
              </a:rPr>
              <a:t>=2   2</a:t>
            </a:r>
            <a:r>
              <a:rPr lang="fr-FR" baseline="30000" dirty="0">
                <a:solidFill>
                  <a:srgbClr val="000000"/>
                </a:solidFill>
              </a:rPr>
              <a:t>0</a:t>
            </a:r>
            <a:r>
              <a:rPr lang="fr-FR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>
                <a:solidFill>
                  <a:srgbClr val="FF0000"/>
                </a:solidFill>
              </a:rPr>
              <a:t>    </a:t>
            </a:r>
            <a:r>
              <a:rPr lang="fr-FR" dirty="0">
                <a:solidFill>
                  <a:srgbClr val="0000FF"/>
                </a:solidFill>
              </a:rPr>
              <a:t>1             0          1           0           1        1         0         1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dirty="0"/>
              <a:t>Donc </a:t>
            </a:r>
            <a:r>
              <a:rPr lang="fr-FR" dirty="0">
                <a:solidFill>
                  <a:srgbClr val="0000FF"/>
                </a:solidFill>
              </a:rPr>
              <a:t>10101101 </a:t>
            </a:r>
            <a:r>
              <a:rPr lang="fr-FR" dirty="0"/>
              <a:t>vaut 128 + 32 + 8 + 4 + 1 = </a:t>
            </a:r>
            <a:r>
              <a:rPr lang="fr-FR" dirty="0">
                <a:solidFill>
                  <a:srgbClr val="FF0000"/>
                </a:solidFill>
              </a:rPr>
              <a:t>173</a:t>
            </a:r>
            <a:r>
              <a:rPr lang="fr-FR" dirty="0"/>
              <a:t> (en décimal)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FB1E1463-5F95-4915-96CF-046B2F79E0F2}" type="slidenum">
              <a:rPr lang="fr-FR"/>
              <a:pPr/>
              <a:t>18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1393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Conversion décimal - binaire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663702" y="1600200"/>
            <a:ext cx="9041826" cy="4853136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b="1" dirty="0">
                <a:solidFill>
                  <a:srgbClr val="000000"/>
                </a:solidFill>
              </a:rPr>
              <a:t>Exemples 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vaut en </a:t>
            </a:r>
            <a:r>
              <a:rPr lang="fr-FR" dirty="0"/>
              <a:t>binaire </a:t>
            </a:r>
            <a:r>
              <a:rPr lang="fr-FR" dirty="0">
                <a:solidFill>
                  <a:srgbClr val="000000"/>
                </a:solidFill>
              </a:rPr>
              <a:t>le nombre </a:t>
            </a:r>
            <a:r>
              <a:rPr lang="fr-FR" dirty="0"/>
              <a:t>décimal </a:t>
            </a:r>
            <a:r>
              <a:rPr lang="fr-FR" dirty="0">
                <a:solidFill>
                  <a:srgbClr val="FF0000"/>
                </a:solidFill>
              </a:rPr>
              <a:t>267</a:t>
            </a:r>
            <a:r>
              <a:rPr lang="fr-FR" dirty="0">
                <a:solidFill>
                  <a:srgbClr val="0000FF"/>
                </a:solidFill>
              </a:rPr>
              <a:t> </a:t>
            </a:r>
            <a:r>
              <a:rPr lang="fr-FR" dirty="0">
                <a:solidFill>
                  <a:srgbClr val="000000"/>
                </a:solidFill>
              </a:rPr>
              <a:t>?</a:t>
            </a:r>
          </a:p>
          <a:p>
            <a:pPr marL="36576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8</a:t>
            </a:r>
            <a:r>
              <a:rPr lang="fr-FR" sz="2400" dirty="0">
                <a:solidFill>
                  <a:srgbClr val="000000"/>
                </a:solidFill>
              </a:rPr>
              <a:t>=256  2</a:t>
            </a:r>
            <a:r>
              <a:rPr lang="fr-FR" sz="2400" baseline="30000" dirty="0">
                <a:solidFill>
                  <a:srgbClr val="000000"/>
                </a:solidFill>
              </a:rPr>
              <a:t>7</a:t>
            </a:r>
            <a:r>
              <a:rPr lang="fr-FR" sz="2400" dirty="0">
                <a:solidFill>
                  <a:srgbClr val="000000"/>
                </a:solidFill>
              </a:rPr>
              <a:t>=128  2</a:t>
            </a:r>
            <a:r>
              <a:rPr lang="fr-FR" sz="2400" baseline="30000" dirty="0">
                <a:solidFill>
                  <a:srgbClr val="000000"/>
                </a:solidFill>
              </a:rPr>
              <a:t>6</a:t>
            </a:r>
            <a:r>
              <a:rPr lang="fr-FR" sz="2400" dirty="0">
                <a:solidFill>
                  <a:srgbClr val="000000"/>
                </a:solidFill>
              </a:rPr>
              <a:t>=64  2</a:t>
            </a:r>
            <a:r>
              <a:rPr lang="fr-FR" sz="2400" baseline="30000" dirty="0">
                <a:solidFill>
                  <a:srgbClr val="000000"/>
                </a:solidFill>
              </a:rPr>
              <a:t>5</a:t>
            </a:r>
            <a:r>
              <a:rPr lang="fr-FR" sz="2400" dirty="0">
                <a:solidFill>
                  <a:srgbClr val="000000"/>
                </a:solidFill>
              </a:rPr>
              <a:t>=32  2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=16  2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=8  2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=4  2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=2  2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FF"/>
                </a:solidFill>
              </a:rPr>
              <a:t>  1             0           0          0          0         1        0        1       1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Donc </a:t>
            </a:r>
            <a:r>
              <a:rPr lang="fr-FR" sz="2400" dirty="0">
                <a:solidFill>
                  <a:srgbClr val="FF0000"/>
                </a:solidFill>
              </a:rPr>
              <a:t>267</a:t>
            </a:r>
            <a:r>
              <a:rPr lang="fr-FR" sz="2400" dirty="0">
                <a:solidFill>
                  <a:srgbClr val="0000FF"/>
                </a:solidFill>
              </a:rPr>
              <a:t> </a:t>
            </a:r>
            <a:r>
              <a:rPr lang="fr-FR" sz="2400" dirty="0">
                <a:solidFill>
                  <a:srgbClr val="000000"/>
                </a:solidFill>
              </a:rPr>
              <a:t>vaut </a:t>
            </a:r>
            <a:r>
              <a:rPr lang="fr-FR" sz="2400" dirty="0">
                <a:solidFill>
                  <a:srgbClr val="0000FF"/>
                </a:solidFill>
              </a:rPr>
              <a:t>100001011</a:t>
            </a:r>
            <a:r>
              <a:rPr lang="fr-FR" sz="2400" dirty="0">
                <a:solidFill>
                  <a:srgbClr val="000000"/>
                </a:solidFill>
              </a:rPr>
              <a:t> (en binaire)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rgbClr val="000000"/>
                </a:solidFill>
              </a:rPr>
              <a:t>Que vaut en </a:t>
            </a:r>
            <a:r>
              <a:rPr lang="fr-FR" dirty="0"/>
              <a:t>binaire </a:t>
            </a:r>
            <a:r>
              <a:rPr lang="fr-FR" dirty="0">
                <a:solidFill>
                  <a:srgbClr val="000000"/>
                </a:solidFill>
              </a:rPr>
              <a:t>le nombre décimal </a:t>
            </a:r>
            <a:r>
              <a:rPr lang="fr-FR" dirty="0">
                <a:solidFill>
                  <a:srgbClr val="FF0000"/>
                </a:solidFill>
              </a:rPr>
              <a:t>45 </a:t>
            </a:r>
            <a:r>
              <a:rPr lang="fr-FR" dirty="0">
                <a:solidFill>
                  <a:srgbClr val="000000"/>
                </a:solidFill>
              </a:rPr>
              <a:t>?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000000"/>
                </a:solidFill>
              </a:rPr>
              <a:t>2</a:t>
            </a:r>
            <a:r>
              <a:rPr lang="fr-FR" sz="2400" baseline="30000" dirty="0">
                <a:solidFill>
                  <a:srgbClr val="000000"/>
                </a:solidFill>
              </a:rPr>
              <a:t>6</a:t>
            </a:r>
            <a:r>
              <a:rPr lang="fr-FR" sz="2400" dirty="0">
                <a:solidFill>
                  <a:srgbClr val="000000"/>
                </a:solidFill>
              </a:rPr>
              <a:t>=64    2</a:t>
            </a:r>
            <a:r>
              <a:rPr lang="fr-FR" sz="2400" baseline="30000" dirty="0">
                <a:solidFill>
                  <a:srgbClr val="000000"/>
                </a:solidFill>
              </a:rPr>
              <a:t>5</a:t>
            </a:r>
            <a:r>
              <a:rPr lang="fr-FR" sz="2400" dirty="0">
                <a:solidFill>
                  <a:srgbClr val="000000"/>
                </a:solidFill>
              </a:rPr>
              <a:t>=32    2</a:t>
            </a:r>
            <a:r>
              <a:rPr lang="fr-FR" sz="2400" baseline="30000" dirty="0">
                <a:solidFill>
                  <a:srgbClr val="000000"/>
                </a:solidFill>
              </a:rPr>
              <a:t>4</a:t>
            </a:r>
            <a:r>
              <a:rPr lang="fr-FR" sz="2400" dirty="0">
                <a:solidFill>
                  <a:srgbClr val="000000"/>
                </a:solidFill>
              </a:rPr>
              <a:t>=16    2</a:t>
            </a:r>
            <a:r>
              <a:rPr lang="fr-FR" sz="2400" baseline="300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0000"/>
                </a:solidFill>
              </a:rPr>
              <a:t>=8    2</a:t>
            </a:r>
            <a:r>
              <a:rPr lang="fr-FR" sz="2400" baseline="30000" dirty="0">
                <a:solidFill>
                  <a:srgbClr val="000000"/>
                </a:solidFill>
              </a:rPr>
              <a:t>2</a:t>
            </a:r>
            <a:r>
              <a:rPr lang="fr-FR" sz="2400" dirty="0">
                <a:solidFill>
                  <a:srgbClr val="000000"/>
                </a:solidFill>
              </a:rPr>
              <a:t>=4    2</a:t>
            </a:r>
            <a:r>
              <a:rPr lang="fr-FR" sz="2400" baseline="300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0000"/>
                </a:solidFill>
              </a:rPr>
              <a:t>=2    2</a:t>
            </a:r>
            <a:r>
              <a:rPr lang="fr-FR" sz="2400" baseline="30000" dirty="0">
                <a:solidFill>
                  <a:srgbClr val="000000"/>
                </a:solidFill>
              </a:rPr>
              <a:t>0</a:t>
            </a:r>
            <a:r>
              <a:rPr lang="fr-FR" sz="2400" dirty="0">
                <a:solidFill>
                  <a:srgbClr val="000000"/>
                </a:solidFill>
              </a:rPr>
              <a:t>=1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>
                <a:solidFill>
                  <a:srgbClr val="FF0000"/>
                </a:solidFill>
              </a:rPr>
              <a:t>    </a:t>
            </a:r>
            <a:r>
              <a:rPr lang="fr-FR" sz="2400" dirty="0">
                <a:solidFill>
                  <a:srgbClr val="0000FF"/>
                </a:solidFill>
              </a:rPr>
              <a:t>…          1            0           1          1          0         1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2400" dirty="0"/>
              <a:t>Donc </a:t>
            </a:r>
            <a:r>
              <a:rPr lang="fr-FR" sz="2400" dirty="0">
                <a:solidFill>
                  <a:srgbClr val="FF0000"/>
                </a:solidFill>
              </a:rPr>
              <a:t>45</a:t>
            </a:r>
            <a:r>
              <a:rPr lang="fr-FR" sz="2400" dirty="0"/>
              <a:t> vaut </a:t>
            </a:r>
            <a:r>
              <a:rPr lang="fr-FR" sz="2400" dirty="0">
                <a:solidFill>
                  <a:srgbClr val="0000FF"/>
                </a:solidFill>
              </a:rPr>
              <a:t>101101</a:t>
            </a:r>
            <a:r>
              <a:rPr lang="fr-FR" sz="2400" dirty="0"/>
              <a:t> (en binaire)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C9BB0098-3619-4959-9B9F-85FF0C4473A0}" type="slidenum">
              <a:rPr lang="fr-FR"/>
              <a:pPr/>
              <a:t>19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51631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Algo</a:t>
            </a:r>
            <a:r>
              <a:rPr lang="fr-FR" dirty="0"/>
              <a:t> de conversion décimal - binaire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20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r>
              <a:rPr lang="fr-FR" dirty="0"/>
              <a:t>On divise successivement n par 2 jusqu’à obtenir 0, et à chaque pas, on retient le reste de cette division. La suite de ces restes lue dans l’ordre inverse donne la </a:t>
            </a:r>
            <a:r>
              <a:rPr lang="fr-FR" dirty="0" err="1"/>
              <a:t>représen-tation</a:t>
            </a:r>
            <a:r>
              <a:rPr lang="fr-FR" dirty="0"/>
              <a:t> binaire de n.</a:t>
            </a:r>
          </a:p>
          <a:p>
            <a:pPr lvl="1"/>
            <a:r>
              <a:rPr lang="fr-FR" b="1" dirty="0"/>
              <a:t>Exemple :</a:t>
            </a:r>
            <a:r>
              <a:rPr lang="fr-FR" dirty="0"/>
              <a:t> prenons n = 26</a:t>
            </a:r>
          </a:p>
          <a:p>
            <a:pPr marL="722376" lvl="2" indent="0">
              <a:buNone/>
            </a:pPr>
            <a:r>
              <a:rPr lang="fr-FR" sz="2400" dirty="0"/>
              <a:t>26 / 2 = 13	reste </a:t>
            </a:r>
            <a:r>
              <a:rPr lang="fr-FR" sz="2400" dirty="0">
                <a:solidFill>
                  <a:srgbClr val="FF0000"/>
                </a:solidFill>
              </a:rPr>
              <a:t>0</a:t>
            </a:r>
          </a:p>
          <a:p>
            <a:pPr marL="722376" lvl="2" indent="0">
              <a:buNone/>
            </a:pPr>
            <a:r>
              <a:rPr lang="fr-FR" sz="2400" dirty="0"/>
              <a:t>13 / 2 = 6	reste </a:t>
            </a:r>
            <a:r>
              <a:rPr lang="fr-FR" sz="2400" dirty="0">
                <a:solidFill>
                  <a:srgbClr val="FF0000"/>
                </a:solidFill>
              </a:rPr>
              <a:t>1</a:t>
            </a:r>
            <a:r>
              <a:rPr lang="fr-FR" sz="2400" dirty="0"/>
              <a:t> </a:t>
            </a:r>
          </a:p>
          <a:p>
            <a:pPr marL="722376" lvl="2" indent="0">
              <a:buNone/>
            </a:pPr>
            <a:r>
              <a:rPr lang="fr-FR" sz="2400" dirty="0"/>
              <a:t>6 / 2 = 3	reste </a:t>
            </a:r>
            <a:r>
              <a:rPr lang="fr-FR" sz="2400" dirty="0">
                <a:solidFill>
                  <a:srgbClr val="FF0000"/>
                </a:solidFill>
              </a:rPr>
              <a:t>0</a:t>
            </a:r>
          </a:p>
          <a:p>
            <a:pPr marL="722376" lvl="2" indent="0">
              <a:buNone/>
            </a:pPr>
            <a:r>
              <a:rPr lang="fr-FR" sz="2400" dirty="0"/>
              <a:t>3 / 2 = 1	reste </a:t>
            </a:r>
            <a:r>
              <a:rPr lang="fr-FR" sz="2400" dirty="0">
                <a:solidFill>
                  <a:srgbClr val="FF0000"/>
                </a:solidFill>
              </a:rPr>
              <a:t>1</a:t>
            </a:r>
          </a:p>
          <a:p>
            <a:pPr marL="722376" lvl="2" indent="0">
              <a:buNone/>
            </a:pPr>
            <a:r>
              <a:rPr lang="fr-FR" sz="2400" dirty="0"/>
              <a:t>1 / 2 = 0	reste </a:t>
            </a:r>
            <a:r>
              <a:rPr lang="fr-FR" sz="2400" dirty="0">
                <a:solidFill>
                  <a:srgbClr val="FF0000"/>
                </a:solidFill>
              </a:rPr>
              <a:t>1</a:t>
            </a:r>
          </a:p>
          <a:p>
            <a:pPr marL="722376" lvl="2" indent="0">
              <a:buNone/>
            </a:pPr>
            <a:r>
              <a:rPr lang="fr-FR" sz="2400" dirty="0"/>
              <a:t>Au final, la représentation binaire de 26 est </a:t>
            </a:r>
            <a:r>
              <a:rPr lang="fr-FR" sz="2400" dirty="0">
                <a:solidFill>
                  <a:srgbClr val="FF0000"/>
                </a:solidFill>
              </a:rPr>
              <a:t>11010</a:t>
            </a:r>
            <a:r>
              <a:rPr lang="fr-FR" sz="2400" dirty="0"/>
              <a:t>.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4520952" y="3789040"/>
            <a:ext cx="0" cy="18002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86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en Python (non récursif)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21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DecimalToBinary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       res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# 0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converti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en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chaîne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s-ES_tradnl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       res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””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# 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chaîne</a:t>
            </a:r>
            <a:r>
              <a:rPr lang="es-ES_tradnl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s-ES_tradnl" sz="1800" i="1" dirty="0" err="1">
                <a:solidFill>
                  <a:srgbClr val="408080"/>
                </a:solidFill>
                <a:latin typeface="Courier"/>
                <a:cs typeface="Courier"/>
              </a:rPr>
              <a:t>vide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!=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res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%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res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       n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division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entière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(en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Python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2)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res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3775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en Python (non récursif)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22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(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faire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26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45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267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r>
              <a:rPr lang="tr-TR" sz="1800" b="1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11010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101101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100001011</a:t>
            </a:r>
            <a:endParaRPr lang="tr-TR" sz="1800" b="1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5564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en Python (récursif)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23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DecimalToBinaryRec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DecimalToBinaryRec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%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endParaRPr lang="fr-FR" sz="2400" dirty="0">
              <a:solidFill>
                <a:srgbClr val="3366FF"/>
              </a:solidFill>
              <a:latin typeface="Times"/>
              <a:cs typeface="Time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FR" dirty="0">
                <a:cs typeface="Times"/>
              </a:rPr>
              <a:t>Exemple d’exécution :</a:t>
            </a: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6550"/>
              </p:ext>
            </p:extLst>
          </p:nvPr>
        </p:nvGraphicFramePr>
        <p:xfrm>
          <a:off x="2234698" y="4005064"/>
          <a:ext cx="5436604" cy="239176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34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62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62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2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62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62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62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2288704" y="3903439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+mn-lt"/>
              </a:rPr>
              <a:t>f(26)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288704" y="429309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f(13)                  &amp; 0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288704" y="4725144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f(6)                &amp; 1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288704" y="5085184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f(3) 	     &amp; 0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288704" y="5517232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f(1)      &amp; 1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288704" y="5919663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f(0) &amp; 1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241032" y="5919663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"" &amp; </a:t>
            </a:r>
            <a:r>
              <a:rPr lang="fr-FR" dirty="0">
                <a:latin typeface="+mn-lt"/>
              </a:rPr>
              <a:t>1 = 1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5241032" y="551723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11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5241032" y="515719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110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241032" y="476753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1101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5241032" y="4335487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n-lt"/>
              </a:rPr>
              <a:t>11010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241032" y="3903439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+mn-lt"/>
              </a:rPr>
              <a:t>11010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880992" y="3140968"/>
            <a:ext cx="1728192" cy="369332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800" dirty="0"/>
              <a:t>Division entière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5745088" y="2708920"/>
            <a:ext cx="0" cy="432048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18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en Python (non récursif)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24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(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faire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tr-TR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tr-TR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DecimalToBinaryRec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26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DecimalToBinaryRec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45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prstClr val="black"/>
                </a:solidFill>
                <a:latin typeface="Courier"/>
                <a:cs typeface="Courier"/>
              </a:rPr>
              <a:t>DecimalToBinaryRec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267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r>
              <a:rPr lang="tr-TR" sz="1800" b="1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11010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101101</a:t>
            </a:r>
          </a:p>
          <a:p>
            <a:pPr marL="0" indent="0">
              <a:buNone/>
            </a:pPr>
            <a:r>
              <a:rPr lang="fi-FI" sz="1800" dirty="0">
                <a:latin typeface="Courier"/>
                <a:cs typeface="Courier"/>
              </a:rPr>
              <a:t>100001011</a:t>
            </a:r>
            <a:endParaRPr lang="tr-TR" sz="1800" b="1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277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Tours de Hanoï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CB768-00BB-4452-B892-B51DA958B1A3}" type="slidenum">
              <a:rPr lang="fr-FR" smtClean="0"/>
              <a:pPr/>
              <a:t>25</a:t>
            </a:fld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292440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Tours de Hanoï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26</a:t>
            </a:fld>
            <a:endParaRPr lang="fr-FR" sz="140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Le problème des </a:t>
            </a:r>
            <a:r>
              <a:rPr lang="fr-FR" b="1" dirty="0">
                <a:solidFill>
                  <a:schemeClr val="accent1">
                    <a:lumMod val="10000"/>
                  </a:schemeClr>
                </a:solidFill>
              </a:rPr>
              <a:t>tours de Hanoï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est un jeu de réflexion imaginé par le mathématicien français Édouard Lucas.</a:t>
            </a:r>
          </a:p>
          <a:p>
            <a:pPr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Il consiste à déplacer en un minimum de coups des disques de diamètres différents d'une tour de départ à une tour d'arrivée en passant par une tour intermédiaire. </a:t>
            </a:r>
          </a:p>
          <a:p>
            <a:pPr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Règles à respecter :</a:t>
            </a:r>
          </a:p>
          <a:p>
            <a:pPr lvl="1"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on ne peut pas déplacer plus d'un disque à la fois.</a:t>
            </a:r>
          </a:p>
          <a:p>
            <a:pPr lvl="1"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on ne peut placer un disque que sur un disque plus grand ou sur un emplacement vide.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Tours de Hanoï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27</a:t>
            </a:fld>
            <a:endParaRPr lang="fr-FR" sz="140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La situation la plus courante correspond à 7 disques, mais le nombre de disques peut être quelconque.</a:t>
            </a:r>
          </a:p>
        </p:txBody>
      </p:sp>
      <p:pic>
        <p:nvPicPr>
          <p:cNvPr id="4" name="Picture 4" descr="hanoi"/>
          <p:cNvPicPr>
            <a:picLocks noChangeAspect="1" noChangeArrowheads="1"/>
          </p:cNvPicPr>
          <p:nvPr/>
        </p:nvPicPr>
        <p:blipFill>
          <a:blip r:embed="rId3"/>
          <a:srcRect l="9151" r="9151"/>
          <a:stretch>
            <a:fillRect/>
          </a:stretch>
        </p:blipFill>
        <p:spPr>
          <a:xfrm>
            <a:off x="2576736" y="3284984"/>
            <a:ext cx="5273953" cy="2736304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166628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Tours de Hanoï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28</a:t>
            </a:fld>
            <a:endParaRPr lang="fr-FR" sz="1400"/>
          </a:p>
        </p:txBody>
      </p:sp>
      <p:pic>
        <p:nvPicPr>
          <p:cNvPr id="2" name="Tower of Hanoi.mp4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887" b="887"/>
          <a:stretch>
            <a:fillRect/>
          </a:stretch>
        </p:blipFill>
        <p:spPr>
          <a:xfrm>
            <a:off x="632520" y="1669504"/>
            <a:ext cx="8832850" cy="4495800"/>
          </a:xfrm>
        </p:spPr>
      </p:pic>
    </p:spTree>
    <p:extLst>
      <p:ext uri="{BB962C8B-B14F-4D97-AF65-F5344CB8AC3E}">
        <p14:creationId xmlns:p14="http://schemas.microsoft.com/office/powerpoint/2010/main" val="298143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29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781128"/>
          </a:xfrm>
        </p:spPr>
        <p:txBody>
          <a:bodyPr>
            <a:normAutofit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On démontre par récurrence que pour une situation avec n disques, il faut 2</a:t>
            </a:r>
            <a:r>
              <a:rPr lang="fr-FR" baseline="30000" dirty="0">
                <a:solidFill>
                  <a:schemeClr val="accent1">
                    <a:lumMod val="10000"/>
                  </a:schemeClr>
                </a:solidFill>
              </a:rPr>
              <a:t>n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- 1 coups au minimum pour parvenir à ses fins.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Pour 6 disques, il faut au minimum 63 coups.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Pour 7 disques, il faut au minimum 127 coups.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Pour 8 disques, il faut au minimum 255 coups.</a:t>
            </a:r>
          </a:p>
          <a:p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Ainsi, le problème devient rapidement très difficile à résoudre de tête.</a:t>
            </a:r>
          </a:p>
          <a:p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Toutefois, il existe une procédure récursive très simple permettant de résoudre le problème informatiquement.</a:t>
            </a:r>
          </a:p>
        </p:txBody>
      </p:sp>
    </p:spTree>
    <p:extLst>
      <p:ext uri="{BB962C8B-B14F-4D97-AF65-F5344CB8AC3E}">
        <p14:creationId xmlns:p14="http://schemas.microsoft.com/office/powerpoint/2010/main" val="143422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30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Solution via une procédure récursive :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D’abord, on remarque que le problème est trivial pour le cas de zéro disque. En effet, il n’y a pas de jeu dans ce cas, donc rien à faire !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Supposons qu’on sache résoudre le problème pour le cas de n-1 disques. Alors on peut très facilement en déduire une solutions pour le cas de n disques, en trois étapes seulement (</a:t>
            </a:r>
            <a:r>
              <a:rPr lang="fr-FR" dirty="0" err="1">
                <a:solidFill>
                  <a:schemeClr val="accent1">
                    <a:lumMod val="10000"/>
                  </a:schemeClr>
                </a:solidFill>
              </a:rPr>
              <a:t>c.f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. </a:t>
            </a:r>
            <a:r>
              <a:rPr lang="fr-FR" dirty="0" err="1">
                <a:solidFill>
                  <a:schemeClr val="accent1">
                    <a:lumMod val="10000"/>
                  </a:schemeClr>
                </a:solidFill>
              </a:rPr>
              <a:t>slide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suivant) !</a:t>
            </a:r>
          </a:p>
        </p:txBody>
      </p:sp>
    </p:spTree>
    <p:extLst>
      <p:ext uri="{BB962C8B-B14F-4D97-AF65-F5344CB8AC3E}">
        <p14:creationId xmlns:p14="http://schemas.microsoft.com/office/powerpoint/2010/main" val="409908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31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5213176"/>
          </a:xfrm>
        </p:spPr>
        <p:txBody>
          <a:bodyPr/>
          <a:lstStyle/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La solution pour le cas de n disques se déduit très facilement de la solution pour le cas de n-1 disques.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Pour déplacer n disques du pilier 1 ver le le pilier 3, il faut :</a:t>
            </a:r>
          </a:p>
          <a:p>
            <a:pPr marL="914400" lvl="1" indent="-457200">
              <a:buFont typeface="+mj-lt"/>
              <a:buAutoNum type="alphaLcParenR"/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Déplacer n-1 disques du pilier 1 vers le pilier 2</a:t>
            </a:r>
          </a:p>
          <a:p>
            <a:pPr marL="914400" lvl="1" indent="-457200">
              <a:buFont typeface="+mj-lt"/>
              <a:buAutoNum type="alphaLcParenR"/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Bouger un disque du pilier 1 vers le pilier 3</a:t>
            </a:r>
          </a:p>
          <a:p>
            <a:pPr marL="914400" lvl="1" indent="-457200">
              <a:buFont typeface="+mj-lt"/>
              <a:buAutoNum type="alphaLcParenR"/>
            </a:pP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Déplacer n-1 disques du pilier 2 vers le pilier 3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4476576"/>
            <a:ext cx="63500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8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32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On a donc une situation récursive :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La solution pour le cas de zéro disque est triviale.</a:t>
            </a:r>
          </a:p>
          <a:p>
            <a:pPr lvl="1"/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La solution pour le cas de n disques se déduit très facilement de la solution pour le cas de n-1 disques.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33" y="3645024"/>
            <a:ext cx="7239935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33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Arbre d’exécution de la procédure Solution pour le cas     n = 2, p1 = 1</a:t>
            </a:r>
            <a:r>
              <a:rPr lang="fr-FR" baseline="30000" dirty="0"/>
              <a:t>er</a:t>
            </a:r>
            <a:r>
              <a:rPr lang="fr-FR" dirty="0"/>
              <a:t> pilier, p2 = 2</a:t>
            </a:r>
            <a:r>
              <a:rPr lang="fr-FR" baseline="30000" dirty="0"/>
              <a:t>ème</a:t>
            </a:r>
            <a:r>
              <a:rPr lang="fr-FR" dirty="0"/>
              <a:t> pilier, p3 = 3</a:t>
            </a:r>
            <a:r>
              <a:rPr lang="fr-FR" baseline="30000" dirty="0"/>
              <a:t>ème</a:t>
            </a:r>
            <a:r>
              <a:rPr lang="fr-FR" dirty="0"/>
              <a:t> pilier. </a:t>
            </a:r>
          </a:p>
        </p:txBody>
      </p:sp>
      <p:pic>
        <p:nvPicPr>
          <p:cNvPr id="5" name="Image 4" descr="hanoi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8" y="2636912"/>
            <a:ext cx="8453164" cy="394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6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anoi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0" y="2636912"/>
            <a:ext cx="8481392" cy="3956553"/>
          </a:xfrm>
          <a:prstGeom prst="rect">
            <a:avLst/>
          </a:prstGeom>
        </p:spPr>
      </p:pic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34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Arbre d’exécution de la procédure Solution pour le cas     n = 2, p1 = 1</a:t>
            </a:r>
            <a:r>
              <a:rPr lang="fr-FR" baseline="30000" dirty="0"/>
              <a:t>er</a:t>
            </a:r>
            <a:r>
              <a:rPr lang="fr-FR" dirty="0"/>
              <a:t> pilier, p2 = 2</a:t>
            </a:r>
            <a:r>
              <a:rPr lang="fr-FR" baseline="30000" dirty="0"/>
              <a:t>ème</a:t>
            </a:r>
            <a:r>
              <a:rPr lang="fr-FR" dirty="0"/>
              <a:t> pilier, p3 = 3</a:t>
            </a:r>
            <a:r>
              <a:rPr lang="fr-FR" baseline="30000" dirty="0"/>
              <a:t>ème</a:t>
            </a:r>
            <a:r>
              <a:rPr lang="fr-FR" dirty="0"/>
              <a:t> pilier. </a:t>
            </a:r>
          </a:p>
        </p:txBody>
      </p:sp>
    </p:spTree>
    <p:extLst>
      <p:ext uri="{BB962C8B-B14F-4D97-AF65-F5344CB8AC3E}">
        <p14:creationId xmlns:p14="http://schemas.microsoft.com/office/powerpoint/2010/main" val="3349310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anoi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2636912"/>
            <a:ext cx="8496944" cy="3963808"/>
          </a:xfrm>
          <a:prstGeom prst="rect">
            <a:avLst/>
          </a:prstGeom>
        </p:spPr>
      </p:pic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35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Arbre d’exécution de la procédure Solution pour le cas     n = 2, p1 = 1</a:t>
            </a:r>
            <a:r>
              <a:rPr lang="fr-FR" baseline="30000" dirty="0"/>
              <a:t>er</a:t>
            </a:r>
            <a:r>
              <a:rPr lang="fr-FR" dirty="0"/>
              <a:t> pilier, p2 = 2</a:t>
            </a:r>
            <a:r>
              <a:rPr lang="fr-FR" baseline="30000" dirty="0"/>
              <a:t>ème</a:t>
            </a:r>
            <a:r>
              <a:rPr lang="fr-FR" dirty="0"/>
              <a:t> pilier, p3 = 3</a:t>
            </a:r>
            <a:r>
              <a:rPr lang="fr-FR" baseline="30000" dirty="0"/>
              <a:t>ème</a:t>
            </a:r>
            <a:r>
              <a:rPr lang="fr-FR" dirty="0"/>
              <a:t> pilier. </a:t>
            </a:r>
          </a:p>
        </p:txBody>
      </p:sp>
    </p:spTree>
    <p:extLst>
      <p:ext uri="{BB962C8B-B14F-4D97-AF65-F5344CB8AC3E}">
        <p14:creationId xmlns:p14="http://schemas.microsoft.com/office/powerpoint/2010/main" val="2647980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36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Arbre d’exécution de la procédure Solution pour le cas     n = 2, p1 = 1</a:t>
            </a:r>
            <a:r>
              <a:rPr lang="fr-FR" baseline="30000" dirty="0"/>
              <a:t>er</a:t>
            </a:r>
            <a:r>
              <a:rPr lang="fr-FR" dirty="0"/>
              <a:t> pilier, p2 = 2</a:t>
            </a:r>
            <a:r>
              <a:rPr lang="fr-FR" baseline="30000" dirty="0"/>
              <a:t>ème</a:t>
            </a:r>
            <a:r>
              <a:rPr lang="fr-FR" dirty="0"/>
              <a:t> pilier, p3 = 3</a:t>
            </a:r>
            <a:r>
              <a:rPr lang="fr-FR" baseline="30000" dirty="0"/>
              <a:t>ème</a:t>
            </a:r>
            <a:r>
              <a:rPr lang="fr-FR" dirty="0"/>
              <a:t> pilier. </a:t>
            </a:r>
          </a:p>
        </p:txBody>
      </p:sp>
      <p:pic>
        <p:nvPicPr>
          <p:cNvPr id="4" name="Image 3" descr="hanoi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04" y="2636912"/>
            <a:ext cx="8481392" cy="39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632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37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925144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chemeClr val="accent1">
                    <a:lumMod val="10000"/>
                  </a:schemeClr>
                </a:solidFill>
              </a:rPr>
              <a:t>Pseudocode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de l’algorithme récursif qui permet de donner la solution pour le cas de </a:t>
            </a:r>
            <a:r>
              <a:rPr lang="fr-FR" sz="2400" dirty="0">
                <a:solidFill>
                  <a:schemeClr val="accent1">
                    <a:lumMod val="10000"/>
                  </a:schemeClr>
                </a:solidFill>
                <a:latin typeface="Courier"/>
                <a:cs typeface="Courier"/>
              </a:rPr>
              <a:t>n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disques à déplacer du pilier </a:t>
            </a:r>
            <a:r>
              <a:rPr lang="fr-FR" sz="2400" dirty="0">
                <a:solidFill>
                  <a:schemeClr val="accent1">
                    <a:lumMod val="10000"/>
                  </a:schemeClr>
                </a:solidFill>
                <a:latin typeface="Courier"/>
                <a:cs typeface="Courier"/>
              </a:rPr>
              <a:t>p1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vers le pilier </a:t>
            </a:r>
            <a:r>
              <a:rPr lang="fr-FR" sz="2400" dirty="0">
                <a:solidFill>
                  <a:schemeClr val="accent1">
                    <a:lumMod val="10000"/>
                  </a:schemeClr>
                </a:solidFill>
                <a:latin typeface="Courier"/>
                <a:cs typeface="Courier"/>
              </a:rPr>
              <a:t>p3</a:t>
            </a:r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 en passant par le pilier </a:t>
            </a:r>
            <a:r>
              <a:rPr lang="fr-FR" sz="2400" dirty="0">
                <a:solidFill>
                  <a:schemeClr val="accent1">
                    <a:lumMod val="10000"/>
                  </a:schemeClr>
                </a:solidFill>
                <a:latin typeface="Courier"/>
                <a:cs typeface="Courier"/>
              </a:rPr>
              <a:t>p2</a:t>
            </a:r>
            <a:endParaRPr lang="fr-FR" dirty="0">
              <a:solidFill>
                <a:schemeClr val="accent1">
                  <a:lumMod val="10000"/>
                </a:schemeClr>
              </a:solidFill>
            </a:endParaRPr>
          </a:p>
          <a:p>
            <a:pPr marL="320040" lvl="1" indent="0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Hanoi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(n, p1, p3, p2)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</a:t>
            </a:r>
            <a:r>
              <a:rPr lang="fr-FR" sz="2400" dirty="0">
                <a:solidFill>
                  <a:srgbClr val="008000"/>
                </a:solidFill>
                <a:latin typeface="Courier"/>
                <a:cs typeface="Courier"/>
              </a:rPr>
              <a:t>Si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n &gt; 0 :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 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Hanoi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(n-1, p1, p2, p3) </a:t>
            </a:r>
            <a:r>
              <a:rPr lang="fr-FR" sz="2400" dirty="0">
                <a:solidFill>
                  <a:srgbClr val="FF0000"/>
                </a:solidFill>
                <a:latin typeface="Courier"/>
                <a:cs typeface="Courier"/>
              </a:rPr>
              <a:t># appel récursif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  </a:t>
            </a:r>
            <a:r>
              <a:rPr lang="fr-FR" sz="24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24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« Bouger le disque de p1 vers p3 »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 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Hanoi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(n-1, p2, p3, p1) </a:t>
            </a:r>
            <a:r>
              <a:rPr lang="fr-FR" sz="2400" dirty="0">
                <a:solidFill>
                  <a:srgbClr val="FF0000"/>
                </a:solidFill>
                <a:latin typeface="Courier"/>
                <a:cs typeface="Courier"/>
              </a:rPr>
              <a:t># appel récursif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</a:t>
            </a:r>
            <a:r>
              <a:rPr lang="fr-FR" sz="2400" dirty="0">
                <a:solidFill>
                  <a:srgbClr val="008000"/>
                </a:solidFill>
                <a:latin typeface="Courier"/>
                <a:cs typeface="Courier"/>
              </a:rPr>
              <a:t>Sinon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: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Courier"/>
                <a:cs typeface="Courier"/>
              </a:rPr>
              <a:t>    rien faire</a:t>
            </a:r>
          </a:p>
        </p:txBody>
      </p:sp>
    </p:spTree>
    <p:extLst>
      <p:ext uri="{BB962C8B-B14F-4D97-AF65-F5344CB8AC3E}">
        <p14:creationId xmlns:p14="http://schemas.microsoft.com/office/powerpoint/2010/main" val="13306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38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urier"/>
                <a:cs typeface="Courier"/>
              </a:rPr>
              <a:t>Hanoi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(n, p1, p3, p2):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: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Hanoi(n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p1, p2, p3)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i-FI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Bouger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le 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disque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du 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pilier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"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(p1)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+ \</a:t>
            </a:r>
          </a:p>
          <a:p>
            <a:pPr marL="0" indent="0">
              <a:buNone/>
            </a:pP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		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" 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vers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le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i-FI" sz="1800" dirty="0" err="1">
                <a:solidFill>
                  <a:srgbClr val="BA2121"/>
                </a:solidFill>
                <a:latin typeface="Courier"/>
                <a:cs typeface="Courier"/>
              </a:rPr>
              <a:t>pilier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 "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(p3))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Hanoi(n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p2, p3, p1)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i-FI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i-FI" sz="1800" b="1" dirty="0" err="1">
                <a:solidFill>
                  <a:srgbClr val="008000"/>
                </a:solidFill>
                <a:latin typeface="Courier"/>
                <a:cs typeface="Courier"/>
              </a:rPr>
              <a:t>pass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8510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39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(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faire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Hanoi(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,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,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88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40</a:t>
            </a:fld>
            <a:endParaRPr lang="fr-FR" sz="140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92514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Pour mieux visualiser ce qui se passe, on peut ajouter une impression des piliers de la configuration des piliers dans le terminal.</a:t>
            </a:r>
          </a:p>
          <a:p>
            <a:r>
              <a:rPr lang="fr-FR" dirty="0">
                <a:solidFill>
                  <a:schemeClr val="accent1">
                    <a:lumMod val="10000"/>
                  </a:schemeClr>
                </a:solidFill>
              </a:rPr>
              <a:t>On se concentre uniquement le cas de 7 disques.</a:t>
            </a:r>
          </a:p>
        </p:txBody>
      </p:sp>
    </p:spTree>
    <p:extLst>
      <p:ext uri="{BB962C8B-B14F-4D97-AF65-F5344CB8AC3E}">
        <p14:creationId xmlns:p14="http://schemas.microsoft.com/office/powerpoint/2010/main" val="37992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41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liste des piliers...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chaque pilier est une liste de nombres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au début, le pilier 1 est rempli et les deux autres vides</a:t>
            </a: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piliers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[], []]</a:t>
            </a:r>
          </a:p>
        </p:txBody>
      </p:sp>
    </p:spTree>
    <p:extLst>
      <p:ext uri="{BB962C8B-B14F-4D97-AF65-F5344CB8AC3E}">
        <p14:creationId xmlns:p14="http://schemas.microsoft.com/office/powerpoint/2010/main" val="298595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42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ourier"/>
                <a:cs typeface="Courier"/>
              </a:rPr>
              <a:t>bouger_disque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(p1,p2):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hu-HU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hu-HU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"Bouger le disque de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(p1)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 vers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(p2)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mise à jour des piliers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piliers[p2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append(piliers[p1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pop())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impression des piliers (dans le cas n=7)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 pour aller a la ligne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piliers: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complete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le pilier avec des points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p_mod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p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"."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7-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(p))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on les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imprime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depuis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la fin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vers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le debut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pour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avoir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petits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disques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en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dessus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et les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gros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en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dessous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p_mod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  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5170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Algorithme en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BF38D8C3-A677-4A68-BAE4-733414589DC8}" type="slidenum">
              <a:rPr lang="fr-FR" smtClean="0"/>
              <a:pPr/>
              <a:t>43</a:t>
            </a:fld>
            <a:endParaRPr lang="fr-FR" sz="140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Hanoi_bis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(n, p1, p3, p2):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: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Hanoi_bis(n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p1, p2, p3)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bouger_disque(p1,p3) 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appel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nouvelle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fonction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...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Hanoi_bis(n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p2, p3, p1)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i-FI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i-FI" sz="1800" b="1" dirty="0" err="1">
                <a:solidFill>
                  <a:srgbClr val="008000"/>
                </a:solidFill>
                <a:latin typeface="Courier"/>
                <a:cs typeface="Courier"/>
              </a:rPr>
              <a:t>pass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Exemple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(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faire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i-FI" sz="1800" i="1" dirty="0" err="1">
                <a:solidFill>
                  <a:srgbClr val="408080"/>
                </a:solidFill>
                <a:latin typeface="Courier"/>
                <a:cs typeface="Courier"/>
              </a:rPr>
              <a:t>démo</a:t>
            </a:r>
            <a:r>
              <a:rPr lang="fi-FI" sz="1800" i="1" dirty="0">
                <a:solidFill>
                  <a:srgbClr val="408080"/>
                </a:solidFill>
                <a:latin typeface="Courier"/>
                <a:cs typeface="Courier"/>
              </a:rPr>
              <a:t>):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Hanoi_bis(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,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,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25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8860</TotalTime>
  <Pages>15</Pages>
  <Words>1793</Words>
  <Application>Microsoft Macintosh PowerPoint</Application>
  <PresentationFormat>A4 Paper (210x297 mm)</PresentationFormat>
  <Paragraphs>332</Paragraphs>
  <Slides>43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Courier</vt:lpstr>
      <vt:lpstr>Times</vt:lpstr>
      <vt:lpstr>Tw Cen MT</vt:lpstr>
      <vt:lpstr>Wingdings</vt:lpstr>
      <vt:lpstr>Wingdings 2</vt:lpstr>
      <vt:lpstr>Médian</vt:lpstr>
      <vt:lpstr>Chapitre 7 éléments de récursivité</vt:lpstr>
      <vt:lpstr>La fonction factorielle</vt:lpstr>
      <vt:lpstr>Définition</vt:lpstr>
      <vt:lpstr>La fonction factorielle</vt:lpstr>
      <vt:lpstr>La fonction factorielle</vt:lpstr>
      <vt:lpstr>La fonction factorielle</vt:lpstr>
      <vt:lpstr>La fonction factorielle en Python</vt:lpstr>
      <vt:lpstr>La fonction factorielle en Python</vt:lpstr>
      <vt:lpstr>Suite de Fibonacci</vt:lpstr>
      <vt:lpstr>Suite de Fibonacci</vt:lpstr>
      <vt:lpstr>Suite de Fibonacci en Python</vt:lpstr>
      <vt:lpstr>Suite de Fibonacci en Python</vt:lpstr>
      <vt:lpstr>Algorithme de conversion décimal-binaire</vt:lpstr>
      <vt:lpstr>Rappels</vt:lpstr>
      <vt:lpstr>Rappels</vt:lpstr>
      <vt:lpstr>Rappels</vt:lpstr>
      <vt:lpstr>Système binaire</vt:lpstr>
      <vt:lpstr>Conversion binaire - décimal</vt:lpstr>
      <vt:lpstr>Conversion décimal - binaire</vt:lpstr>
      <vt:lpstr>Algo de conversion décimal - binaire</vt:lpstr>
      <vt:lpstr>Algorithme en Python (non récursif)</vt:lpstr>
      <vt:lpstr>Algorithme en Python (non récursif)</vt:lpstr>
      <vt:lpstr>Algorithme en Python (récursif)</vt:lpstr>
      <vt:lpstr>Algorithme en Python (non récursif)</vt:lpstr>
      <vt:lpstr>Tours de Hanoï</vt:lpstr>
      <vt:lpstr>Tours de Hanoï</vt:lpstr>
      <vt:lpstr>Tours de Hanoï</vt:lpstr>
      <vt:lpstr>Tours de Hanoï</vt:lpstr>
      <vt:lpstr>Algorithme</vt:lpstr>
      <vt:lpstr>Algorithme</vt:lpstr>
      <vt:lpstr>Algorithme</vt:lpstr>
      <vt:lpstr>Algorithme</vt:lpstr>
      <vt:lpstr>Algorithme</vt:lpstr>
      <vt:lpstr>Algorithme</vt:lpstr>
      <vt:lpstr>Algorithme</vt:lpstr>
      <vt:lpstr>Algorithme</vt:lpstr>
      <vt:lpstr>Algorithme</vt:lpstr>
      <vt:lpstr>Algorithme en Python</vt:lpstr>
      <vt:lpstr>Algorithme en Python</vt:lpstr>
      <vt:lpstr>Algorithme en Python</vt:lpstr>
      <vt:lpstr>Algorithme en Python</vt:lpstr>
      <vt:lpstr>Algorithme en Python</vt:lpstr>
      <vt:lpstr>Algorithme en Python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Aucun titre de diapositive</dc:title>
  <dc:creator>Univ P &amp; M Curie</dc:creator>
  <cp:lastModifiedBy>Microsoft Office User</cp:lastModifiedBy>
  <cp:revision>1125</cp:revision>
  <cp:lastPrinted>2009-04-22T19:24:48Z</cp:lastPrinted>
  <dcterms:created xsi:type="dcterms:W3CDTF">1998-05-08T13:36:40Z</dcterms:created>
  <dcterms:modified xsi:type="dcterms:W3CDTF">2019-10-29T12:52:22Z</dcterms:modified>
</cp:coreProperties>
</file>