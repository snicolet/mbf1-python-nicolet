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32" r:id="rId1"/>
  </p:sldMasterIdLst>
  <p:notesMasterIdLst>
    <p:notesMasterId r:id="rId46"/>
  </p:notesMasterIdLst>
  <p:handoutMasterIdLst>
    <p:handoutMasterId r:id="rId47"/>
  </p:handoutMasterIdLst>
  <p:sldIdLst>
    <p:sldId id="375" r:id="rId2"/>
    <p:sldId id="400" r:id="rId3"/>
    <p:sldId id="407" r:id="rId4"/>
    <p:sldId id="408" r:id="rId5"/>
    <p:sldId id="409" r:id="rId6"/>
    <p:sldId id="410" r:id="rId7"/>
    <p:sldId id="411" r:id="rId8"/>
    <p:sldId id="412" r:id="rId9"/>
    <p:sldId id="415" r:id="rId10"/>
    <p:sldId id="413" r:id="rId11"/>
    <p:sldId id="414" r:id="rId12"/>
    <p:sldId id="416" r:id="rId13"/>
    <p:sldId id="418" r:id="rId14"/>
    <p:sldId id="419" r:id="rId15"/>
    <p:sldId id="421" r:id="rId16"/>
    <p:sldId id="422" r:id="rId17"/>
    <p:sldId id="423" r:id="rId18"/>
    <p:sldId id="424" r:id="rId19"/>
    <p:sldId id="425" r:id="rId20"/>
    <p:sldId id="427" r:id="rId21"/>
    <p:sldId id="428" r:id="rId22"/>
    <p:sldId id="426" r:id="rId23"/>
    <p:sldId id="429" r:id="rId24"/>
    <p:sldId id="430" r:id="rId25"/>
    <p:sldId id="448" r:id="rId26"/>
    <p:sldId id="431" r:id="rId27"/>
    <p:sldId id="432" r:id="rId28"/>
    <p:sldId id="433" r:id="rId29"/>
    <p:sldId id="434" r:id="rId30"/>
    <p:sldId id="435" r:id="rId31"/>
    <p:sldId id="436" r:id="rId32"/>
    <p:sldId id="439" r:id="rId33"/>
    <p:sldId id="437" r:id="rId34"/>
    <p:sldId id="438" r:id="rId35"/>
    <p:sldId id="440" r:id="rId36"/>
    <p:sldId id="442" r:id="rId37"/>
    <p:sldId id="452" r:id="rId38"/>
    <p:sldId id="443" r:id="rId39"/>
    <p:sldId id="450" r:id="rId40"/>
    <p:sldId id="451" r:id="rId41"/>
    <p:sldId id="449" r:id="rId42"/>
    <p:sldId id="444" r:id="rId43"/>
    <p:sldId id="446" r:id="rId44"/>
    <p:sldId id="445" r:id="rId45"/>
  </p:sldIdLst>
  <p:sldSz cx="9144000" cy="6858000" type="screen4x3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6pPr>
    <a:lvl7pPr marL="2743200" algn="l" defTabSz="457200" rtl="0" eaLnBrk="1" latinLnBrk="0" hangingPunct="1"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7pPr>
    <a:lvl8pPr marL="3200400" algn="l" defTabSz="457200" rtl="0" eaLnBrk="1" latinLnBrk="0" hangingPunct="1"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8pPr>
    <a:lvl9pPr marL="3657600" algn="l" defTabSz="457200" rtl="0" eaLnBrk="1" latinLnBrk="0" hangingPunct="1"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  <a:srgbClr val="FFCCFF"/>
    <a:srgbClr val="99FFCC"/>
    <a:srgbClr val="CCFFFF"/>
    <a:srgbClr val="FF00FF"/>
    <a:srgbClr val="FF0000"/>
    <a:srgbClr val="009900"/>
    <a:srgbClr val="E1E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Style léger 3 - Accentuation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Style léger 1 - Accentuation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Style léger 1 - Accentuation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787"/>
    <p:restoredTop sz="90929"/>
  </p:normalViewPr>
  <p:slideViewPr>
    <p:cSldViewPr>
      <p:cViewPr>
        <p:scale>
          <a:sx n="134" d="100"/>
          <a:sy n="134" d="100"/>
        </p:scale>
        <p:origin x="-480" y="-3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18" d="100"/>
          <a:sy n="118" d="100"/>
        </p:scale>
        <p:origin x="-425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interSettings" Target="printerSettings/printerSettings1.bin"/><Relationship Id="rId49" Type="http://schemas.openxmlformats.org/officeDocument/2006/relationships/presProps" Target="presProp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ACD6F964-0E01-0347-96A4-C37FEA3034E6}" type="slidenum">
              <a:rPr lang="fr-FR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03468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2BB96183-5730-AF4B-A221-215C0AAD25FC}" type="slidenum">
              <a:rPr lang="fr-FR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42413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CH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r>
              <a:rPr lang="fr-CH" smtClean="0"/>
              <a:t>30.10.12</a:t>
            </a:r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fr-FR" smtClean="0"/>
              <a:t>UNIL - Informatique I</a:t>
            </a:r>
            <a:endParaRPr lang="fr-FR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D2109F-C210-9F4F-BE50-DE6D04027247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 smtClean="0"/>
              <a:t>30.10.12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UNIL - Informatique I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84C434B-4C1C-AA4B-9FC7-3C7BDD6F6ADC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fr-CH" smtClean="0"/>
              <a:t>Cliquez pour modifier les styles du texte du masque</a:t>
            </a:r>
          </a:p>
          <a:p>
            <a:pPr lvl="1" eaLnBrk="1" latinLnBrk="0" hangingPunct="1"/>
            <a:r>
              <a:rPr lang="fr-CH" smtClean="0"/>
              <a:t>Deuxième niveau</a:t>
            </a:r>
          </a:p>
          <a:p>
            <a:pPr lvl="2" eaLnBrk="1" latinLnBrk="0" hangingPunct="1"/>
            <a:r>
              <a:rPr lang="fr-CH" smtClean="0"/>
              <a:t>Troisième niveau</a:t>
            </a:r>
          </a:p>
          <a:p>
            <a:pPr lvl="3" eaLnBrk="1" latinLnBrk="0" hangingPunct="1"/>
            <a:r>
              <a:rPr lang="fr-CH" smtClean="0"/>
              <a:t>Quatrième niveau</a:t>
            </a:r>
          </a:p>
          <a:p>
            <a:pPr lvl="4" eaLnBrk="1" latinLnBrk="0" hangingPunct="1"/>
            <a:r>
              <a:rPr lang="fr-CH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-tête de sec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CH" smtClean="0"/>
              <a:t>Cliquez pour modifier les styles du texte du masque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 smtClean="0"/>
              <a:t>30.10.12</a:t>
            </a:r>
            <a:endParaRPr lang="fr-FR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CA062017-3E5F-D545-803C-22C050AB8223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 smtClean="0"/>
              <a:t>UNIL - Informatique I</a:t>
            </a:r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fr-CH" smtClean="0"/>
              <a:t>Cliquez pour modifier les styles du texte du masque</a:t>
            </a:r>
          </a:p>
          <a:p>
            <a:pPr lvl="1" eaLnBrk="1" latinLnBrk="0" hangingPunct="1"/>
            <a:r>
              <a:rPr lang="fr-CH" smtClean="0"/>
              <a:t>Deuxième niveau</a:t>
            </a:r>
          </a:p>
          <a:p>
            <a:pPr lvl="2" eaLnBrk="1" latinLnBrk="0" hangingPunct="1"/>
            <a:r>
              <a:rPr lang="fr-CH" smtClean="0"/>
              <a:t>Troisième niveau</a:t>
            </a:r>
          </a:p>
          <a:p>
            <a:pPr lvl="3" eaLnBrk="1" latinLnBrk="0" hangingPunct="1"/>
            <a:r>
              <a:rPr lang="fr-CH" smtClean="0"/>
              <a:t>Quatrième niveau</a:t>
            </a:r>
          </a:p>
          <a:p>
            <a:pPr lvl="4" eaLnBrk="1" latinLnBrk="0" hangingPunct="1"/>
            <a:r>
              <a:rPr lang="fr-CH" smtClean="0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fr-CH" smtClean="0"/>
              <a:t>Cliquez pour modifier les styles du texte du masque</a:t>
            </a:r>
          </a:p>
          <a:p>
            <a:pPr lvl="1" eaLnBrk="1" latinLnBrk="0" hangingPunct="1"/>
            <a:r>
              <a:rPr lang="fr-CH" smtClean="0"/>
              <a:t>Deuxième niveau</a:t>
            </a:r>
          </a:p>
          <a:p>
            <a:pPr lvl="2" eaLnBrk="1" latinLnBrk="0" hangingPunct="1"/>
            <a:r>
              <a:rPr lang="fr-CH" smtClean="0"/>
              <a:t>Troisième niveau</a:t>
            </a:r>
          </a:p>
          <a:p>
            <a:pPr lvl="3" eaLnBrk="1" latinLnBrk="0" hangingPunct="1"/>
            <a:r>
              <a:rPr lang="fr-CH" smtClean="0"/>
              <a:t>Quatrième niveau</a:t>
            </a:r>
          </a:p>
          <a:p>
            <a:pPr lvl="4" eaLnBrk="1" latinLnBrk="0" hangingPunct="1"/>
            <a:r>
              <a:rPr lang="fr-CH" smtClean="0"/>
              <a:t>Cinquième niveau</a:t>
            </a:r>
            <a:endParaRPr kumimoji="0" lang="en-US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r>
              <a:rPr lang="fr-CH" smtClean="0"/>
              <a:t>30.10.12</a:t>
            </a:r>
            <a:endParaRPr lang="fr-FR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0BA543E-D95F-E941-884E-49F19CC3D31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2" name="Espace réservé du pied de page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fr-FR" smtClean="0"/>
              <a:t>UNIL - Informatique I</a:t>
            </a:r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fr-CH" smtClean="0"/>
              <a:t>Cliquez pour modifier les styles du texte du masque</a:t>
            </a:r>
          </a:p>
          <a:p>
            <a:pPr lvl="1" eaLnBrk="1" latinLnBrk="0" hangingPunct="1"/>
            <a:r>
              <a:rPr lang="fr-CH" smtClean="0"/>
              <a:t>Deuxième niveau</a:t>
            </a:r>
          </a:p>
          <a:p>
            <a:pPr lvl="2" eaLnBrk="1" latinLnBrk="0" hangingPunct="1"/>
            <a:r>
              <a:rPr lang="fr-CH" smtClean="0"/>
              <a:t>Troisième niveau</a:t>
            </a:r>
          </a:p>
          <a:p>
            <a:pPr lvl="3" eaLnBrk="1" latinLnBrk="0" hangingPunct="1"/>
            <a:r>
              <a:rPr lang="fr-CH" smtClean="0"/>
              <a:t>Quatrième niveau</a:t>
            </a:r>
          </a:p>
          <a:p>
            <a:pPr lvl="4" eaLnBrk="1" latinLnBrk="0" hangingPunct="1"/>
            <a:r>
              <a:rPr lang="fr-CH" smtClean="0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fr-CH" smtClean="0"/>
              <a:t>Cliquez pour modifier les styles du texte du masque</a:t>
            </a:r>
          </a:p>
          <a:p>
            <a:pPr lvl="1" eaLnBrk="1" latinLnBrk="0" hangingPunct="1"/>
            <a:r>
              <a:rPr lang="fr-CH" smtClean="0"/>
              <a:t>Deuxième niveau</a:t>
            </a:r>
          </a:p>
          <a:p>
            <a:pPr lvl="2" eaLnBrk="1" latinLnBrk="0" hangingPunct="1"/>
            <a:r>
              <a:rPr lang="fr-CH" smtClean="0"/>
              <a:t>Troisième niveau</a:t>
            </a:r>
          </a:p>
          <a:p>
            <a:pPr lvl="3" eaLnBrk="1" latinLnBrk="0" hangingPunct="1"/>
            <a:r>
              <a:rPr lang="fr-CH" smtClean="0"/>
              <a:t>Quatrième niveau</a:t>
            </a:r>
          </a:p>
          <a:p>
            <a:pPr lvl="4" eaLnBrk="1" latinLnBrk="0" hangingPunct="1"/>
            <a:r>
              <a:rPr lang="fr-CH" smtClean="0"/>
              <a:t>Cinquième niveau</a:t>
            </a:r>
            <a:endParaRPr kumimoji="0" lang="en-US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r>
              <a:rPr lang="fr-CH" smtClean="0"/>
              <a:t>30.10.12</a:t>
            </a:r>
            <a:endParaRPr lang="fr-FR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9F22BEEB-CA8A-C040-983A-AAABE0F651E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fr-FR" smtClean="0"/>
              <a:t>UNIL - Informatique I</a:t>
            </a:r>
            <a:endParaRPr lang="fr-FR"/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CH" smtClean="0"/>
              <a:t>Cliquez pour modifier les styles du texte du masque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CH" smtClean="0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 smtClean="0"/>
              <a:t>30.10.12</a:t>
            </a: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UNIL - Informatique I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D9B8300-181C-054A-A328-E2139B9AD5F7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 smtClean="0"/>
              <a:t>30.10.12</a:t>
            </a:r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UNIL - Informatique I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1A05B3F-7440-4047-9795-78A3F4158249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 smtClean="0"/>
              <a:t>30.10.12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UNIL - Informatique I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92FAD62-4CC2-5B40-ACA0-2FA3AD3CFBCF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CH" smtClean="0"/>
              <a:t>Cliquez pour modifier les styles du texte du masque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fr-CH" smtClean="0"/>
              <a:t>Cliquez pour modifier les styles du texte du masque</a:t>
            </a:r>
          </a:p>
          <a:p>
            <a:pPr lvl="1" eaLnBrk="1" latinLnBrk="0" hangingPunct="1"/>
            <a:r>
              <a:rPr lang="fr-CH" smtClean="0"/>
              <a:t>Deuxième niveau</a:t>
            </a:r>
          </a:p>
          <a:p>
            <a:pPr lvl="2" eaLnBrk="1" latinLnBrk="0" hangingPunct="1"/>
            <a:r>
              <a:rPr lang="fr-CH" smtClean="0"/>
              <a:t>Troisième niveau</a:t>
            </a:r>
          </a:p>
          <a:p>
            <a:pPr lvl="3" eaLnBrk="1" latinLnBrk="0" hangingPunct="1"/>
            <a:r>
              <a:rPr lang="fr-CH" smtClean="0"/>
              <a:t>Quatrième niveau</a:t>
            </a:r>
          </a:p>
          <a:p>
            <a:pPr lvl="4" eaLnBrk="1" latinLnBrk="0" hangingPunct="1"/>
            <a:r>
              <a:rPr lang="fr-CH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fr-CH" smtClean="0"/>
              <a:t>Cliquez pour modifier les styles du texte du masque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r>
              <a:rPr lang="fr-CH" smtClean="0"/>
              <a:t>30.10.12</a:t>
            </a:r>
            <a:endParaRPr lang="fr-FR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CC79D76C-33C8-DF41-AB83-387084CEC10B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r>
              <a:rPr lang="fr-FR" smtClean="0"/>
              <a:t>UNIL - Informatique I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CH" smtClean="0"/>
              <a:t>Faire glisser l'image vers l'espace réservé ou cliquer sur l'icône pour l'ajouter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CH" smtClean="0"/>
              <a:t>Cliquez pour modifier les styles du texte du masque</a:t>
            </a:r>
          </a:p>
          <a:p>
            <a:pPr lvl="1" eaLnBrk="1" latinLnBrk="0" hangingPunct="1"/>
            <a:r>
              <a:rPr lang="fr-CH" smtClean="0"/>
              <a:t>Deuxième niveau</a:t>
            </a:r>
          </a:p>
          <a:p>
            <a:pPr lvl="2" eaLnBrk="1" latinLnBrk="0" hangingPunct="1"/>
            <a:r>
              <a:rPr lang="fr-CH" smtClean="0"/>
              <a:t>Troisième niveau</a:t>
            </a:r>
          </a:p>
          <a:p>
            <a:pPr lvl="3" eaLnBrk="1" latinLnBrk="0" hangingPunct="1"/>
            <a:r>
              <a:rPr lang="fr-CH" smtClean="0"/>
              <a:t>Quatrième niveau</a:t>
            </a:r>
          </a:p>
          <a:p>
            <a:pPr lvl="4" eaLnBrk="1" latinLnBrk="0" hangingPunct="1"/>
            <a:r>
              <a:rPr lang="fr-CH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 smtClean="0"/>
              <a:t>30.10.12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UNIL - Informatique I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A849-4122-6640-96DA-97F7188E7D39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fr-CH" smtClean="0"/>
              <a:t>Cliquez pour modifier les styles du texte du masque</a:t>
            </a:r>
          </a:p>
          <a:p>
            <a:pPr lvl="1" eaLnBrk="1" latinLnBrk="0" hangingPunct="1"/>
            <a:r>
              <a:rPr lang="fr-CH" smtClean="0"/>
              <a:t>Deuxième niveau</a:t>
            </a:r>
          </a:p>
          <a:p>
            <a:pPr lvl="2" eaLnBrk="1" latinLnBrk="0" hangingPunct="1"/>
            <a:r>
              <a:rPr lang="fr-CH" smtClean="0"/>
              <a:t>Troisième niveau</a:t>
            </a:r>
          </a:p>
          <a:p>
            <a:pPr lvl="3" eaLnBrk="1" latinLnBrk="0" hangingPunct="1"/>
            <a:r>
              <a:rPr lang="fr-CH" smtClean="0"/>
              <a:t>Quatrième niveau</a:t>
            </a:r>
          </a:p>
          <a:p>
            <a:pPr lvl="4" eaLnBrk="1" latinLnBrk="0" hangingPunct="1"/>
            <a:r>
              <a:rPr lang="fr-CH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r>
              <a:rPr lang="fr-CH" smtClean="0"/>
              <a:t>30.10.12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r>
              <a:rPr lang="fr-FR" smtClean="0"/>
              <a:t>UNIL - Informatique I</a:t>
            </a:r>
            <a:endParaRPr lang="fr-FR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F97011EA-94E7-C94D-AD82-14E12DD73888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fr-CH" smtClean="0"/>
              <a:t>Cliquez et modifiez le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CH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CH" smtClean="0"/>
              <a:t>Deuxième niveau</a:t>
            </a:r>
          </a:p>
          <a:p>
            <a:pPr lvl="2" eaLnBrk="1" latinLnBrk="0" hangingPunct="1"/>
            <a:r>
              <a:rPr kumimoji="0" lang="fr-CH" smtClean="0"/>
              <a:t>Troisième niveau</a:t>
            </a:r>
          </a:p>
          <a:p>
            <a:pPr lvl="3" eaLnBrk="1" latinLnBrk="0" hangingPunct="1"/>
            <a:r>
              <a:rPr kumimoji="0" lang="fr-CH" smtClean="0"/>
              <a:t>Quatrième niveau</a:t>
            </a:r>
          </a:p>
          <a:p>
            <a:pPr lvl="4" eaLnBrk="1" latinLnBrk="0" hangingPunct="1"/>
            <a:r>
              <a:rPr kumimoji="0" lang="fr-CH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fr-CH" smtClean="0"/>
              <a:t>30.10.12</a:t>
            </a:r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fr-FR" smtClean="0"/>
              <a:t>UNIL - Informatique I</a:t>
            </a:r>
            <a:endParaRPr lang="fr-FR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6BE7D13C-A807-CA4C-B7E6-D4B4CB6419C0}" type="slidenum">
              <a:rPr lang="fr-FR" smtClean="0"/>
              <a:pPr/>
              <a:t>‹#›</a:t>
            </a:fld>
            <a:endParaRPr lang="fr-FR"/>
          </a:p>
        </p:txBody>
      </p:sp>
      <p:pic>
        <p:nvPicPr>
          <p:cNvPr id="10" name="Picture 12" descr="logoBlancTransparent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6130925"/>
            <a:ext cx="1152525" cy="62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Chapitre 5</a:t>
            </a:r>
            <a:br>
              <a:rPr lang="fr-FR" dirty="0" smtClean="0"/>
            </a:br>
            <a:r>
              <a:rPr lang="fr-FR" dirty="0" smtClean="0"/>
              <a:t>tests conditionnels et instructions de répétition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/>
              <a:t>Programmation en Python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109F-C210-9F4F-BE50-DE6D04027247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832785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Test conditionnel « If-</a:t>
            </a:r>
            <a:r>
              <a:rPr lang="is-IS" dirty="0" smtClean="0"/>
              <a:t>Elif-Else</a:t>
            </a:r>
            <a:r>
              <a:rPr lang="fr-FR" dirty="0" smtClean="0"/>
              <a:t> »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Un test conditionnel est un bloc d’instructions qui implémente le fait de dire :</a:t>
            </a:r>
          </a:p>
          <a:p>
            <a:pPr lvl="1"/>
            <a:r>
              <a:rPr lang="fr-FR" dirty="0" smtClean="0"/>
              <a:t>si une condition booléenne est vraie, alors un certain bloc d’instructions sera exécuté ;</a:t>
            </a:r>
          </a:p>
          <a:p>
            <a:pPr lvl="1"/>
            <a:r>
              <a:rPr lang="fr-FR" dirty="0" smtClean="0"/>
              <a:t>autrement, si une autre condition booléenne est vraie, alors un autre bloc d’instructions sera exécuté ;</a:t>
            </a:r>
          </a:p>
          <a:p>
            <a:pPr lvl="1"/>
            <a:r>
              <a:rPr lang="fr-FR" dirty="0" smtClean="0"/>
              <a:t>etc. ;</a:t>
            </a:r>
          </a:p>
          <a:p>
            <a:pPr lvl="1"/>
            <a:r>
              <a:rPr lang="fr-FR" dirty="0" smtClean="0"/>
              <a:t>sinon (i.e., si toutes les conditions booléennes ci-dessus sont fausses), alors un autre bloc d’instruction sera exécuté.</a:t>
            </a:r>
          </a:p>
        </p:txBody>
      </p:sp>
    </p:spTree>
    <p:extLst>
      <p:ext uri="{BB962C8B-B14F-4D97-AF65-F5344CB8AC3E}">
        <p14:creationId xmlns:p14="http://schemas.microsoft.com/office/powerpoint/2010/main" val="39711090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Test conditionnel « If-</a:t>
            </a:r>
            <a:r>
              <a:rPr lang="is-IS" dirty="0" smtClean="0"/>
              <a:t>Elif-Else</a:t>
            </a:r>
            <a:r>
              <a:rPr lang="fr-FR" dirty="0" smtClean="0"/>
              <a:t> »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53136"/>
          </a:xfrm>
        </p:spPr>
        <p:txBody>
          <a:bodyPr>
            <a:normAutofit lnSpcReduction="10000"/>
          </a:bodyPr>
          <a:lstStyle/>
          <a:p>
            <a:r>
              <a:rPr lang="fr-FR" dirty="0" smtClean="0"/>
              <a:t>En Python, la syntaxe d’un test conditionnel est la suivante :</a:t>
            </a:r>
          </a:p>
          <a:p>
            <a:pPr marL="0" indent="0">
              <a:buNone/>
            </a:pP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	if condition_1:</a:t>
            </a:r>
            <a:endParaRPr lang="fr-CH" sz="2400" dirty="0">
              <a:solidFill>
                <a:srgbClr val="3366FF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	    bloc_istructiions_1</a:t>
            </a:r>
          </a:p>
          <a:p>
            <a:pPr marL="0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	</a:t>
            </a: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elif condition_2:</a:t>
            </a:r>
          </a:p>
          <a:p>
            <a:pPr marL="0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	</a:t>
            </a: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    bloc_instructions_2</a:t>
            </a:r>
          </a:p>
          <a:p>
            <a:pPr marL="0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	</a:t>
            </a:r>
            <a:r>
              <a:rPr lang="is-IS" sz="2400" dirty="0" smtClean="0">
                <a:solidFill>
                  <a:srgbClr val="3366FF"/>
                </a:solidFill>
                <a:latin typeface="Courier"/>
                <a:cs typeface="Courier"/>
              </a:rPr>
              <a:t>...</a:t>
            </a:r>
          </a:p>
          <a:p>
            <a:pPr marL="0" indent="0">
              <a:buNone/>
            </a:pPr>
            <a:r>
              <a:rPr lang="is-IS" sz="2400" dirty="0">
                <a:solidFill>
                  <a:srgbClr val="3366FF"/>
                </a:solidFill>
                <a:latin typeface="Courier"/>
                <a:cs typeface="Courier"/>
              </a:rPr>
              <a:t>	</a:t>
            </a:r>
            <a:r>
              <a:rPr lang="is-IS" sz="2400" dirty="0" smtClean="0">
                <a:solidFill>
                  <a:srgbClr val="3366FF"/>
                </a:solidFill>
                <a:latin typeface="Courier"/>
                <a:cs typeface="Courier"/>
              </a:rPr>
              <a:t>elif condition_n:</a:t>
            </a:r>
          </a:p>
          <a:p>
            <a:pPr marL="0" indent="0">
              <a:buNone/>
            </a:pPr>
            <a:r>
              <a:rPr lang="is-IS" sz="2400" dirty="0">
                <a:solidFill>
                  <a:srgbClr val="3366FF"/>
                </a:solidFill>
                <a:latin typeface="Courier"/>
                <a:cs typeface="Courier"/>
              </a:rPr>
              <a:t>	 </a:t>
            </a:r>
            <a:r>
              <a:rPr lang="is-IS" sz="2400" dirty="0" smtClean="0">
                <a:solidFill>
                  <a:srgbClr val="3366FF"/>
                </a:solidFill>
                <a:latin typeface="Courier"/>
                <a:cs typeface="Courier"/>
              </a:rPr>
              <a:t>   bloc_instructions_n</a:t>
            </a:r>
          </a:p>
          <a:p>
            <a:pPr marL="0" indent="0">
              <a:buNone/>
            </a:pPr>
            <a:r>
              <a:rPr lang="is-IS" sz="2400" dirty="0">
                <a:solidFill>
                  <a:srgbClr val="3366FF"/>
                </a:solidFill>
                <a:latin typeface="Courier"/>
                <a:cs typeface="Courier"/>
              </a:rPr>
              <a:t>	</a:t>
            </a:r>
            <a:r>
              <a:rPr lang="is-IS" sz="2400" dirty="0" smtClean="0">
                <a:solidFill>
                  <a:srgbClr val="3366FF"/>
                </a:solidFill>
                <a:latin typeface="Courier"/>
                <a:cs typeface="Courier"/>
              </a:rPr>
              <a:t>else:</a:t>
            </a:r>
          </a:p>
          <a:p>
            <a:pPr marL="0" indent="0">
              <a:buNone/>
            </a:pPr>
            <a:r>
              <a:rPr lang="is-IS" sz="2400" dirty="0">
                <a:solidFill>
                  <a:srgbClr val="3366FF"/>
                </a:solidFill>
                <a:latin typeface="Courier"/>
                <a:cs typeface="Courier"/>
              </a:rPr>
              <a:t>	</a:t>
            </a:r>
            <a:r>
              <a:rPr lang="is-IS" sz="2400" dirty="0" smtClean="0">
                <a:solidFill>
                  <a:srgbClr val="3366FF"/>
                </a:solidFill>
                <a:latin typeface="Courier"/>
                <a:cs typeface="Courier"/>
              </a:rPr>
              <a:t>    bloc_instructions_finales</a:t>
            </a:r>
            <a:endParaRPr lang="fr-CH" sz="2400" dirty="0">
              <a:solidFill>
                <a:srgbClr val="33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38500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Test conditionnel « If-</a:t>
            </a:r>
            <a:r>
              <a:rPr lang="is-IS" dirty="0" smtClean="0"/>
              <a:t>Elif-Else</a:t>
            </a:r>
            <a:r>
              <a:rPr lang="fr-FR" dirty="0" smtClean="0"/>
              <a:t> »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53136"/>
          </a:xfrm>
        </p:spPr>
        <p:txBody>
          <a:bodyPr>
            <a:normAutofit/>
          </a:bodyPr>
          <a:lstStyle/>
          <a:p>
            <a:r>
              <a:rPr lang="fr-FR" dirty="0" smtClean="0"/>
              <a:t>On peut mettre autant de conditions « </a:t>
            </a:r>
            <a:r>
              <a:rPr lang="fr-FR" dirty="0" err="1" smtClean="0"/>
              <a:t>elif</a:t>
            </a:r>
            <a:r>
              <a:rPr lang="fr-FR" dirty="0" smtClean="0"/>
              <a:t> » que désiré (et même aucunes).</a:t>
            </a:r>
          </a:p>
          <a:p>
            <a:r>
              <a:rPr lang="fr-FR" dirty="0" smtClean="0"/>
              <a:t>De même, la dernière condition « </a:t>
            </a:r>
            <a:r>
              <a:rPr lang="fr-FR" dirty="0" err="1" smtClean="0"/>
              <a:t>else</a:t>
            </a:r>
            <a:r>
              <a:rPr lang="fr-FR" dirty="0" smtClean="0"/>
              <a:t> » est facultative. Si elle est omise, Python l’interprète comme un « sinon, rien ne se passe ».</a:t>
            </a:r>
          </a:p>
          <a:p>
            <a:r>
              <a:rPr lang="fr-FR" dirty="0" smtClean="0"/>
              <a:t>Ne pas oublier les « : » à la fin des instructions « if », « </a:t>
            </a:r>
            <a:r>
              <a:rPr lang="fr-FR" dirty="0" err="1" smtClean="0"/>
              <a:t>elif</a:t>
            </a:r>
            <a:r>
              <a:rPr lang="fr-FR" dirty="0" smtClean="0"/>
              <a:t> » et « </a:t>
            </a:r>
            <a:r>
              <a:rPr lang="fr-FR" dirty="0" err="1" smtClean="0"/>
              <a:t>else</a:t>
            </a:r>
            <a:r>
              <a:rPr lang="fr-FR" dirty="0" smtClean="0"/>
              <a:t> », et les indentations des blocs d’instructions qui suivent ces instructions.</a:t>
            </a:r>
          </a:p>
        </p:txBody>
      </p:sp>
    </p:spTree>
    <p:extLst>
      <p:ext uri="{BB962C8B-B14F-4D97-AF65-F5344CB8AC3E}">
        <p14:creationId xmlns:p14="http://schemas.microsoft.com/office/powerpoint/2010/main" val="39274006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Test conditionnel « If-</a:t>
            </a:r>
            <a:r>
              <a:rPr lang="is-IS" dirty="0" smtClean="0"/>
              <a:t>Elif-Else</a:t>
            </a:r>
            <a:r>
              <a:rPr lang="fr-FR" dirty="0" smtClean="0"/>
              <a:t> »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H" sz="1800" dirty="0" smtClean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ru-RU" sz="1800" dirty="0" err="1" smtClean="0">
                <a:solidFill>
                  <a:prstClr val="black"/>
                </a:solidFill>
                <a:latin typeface="Courier"/>
                <a:cs typeface="Courier"/>
              </a:rPr>
              <a:t>a</a:t>
            </a:r>
            <a:r>
              <a:rPr lang="ru-RU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ru-RU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ru-RU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ru-RU" sz="1800" dirty="0">
                <a:solidFill>
                  <a:srgbClr val="666666"/>
                </a:solidFill>
                <a:latin typeface="Courier"/>
                <a:cs typeface="Courier"/>
              </a:rPr>
              <a:t>-1</a:t>
            </a:r>
            <a:endParaRPr lang="ru-RU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CH" sz="1800" dirty="0">
                <a:solidFill>
                  <a:prstClr val="black"/>
                </a:solidFill>
                <a:latin typeface="Courier"/>
                <a:cs typeface="Courier"/>
              </a:rPr>
              <a:t>&gt;&gt;</a:t>
            </a:r>
            <a:r>
              <a:rPr lang="fr-CH" sz="1800" dirty="0" smtClean="0">
                <a:solidFill>
                  <a:prstClr val="black"/>
                </a:solidFill>
                <a:latin typeface="Courier"/>
                <a:cs typeface="Courier"/>
              </a:rPr>
              <a:t>&gt; </a:t>
            </a:r>
            <a:r>
              <a:rPr lang="en-US" sz="1800" b="1" dirty="0" smtClean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a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&lt;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   </a:t>
            </a:r>
            <a:r>
              <a:rPr lang="en-US" sz="1800" dirty="0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en-US" sz="1800" dirty="0" smtClean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en-US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a 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est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en-US" sz="1800" dirty="0" err="1" smtClean="0">
                <a:solidFill>
                  <a:srgbClr val="BA2121"/>
                </a:solidFill>
                <a:latin typeface="Courier"/>
                <a:cs typeface="Courier"/>
              </a:rPr>
              <a:t>négatif</a:t>
            </a:r>
            <a:r>
              <a:rPr lang="en-US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 smtClean="0">
                <a:solidFill>
                  <a:srgbClr val="000000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CH" sz="1800" dirty="0" smtClean="0">
                <a:solidFill>
                  <a:prstClr val="black"/>
                </a:solidFill>
                <a:latin typeface="Courier"/>
                <a:cs typeface="Courier"/>
              </a:rPr>
              <a:t>a est négatif</a:t>
            </a:r>
          </a:p>
          <a:p>
            <a:pPr marL="0" indent="0">
              <a:buNone/>
            </a:pPr>
            <a:r>
              <a:rPr lang="fr-CH" sz="1800" dirty="0" smtClean="0">
                <a:solidFill>
                  <a:prstClr val="black"/>
                </a:solidFill>
                <a:latin typeface="Courier"/>
                <a:cs typeface="Courier"/>
              </a:rPr>
              <a:t>&gt;&gt;&gt;</a:t>
            </a:r>
          </a:p>
          <a:p>
            <a:pPr marL="0" indent="0">
              <a:buNone/>
            </a:pPr>
            <a:r>
              <a:rPr lang="fr-CH" sz="1800" dirty="0" smtClean="0">
                <a:solidFill>
                  <a:prstClr val="black"/>
                </a:solidFill>
                <a:latin typeface="Courier"/>
                <a:cs typeface="Courier"/>
              </a:rPr>
              <a:t>&gt;</a:t>
            </a:r>
            <a:r>
              <a:rPr lang="fr-CH" sz="1800" dirty="0">
                <a:solidFill>
                  <a:prstClr val="black"/>
                </a:solidFill>
                <a:latin typeface="Courier"/>
                <a:cs typeface="Courier"/>
              </a:rPr>
              <a:t>&gt;</a:t>
            </a:r>
            <a:r>
              <a:rPr lang="fr-CH" sz="1800" dirty="0" smtClean="0">
                <a:solidFill>
                  <a:prstClr val="black"/>
                </a:solidFill>
                <a:latin typeface="Courier"/>
                <a:cs typeface="Courier"/>
              </a:rPr>
              <a:t>&gt; </a:t>
            </a:r>
            <a:r>
              <a:rPr lang="is-IS" sz="1800" dirty="0" smtClean="0">
                <a:solidFill>
                  <a:prstClr val="black"/>
                </a:solidFill>
                <a:latin typeface="Courier"/>
                <a:cs typeface="Courier"/>
              </a:rPr>
              <a:t>a </a:t>
            </a:r>
            <a:r>
              <a:rPr lang="is-IS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is-IS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endParaRPr lang="is-I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CH" sz="1800" dirty="0">
                <a:solidFill>
                  <a:prstClr val="black"/>
                </a:solidFill>
                <a:latin typeface="Courier"/>
                <a:cs typeface="Courier"/>
              </a:rPr>
              <a:t>&gt;&gt;</a:t>
            </a:r>
            <a:r>
              <a:rPr lang="fr-CH" sz="1800" dirty="0" smtClean="0">
                <a:solidFill>
                  <a:prstClr val="black"/>
                </a:solidFill>
                <a:latin typeface="Courier"/>
                <a:cs typeface="Courier"/>
              </a:rPr>
              <a:t>&gt; </a:t>
            </a:r>
            <a:r>
              <a:rPr lang="en-US" sz="1800" b="1" dirty="0" smtClean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a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&lt;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   </a:t>
            </a:r>
            <a:r>
              <a:rPr lang="en-US" sz="1800" dirty="0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en-US" sz="1800" dirty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en-US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a 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est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en-US" sz="1800" dirty="0" err="1" smtClean="0">
                <a:solidFill>
                  <a:srgbClr val="BA2121"/>
                </a:solidFill>
                <a:latin typeface="Courier"/>
                <a:cs typeface="Courier"/>
              </a:rPr>
              <a:t>négatif</a:t>
            </a:r>
            <a:r>
              <a:rPr lang="en-US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 smtClean="0">
                <a:solidFill>
                  <a:srgbClr val="000000"/>
                </a:solidFill>
                <a:latin typeface="Courier"/>
                <a:cs typeface="Courier"/>
              </a:rPr>
              <a:t>)</a:t>
            </a:r>
            <a:endParaRPr lang="en-US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&gt;&gt;&gt;</a:t>
            </a:r>
            <a:endParaRPr lang="fr-FR" sz="1800" dirty="0" smtClean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9252076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Test conditionnel « If-</a:t>
            </a:r>
            <a:r>
              <a:rPr lang="is-IS" dirty="0" smtClean="0"/>
              <a:t>Elif-Else</a:t>
            </a:r>
            <a:r>
              <a:rPr lang="fr-FR" dirty="0" smtClean="0"/>
              <a:t> »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6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5313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CH" sz="1800" dirty="0" smtClean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bg-BG" sz="1800" dirty="0" smtClean="0">
                <a:solidFill>
                  <a:prstClr val="black"/>
                </a:solidFill>
                <a:latin typeface="Courier"/>
                <a:cs typeface="Courier"/>
              </a:rPr>
              <a:t>a </a:t>
            </a:r>
            <a:r>
              <a:rPr lang="bg-BG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bg-BG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bg-BG" sz="1800" dirty="0">
                <a:solidFill>
                  <a:srgbClr val="666666"/>
                </a:solidFill>
                <a:latin typeface="Courier"/>
                <a:cs typeface="Courier"/>
              </a:rPr>
              <a:t>-3</a:t>
            </a:r>
            <a:endParaRPr lang="bg-BG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CH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en-US" sz="1800" b="1" dirty="0" smtClean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a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&lt;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en-US" sz="1800" dirty="0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en-US" sz="1800" dirty="0" smtClean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en-US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a 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est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en-US" sz="1800" dirty="0" err="1" smtClean="0">
                <a:solidFill>
                  <a:srgbClr val="BA2121"/>
                </a:solidFill>
                <a:latin typeface="Courier"/>
                <a:cs typeface="Courier"/>
              </a:rPr>
              <a:t>négatif</a:t>
            </a:r>
            <a:r>
              <a:rPr lang="en-US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 smtClean="0">
                <a:solidFill>
                  <a:srgbClr val="000000"/>
                </a:solidFill>
                <a:latin typeface="Courier"/>
                <a:cs typeface="Courier"/>
              </a:rPr>
              <a:t>)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b="1" dirty="0" smtClean="0">
                <a:solidFill>
                  <a:srgbClr val="008000"/>
                </a:solidFill>
                <a:latin typeface="Courier"/>
                <a:cs typeface="Courier"/>
              </a:rPr>
              <a:t>    else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   </a:t>
            </a:r>
            <a:r>
              <a:rPr lang="en-US" sz="1800" dirty="0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en-US" sz="1800" dirty="0" smtClean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en-US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a 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est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positif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ou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en-US" sz="1800" dirty="0" err="1" smtClean="0">
                <a:solidFill>
                  <a:srgbClr val="BA2121"/>
                </a:solidFill>
                <a:latin typeface="Courier"/>
                <a:cs typeface="Courier"/>
              </a:rPr>
              <a:t>nul</a:t>
            </a:r>
            <a:r>
              <a:rPr lang="en-US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 smtClean="0">
                <a:solidFill>
                  <a:srgbClr val="000000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a </a:t>
            </a:r>
            <a:r>
              <a:rPr lang="en-US" sz="1800" dirty="0" err="1" smtClean="0">
                <a:solidFill>
                  <a:prstClr val="black"/>
                </a:solidFill>
                <a:latin typeface="Courier"/>
                <a:cs typeface="Courier"/>
              </a:rPr>
              <a:t>est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 smtClean="0">
                <a:solidFill>
                  <a:prstClr val="black"/>
                </a:solidFill>
                <a:latin typeface="Courier"/>
                <a:cs typeface="Courier"/>
              </a:rPr>
              <a:t>négatif</a:t>
            </a:r>
            <a:endParaRPr lang="en-US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CH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bg-BG" sz="1800" dirty="0">
                <a:solidFill>
                  <a:prstClr val="black"/>
                </a:solidFill>
                <a:latin typeface="Courier"/>
                <a:cs typeface="Courier"/>
              </a:rPr>
              <a:t>a </a:t>
            </a:r>
            <a:r>
              <a:rPr lang="bg-BG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bg-BG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CH" sz="1800" dirty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endParaRPr lang="bg-BG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CH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a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&lt;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en-US" sz="1800" dirty="0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en-US" sz="1800" dirty="0" smtClean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en-US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a 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est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en-US" sz="1800" dirty="0" err="1" smtClean="0">
                <a:solidFill>
                  <a:srgbClr val="BA2121"/>
                </a:solidFill>
                <a:latin typeface="Courier"/>
                <a:cs typeface="Courier"/>
              </a:rPr>
              <a:t>négatif</a:t>
            </a:r>
            <a:r>
              <a:rPr lang="en-US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 smtClean="0">
                <a:solidFill>
                  <a:srgbClr val="000000"/>
                </a:solidFill>
                <a:latin typeface="Courier"/>
                <a:cs typeface="Courier"/>
              </a:rPr>
              <a:t>)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    else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en-US" sz="1800" dirty="0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en-US" sz="1800" dirty="0" smtClean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en-US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a 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est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positif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ou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en-US" sz="1800" dirty="0" err="1" smtClean="0">
                <a:solidFill>
                  <a:srgbClr val="BA2121"/>
                </a:solidFill>
                <a:latin typeface="Courier"/>
                <a:cs typeface="Courier"/>
              </a:rPr>
              <a:t>nul</a:t>
            </a:r>
            <a:r>
              <a:rPr lang="en-US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 smtClean="0">
                <a:solidFill>
                  <a:srgbClr val="000000"/>
                </a:solidFill>
                <a:latin typeface="Courier"/>
                <a:cs typeface="Courier"/>
              </a:rPr>
              <a:t>)</a:t>
            </a:r>
            <a:endParaRPr lang="en-US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a </a:t>
            </a:r>
            <a:r>
              <a:rPr lang="en-US" sz="1800" dirty="0" err="1">
                <a:solidFill>
                  <a:prstClr val="black"/>
                </a:solidFill>
                <a:latin typeface="Courier"/>
                <a:cs typeface="Courier"/>
              </a:rPr>
              <a:t>est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 smtClean="0">
                <a:solidFill>
                  <a:prstClr val="black"/>
                </a:solidFill>
                <a:latin typeface="Courier"/>
                <a:cs typeface="Courier"/>
              </a:rPr>
              <a:t>positif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 smtClean="0">
                <a:solidFill>
                  <a:prstClr val="black"/>
                </a:solidFill>
                <a:latin typeface="Courier"/>
                <a:cs typeface="Courier"/>
              </a:rPr>
              <a:t>ou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 smtClean="0">
                <a:solidFill>
                  <a:prstClr val="black"/>
                </a:solidFill>
                <a:latin typeface="Courier"/>
                <a:cs typeface="Courier"/>
              </a:rPr>
              <a:t>nul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6956064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Test conditionnel « If-</a:t>
            </a:r>
            <a:r>
              <a:rPr lang="is-IS" dirty="0" smtClean="0"/>
              <a:t>Elif-Else</a:t>
            </a:r>
            <a:r>
              <a:rPr lang="fr-FR" dirty="0" smtClean="0"/>
              <a:t> »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7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H" sz="1800" dirty="0" smtClean="0">
                <a:solidFill>
                  <a:prstClr val="black"/>
                </a:solidFill>
                <a:latin typeface="Courier"/>
                <a:cs typeface="Courier"/>
              </a:rPr>
              <a:t>&gt;</a:t>
            </a:r>
            <a:r>
              <a:rPr lang="fr-CH" sz="1800" dirty="0">
                <a:solidFill>
                  <a:prstClr val="black"/>
                </a:solidFill>
                <a:latin typeface="Courier"/>
                <a:cs typeface="Courier"/>
              </a:rPr>
              <a:t>&gt;&gt; 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a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5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CH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en-US" sz="1800" b="1" dirty="0" smtClean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a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&lt;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   print(</a:t>
            </a:r>
            <a:r>
              <a:rPr lang="en-US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a 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est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en-US" sz="1800" dirty="0" err="1" smtClean="0">
                <a:solidFill>
                  <a:srgbClr val="BA2121"/>
                </a:solidFill>
                <a:latin typeface="Courier"/>
                <a:cs typeface="Courier"/>
              </a:rPr>
              <a:t>negatif</a:t>
            </a:r>
            <a:r>
              <a:rPr lang="en-US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CH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CH" sz="1800" dirty="0" smtClean="0">
                <a:solidFill>
                  <a:prstClr val="black"/>
                </a:solidFill>
                <a:latin typeface="Courier"/>
                <a:cs typeface="Courier"/>
              </a:rPr>
              <a:t>   </a:t>
            </a:r>
            <a:r>
              <a:rPr lang="tr-TR" sz="1800" b="1" dirty="0" smtClean="0">
                <a:solidFill>
                  <a:srgbClr val="008000"/>
                </a:solidFill>
                <a:latin typeface="Courier"/>
                <a:cs typeface="Courier"/>
              </a:rPr>
              <a:t>elif</a:t>
            </a:r>
            <a:r>
              <a:rPr lang="tr-T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a </a:t>
            </a:r>
            <a:r>
              <a:rPr lang="tr-TR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tr-TR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tr-TR" sz="1800" dirty="0" smtClean="0">
                <a:solidFill>
                  <a:prstClr val="black"/>
                </a:solidFill>
                <a:latin typeface="Courier"/>
                <a:cs typeface="Courier"/>
              </a:rPr>
              <a:t>       </a:t>
            </a:r>
            <a:r>
              <a:rPr lang="tr-T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print</a:t>
            </a:r>
            <a:r>
              <a:rPr lang="tr-TR" sz="1800" dirty="0" smtClean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tr-TR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tr-TR" sz="1800" dirty="0">
                <a:solidFill>
                  <a:srgbClr val="BA2121"/>
                </a:solidFill>
                <a:latin typeface="Courier"/>
                <a:cs typeface="Courier"/>
              </a:rPr>
              <a:t>a </a:t>
            </a:r>
            <a:r>
              <a:rPr lang="tr-TR" sz="1800" dirty="0" err="1">
                <a:solidFill>
                  <a:srgbClr val="BA2121"/>
                </a:solidFill>
                <a:latin typeface="Courier"/>
                <a:cs typeface="Courier"/>
              </a:rPr>
              <a:t>est</a:t>
            </a:r>
            <a:r>
              <a:rPr lang="tr-TR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tr-TR" sz="1800" dirty="0" err="1" smtClean="0">
                <a:solidFill>
                  <a:srgbClr val="BA2121"/>
                </a:solidFill>
                <a:latin typeface="Courier"/>
                <a:cs typeface="Courier"/>
              </a:rPr>
              <a:t>nul</a:t>
            </a:r>
            <a:r>
              <a:rPr lang="tr-TR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endParaRPr lang="tr-T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tr-TR" sz="1800" b="1" dirty="0" smtClean="0">
                <a:solidFill>
                  <a:srgbClr val="008000"/>
                </a:solidFill>
                <a:latin typeface="Courier"/>
                <a:cs typeface="Courier"/>
              </a:rPr>
              <a:t>    else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tr-TR" sz="1800" dirty="0" smtClean="0">
                <a:solidFill>
                  <a:prstClr val="black"/>
                </a:solidFill>
                <a:latin typeface="Courier"/>
                <a:cs typeface="Courier"/>
              </a:rPr>
              <a:t>       </a:t>
            </a:r>
            <a:r>
              <a:rPr lang="tr-T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print</a:t>
            </a:r>
            <a:r>
              <a:rPr lang="tr-TR" sz="1800" dirty="0" smtClean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tr-TR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tr-TR" sz="1800" dirty="0">
                <a:solidFill>
                  <a:srgbClr val="BA2121"/>
                </a:solidFill>
                <a:latin typeface="Courier"/>
                <a:cs typeface="Courier"/>
              </a:rPr>
              <a:t>a </a:t>
            </a:r>
            <a:r>
              <a:rPr lang="tr-TR" sz="1800" dirty="0" err="1">
                <a:solidFill>
                  <a:srgbClr val="BA2121"/>
                </a:solidFill>
                <a:latin typeface="Courier"/>
                <a:cs typeface="Courier"/>
              </a:rPr>
              <a:t>est</a:t>
            </a:r>
            <a:r>
              <a:rPr lang="tr-TR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tr-TR" sz="1800" dirty="0" err="1" smtClean="0">
                <a:solidFill>
                  <a:srgbClr val="BA2121"/>
                </a:solidFill>
                <a:latin typeface="Courier"/>
                <a:cs typeface="Courier"/>
              </a:rPr>
              <a:t>positif</a:t>
            </a:r>
            <a:r>
              <a:rPr lang="tr-TR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  <a:endParaRPr lang="tr-TR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CH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CH" sz="1800" dirty="0" smtClean="0">
                <a:solidFill>
                  <a:prstClr val="black"/>
                </a:solidFill>
                <a:latin typeface="Courier"/>
                <a:cs typeface="Courier"/>
              </a:rPr>
              <a:t>a est positif</a:t>
            </a:r>
          </a:p>
          <a:p>
            <a:pPr marL="0" indent="0">
              <a:buNone/>
            </a:pPr>
            <a:r>
              <a:rPr lang="fr-CH" sz="1800" dirty="0" smtClean="0">
                <a:solidFill>
                  <a:prstClr val="black"/>
                </a:solidFill>
                <a:latin typeface="Courier"/>
                <a:cs typeface="Courier"/>
              </a:rPr>
              <a:t>&gt;</a:t>
            </a:r>
            <a:r>
              <a:rPr lang="fr-CH" sz="1800" dirty="0">
                <a:solidFill>
                  <a:prstClr val="black"/>
                </a:solidFill>
                <a:latin typeface="Courier"/>
                <a:cs typeface="Courier"/>
              </a:rPr>
              <a:t>&gt;&gt; 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7089966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Test conditionnel « If-</a:t>
            </a:r>
            <a:r>
              <a:rPr lang="is-IS" dirty="0" smtClean="0"/>
              <a:t>Elif-Else</a:t>
            </a:r>
            <a:r>
              <a:rPr lang="fr-FR" dirty="0" smtClean="0"/>
              <a:t> »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8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H" sz="1800" dirty="0" smtClean="0">
                <a:solidFill>
                  <a:prstClr val="black"/>
                </a:solidFill>
                <a:latin typeface="Courier"/>
                <a:cs typeface="Courier"/>
              </a:rPr>
              <a:t>&gt;</a:t>
            </a:r>
            <a:r>
              <a:rPr lang="fr-CH" sz="1800" dirty="0">
                <a:solidFill>
                  <a:prstClr val="black"/>
                </a:solidFill>
                <a:latin typeface="Courier"/>
                <a:cs typeface="Courier"/>
              </a:rPr>
              <a:t>&gt;&gt; 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a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7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CH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en-US" sz="1800" b="1" dirty="0" smtClean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a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&lt;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  print(</a:t>
            </a:r>
            <a:r>
              <a:rPr lang="en-US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a 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est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en-US" sz="1800" dirty="0" err="1" smtClean="0">
                <a:solidFill>
                  <a:srgbClr val="BA2121"/>
                </a:solidFill>
                <a:latin typeface="Courier"/>
                <a:cs typeface="Courier"/>
              </a:rPr>
              <a:t>negatif</a:t>
            </a:r>
            <a:r>
              <a:rPr lang="en-US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b="1" dirty="0" smtClean="0">
                <a:solidFill>
                  <a:srgbClr val="008000"/>
                </a:solidFill>
                <a:latin typeface="Courier"/>
                <a:cs typeface="Courier"/>
              </a:rPr>
              <a:t>    </a:t>
            </a:r>
            <a:r>
              <a:rPr lang="en-US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elif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(a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&gt;=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 </a:t>
            </a:r>
            <a:r>
              <a:rPr lang="en-US" sz="1800" b="1" dirty="0">
                <a:solidFill>
                  <a:srgbClr val="AA22FF"/>
                </a:solidFill>
                <a:latin typeface="Courier"/>
                <a:cs typeface="Courier"/>
              </a:rPr>
              <a:t>and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(a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&lt;=5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):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   print(</a:t>
            </a:r>
            <a:r>
              <a:rPr lang="en-US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a 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est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compris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 entre 0 et </a:t>
            </a:r>
            <a:r>
              <a:rPr lang="en-US" sz="1800" dirty="0" smtClean="0">
                <a:solidFill>
                  <a:srgbClr val="BA2121"/>
                </a:solidFill>
                <a:latin typeface="Courier"/>
                <a:cs typeface="Courier"/>
              </a:rPr>
              <a:t>5"</a:t>
            </a:r>
            <a:r>
              <a:rPr lang="en-US" sz="18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b="1" dirty="0" smtClean="0">
                <a:solidFill>
                  <a:srgbClr val="008000"/>
                </a:solidFill>
                <a:latin typeface="Courier"/>
                <a:cs typeface="Courier"/>
              </a:rPr>
              <a:t>    </a:t>
            </a:r>
            <a:r>
              <a:rPr lang="en-US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elif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(a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&gt;=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6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 </a:t>
            </a:r>
            <a:r>
              <a:rPr lang="en-US" sz="1800" b="1" dirty="0">
                <a:solidFill>
                  <a:srgbClr val="AA22FF"/>
                </a:solidFill>
                <a:latin typeface="Courier"/>
                <a:cs typeface="Courier"/>
              </a:rPr>
              <a:t>and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(a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&lt;=10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):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   print(</a:t>
            </a:r>
            <a:r>
              <a:rPr lang="en-US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a 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est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compris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 entre 6 et </a:t>
            </a:r>
            <a:r>
              <a:rPr lang="en-US" sz="1800" dirty="0" smtClean="0">
                <a:solidFill>
                  <a:srgbClr val="BA2121"/>
                </a:solidFill>
                <a:latin typeface="Courier"/>
                <a:cs typeface="Courier"/>
              </a:rPr>
              <a:t>10"</a:t>
            </a:r>
            <a:r>
              <a:rPr lang="en-US" sz="18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b="1" dirty="0" smtClean="0">
                <a:solidFill>
                  <a:srgbClr val="008000"/>
                </a:solidFill>
                <a:latin typeface="Courier"/>
                <a:cs typeface="Courier"/>
              </a:rPr>
              <a:t>    else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   print(</a:t>
            </a:r>
            <a:r>
              <a:rPr lang="en-US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a 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est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supérieur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à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en-US" sz="1800" dirty="0" smtClean="0">
                <a:solidFill>
                  <a:srgbClr val="BA2121"/>
                </a:solidFill>
                <a:latin typeface="Courier"/>
                <a:cs typeface="Courier"/>
              </a:rPr>
              <a:t>10"</a:t>
            </a:r>
            <a:r>
              <a:rPr lang="en-US" sz="18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  <a:endParaRPr lang="en-US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en-US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a </a:t>
            </a:r>
            <a:r>
              <a:rPr lang="en-US" sz="1800" dirty="0" err="1" smtClean="0">
                <a:solidFill>
                  <a:prstClr val="black"/>
                </a:solidFill>
                <a:latin typeface="Courier"/>
                <a:cs typeface="Courier"/>
              </a:rPr>
              <a:t>est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err="1" smtClean="0">
                <a:solidFill>
                  <a:prstClr val="black"/>
                </a:solidFill>
                <a:latin typeface="Courier"/>
                <a:cs typeface="Courier"/>
              </a:rPr>
              <a:t>compris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entre 6 et 10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CH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7126482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Programme </a:t>
            </a:r>
            <a:r>
              <a:rPr lang="fr-FR" dirty="0"/>
              <a:t>(faire démo)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On implémente un programme qui résout les équations du second degré (déjà vu au chapitre 3).</a:t>
            </a:r>
          </a:p>
          <a:p>
            <a:r>
              <a:rPr lang="fr-FR" dirty="0" smtClean="0"/>
              <a:t>On calcule les solution en fonction du signe du discriminent.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41595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Programme (faire démo)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from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0000FF"/>
                </a:solidFill>
                <a:latin typeface="Courier"/>
                <a:cs typeface="Courier"/>
              </a:rPr>
              <a:t>math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import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*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importation de la librairie math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Soit 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l’équation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du second degré a*x^2 + b*x + c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:"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a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input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"Entrer le coefficient a: 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b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input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"Entrer le coefficient b: 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c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input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"Entrer le coefficient c: 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delta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b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**2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-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4*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a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*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c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018210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Programme </a:t>
            </a:r>
            <a:r>
              <a:rPr lang="fr-FR" dirty="0"/>
              <a:t>(faire démo)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11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7811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delta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&lt;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	</a:t>
            </a:r>
            <a:r>
              <a:rPr lang="fr-FR" sz="1800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Les solutions sont complexes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:"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endParaRPr lang="fr-FR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	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création du nombre complexe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aux = </a:t>
            </a:r>
            <a:r>
              <a:rPr lang="fr-FR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sqrt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(delta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)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	aux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(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sqrt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-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delta))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*1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j </a:t>
            </a:r>
            <a:endParaRPr lang="fr-FR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	</a:t>
            </a:r>
            <a:r>
              <a:rPr lang="fr-FR" sz="1800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srgbClr val="008000"/>
                </a:solidFill>
                <a:latin typeface="Courier"/>
                <a:cs typeface="Courier"/>
              </a:rPr>
              <a:t> 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-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b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aux)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/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(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2*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a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)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1</a:t>
            </a:r>
            <a:r>
              <a:rPr lang="fr-FR" sz="1800" i="1" baseline="30000" dirty="0" smtClean="0">
                <a:solidFill>
                  <a:srgbClr val="408080"/>
                </a:solidFill>
                <a:latin typeface="Courier"/>
                <a:cs typeface="Courier"/>
              </a:rPr>
              <a:t>ère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 solution complexe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	</a:t>
            </a:r>
            <a:r>
              <a:rPr lang="fr-FR" sz="1800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srgbClr val="008000"/>
                </a:solidFill>
                <a:latin typeface="Courier"/>
                <a:cs typeface="Courier"/>
              </a:rPr>
              <a:t> 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-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b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-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aux)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/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(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2*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a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2</a:t>
            </a:r>
            <a:r>
              <a:rPr lang="fr-FR" sz="1800" i="1" baseline="30000" dirty="0" smtClean="0">
                <a:solidFill>
                  <a:srgbClr val="408080"/>
                </a:solidFill>
                <a:latin typeface="Courier"/>
                <a:cs typeface="Courier"/>
              </a:rPr>
              <a:t>ème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 solution complexe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elif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delta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	</a:t>
            </a:r>
            <a:r>
              <a:rPr lang="fr-FR" sz="1800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Une seule solution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:"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	</a:t>
            </a:r>
            <a:r>
              <a:rPr lang="en-US" sz="1800" dirty="0" smtClean="0">
                <a:solidFill>
                  <a:srgbClr val="008000"/>
                </a:solidFill>
                <a:latin typeface="Courier"/>
                <a:cs typeface="Courier"/>
              </a:rPr>
              <a:t>print </a:t>
            </a:r>
            <a:r>
              <a:rPr lang="en-US" sz="1800" dirty="0" smtClean="0">
                <a:solidFill>
                  <a:srgbClr val="666666"/>
                </a:solidFill>
                <a:latin typeface="Courier"/>
                <a:cs typeface="Courier"/>
              </a:rPr>
              <a:t>-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b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/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(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2*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a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else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	</a:t>
            </a:r>
            <a:r>
              <a:rPr lang="en-US" sz="1800" dirty="0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en-US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 err="1">
                <a:solidFill>
                  <a:srgbClr val="BA2121"/>
                </a:solidFill>
                <a:latin typeface="Courier"/>
                <a:cs typeface="Courier"/>
              </a:rPr>
              <a:t>Deux</a:t>
            </a:r>
            <a:r>
              <a:rPr lang="en-US" sz="1800" dirty="0">
                <a:solidFill>
                  <a:srgbClr val="BA2121"/>
                </a:solidFill>
                <a:latin typeface="Courier"/>
                <a:cs typeface="Courier"/>
              </a:rPr>
              <a:t> solutions</a:t>
            </a:r>
            <a:r>
              <a:rPr lang="en-US" sz="1800" dirty="0" smtClean="0">
                <a:solidFill>
                  <a:srgbClr val="BA2121"/>
                </a:solidFill>
                <a:latin typeface="Courier"/>
                <a:cs typeface="Courier"/>
              </a:rPr>
              <a:t>:"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endParaRPr lang="en-US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t-IT" sz="1800" dirty="0" smtClean="0">
                <a:solidFill>
                  <a:prstClr val="black"/>
                </a:solidFill>
                <a:latin typeface="Courier"/>
                <a:cs typeface="Courier"/>
              </a:rPr>
              <a:t>	</a:t>
            </a:r>
            <a:r>
              <a:rPr lang="it-IT" sz="1800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it-IT" sz="1800" dirty="0" smtClean="0">
                <a:solidFill>
                  <a:srgbClr val="008000"/>
                </a:solidFill>
                <a:latin typeface="Courier"/>
                <a:cs typeface="Courier"/>
              </a:rPr>
              <a:t> </a:t>
            </a:r>
            <a:r>
              <a:rPr lang="it-IT" sz="1800" dirty="0" smtClean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it-IT" sz="1800" dirty="0" smtClean="0">
                <a:solidFill>
                  <a:srgbClr val="666666"/>
                </a:solidFill>
                <a:latin typeface="Courier"/>
                <a:cs typeface="Courier"/>
              </a:rPr>
              <a:t>-</a:t>
            </a:r>
            <a:r>
              <a:rPr lang="it-IT" sz="1800" dirty="0" smtClean="0">
                <a:solidFill>
                  <a:prstClr val="black"/>
                </a:solidFill>
                <a:latin typeface="Courier"/>
                <a:cs typeface="Courier"/>
              </a:rPr>
              <a:t>b </a:t>
            </a:r>
            <a:r>
              <a:rPr lang="it-IT" sz="1800" dirty="0" smtClean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it-IT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it-IT" sz="1800" dirty="0" err="1" smtClean="0">
                <a:solidFill>
                  <a:prstClr val="black"/>
                </a:solidFill>
                <a:latin typeface="Courier"/>
                <a:cs typeface="Courier"/>
              </a:rPr>
              <a:t>sqrt</a:t>
            </a:r>
            <a:r>
              <a:rPr lang="it-IT" sz="1800" dirty="0" smtClean="0">
                <a:solidFill>
                  <a:prstClr val="black"/>
                </a:solidFill>
                <a:latin typeface="Courier"/>
                <a:cs typeface="Courier"/>
              </a:rPr>
              <a:t>(delta)) </a:t>
            </a:r>
            <a:r>
              <a:rPr lang="it-IT" sz="1800" dirty="0" smtClean="0">
                <a:solidFill>
                  <a:srgbClr val="666666"/>
                </a:solidFill>
                <a:latin typeface="Courier"/>
                <a:cs typeface="Courier"/>
              </a:rPr>
              <a:t>/</a:t>
            </a:r>
            <a:r>
              <a:rPr lang="it-IT" sz="1800" dirty="0" smtClean="0">
                <a:solidFill>
                  <a:prstClr val="black"/>
                </a:solidFill>
                <a:latin typeface="Courier"/>
                <a:cs typeface="Courier"/>
              </a:rPr>
              <a:t> (</a:t>
            </a:r>
            <a:r>
              <a:rPr lang="it-IT" sz="1800" dirty="0" smtClean="0">
                <a:solidFill>
                  <a:srgbClr val="666666"/>
                </a:solidFill>
                <a:latin typeface="Courier"/>
                <a:cs typeface="Courier"/>
              </a:rPr>
              <a:t>2*</a:t>
            </a:r>
            <a:r>
              <a:rPr lang="it-IT" sz="1800" dirty="0" smtClean="0">
                <a:solidFill>
                  <a:prstClr val="black"/>
                </a:solidFill>
                <a:latin typeface="Courier"/>
                <a:cs typeface="Courier"/>
              </a:rPr>
              <a:t>a)</a:t>
            </a:r>
          </a:p>
          <a:p>
            <a:pPr marL="0" indent="0">
              <a:buNone/>
            </a:pP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	</a:t>
            </a:r>
            <a:r>
              <a:rPr lang="it-IT" sz="1800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it-IT" sz="1800" dirty="0" smtClean="0">
                <a:solidFill>
                  <a:srgbClr val="008000"/>
                </a:solidFill>
                <a:latin typeface="Courier"/>
                <a:cs typeface="Courier"/>
              </a:rPr>
              <a:t> </a:t>
            </a:r>
            <a:r>
              <a:rPr lang="it-IT" sz="1800" dirty="0" smtClean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it-IT" sz="1800" dirty="0" smtClean="0">
                <a:solidFill>
                  <a:srgbClr val="666666"/>
                </a:solidFill>
                <a:latin typeface="Courier"/>
                <a:cs typeface="Courier"/>
              </a:rPr>
              <a:t>-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b </a:t>
            </a:r>
            <a:r>
              <a:rPr lang="it-IT" sz="1800" dirty="0">
                <a:solidFill>
                  <a:srgbClr val="666666"/>
                </a:solidFill>
                <a:latin typeface="Courier"/>
                <a:cs typeface="Courier"/>
              </a:rPr>
              <a:t>-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it-IT" sz="1800" dirty="0" err="1">
                <a:solidFill>
                  <a:prstClr val="black"/>
                </a:solidFill>
                <a:latin typeface="Courier"/>
                <a:cs typeface="Courier"/>
              </a:rPr>
              <a:t>sqrt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(delta)) </a:t>
            </a:r>
            <a:r>
              <a:rPr lang="it-IT" sz="1800" dirty="0">
                <a:solidFill>
                  <a:srgbClr val="666666"/>
                </a:solidFill>
                <a:latin typeface="Courier"/>
                <a:cs typeface="Courier"/>
              </a:rPr>
              <a:t>/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 (</a:t>
            </a:r>
            <a:r>
              <a:rPr lang="it-IT" sz="1800" dirty="0">
                <a:solidFill>
                  <a:srgbClr val="666666"/>
                </a:solidFill>
                <a:latin typeface="Courier"/>
                <a:cs typeface="Courier"/>
              </a:rPr>
              <a:t>2*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a</a:t>
            </a:r>
            <a:r>
              <a:rPr lang="it-IT" sz="1800" dirty="0" smtClean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endParaRPr lang="fr-FR" sz="1800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8254475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Boucle « for »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12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En programmation, une boucle « for » est une instruction de répétition qui ré-exécute un même bloc d’instructions autant de fois qu’une variable met de temps pour s’incrémenter d’une valeur initiale A jusqu’à une valeur finale B.</a:t>
            </a:r>
          </a:p>
          <a:p>
            <a:r>
              <a:rPr lang="fr-FR" dirty="0" smtClean="0"/>
              <a:t>« For i = </a:t>
            </a:r>
            <a:r>
              <a:rPr lang="fr-FR" dirty="0"/>
              <a:t>A</a:t>
            </a:r>
            <a:r>
              <a:rPr lang="fr-FR" dirty="0" smtClean="0"/>
              <a:t> to B, do... » se lit « pour i allant de A jusqu’à B, faire... ».</a:t>
            </a:r>
          </a:p>
          <a:p>
            <a:r>
              <a:rPr lang="fr-FR" dirty="0"/>
              <a:t>En Python, la boucle « for » s’exécute généralement de paire avec </a:t>
            </a:r>
            <a:r>
              <a:rPr lang="fr-FR" dirty="0" smtClean="0"/>
              <a:t>la fonction 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range(</a:t>
            </a:r>
            <a:r>
              <a:rPr lang="fr-FR" sz="2400" dirty="0" smtClean="0">
                <a:solidFill>
                  <a:srgbClr val="3366FF"/>
                </a:solidFill>
                <a:latin typeface="Courier"/>
                <a:cs typeface="Courier"/>
              </a:rPr>
              <a:t>)</a:t>
            </a:r>
            <a:r>
              <a:rPr lang="fr-FR" dirty="0"/>
              <a:t> </a:t>
            </a:r>
            <a:r>
              <a:rPr lang="fr-FR" dirty="0" smtClean="0"/>
              <a:t>(cf. chapitre 3).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644204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Boucle « for »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13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La fonction </a:t>
            </a:r>
            <a:r>
              <a:rPr lang="fr-FR" sz="2400" dirty="0" smtClean="0">
                <a:solidFill>
                  <a:srgbClr val="3366FF"/>
                </a:solidFill>
                <a:latin typeface="Courier"/>
                <a:cs typeface="Courier"/>
              </a:rPr>
              <a:t>range(</a:t>
            </a:r>
            <a:r>
              <a:rPr lang="fr-FR" sz="2400" dirty="0" err="1" smtClean="0">
                <a:solidFill>
                  <a:srgbClr val="3366FF"/>
                </a:solidFill>
                <a:latin typeface="Courier"/>
                <a:cs typeface="Courier"/>
              </a:rPr>
              <a:t>start,stop</a:t>
            </a:r>
            <a:r>
              <a:rPr lang="fr-FR" sz="2400" dirty="0" smtClean="0">
                <a:solidFill>
                  <a:srgbClr val="3366FF"/>
                </a:solidFill>
                <a:latin typeface="Courier"/>
                <a:cs typeface="Courier"/>
              </a:rPr>
              <a:t>,[</a:t>
            </a:r>
            <a:r>
              <a:rPr lang="fr-FR" sz="2400" dirty="0" err="1" smtClean="0">
                <a:solidFill>
                  <a:srgbClr val="3366FF"/>
                </a:solidFill>
                <a:latin typeface="Courier"/>
                <a:cs typeface="Courier"/>
              </a:rPr>
              <a:t>step</a:t>
            </a:r>
            <a:r>
              <a:rPr lang="fr-FR" sz="2400" dirty="0" smtClean="0">
                <a:solidFill>
                  <a:srgbClr val="3366FF"/>
                </a:solidFill>
                <a:latin typeface="Courier"/>
                <a:cs typeface="Courier"/>
              </a:rPr>
              <a:t>])</a:t>
            </a:r>
            <a:r>
              <a:rPr lang="fr-FR" dirty="0" smtClean="0"/>
              <a:t> produit un objet qui retourne une liste de valeurs telle que :</a:t>
            </a:r>
          </a:p>
          <a:p>
            <a:pPr lvl="1"/>
            <a:r>
              <a:rPr lang="fr-FR" dirty="0" smtClean="0"/>
              <a:t>la première valeur est </a:t>
            </a:r>
            <a:r>
              <a:rPr lang="fr-FR" dirty="0" err="1" smtClean="0"/>
              <a:t>start</a:t>
            </a:r>
            <a:endParaRPr lang="fr-FR" dirty="0" smtClean="0"/>
          </a:p>
          <a:p>
            <a:pPr lvl="1"/>
            <a:r>
              <a:rPr lang="fr-FR" dirty="0" smtClean="0"/>
              <a:t>les valeurs suivantes sont incrémentées par pas de </a:t>
            </a:r>
            <a:r>
              <a:rPr lang="fr-FR" dirty="0" err="1" smtClean="0"/>
              <a:t>step</a:t>
            </a:r>
            <a:endParaRPr lang="fr-FR" dirty="0" smtClean="0"/>
          </a:p>
          <a:p>
            <a:pPr lvl="1"/>
            <a:r>
              <a:rPr lang="fr-FR" dirty="0" smtClean="0"/>
              <a:t>et ce jusqu’à atteindre la valeur stop non incluse</a:t>
            </a:r>
          </a:p>
          <a:p>
            <a:pPr lvl="1"/>
            <a:r>
              <a:rPr lang="fr-FR" dirty="0" smtClean="0"/>
              <a:t>si </a:t>
            </a:r>
            <a:r>
              <a:rPr lang="fr-FR" dirty="0" err="1" smtClean="0"/>
              <a:t>start</a:t>
            </a:r>
            <a:r>
              <a:rPr lang="fr-FR" dirty="0" smtClean="0"/>
              <a:t> est omis, Python considère que </a:t>
            </a:r>
            <a:r>
              <a:rPr lang="fr-FR" dirty="0" err="1" smtClean="0"/>
              <a:t>start</a:t>
            </a:r>
            <a:r>
              <a:rPr lang="fr-FR" dirty="0" smtClean="0"/>
              <a:t> = 0</a:t>
            </a:r>
            <a:endParaRPr lang="fr-FR" dirty="0"/>
          </a:p>
          <a:p>
            <a:pPr lvl="1"/>
            <a:r>
              <a:rPr lang="fr-FR" dirty="0" smtClean="0"/>
              <a:t>si </a:t>
            </a:r>
            <a:r>
              <a:rPr lang="fr-FR" dirty="0" err="1" smtClean="0"/>
              <a:t>step</a:t>
            </a:r>
            <a:r>
              <a:rPr lang="fr-FR" dirty="0" smtClean="0"/>
              <a:t> est omis, Python considère que </a:t>
            </a:r>
            <a:r>
              <a:rPr lang="fr-FR" dirty="0" err="1" smtClean="0"/>
              <a:t>step</a:t>
            </a:r>
            <a:r>
              <a:rPr lang="fr-FR" dirty="0" smtClean="0"/>
              <a:t> = 1</a:t>
            </a:r>
            <a:endParaRPr lang="fr-FR" dirty="0"/>
          </a:p>
          <a:p>
            <a:r>
              <a:rPr lang="fr-CH" dirty="0" smtClean="0"/>
              <a:t>Par exemple </a:t>
            </a:r>
            <a:r>
              <a:rPr lang="fr-CH" sz="2400" dirty="0" smtClean="0">
                <a:latin typeface="Courier"/>
                <a:cs typeface="Courier"/>
              </a:rPr>
              <a:t>range(3,17,2)</a:t>
            </a:r>
            <a:r>
              <a:rPr lang="fr-CH" dirty="0" smtClean="0"/>
              <a:t> représente la liste </a:t>
            </a:r>
            <a:r>
              <a:rPr lang="fr-CH" sz="2400" dirty="0" smtClean="0">
                <a:latin typeface="Courier"/>
                <a:cs typeface="Courier"/>
              </a:rPr>
              <a:t>[3,5,7,9,11,13,15]</a:t>
            </a:r>
            <a:r>
              <a:rPr lang="fr-CH" dirty="0" smtClean="0"/>
              <a:t>.</a:t>
            </a:r>
            <a:endParaRPr lang="fr-CH" sz="2400" dirty="0">
              <a:latin typeface="Courier"/>
              <a:cs typeface="Courier"/>
            </a:endParaRPr>
          </a:p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29532200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Boucle « for »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14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637112"/>
          </a:xfrm>
        </p:spPr>
        <p:txBody>
          <a:bodyPr>
            <a:normAutofit lnSpcReduction="10000"/>
          </a:bodyPr>
          <a:lstStyle/>
          <a:p>
            <a:r>
              <a:rPr lang="fr-FR" dirty="0" smtClean="0"/>
              <a:t>La syntaxe d’une boucle « for » est la suivante :</a:t>
            </a:r>
          </a:p>
          <a:p>
            <a:pPr marL="0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	for </a:t>
            </a: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var in 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range(</a:t>
            </a:r>
            <a:r>
              <a:rPr lang="fr-FR" sz="2400" dirty="0" err="1">
                <a:solidFill>
                  <a:srgbClr val="3366FF"/>
                </a:solidFill>
                <a:latin typeface="Courier"/>
                <a:cs typeface="Courier"/>
              </a:rPr>
              <a:t>start,</a:t>
            </a:r>
            <a:r>
              <a:rPr lang="fr-FR" sz="2400" dirty="0" err="1" smtClean="0">
                <a:solidFill>
                  <a:srgbClr val="3366FF"/>
                </a:solidFill>
                <a:latin typeface="Courier"/>
                <a:cs typeface="Courier"/>
              </a:rPr>
              <a:t>stop</a:t>
            </a:r>
            <a:r>
              <a:rPr lang="fr-FR" sz="2400" dirty="0" smtClean="0">
                <a:solidFill>
                  <a:srgbClr val="3366FF"/>
                </a:solidFill>
                <a:latin typeface="Courier"/>
                <a:cs typeface="Courier"/>
              </a:rPr>
              <a:t>[,</a:t>
            </a:r>
            <a:r>
              <a:rPr lang="fr-FR" sz="2400" dirty="0" err="1" smtClean="0">
                <a:solidFill>
                  <a:srgbClr val="3366FF"/>
                </a:solidFill>
                <a:latin typeface="Courier"/>
                <a:cs typeface="Courier"/>
              </a:rPr>
              <a:t>step</a:t>
            </a:r>
            <a:r>
              <a:rPr lang="fr-FR" sz="2400" dirty="0">
                <a:solidFill>
                  <a:srgbClr val="3366FF"/>
                </a:solidFill>
                <a:latin typeface="Courier"/>
                <a:cs typeface="Courier"/>
              </a:rPr>
              <a:t>])</a:t>
            </a: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:</a:t>
            </a:r>
            <a:endParaRPr lang="fr-CH" sz="2400" dirty="0">
              <a:solidFill>
                <a:srgbClr val="3366FF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		</a:t>
            </a: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instructions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...</a:t>
            </a:r>
            <a:endParaRPr lang="fr-CH" sz="2400" dirty="0">
              <a:latin typeface="Courier"/>
              <a:cs typeface="Courier"/>
            </a:endParaRPr>
          </a:p>
          <a:p>
            <a:pPr lvl="1"/>
            <a:r>
              <a:rPr lang="fr-FR" dirty="0" smtClean="0"/>
              <a:t>Dans ce cas, la variable « var » prend comme valeurs les éléments successifs de </a:t>
            </a:r>
            <a:r>
              <a:rPr lang="fr-FR" dirty="0"/>
              <a:t>l’objet « range(</a:t>
            </a:r>
            <a:r>
              <a:rPr lang="fr-FR" dirty="0" err="1"/>
              <a:t>start,stop</a:t>
            </a:r>
            <a:r>
              <a:rPr lang="fr-FR" dirty="0"/>
              <a:t>[,</a:t>
            </a:r>
            <a:r>
              <a:rPr lang="fr-FR" dirty="0" err="1"/>
              <a:t>step</a:t>
            </a:r>
            <a:r>
              <a:rPr lang="fr-FR" dirty="0"/>
              <a:t>]) </a:t>
            </a:r>
            <a:r>
              <a:rPr lang="fr-FR" dirty="0" smtClean="0"/>
              <a:t>»</a:t>
            </a:r>
          </a:p>
          <a:p>
            <a:pPr lvl="1"/>
            <a:r>
              <a:rPr lang="fr-FR" dirty="0" smtClean="0"/>
              <a:t>le bloc d’instructions « instructions</a:t>
            </a:r>
            <a:r>
              <a:rPr lang="is-IS" dirty="0" smtClean="0"/>
              <a:t>...</a:t>
            </a:r>
            <a:r>
              <a:rPr lang="fr-FR" dirty="0" smtClean="0"/>
              <a:t> » est ré-exécuté autant de fois que la variable « var » met de temps pour parcourir l’objet « range(</a:t>
            </a:r>
            <a:r>
              <a:rPr lang="fr-FR" dirty="0" err="1" smtClean="0"/>
              <a:t>start,stop</a:t>
            </a:r>
            <a:r>
              <a:rPr lang="fr-FR" dirty="0" smtClean="0"/>
              <a:t>[,</a:t>
            </a:r>
            <a:r>
              <a:rPr lang="fr-FR" dirty="0" err="1" smtClean="0"/>
              <a:t>step</a:t>
            </a:r>
            <a:r>
              <a:rPr lang="fr-FR" dirty="0" smtClean="0"/>
              <a:t>]) ».</a:t>
            </a:r>
          </a:p>
          <a:p>
            <a:r>
              <a:rPr lang="fr-FR" dirty="0" smtClean="0"/>
              <a:t>On dira : « pour var allant de </a:t>
            </a:r>
            <a:r>
              <a:rPr lang="fr-FR" dirty="0" err="1" smtClean="0"/>
              <a:t>start</a:t>
            </a:r>
            <a:r>
              <a:rPr lang="fr-FR" dirty="0" smtClean="0"/>
              <a:t> à stop par pas de </a:t>
            </a:r>
            <a:r>
              <a:rPr lang="fr-FR" dirty="0" err="1" smtClean="0"/>
              <a:t>step</a:t>
            </a:r>
            <a:r>
              <a:rPr lang="fr-FR" dirty="0" smtClean="0"/>
              <a:t>, faire</a:t>
            </a:r>
            <a:r>
              <a:rPr lang="is-IS" dirty="0" smtClean="0"/>
              <a:t>...</a:t>
            </a:r>
            <a:r>
              <a:rPr lang="fr-FR" dirty="0" smtClean="0"/>
              <a:t> ».</a:t>
            </a:r>
            <a:endParaRPr lang="fr-FR" dirty="0"/>
          </a:p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18232994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Boucle « for »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15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s-IS" sz="1800" dirty="0" smtClean="0">
                <a:solidFill>
                  <a:prstClr val="black"/>
                </a:solidFill>
                <a:latin typeface="Courier"/>
                <a:cs typeface="Courier"/>
              </a:rPr>
              <a:t>&gt;</a:t>
            </a: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&gt;</a:t>
            </a:r>
            <a:r>
              <a:rPr lang="is-IS" sz="1800" dirty="0" smtClean="0">
                <a:solidFill>
                  <a:prstClr val="black"/>
                </a:solidFill>
                <a:latin typeface="Courier"/>
                <a:cs typeface="Courier"/>
              </a:rPr>
              <a:t>&gt; </a:t>
            </a:r>
            <a:r>
              <a:rPr lang="it-IT" sz="1800" b="1" dirty="0" smtClean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it-IT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i </a:t>
            </a:r>
            <a:r>
              <a:rPr lang="it-IT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it-IT" sz="1800" dirty="0" err="1">
                <a:solidFill>
                  <a:srgbClr val="008000"/>
                </a:solidFill>
                <a:latin typeface="Courier"/>
                <a:cs typeface="Courier"/>
              </a:rPr>
              <a:t>range</a:t>
            </a:r>
            <a:r>
              <a:rPr lang="it-IT" sz="1800" dirty="0" smtClean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it-IT" sz="1800" dirty="0" smtClean="0">
                <a:solidFill>
                  <a:srgbClr val="666666"/>
                </a:solidFill>
                <a:latin typeface="Courier"/>
                <a:cs typeface="Courier"/>
              </a:rPr>
              <a:t>1000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):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rgbClr val="008000"/>
                </a:solidFill>
                <a:latin typeface="Courier"/>
                <a:cs typeface="Courier"/>
              </a:rPr>
              <a:t>       print(</a:t>
            </a:r>
            <a:r>
              <a:rPr lang="en-US" sz="1800" dirty="0" err="1" smtClean="0">
                <a:solidFill>
                  <a:prstClr val="black"/>
                </a:solidFill>
                <a:latin typeface="Courier"/>
                <a:cs typeface="Courier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  <a:endParaRPr lang="en-US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is-IS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s-IS" sz="1800" dirty="0" smtClean="0">
                <a:solidFill>
                  <a:prstClr val="black"/>
                </a:solidFill>
                <a:latin typeface="Courier"/>
                <a:cs typeface="Courier"/>
              </a:rPr>
              <a:t>0</a:t>
            </a:r>
            <a:endParaRPr lang="is-I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1</a:t>
            </a: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2</a:t>
            </a: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3</a:t>
            </a: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4</a:t>
            </a:r>
          </a:p>
          <a:p>
            <a:pPr marL="0" indent="0">
              <a:buNone/>
            </a:pPr>
            <a:r>
              <a:rPr lang="is-IS" sz="1800" dirty="0" smtClean="0">
                <a:solidFill>
                  <a:prstClr val="black"/>
                </a:solidFill>
                <a:latin typeface="Courier"/>
                <a:cs typeface="Courier"/>
              </a:rPr>
              <a:t>5</a:t>
            </a: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6</a:t>
            </a:r>
            <a:endParaRPr lang="is-IS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s-IS" sz="1800" dirty="0" smtClean="0">
                <a:solidFill>
                  <a:prstClr val="black"/>
                </a:solidFill>
                <a:latin typeface="Courier"/>
                <a:cs typeface="Courier"/>
              </a:rPr>
              <a:t>...</a:t>
            </a:r>
            <a:endParaRPr lang="is-IS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6279815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Boucle « for »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16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s-IS" sz="1800" dirty="0" smtClean="0">
                <a:solidFill>
                  <a:prstClr val="black"/>
                </a:solidFill>
                <a:latin typeface="Courier"/>
                <a:cs typeface="Courier"/>
              </a:rPr>
              <a:t>&gt;</a:t>
            </a: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&gt;</a:t>
            </a:r>
            <a:r>
              <a:rPr lang="is-IS" sz="1800" dirty="0" smtClean="0">
                <a:solidFill>
                  <a:prstClr val="black"/>
                </a:solidFill>
                <a:latin typeface="Courier"/>
                <a:cs typeface="Courier"/>
              </a:rPr>
              <a:t>&gt; </a:t>
            </a:r>
            <a:r>
              <a:rPr lang="it-IT" sz="1800" b="1" dirty="0" smtClean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it-IT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i </a:t>
            </a:r>
            <a:r>
              <a:rPr lang="it-IT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it-IT" sz="1800" dirty="0" err="1">
                <a:solidFill>
                  <a:srgbClr val="008000"/>
                </a:solidFill>
                <a:latin typeface="Courier"/>
                <a:cs typeface="Courier"/>
              </a:rPr>
              <a:t>range</a:t>
            </a:r>
            <a:r>
              <a:rPr lang="it-IT" sz="1800" dirty="0" smtClean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it-IT" sz="1800" dirty="0">
                <a:solidFill>
                  <a:srgbClr val="666666"/>
                </a:solidFill>
                <a:latin typeface="Courier"/>
                <a:cs typeface="Courier"/>
              </a:rPr>
              <a:t>7</a:t>
            </a:r>
            <a:r>
              <a:rPr lang="it-IT" sz="1800" dirty="0" smtClean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it-IT" sz="1800" dirty="0" smtClean="0">
                <a:solidFill>
                  <a:srgbClr val="666666"/>
                </a:solidFill>
                <a:latin typeface="Courier"/>
                <a:cs typeface="Courier"/>
              </a:rPr>
              <a:t>1000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):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rgbClr val="008000"/>
                </a:solidFill>
                <a:latin typeface="Courier"/>
                <a:cs typeface="Courier"/>
              </a:rPr>
              <a:t>       print(</a:t>
            </a:r>
            <a:r>
              <a:rPr lang="en-US" sz="1800" dirty="0" err="1" smtClean="0">
                <a:solidFill>
                  <a:prstClr val="black"/>
                </a:solidFill>
                <a:latin typeface="Courier"/>
                <a:cs typeface="Courier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  <a:endParaRPr lang="en-US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is-IS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7</a:t>
            </a:r>
          </a:p>
          <a:p>
            <a:pPr marL="0" indent="0">
              <a:buNone/>
            </a:pPr>
            <a:r>
              <a:rPr lang="is-IS" sz="1800" dirty="0" smtClean="0">
                <a:solidFill>
                  <a:prstClr val="black"/>
                </a:solidFill>
                <a:latin typeface="Courier"/>
                <a:cs typeface="Courier"/>
              </a:rPr>
              <a:t>8</a:t>
            </a:r>
            <a:endParaRPr lang="is-I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s-IS" sz="1800" dirty="0" smtClean="0">
                <a:solidFill>
                  <a:prstClr val="black"/>
                </a:solidFill>
                <a:latin typeface="Courier"/>
                <a:cs typeface="Courier"/>
              </a:rPr>
              <a:t>9</a:t>
            </a:r>
            <a:endParaRPr lang="is-I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s-IS" sz="1800" dirty="0" smtClean="0">
                <a:solidFill>
                  <a:prstClr val="black"/>
                </a:solidFill>
                <a:latin typeface="Courier"/>
                <a:cs typeface="Courier"/>
              </a:rPr>
              <a:t>10</a:t>
            </a:r>
            <a:endParaRPr lang="is-I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s-IS" sz="1800" dirty="0" smtClean="0">
                <a:solidFill>
                  <a:prstClr val="black"/>
                </a:solidFill>
                <a:latin typeface="Courier"/>
                <a:cs typeface="Courier"/>
              </a:rPr>
              <a:t>11</a:t>
            </a:r>
            <a:endParaRPr lang="is-I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s-IS" sz="1800" dirty="0" smtClean="0">
                <a:solidFill>
                  <a:prstClr val="black"/>
                </a:solidFill>
                <a:latin typeface="Courier"/>
                <a:cs typeface="Courier"/>
              </a:rPr>
              <a:t>12</a:t>
            </a:r>
          </a:p>
          <a:p>
            <a:pPr marL="0" indent="0">
              <a:buNone/>
            </a:pPr>
            <a:r>
              <a:rPr lang="is-IS" sz="1800" dirty="0" smtClean="0">
                <a:solidFill>
                  <a:prstClr val="black"/>
                </a:solidFill>
                <a:latin typeface="Courier"/>
                <a:cs typeface="Courier"/>
              </a:rPr>
              <a:t>13</a:t>
            </a:r>
          </a:p>
          <a:p>
            <a:pPr marL="0" indent="0">
              <a:buNone/>
            </a:pPr>
            <a:r>
              <a:rPr lang="is-IS" sz="1800" dirty="0" smtClean="0">
                <a:solidFill>
                  <a:prstClr val="black"/>
                </a:solidFill>
                <a:latin typeface="Courier"/>
                <a:cs typeface="Courier"/>
              </a:rPr>
              <a:t>...</a:t>
            </a:r>
            <a:endParaRPr lang="is-IS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4578708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Boucle « for »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17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s-IS" sz="1800" dirty="0" smtClean="0">
                <a:solidFill>
                  <a:prstClr val="black"/>
                </a:solidFill>
                <a:latin typeface="Courier"/>
                <a:cs typeface="Courier"/>
              </a:rPr>
              <a:t>&gt;</a:t>
            </a: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&gt;</a:t>
            </a:r>
            <a:r>
              <a:rPr lang="is-IS" sz="1800" dirty="0" smtClean="0">
                <a:solidFill>
                  <a:prstClr val="black"/>
                </a:solidFill>
                <a:latin typeface="Courier"/>
                <a:cs typeface="Courier"/>
              </a:rPr>
              <a:t>&gt; </a:t>
            </a:r>
            <a:r>
              <a:rPr lang="it-IT" sz="1800" b="1" dirty="0" smtClean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it-IT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i </a:t>
            </a:r>
            <a:r>
              <a:rPr lang="it-IT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it-IT" sz="1800" dirty="0" err="1">
                <a:solidFill>
                  <a:srgbClr val="008000"/>
                </a:solidFill>
                <a:latin typeface="Courier"/>
                <a:cs typeface="Courier"/>
              </a:rPr>
              <a:t>range</a:t>
            </a:r>
            <a:r>
              <a:rPr lang="it-IT" sz="1800" dirty="0" smtClean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it-IT" sz="1800" dirty="0" smtClean="0">
                <a:solidFill>
                  <a:srgbClr val="666666"/>
                </a:solidFill>
                <a:latin typeface="Courier"/>
                <a:cs typeface="Courier"/>
              </a:rPr>
              <a:t>7</a:t>
            </a:r>
            <a:r>
              <a:rPr lang="it-IT" sz="1800" dirty="0" smtClean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it-IT" sz="1800" dirty="0" smtClean="0">
                <a:solidFill>
                  <a:srgbClr val="666666"/>
                </a:solidFill>
                <a:latin typeface="Courier"/>
                <a:cs typeface="Courier"/>
              </a:rPr>
              <a:t>1000,3</a:t>
            </a:r>
            <a:r>
              <a:rPr lang="it-IT" sz="1800" dirty="0" smtClean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rgbClr val="008000"/>
                </a:solidFill>
                <a:latin typeface="Courier"/>
                <a:cs typeface="Courier"/>
              </a:rPr>
              <a:t>       print(</a:t>
            </a:r>
            <a:r>
              <a:rPr lang="en-US" sz="1800" dirty="0" err="1" smtClean="0">
                <a:solidFill>
                  <a:prstClr val="black"/>
                </a:solidFill>
                <a:latin typeface="Courier"/>
                <a:cs typeface="Courier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  <a:endParaRPr lang="en-US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is-IS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7</a:t>
            </a:r>
          </a:p>
          <a:p>
            <a:pPr marL="0" indent="0">
              <a:buNone/>
            </a:pPr>
            <a:r>
              <a:rPr lang="is-IS" sz="1800" dirty="0" smtClean="0">
                <a:solidFill>
                  <a:prstClr val="black"/>
                </a:solidFill>
                <a:latin typeface="Courier"/>
                <a:cs typeface="Courier"/>
              </a:rPr>
              <a:t>10</a:t>
            </a:r>
            <a:endParaRPr lang="is-I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s-IS" sz="1800" dirty="0" smtClean="0">
                <a:solidFill>
                  <a:prstClr val="black"/>
                </a:solidFill>
                <a:latin typeface="Courier"/>
                <a:cs typeface="Courier"/>
              </a:rPr>
              <a:t>13</a:t>
            </a:r>
            <a:endParaRPr lang="is-I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s-IS" sz="1800" dirty="0" smtClean="0">
                <a:solidFill>
                  <a:prstClr val="black"/>
                </a:solidFill>
                <a:latin typeface="Courier"/>
                <a:cs typeface="Courier"/>
              </a:rPr>
              <a:t>16</a:t>
            </a:r>
            <a:endParaRPr lang="is-I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s-IS" sz="1800" dirty="0" smtClean="0">
                <a:solidFill>
                  <a:prstClr val="black"/>
                </a:solidFill>
                <a:latin typeface="Courier"/>
                <a:cs typeface="Courier"/>
              </a:rPr>
              <a:t>19</a:t>
            </a:r>
            <a:endParaRPr lang="is-I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s-IS" sz="1800" dirty="0" smtClean="0">
                <a:solidFill>
                  <a:prstClr val="black"/>
                </a:solidFill>
                <a:latin typeface="Courier"/>
                <a:cs typeface="Courier"/>
              </a:rPr>
              <a:t>22</a:t>
            </a:r>
          </a:p>
          <a:p>
            <a:pPr marL="0" indent="0">
              <a:buNone/>
            </a:pPr>
            <a:r>
              <a:rPr lang="is-IS" sz="1800" dirty="0" smtClean="0">
                <a:solidFill>
                  <a:prstClr val="black"/>
                </a:solidFill>
                <a:latin typeface="Courier"/>
                <a:cs typeface="Courier"/>
              </a:rPr>
              <a:t>25</a:t>
            </a:r>
          </a:p>
          <a:p>
            <a:pPr marL="0" indent="0">
              <a:buNone/>
            </a:pPr>
            <a:r>
              <a:rPr lang="is-IS" sz="1800" dirty="0" smtClean="0">
                <a:solidFill>
                  <a:prstClr val="black"/>
                </a:solidFill>
                <a:latin typeface="Courier"/>
                <a:cs typeface="Courier"/>
              </a:rPr>
              <a:t>...</a:t>
            </a:r>
            <a:endParaRPr lang="is-IS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8546461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Boucle « for »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18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On peut également utiliser des boucles for pour parcourir des chaînes, des listes, des </a:t>
            </a:r>
            <a:r>
              <a:rPr lang="fr-FR" dirty="0" err="1" smtClean="0"/>
              <a:t>tuples</a:t>
            </a:r>
            <a:r>
              <a:rPr lang="fr-FR" dirty="0" smtClean="0"/>
              <a:t> et des dictionnaires.</a:t>
            </a:r>
          </a:p>
        </p:txBody>
      </p:sp>
    </p:spTree>
    <p:extLst>
      <p:ext uri="{BB962C8B-B14F-4D97-AF65-F5344CB8AC3E}">
        <p14:creationId xmlns:p14="http://schemas.microsoft.com/office/powerpoint/2010/main" val="18298472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Boucle « for » sur les chaînes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19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21088"/>
          </a:xfrm>
        </p:spPr>
        <p:txBody>
          <a:bodyPr>
            <a:normAutofit/>
          </a:bodyPr>
          <a:lstStyle/>
          <a:p>
            <a:r>
              <a:rPr lang="fr-FR" dirty="0" smtClean="0"/>
              <a:t>La syntaxe d’une boucle « for » pour parcourir une chaîne de caractère est :</a:t>
            </a:r>
          </a:p>
          <a:p>
            <a:pPr marL="0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	for </a:t>
            </a: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var in </a:t>
            </a:r>
            <a:r>
              <a:rPr lang="fr-FR" sz="2400" dirty="0" smtClean="0">
                <a:solidFill>
                  <a:srgbClr val="3366FF"/>
                </a:solidFill>
                <a:latin typeface="Courier"/>
                <a:cs typeface="Courier"/>
              </a:rPr>
              <a:t>chaine</a:t>
            </a: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:</a:t>
            </a:r>
            <a:endParaRPr lang="fr-CH" sz="2400" dirty="0">
              <a:solidFill>
                <a:srgbClr val="3366FF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		</a:t>
            </a: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instructions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...</a:t>
            </a:r>
            <a:endParaRPr lang="fr-CH" sz="2400" dirty="0">
              <a:latin typeface="Courier"/>
              <a:cs typeface="Courier"/>
            </a:endParaRPr>
          </a:p>
          <a:p>
            <a:pPr lvl="1"/>
            <a:r>
              <a:rPr lang="fr-FR" dirty="0"/>
              <a:t>Dans ce cas, la variable « var » prend </a:t>
            </a:r>
            <a:r>
              <a:rPr lang="fr-FR" dirty="0" smtClean="0"/>
              <a:t>comme valeurs </a:t>
            </a:r>
            <a:r>
              <a:rPr lang="fr-FR" dirty="0"/>
              <a:t>l</a:t>
            </a:r>
            <a:r>
              <a:rPr lang="fr-FR" dirty="0" smtClean="0"/>
              <a:t>es caractères successifs </a:t>
            </a:r>
            <a:r>
              <a:rPr lang="fr-FR" dirty="0"/>
              <a:t>de </a:t>
            </a:r>
            <a:r>
              <a:rPr lang="fr-FR" dirty="0" smtClean="0"/>
              <a:t>la chaîne « chaîne »</a:t>
            </a:r>
            <a:endParaRPr lang="fr-FR" dirty="0"/>
          </a:p>
          <a:p>
            <a:pPr lvl="1"/>
            <a:r>
              <a:rPr lang="fr-FR" dirty="0"/>
              <a:t>le bloc d’instructions « instructions</a:t>
            </a:r>
            <a:r>
              <a:rPr lang="is-IS" dirty="0"/>
              <a:t>...</a:t>
            </a:r>
            <a:r>
              <a:rPr lang="fr-FR" dirty="0"/>
              <a:t> » est ré-exécuté autant de fois que la variable « var » met de temps pour parcourir l’objet « </a:t>
            </a:r>
            <a:r>
              <a:rPr lang="fr-FR" dirty="0" smtClean="0"/>
              <a:t>chaîne</a:t>
            </a:r>
            <a:r>
              <a:rPr lang="fr-FR" dirty="0"/>
              <a:t> ».</a:t>
            </a:r>
          </a:p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14006153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Boucle « for » sur les chaînes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20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b="1" dirty="0" smtClean="0">
                <a:solidFill>
                  <a:prstClr val="black"/>
                </a:solidFill>
                <a:latin typeface="Courier"/>
                <a:cs typeface="Courier"/>
              </a:rPr>
              <a:t>Programme</a:t>
            </a:r>
            <a:endParaRPr lang="fr-FR" sz="1800" b="1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voyelles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aeiouy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x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"il pleut"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x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voyelles: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(x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 est une 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voyelle"</a:t>
            </a:r>
            <a:r>
              <a:rPr lang="en-US" sz="18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tr-T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tr-TR" sz="1800" b="1" dirty="0" smtClean="0">
                <a:solidFill>
                  <a:srgbClr val="008000"/>
                </a:solidFill>
                <a:latin typeface="Courier"/>
                <a:cs typeface="Courier"/>
              </a:rPr>
              <a:t>elif</a:t>
            </a:r>
            <a:r>
              <a:rPr lang="tr-T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x </a:t>
            </a:r>
            <a:r>
              <a:rPr lang="tr-TR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tr-TR" sz="1800" dirty="0">
                <a:solidFill>
                  <a:srgbClr val="BA2121"/>
                </a:solidFill>
                <a:latin typeface="Courier"/>
                <a:cs typeface="Courier"/>
              </a:rPr>
              <a:t>" "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tr-TR" sz="1800" dirty="0" smtClean="0">
                <a:solidFill>
                  <a:prstClr val="black"/>
                </a:solidFill>
                <a:latin typeface="Courier"/>
                <a:cs typeface="Courier"/>
              </a:rPr>
              <a:t>       </a:t>
            </a:r>
            <a:r>
              <a:rPr lang="tr-TR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pass</a:t>
            </a:r>
            <a:endParaRPr lang="tr-T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tr-T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tr-TR" sz="1800" b="1" dirty="0" smtClean="0">
                <a:solidFill>
                  <a:srgbClr val="008000"/>
                </a:solidFill>
                <a:latin typeface="Courier"/>
                <a:cs typeface="Courier"/>
              </a:rPr>
              <a:t>else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tr-TR" sz="1800" dirty="0" smtClean="0">
                <a:solidFill>
                  <a:prstClr val="black"/>
                </a:solidFill>
                <a:latin typeface="Courier"/>
                <a:cs typeface="Courier"/>
              </a:rPr>
              <a:t>       </a:t>
            </a:r>
            <a:r>
              <a:rPr lang="tr-T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print</a:t>
            </a:r>
            <a:r>
              <a:rPr lang="tr-TR" sz="1800" dirty="0" smtClean="0">
                <a:solidFill>
                  <a:prstClr val="black"/>
                </a:solidFill>
                <a:latin typeface="Courier"/>
                <a:cs typeface="Courier"/>
              </a:rPr>
              <a:t>(x </a:t>
            </a:r>
            <a:r>
              <a:rPr lang="tr-TR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tr-T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tr-TR" sz="1800" dirty="0">
                <a:solidFill>
                  <a:srgbClr val="BA2121"/>
                </a:solidFill>
                <a:latin typeface="Courier"/>
                <a:cs typeface="Courier"/>
              </a:rPr>
              <a:t>" </a:t>
            </a:r>
            <a:r>
              <a:rPr lang="tr-TR" sz="1800" dirty="0" err="1">
                <a:solidFill>
                  <a:srgbClr val="BA2121"/>
                </a:solidFill>
                <a:latin typeface="Courier"/>
                <a:cs typeface="Courier"/>
              </a:rPr>
              <a:t>est</a:t>
            </a:r>
            <a:r>
              <a:rPr lang="tr-TR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tr-TR" sz="1800" dirty="0" err="1">
                <a:solidFill>
                  <a:srgbClr val="BA2121"/>
                </a:solidFill>
                <a:latin typeface="Courier"/>
                <a:cs typeface="Courier"/>
              </a:rPr>
              <a:t>une</a:t>
            </a:r>
            <a:r>
              <a:rPr lang="tr-TR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tr-TR" sz="1800" dirty="0" err="1" smtClean="0">
                <a:solidFill>
                  <a:srgbClr val="BA2121"/>
                </a:solidFill>
                <a:latin typeface="Courier"/>
                <a:cs typeface="Courier"/>
              </a:rPr>
              <a:t>consonne</a:t>
            </a:r>
            <a:r>
              <a:rPr lang="tr-TR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en-US" sz="18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  <a:endParaRPr lang="fr-FR" sz="1800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0798468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Boucle « for » sur les chaînes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21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b="1" dirty="0" smtClean="0">
                <a:latin typeface="Courier"/>
                <a:cs typeface="Courier"/>
              </a:rPr>
              <a:t>Exécution</a:t>
            </a:r>
          </a:p>
          <a:p>
            <a:pPr marL="0" indent="0">
              <a:buNone/>
            </a:pPr>
            <a:r>
              <a:rPr lang="fr-FR" sz="1800" dirty="0" smtClean="0">
                <a:latin typeface="Courier"/>
                <a:cs typeface="Courier"/>
              </a:rPr>
              <a:t>i est une voyelle</a:t>
            </a:r>
          </a:p>
          <a:p>
            <a:pPr marL="0" indent="0">
              <a:buNone/>
            </a:pPr>
            <a:r>
              <a:rPr lang="fr-FR" sz="1800" dirty="0" smtClean="0">
                <a:latin typeface="Courier"/>
                <a:cs typeface="Courier"/>
              </a:rPr>
              <a:t>l est une consonne</a:t>
            </a:r>
            <a:endParaRPr lang="fr-FR" sz="1800" dirty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p</a:t>
            </a:r>
            <a:r>
              <a:rPr lang="fr-FR" sz="1800" dirty="0" smtClean="0">
                <a:latin typeface="Courier"/>
                <a:cs typeface="Courier"/>
              </a:rPr>
              <a:t> </a:t>
            </a:r>
            <a:r>
              <a:rPr lang="fr-FR" sz="1800" dirty="0">
                <a:latin typeface="Courier"/>
                <a:cs typeface="Courier"/>
              </a:rPr>
              <a:t>est une consonne</a:t>
            </a: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l est une consonne</a:t>
            </a: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e</a:t>
            </a:r>
            <a:r>
              <a:rPr lang="fr-FR" sz="1800" dirty="0" smtClean="0">
                <a:latin typeface="Courier"/>
                <a:cs typeface="Courier"/>
              </a:rPr>
              <a:t> </a:t>
            </a:r>
            <a:r>
              <a:rPr lang="fr-FR" sz="1800" dirty="0">
                <a:latin typeface="Courier"/>
                <a:cs typeface="Courier"/>
              </a:rPr>
              <a:t>est une voyelle</a:t>
            </a:r>
          </a:p>
          <a:p>
            <a:pPr marL="0" indent="0">
              <a:buNone/>
            </a:pPr>
            <a:r>
              <a:rPr lang="fr-FR" sz="1800" dirty="0" smtClean="0">
                <a:latin typeface="Courier"/>
                <a:cs typeface="Courier"/>
              </a:rPr>
              <a:t>u </a:t>
            </a:r>
            <a:r>
              <a:rPr lang="fr-FR" sz="1800" dirty="0">
                <a:latin typeface="Courier"/>
                <a:cs typeface="Courier"/>
              </a:rPr>
              <a:t>est une voyelle</a:t>
            </a:r>
          </a:p>
          <a:p>
            <a:pPr marL="0" indent="0">
              <a:buNone/>
            </a:pPr>
            <a:r>
              <a:rPr lang="fr-FR" sz="1800" dirty="0" smtClean="0">
                <a:latin typeface="Courier"/>
                <a:cs typeface="Courier"/>
              </a:rPr>
              <a:t>t </a:t>
            </a:r>
            <a:r>
              <a:rPr lang="fr-FR" sz="1800" dirty="0">
                <a:latin typeface="Courier"/>
                <a:cs typeface="Courier"/>
              </a:rPr>
              <a:t>est une </a:t>
            </a:r>
            <a:r>
              <a:rPr lang="fr-FR" sz="1800" dirty="0" smtClean="0">
                <a:latin typeface="Courier"/>
                <a:cs typeface="Courier"/>
              </a:rPr>
              <a:t>consonne</a:t>
            </a:r>
            <a:endParaRPr lang="fr-FR" sz="1800" dirty="0" smtClean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2226782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Boucle « for » sur les </a:t>
            </a:r>
            <a:r>
              <a:rPr lang="fr-FR" dirty="0" smtClean="0"/>
              <a:t>listes ou </a:t>
            </a:r>
            <a:r>
              <a:rPr lang="fr-FR" dirty="0" err="1" smtClean="0"/>
              <a:t>tuples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22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21088"/>
          </a:xfrm>
        </p:spPr>
        <p:txBody>
          <a:bodyPr>
            <a:normAutofit/>
          </a:bodyPr>
          <a:lstStyle/>
          <a:p>
            <a:r>
              <a:rPr lang="fr-FR" dirty="0" smtClean="0"/>
              <a:t>La syntaxe d’une boucle « for » pour parcourir une liste ou un </a:t>
            </a:r>
            <a:r>
              <a:rPr lang="fr-FR" dirty="0" err="1" smtClean="0"/>
              <a:t>tuple</a:t>
            </a:r>
            <a:r>
              <a:rPr lang="fr-FR" dirty="0" smtClean="0"/>
              <a:t> est :</a:t>
            </a:r>
          </a:p>
          <a:p>
            <a:pPr marL="0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	for </a:t>
            </a: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var in </a:t>
            </a:r>
            <a:r>
              <a:rPr lang="fr-FR" sz="2400" dirty="0" smtClean="0">
                <a:solidFill>
                  <a:srgbClr val="3366FF"/>
                </a:solidFill>
                <a:latin typeface="Courier"/>
                <a:cs typeface="Courier"/>
              </a:rPr>
              <a:t>liste (ou </a:t>
            </a:r>
            <a:r>
              <a:rPr lang="fr-FR" sz="2400" dirty="0" err="1" smtClean="0">
                <a:solidFill>
                  <a:srgbClr val="3366FF"/>
                </a:solidFill>
                <a:latin typeface="Courier"/>
                <a:cs typeface="Courier"/>
              </a:rPr>
              <a:t>tuple</a:t>
            </a:r>
            <a:r>
              <a:rPr lang="fr-FR" sz="2400" dirty="0" smtClean="0">
                <a:solidFill>
                  <a:srgbClr val="3366FF"/>
                </a:solidFill>
                <a:latin typeface="Courier"/>
                <a:cs typeface="Courier"/>
              </a:rPr>
              <a:t>)</a:t>
            </a: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:</a:t>
            </a:r>
            <a:endParaRPr lang="fr-CH" sz="2400" dirty="0">
              <a:solidFill>
                <a:srgbClr val="3366FF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		</a:t>
            </a: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instructions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...</a:t>
            </a:r>
            <a:endParaRPr lang="fr-CH" sz="2400" dirty="0">
              <a:latin typeface="Courier"/>
              <a:cs typeface="Courier"/>
            </a:endParaRPr>
          </a:p>
          <a:p>
            <a:pPr lvl="1"/>
            <a:r>
              <a:rPr lang="fr-FR" dirty="0"/>
              <a:t>Dans ce cas, la variable « var » prend </a:t>
            </a:r>
            <a:r>
              <a:rPr lang="fr-FR" dirty="0" smtClean="0"/>
              <a:t>comme </a:t>
            </a:r>
            <a:r>
              <a:rPr lang="fr-FR" dirty="0"/>
              <a:t>valeurs </a:t>
            </a:r>
            <a:r>
              <a:rPr lang="fr-FR" dirty="0" smtClean="0"/>
              <a:t>des éléments successifs </a:t>
            </a:r>
            <a:r>
              <a:rPr lang="fr-FR" dirty="0"/>
              <a:t>de </a:t>
            </a:r>
            <a:r>
              <a:rPr lang="fr-FR" dirty="0" smtClean="0"/>
              <a:t>la liste « liste »</a:t>
            </a:r>
            <a:endParaRPr lang="fr-FR" dirty="0"/>
          </a:p>
          <a:p>
            <a:pPr lvl="1"/>
            <a:r>
              <a:rPr lang="fr-FR" dirty="0"/>
              <a:t>le bloc d’instructions « instructions</a:t>
            </a:r>
            <a:r>
              <a:rPr lang="is-IS" dirty="0"/>
              <a:t>...</a:t>
            </a:r>
            <a:r>
              <a:rPr lang="fr-FR" dirty="0"/>
              <a:t> » est ré-exécuté autant de fois que la variable « var » met de temps pour parcourir l’objet « </a:t>
            </a:r>
            <a:r>
              <a:rPr lang="fr-FR" dirty="0" smtClean="0"/>
              <a:t>liste</a:t>
            </a:r>
            <a:r>
              <a:rPr lang="fr-FR" dirty="0"/>
              <a:t> ».</a:t>
            </a:r>
          </a:p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41220131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Boucle « for » sur les listes ou </a:t>
            </a:r>
            <a:r>
              <a:rPr lang="fr-FR" dirty="0" err="1"/>
              <a:t>tuples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23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92514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1800" b="1" dirty="0" smtClean="0">
                <a:solidFill>
                  <a:prstClr val="black"/>
                </a:solidFill>
                <a:latin typeface="Courier"/>
                <a:cs typeface="Courier"/>
              </a:rPr>
              <a:t>Programme</a:t>
            </a:r>
            <a:endParaRPr lang="pt-BR" sz="1800" b="1" dirty="0" smtClean="0">
              <a:solidFill>
                <a:srgbClr val="40808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pt-B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pt-BR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importation</a:t>
            </a:r>
            <a:r>
              <a:rPr lang="pt-BR" sz="1800" i="1" dirty="0" smtClean="0">
                <a:solidFill>
                  <a:srgbClr val="408080"/>
                </a:solidFill>
                <a:latin typeface="Courier"/>
                <a:cs typeface="Courier"/>
              </a:rPr>
              <a:t> de </a:t>
            </a:r>
            <a:r>
              <a:rPr lang="pt-BR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la</a:t>
            </a:r>
            <a:r>
              <a:rPr lang="pt-BR" sz="1800" i="1" dirty="0" smtClean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pt-BR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librairie</a:t>
            </a:r>
            <a:r>
              <a:rPr lang="pt-BR" sz="1800" i="1" dirty="0" smtClean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pt-BR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random</a:t>
            </a:r>
            <a:endParaRPr lang="fr-FR" sz="1800" b="1" dirty="0" smtClean="0">
              <a:solidFill>
                <a:srgbClr val="00800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from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 err="1">
                <a:solidFill>
                  <a:srgbClr val="0000FF"/>
                </a:solidFill>
                <a:latin typeface="Courier"/>
                <a:cs typeface="Courier"/>
              </a:rPr>
              <a:t>random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import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smtClean="0">
                <a:solidFill>
                  <a:srgbClr val="666666"/>
                </a:solidFill>
                <a:latin typeface="Courier"/>
                <a:cs typeface="Courier"/>
              </a:rPr>
              <a:t>*</a:t>
            </a:r>
          </a:p>
          <a:p>
            <a:pPr marL="0" indent="0">
              <a:buNone/>
            </a:pPr>
            <a:endParaRPr lang="pt-BR" sz="1800" i="1" dirty="0" smtClean="0">
              <a:solidFill>
                <a:srgbClr val="40808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pt-B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pt-BR" sz="1800" i="1" dirty="0" err="1">
                <a:solidFill>
                  <a:srgbClr val="408080"/>
                </a:solidFill>
                <a:latin typeface="Courier"/>
                <a:cs typeface="Courier"/>
              </a:rPr>
              <a:t>la</a:t>
            </a:r>
            <a:r>
              <a:rPr lang="pt-BR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pt-BR" sz="1800" i="1" dirty="0" err="1">
                <a:solidFill>
                  <a:srgbClr val="408080"/>
                </a:solidFill>
                <a:latin typeface="Courier"/>
                <a:cs typeface="Courier"/>
              </a:rPr>
              <a:t>fonction</a:t>
            </a:r>
            <a:r>
              <a:rPr lang="pt-BR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pt-BR" sz="1800" i="1" dirty="0" err="1">
                <a:solidFill>
                  <a:srgbClr val="408080"/>
                </a:solidFill>
                <a:latin typeface="Courier"/>
                <a:cs typeface="Courier"/>
              </a:rPr>
              <a:t>randint</a:t>
            </a:r>
            <a:r>
              <a:rPr lang="pt-BR" sz="1800" i="1" dirty="0">
                <a:solidFill>
                  <a:srgbClr val="408080"/>
                </a:solidFill>
                <a:latin typeface="Courier"/>
                <a:cs typeface="Courier"/>
              </a:rPr>
              <a:t>(</a:t>
            </a:r>
            <a:r>
              <a:rPr lang="pt-BR" sz="1800" i="1" dirty="0" err="1">
                <a:solidFill>
                  <a:srgbClr val="408080"/>
                </a:solidFill>
                <a:latin typeface="Courier"/>
                <a:cs typeface="Courier"/>
              </a:rPr>
              <a:t>a,b</a:t>
            </a:r>
            <a:r>
              <a:rPr lang="pt-BR" sz="1800" i="1" dirty="0">
                <a:solidFill>
                  <a:srgbClr val="408080"/>
                </a:solidFill>
                <a:latin typeface="Courier"/>
                <a:cs typeface="Courier"/>
              </a:rPr>
              <a:t>) </a:t>
            </a:r>
            <a:r>
              <a:rPr lang="pt-BR" sz="1800" i="1" dirty="0" err="1">
                <a:solidFill>
                  <a:srgbClr val="408080"/>
                </a:solidFill>
                <a:latin typeface="Courier"/>
                <a:cs typeface="Courier"/>
              </a:rPr>
              <a:t>génère</a:t>
            </a:r>
            <a:r>
              <a:rPr lang="pt-BR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pt-BR" sz="1800" i="1" dirty="0" err="1">
                <a:solidFill>
                  <a:srgbClr val="408080"/>
                </a:solidFill>
                <a:latin typeface="Courier"/>
                <a:cs typeface="Courier"/>
              </a:rPr>
              <a:t>un</a:t>
            </a:r>
            <a:r>
              <a:rPr lang="pt-BR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pt-BR" sz="1800" i="1" dirty="0" err="1">
                <a:solidFill>
                  <a:srgbClr val="408080"/>
                </a:solidFill>
                <a:latin typeface="Courier"/>
                <a:cs typeface="Courier"/>
              </a:rPr>
              <a:t>entier</a:t>
            </a:r>
            <a:endParaRPr lang="pt-B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pt-BR" sz="1800" i="1" dirty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pt-BR" sz="1800" i="1" dirty="0" err="1">
                <a:solidFill>
                  <a:srgbClr val="408080"/>
                </a:solidFill>
                <a:latin typeface="Courier"/>
                <a:cs typeface="Courier"/>
              </a:rPr>
              <a:t>tiré</a:t>
            </a:r>
            <a:r>
              <a:rPr lang="pt-BR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pt-BR" sz="1800" i="1" dirty="0" err="1">
                <a:solidFill>
                  <a:srgbClr val="408080"/>
                </a:solidFill>
                <a:latin typeface="Courier"/>
                <a:cs typeface="Courier"/>
              </a:rPr>
              <a:t>aléatoirement</a:t>
            </a:r>
            <a:r>
              <a:rPr lang="pt-BR" sz="1800" i="1" dirty="0">
                <a:solidFill>
                  <a:srgbClr val="408080"/>
                </a:solidFill>
                <a:latin typeface="Courier"/>
                <a:cs typeface="Courier"/>
              </a:rPr>
              <a:t> entre a et </a:t>
            </a:r>
            <a:r>
              <a:rPr lang="pt-BR" sz="1800" i="1" dirty="0" err="1">
                <a:solidFill>
                  <a:srgbClr val="408080"/>
                </a:solidFill>
                <a:latin typeface="Courier"/>
                <a:cs typeface="Courier"/>
              </a:rPr>
              <a:t>b</a:t>
            </a:r>
            <a:r>
              <a:rPr lang="pt-BR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pt-BR" sz="1800" i="1" dirty="0" err="1">
                <a:solidFill>
                  <a:srgbClr val="408080"/>
                </a:solidFill>
                <a:latin typeface="Courier"/>
                <a:cs typeface="Courier"/>
              </a:rPr>
              <a:t>compris</a:t>
            </a:r>
            <a:endParaRPr lang="pt-B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l 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 [</a:t>
            </a: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]</a:t>
            </a:r>
            <a:endParaRPr lang="it-IT" sz="1800" b="1" dirty="0" smtClean="0">
              <a:solidFill>
                <a:srgbClr val="00800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t-IT" sz="1800" b="1" dirty="0" smtClean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it-IT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i </a:t>
            </a:r>
            <a:r>
              <a:rPr lang="it-IT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it-IT" sz="1800" dirty="0" err="1">
                <a:solidFill>
                  <a:srgbClr val="008000"/>
                </a:solidFill>
                <a:latin typeface="Courier"/>
                <a:cs typeface="Courier"/>
              </a:rPr>
              <a:t>range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it-IT" sz="1800" dirty="0">
                <a:solidFill>
                  <a:srgbClr val="666666"/>
                </a:solidFill>
                <a:latin typeface="Courier"/>
                <a:cs typeface="Courier"/>
              </a:rPr>
              <a:t>1000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r>
              <a:rPr lang="it-IT" sz="1800" dirty="0" smtClean="0">
                <a:solidFill>
                  <a:prstClr val="black"/>
                </a:solidFill>
                <a:latin typeface="Courier"/>
                <a:cs typeface="Courier"/>
              </a:rPr>
              <a:t>: </a:t>
            </a:r>
            <a:r>
              <a:rPr lang="pt-B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pt-BR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boucle</a:t>
            </a:r>
            <a:r>
              <a:rPr lang="pt-BR" sz="1800" i="1" dirty="0" smtClean="0">
                <a:solidFill>
                  <a:srgbClr val="408080"/>
                </a:solidFill>
                <a:latin typeface="Courier"/>
                <a:cs typeface="Courier"/>
              </a:rPr>
              <a:t> for </a:t>
            </a:r>
            <a:r>
              <a:rPr lang="pt-BR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sur</a:t>
            </a:r>
            <a:r>
              <a:rPr lang="pt-BR" sz="1800" i="1" dirty="0" smtClean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pt-BR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objet</a:t>
            </a:r>
            <a:r>
              <a:rPr lang="pt-BR" sz="1800" i="1" dirty="0" smtClean="0">
                <a:solidFill>
                  <a:srgbClr val="408080"/>
                </a:solidFill>
                <a:latin typeface="Courier"/>
                <a:cs typeface="Courier"/>
              </a:rPr>
              <a:t> range()</a:t>
            </a:r>
            <a:endParaRPr lang="it-IT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t-IT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it-IT" sz="1800" dirty="0" err="1" smtClean="0">
                <a:solidFill>
                  <a:prstClr val="black"/>
                </a:solidFill>
                <a:latin typeface="Courier"/>
                <a:cs typeface="Courier"/>
              </a:rPr>
              <a:t>l</a:t>
            </a:r>
            <a:r>
              <a:rPr lang="it-IT" sz="1800" dirty="0" err="1" smtClean="0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it-IT" sz="1800" dirty="0" err="1" smtClean="0">
                <a:solidFill>
                  <a:prstClr val="black"/>
                </a:solidFill>
                <a:latin typeface="Courier"/>
                <a:cs typeface="Courier"/>
              </a:rPr>
              <a:t>append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it-IT" sz="1800" dirty="0" err="1">
                <a:solidFill>
                  <a:prstClr val="black"/>
                </a:solidFill>
                <a:latin typeface="Courier"/>
                <a:cs typeface="Courier"/>
              </a:rPr>
              <a:t>randint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it-IT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it-IT" sz="1800" dirty="0">
                <a:solidFill>
                  <a:srgbClr val="666666"/>
                </a:solidFill>
                <a:latin typeface="Courier"/>
                <a:cs typeface="Courier"/>
              </a:rPr>
              <a:t>10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r>
              <a:rPr lang="it-IT" sz="1800" dirty="0" smtClean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endParaRPr lang="it-IT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somme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i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l </a:t>
            </a:r>
            <a:r>
              <a:rPr lang="pt-B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pt-BR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boucle</a:t>
            </a:r>
            <a:r>
              <a:rPr lang="pt-BR" sz="1800" i="1" dirty="0" smtClean="0">
                <a:solidFill>
                  <a:srgbClr val="408080"/>
                </a:solidFill>
                <a:latin typeface="Courier"/>
                <a:cs typeface="Courier"/>
              </a:rPr>
              <a:t> for </a:t>
            </a:r>
            <a:r>
              <a:rPr lang="pt-BR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sur</a:t>
            </a:r>
            <a:r>
              <a:rPr lang="pt-BR" sz="1800" i="1" dirty="0" smtClean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pt-BR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objet</a:t>
            </a:r>
            <a:r>
              <a:rPr lang="pt-BR" sz="1800" i="1" dirty="0" smtClean="0">
                <a:solidFill>
                  <a:srgbClr val="408080"/>
                </a:solidFill>
                <a:latin typeface="Courier"/>
                <a:cs typeface="Courier"/>
              </a:rPr>
              <a:t> liste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nb-NO" sz="1800" dirty="0" smtClean="0">
                <a:solidFill>
                  <a:prstClr val="black"/>
                </a:solidFill>
                <a:latin typeface="Courier"/>
                <a:cs typeface="Courier"/>
              </a:rPr>
              <a:t>    somme </a:t>
            </a:r>
            <a:r>
              <a:rPr lang="nb-NO" sz="1800" dirty="0">
                <a:solidFill>
                  <a:srgbClr val="666666"/>
                </a:solidFill>
                <a:latin typeface="Courier"/>
                <a:cs typeface="Courier"/>
              </a:rPr>
              <a:t>+=</a:t>
            </a:r>
            <a:r>
              <a:rPr lang="nb-NO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nb-NO" sz="1800" dirty="0" smtClean="0">
                <a:solidFill>
                  <a:prstClr val="black"/>
                </a:solidFill>
                <a:latin typeface="Courier"/>
                <a:cs typeface="Courier"/>
              </a:rPr>
              <a:t>i</a:t>
            </a:r>
            <a:endParaRPr lang="nb-NO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nb-NO" sz="1800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en-US" sz="1800" dirty="0" smtClean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nb-NO" sz="1800" dirty="0" smtClean="0">
                <a:solidFill>
                  <a:prstClr val="black"/>
                </a:solidFill>
                <a:latin typeface="Courier"/>
                <a:cs typeface="Courier"/>
              </a:rPr>
              <a:t>somme</a:t>
            </a:r>
            <a:r>
              <a:rPr lang="en-US" sz="18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  <a:endParaRPr lang="fr-FR" sz="1800" dirty="0" smtClean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989348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Boucle « for » sur les listes ou </a:t>
            </a:r>
            <a:r>
              <a:rPr lang="fr-FR" dirty="0" err="1"/>
              <a:t>tuples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24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9251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b="1" dirty="0" smtClean="0">
                <a:solidFill>
                  <a:prstClr val="black"/>
                </a:solidFill>
                <a:latin typeface="Courier"/>
                <a:cs typeface="Courier"/>
              </a:rPr>
              <a:t>Exécution (le programme génère une liste de 1000 entiers tirés aléatoirement entre 0 et 10 et calcule leur somme)</a:t>
            </a:r>
            <a:endParaRPr lang="pt-BR" sz="1800" b="1" dirty="0" smtClean="0">
              <a:solidFill>
                <a:srgbClr val="40808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nb-NO" sz="1800" dirty="0" smtClean="0">
                <a:solidFill>
                  <a:srgbClr val="000000"/>
                </a:solidFill>
                <a:latin typeface="Courier"/>
                <a:cs typeface="Courier"/>
              </a:rPr>
              <a:t>4955</a:t>
            </a:r>
            <a:endParaRPr lang="fr-FR" sz="1800" dirty="0" smtClean="0">
              <a:solidFill>
                <a:srgbClr val="000000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8248195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Boucle « for » sur les listes ou </a:t>
            </a:r>
            <a:r>
              <a:rPr lang="fr-FR" dirty="0" err="1"/>
              <a:t>tuples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25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9251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word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'cool'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'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powerful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'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'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readable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'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srgbClr val="008000"/>
                </a:solidFill>
                <a:latin typeface="Courier"/>
                <a:cs typeface="Courier"/>
              </a:rPr>
              <a:t>       </a:t>
            </a:r>
            <a:r>
              <a:rPr lang="fr-FR" sz="1800" dirty="0" err="1" smtClean="0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srgbClr val="008000"/>
                </a:solidFill>
                <a:latin typeface="Courier"/>
                <a:cs typeface="Courier"/>
              </a:rPr>
              <a:t>(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'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Python </a:t>
            </a:r>
            <a:r>
              <a:rPr lang="fr-FR" sz="1800" dirty="0" err="1">
                <a:solidFill>
                  <a:srgbClr val="BA2121"/>
                </a:solidFill>
                <a:latin typeface="Courier"/>
                <a:cs typeface="Courier"/>
              </a:rPr>
              <a:t>is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 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'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+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word</a:t>
            </a:r>
            <a:r>
              <a:rPr lang="en-US" sz="18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  <a:endParaRPr lang="fr-FR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srgbClr val="000000"/>
                </a:solidFill>
                <a:latin typeface="Courier"/>
                <a:cs typeface="Courier"/>
              </a:rPr>
              <a:t>Python </a:t>
            </a:r>
            <a:r>
              <a:rPr lang="fr-FR" sz="1800" dirty="0" err="1">
                <a:solidFill>
                  <a:srgbClr val="000000"/>
                </a:solidFill>
                <a:latin typeface="Courier"/>
                <a:cs typeface="Courier"/>
              </a:rPr>
              <a:t>is</a:t>
            </a: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 cool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Python </a:t>
            </a:r>
            <a:r>
              <a:rPr lang="fr-FR" sz="1800" dirty="0" err="1">
                <a:solidFill>
                  <a:srgbClr val="000000"/>
                </a:solidFill>
                <a:latin typeface="Courier"/>
                <a:cs typeface="Courier"/>
              </a:rPr>
              <a:t>is</a:t>
            </a: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ourier"/>
                <a:cs typeface="Courier"/>
              </a:rPr>
              <a:t>powerful</a:t>
            </a:r>
            <a:endParaRPr lang="fr-FR" sz="1800" dirty="0">
              <a:solidFill>
                <a:srgbClr val="00000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Python </a:t>
            </a:r>
            <a:r>
              <a:rPr lang="fr-FR" sz="1800" dirty="0" err="1">
                <a:solidFill>
                  <a:srgbClr val="000000"/>
                </a:solidFill>
                <a:latin typeface="Courier"/>
                <a:cs typeface="Courier"/>
              </a:rPr>
              <a:t>is</a:t>
            </a: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ourier"/>
                <a:cs typeface="Courier"/>
              </a:rPr>
              <a:t>readable</a:t>
            </a:r>
            <a:endParaRPr lang="fr-FR" sz="1800" dirty="0" smtClean="0">
              <a:solidFill>
                <a:srgbClr val="000000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5600503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Boucle « for » sur les </a:t>
            </a:r>
            <a:r>
              <a:rPr lang="fr-FR" dirty="0" smtClean="0"/>
              <a:t>dictionnaires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26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21088"/>
          </a:xfrm>
        </p:spPr>
        <p:txBody>
          <a:bodyPr>
            <a:normAutofit/>
          </a:bodyPr>
          <a:lstStyle/>
          <a:p>
            <a:r>
              <a:rPr lang="fr-FR" dirty="0" smtClean="0"/>
              <a:t>Dans le cas des dictionnaires, on peut utiliser des boucles « for » pour parcourir les clés, les valeurs, ainsi que les couples clé-valeur du dictionnaire. </a:t>
            </a:r>
          </a:p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10112038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Boucle « for » sur les </a:t>
            </a:r>
            <a:r>
              <a:rPr lang="fr-FR" dirty="0" smtClean="0"/>
              <a:t>dictionnaires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27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21088"/>
          </a:xfrm>
        </p:spPr>
        <p:txBody>
          <a:bodyPr>
            <a:normAutofit/>
          </a:bodyPr>
          <a:lstStyle/>
          <a:p>
            <a:r>
              <a:rPr lang="fr-FR" dirty="0" smtClean="0"/>
              <a:t>La syntaxe d’une boucle « for » pour parcourir les clés d’un dictionnaire est :</a:t>
            </a:r>
          </a:p>
          <a:p>
            <a:pPr marL="0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	for </a:t>
            </a: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var in </a:t>
            </a:r>
            <a:r>
              <a:rPr lang="fr-FR" sz="2400" dirty="0" err="1" smtClean="0">
                <a:solidFill>
                  <a:srgbClr val="3366FF"/>
                </a:solidFill>
                <a:latin typeface="Courier"/>
                <a:cs typeface="Courier"/>
              </a:rPr>
              <a:t>dico.keys</a:t>
            </a:r>
            <a:r>
              <a:rPr lang="fr-FR" sz="2400" dirty="0" smtClean="0">
                <a:solidFill>
                  <a:srgbClr val="3366FF"/>
                </a:solidFill>
                <a:latin typeface="Courier"/>
                <a:cs typeface="Courier"/>
              </a:rPr>
              <a:t>()</a:t>
            </a: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:</a:t>
            </a:r>
            <a:endParaRPr lang="fr-CH" sz="2400" dirty="0">
              <a:solidFill>
                <a:srgbClr val="3366FF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		</a:t>
            </a: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instructions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...</a:t>
            </a:r>
            <a:endParaRPr lang="fr-CH" sz="2400" dirty="0">
              <a:latin typeface="Courier"/>
              <a:cs typeface="Courier"/>
            </a:endParaRPr>
          </a:p>
          <a:p>
            <a:pPr lvl="1"/>
            <a:r>
              <a:rPr lang="fr-FR" dirty="0"/>
              <a:t>Dans ce cas, la variable « var » prend </a:t>
            </a:r>
            <a:r>
              <a:rPr lang="fr-FR" dirty="0" smtClean="0"/>
              <a:t>comme valeurs les clés successives du dictionnaire « dico »</a:t>
            </a:r>
            <a:endParaRPr lang="fr-FR" dirty="0"/>
          </a:p>
          <a:p>
            <a:pPr lvl="1"/>
            <a:r>
              <a:rPr lang="fr-FR" dirty="0"/>
              <a:t>le bloc d’instructions « instructions</a:t>
            </a:r>
            <a:r>
              <a:rPr lang="is-IS" dirty="0"/>
              <a:t>...</a:t>
            </a:r>
            <a:r>
              <a:rPr lang="fr-FR" dirty="0"/>
              <a:t> » est ré-exécuté autant de fois que la variable « var » met de temps pour parcourir </a:t>
            </a:r>
            <a:r>
              <a:rPr lang="fr-FR" dirty="0" smtClean="0"/>
              <a:t>toutes les clé de l’objet «</a:t>
            </a:r>
            <a:r>
              <a:rPr lang="fr-FR" dirty="0"/>
              <a:t> </a:t>
            </a:r>
            <a:r>
              <a:rPr lang="fr-FR" dirty="0" smtClean="0"/>
              <a:t>dico</a:t>
            </a:r>
            <a:r>
              <a:rPr lang="fr-FR" dirty="0"/>
              <a:t> ».</a:t>
            </a:r>
          </a:p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36713107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Boucle « for » sur les </a:t>
            </a:r>
            <a:r>
              <a:rPr lang="fr-FR" dirty="0" smtClean="0"/>
              <a:t>dictionnaires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28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21088"/>
          </a:xfrm>
        </p:spPr>
        <p:txBody>
          <a:bodyPr>
            <a:normAutofit/>
          </a:bodyPr>
          <a:lstStyle/>
          <a:p>
            <a:r>
              <a:rPr lang="fr-FR" dirty="0" smtClean="0"/>
              <a:t>La syntaxe d’une boucle « for » pour parcourir les valeurs d’un dictionnaire est :</a:t>
            </a:r>
          </a:p>
          <a:p>
            <a:pPr marL="0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	for </a:t>
            </a: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var in </a:t>
            </a:r>
            <a:r>
              <a:rPr lang="fr-FR" sz="2400" dirty="0" err="1" smtClean="0">
                <a:solidFill>
                  <a:srgbClr val="3366FF"/>
                </a:solidFill>
                <a:latin typeface="Courier"/>
                <a:cs typeface="Courier"/>
              </a:rPr>
              <a:t>dico.values</a:t>
            </a:r>
            <a:r>
              <a:rPr lang="fr-FR" sz="2400" dirty="0" smtClean="0">
                <a:solidFill>
                  <a:srgbClr val="3366FF"/>
                </a:solidFill>
                <a:latin typeface="Courier"/>
                <a:cs typeface="Courier"/>
              </a:rPr>
              <a:t>()</a:t>
            </a: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:</a:t>
            </a:r>
            <a:endParaRPr lang="fr-CH" sz="2400" dirty="0">
              <a:solidFill>
                <a:srgbClr val="3366FF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		</a:t>
            </a: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instructions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...</a:t>
            </a:r>
            <a:endParaRPr lang="fr-CH" sz="2400" dirty="0">
              <a:latin typeface="Courier"/>
              <a:cs typeface="Courier"/>
            </a:endParaRPr>
          </a:p>
          <a:p>
            <a:pPr lvl="1"/>
            <a:r>
              <a:rPr lang="fr-FR" dirty="0"/>
              <a:t>Dans ce cas, la variable « var » prend </a:t>
            </a:r>
            <a:r>
              <a:rPr lang="fr-FR" dirty="0" smtClean="0"/>
              <a:t>comme valeurs </a:t>
            </a:r>
            <a:r>
              <a:rPr lang="fr-FR" dirty="0"/>
              <a:t>l</a:t>
            </a:r>
            <a:r>
              <a:rPr lang="fr-FR" dirty="0" smtClean="0"/>
              <a:t>es valeurs successives du dictionnaire « dico »</a:t>
            </a:r>
            <a:endParaRPr lang="fr-FR" dirty="0"/>
          </a:p>
          <a:p>
            <a:pPr lvl="1"/>
            <a:r>
              <a:rPr lang="fr-FR" dirty="0"/>
              <a:t>le bloc d’instructions « instructions</a:t>
            </a:r>
            <a:r>
              <a:rPr lang="is-IS" dirty="0"/>
              <a:t>...</a:t>
            </a:r>
            <a:r>
              <a:rPr lang="fr-FR" dirty="0"/>
              <a:t> » est ré-exécuté autant de fois que la variable « var » met de temps pour parcourir </a:t>
            </a:r>
            <a:r>
              <a:rPr lang="fr-FR" dirty="0" smtClean="0"/>
              <a:t>toutes les valeurs de l’objet «</a:t>
            </a:r>
            <a:r>
              <a:rPr lang="fr-FR" dirty="0"/>
              <a:t> </a:t>
            </a:r>
            <a:r>
              <a:rPr lang="fr-FR" dirty="0" smtClean="0"/>
              <a:t>dico</a:t>
            </a:r>
            <a:r>
              <a:rPr lang="fr-FR" dirty="0"/>
              <a:t> ».</a:t>
            </a:r>
          </a:p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1180525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Boucle « for » sur les </a:t>
            </a:r>
            <a:r>
              <a:rPr lang="fr-FR" dirty="0" smtClean="0"/>
              <a:t>dictionnaires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29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925144"/>
          </a:xfrm>
        </p:spPr>
        <p:txBody>
          <a:bodyPr>
            <a:normAutofit/>
          </a:bodyPr>
          <a:lstStyle/>
          <a:p>
            <a:r>
              <a:rPr lang="fr-FR" dirty="0" smtClean="0"/>
              <a:t>La syntaxe d’une boucle « for » pour parcourir les couples clé-valeur d’un dictionnaire est :</a:t>
            </a:r>
          </a:p>
          <a:p>
            <a:pPr marL="0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	for </a:t>
            </a: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var in </a:t>
            </a:r>
            <a:r>
              <a:rPr lang="fr-FR" sz="2400" dirty="0" err="1" smtClean="0">
                <a:solidFill>
                  <a:srgbClr val="3366FF"/>
                </a:solidFill>
                <a:latin typeface="Courier"/>
                <a:cs typeface="Courier"/>
              </a:rPr>
              <a:t>dico.items</a:t>
            </a:r>
            <a:r>
              <a:rPr lang="fr-FR" sz="2400" dirty="0" smtClean="0">
                <a:solidFill>
                  <a:srgbClr val="3366FF"/>
                </a:solidFill>
                <a:latin typeface="Courier"/>
                <a:cs typeface="Courier"/>
              </a:rPr>
              <a:t>()</a:t>
            </a: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:</a:t>
            </a:r>
            <a:endParaRPr lang="fr-CH" sz="2400" dirty="0">
              <a:solidFill>
                <a:srgbClr val="3366FF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		</a:t>
            </a: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instructions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...</a:t>
            </a:r>
            <a:endParaRPr lang="fr-CH" sz="2400" dirty="0">
              <a:latin typeface="Courier"/>
              <a:cs typeface="Courier"/>
            </a:endParaRPr>
          </a:p>
          <a:p>
            <a:pPr lvl="1"/>
            <a:r>
              <a:rPr lang="fr-FR" dirty="0"/>
              <a:t>Dans ce cas, la variable « var » prend </a:t>
            </a:r>
            <a:r>
              <a:rPr lang="fr-FR" dirty="0" smtClean="0"/>
              <a:t>comme valeurs </a:t>
            </a:r>
            <a:r>
              <a:rPr lang="fr-FR" dirty="0"/>
              <a:t>l</a:t>
            </a:r>
            <a:r>
              <a:rPr lang="fr-FR" dirty="0" smtClean="0"/>
              <a:t>es couples clé-valeur successifs du dictionnaire « dico », représentés comme des </a:t>
            </a:r>
            <a:r>
              <a:rPr lang="fr-FR" dirty="0" err="1" smtClean="0"/>
              <a:t>tuples</a:t>
            </a:r>
            <a:r>
              <a:rPr lang="fr-FR" dirty="0" smtClean="0"/>
              <a:t> à deux éléments</a:t>
            </a:r>
            <a:endParaRPr lang="fr-FR" dirty="0"/>
          </a:p>
          <a:p>
            <a:pPr lvl="1"/>
            <a:r>
              <a:rPr lang="fr-FR" dirty="0"/>
              <a:t>le bloc d’instructions « instructions</a:t>
            </a:r>
            <a:r>
              <a:rPr lang="is-IS" dirty="0"/>
              <a:t>...</a:t>
            </a:r>
            <a:r>
              <a:rPr lang="fr-FR" dirty="0"/>
              <a:t> » est ré-exécuté autant de fois que la variable « var » met de temps pour parcourir </a:t>
            </a:r>
            <a:r>
              <a:rPr lang="fr-FR" dirty="0" smtClean="0"/>
              <a:t>toutes les couples clé-valeur de l’objet «</a:t>
            </a:r>
            <a:r>
              <a:rPr lang="fr-FR" dirty="0"/>
              <a:t> </a:t>
            </a:r>
            <a:r>
              <a:rPr lang="fr-FR" dirty="0" smtClean="0"/>
              <a:t>dico</a:t>
            </a:r>
            <a:r>
              <a:rPr lang="fr-FR" dirty="0"/>
              <a:t> ».</a:t>
            </a:r>
          </a:p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15518664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Boucle « for » sur les </a:t>
            </a:r>
            <a:r>
              <a:rPr lang="fr-FR" dirty="0" smtClean="0"/>
              <a:t>dictionnaires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30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7091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1800" b="1" dirty="0" smtClean="0">
                <a:solidFill>
                  <a:srgbClr val="000000"/>
                </a:solidFill>
                <a:latin typeface="Courier"/>
                <a:cs typeface="Courier"/>
              </a:rPr>
              <a:t>Programme</a:t>
            </a:r>
          </a:p>
          <a:p>
            <a:pPr marL="0" indent="0">
              <a:buNone/>
            </a:pPr>
            <a:r>
              <a:rPr lang="fr-FR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from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 err="1">
                <a:solidFill>
                  <a:srgbClr val="0000FF"/>
                </a:solidFill>
                <a:latin typeface="Courier"/>
                <a:cs typeface="Courier"/>
              </a:rPr>
              <a:t>random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import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*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d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{}</a:t>
            </a:r>
          </a:p>
          <a:p>
            <a:pPr marL="0" indent="0">
              <a:buNone/>
            </a:pP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i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range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1000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):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 boucle for sur objet range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ro-RO" sz="1800" dirty="0" smtClean="0">
                <a:solidFill>
                  <a:prstClr val="black"/>
                </a:solidFill>
                <a:latin typeface="Courier"/>
                <a:cs typeface="Courier"/>
              </a:rPr>
              <a:t>   d</a:t>
            </a:r>
            <a:r>
              <a:rPr lang="ro-RO" sz="1800" dirty="0">
                <a:solidFill>
                  <a:prstClr val="black"/>
                </a:solidFill>
                <a:latin typeface="Courier"/>
                <a:cs typeface="Courier"/>
              </a:rPr>
              <a:t>[i] </a:t>
            </a:r>
            <a:r>
              <a:rPr lang="ro-RO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ro-RO" sz="1800" dirty="0">
                <a:solidFill>
                  <a:prstClr val="black"/>
                </a:solidFill>
                <a:latin typeface="Courier"/>
                <a:cs typeface="Courier"/>
              </a:rPr>
              <a:t> randint(</a:t>
            </a:r>
            <a:r>
              <a:rPr lang="ro-RO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ro-RO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ro-RO" sz="1800" dirty="0">
                <a:solidFill>
                  <a:srgbClr val="666666"/>
                </a:solidFill>
                <a:latin typeface="Courier"/>
                <a:cs typeface="Courier"/>
              </a:rPr>
              <a:t>10</a:t>
            </a:r>
            <a:r>
              <a:rPr lang="ro-RO" sz="1800" dirty="0" smtClean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endParaRPr lang="ro-RO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ro-RO" sz="1800" b="1" dirty="0" smtClean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ro-RO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ro-RO" sz="1800" dirty="0">
                <a:solidFill>
                  <a:prstClr val="black"/>
                </a:solidFill>
                <a:latin typeface="Courier"/>
                <a:cs typeface="Courier"/>
              </a:rPr>
              <a:t>k </a:t>
            </a:r>
            <a:r>
              <a:rPr lang="ro-RO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ro-RO" sz="1800" dirty="0">
                <a:solidFill>
                  <a:prstClr val="black"/>
                </a:solidFill>
                <a:latin typeface="Courier"/>
                <a:cs typeface="Courier"/>
              </a:rPr>
              <a:t> d</a:t>
            </a:r>
            <a:r>
              <a:rPr lang="ro-RO" sz="1800" dirty="0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ro-RO" sz="1800" dirty="0">
                <a:solidFill>
                  <a:prstClr val="black"/>
                </a:solidFill>
                <a:latin typeface="Courier"/>
                <a:cs typeface="Courier"/>
              </a:rPr>
              <a:t>keys()</a:t>
            </a:r>
            <a:r>
              <a:rPr lang="ro-RO" sz="1800" dirty="0" smtClean="0">
                <a:solidFill>
                  <a:prstClr val="black"/>
                </a:solidFill>
                <a:latin typeface="Courier"/>
                <a:cs typeface="Courier"/>
              </a:rPr>
              <a:t>: </a:t>
            </a:r>
            <a:r>
              <a:rPr lang="ro-RO" sz="1800" i="1" dirty="0">
                <a:solidFill>
                  <a:srgbClr val="408080"/>
                </a:solidFill>
                <a:latin typeface="Courier"/>
                <a:cs typeface="Courier"/>
              </a:rPr>
              <a:t># boucle for sur les clés du </a:t>
            </a:r>
            <a:r>
              <a:rPr lang="ro-RO" sz="1800" i="1" dirty="0" smtClean="0">
                <a:solidFill>
                  <a:srgbClr val="408080"/>
                </a:solidFill>
                <a:latin typeface="Courier"/>
                <a:cs typeface="Courier"/>
              </a:rPr>
              <a:t>dico</a:t>
            </a:r>
            <a:endParaRPr lang="ro-RO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ro-RO" sz="1800" dirty="0" smtClean="0">
                <a:solidFill>
                  <a:prstClr val="black"/>
                </a:solidFill>
                <a:latin typeface="Courier"/>
                <a:cs typeface="Courier"/>
              </a:rPr>
              <a:t>   print(k</a:t>
            </a:r>
            <a:r>
              <a:rPr lang="en-US" sz="18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  <a:endParaRPr lang="ro-RO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ro-RO" sz="1800" b="1" dirty="0" smtClean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ro-RO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ro-RO" sz="1800" dirty="0">
                <a:solidFill>
                  <a:prstClr val="black"/>
                </a:solidFill>
                <a:latin typeface="Courier"/>
                <a:cs typeface="Courier"/>
              </a:rPr>
              <a:t>k </a:t>
            </a:r>
            <a:r>
              <a:rPr lang="ro-RO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ro-RO" sz="1800" dirty="0">
                <a:solidFill>
                  <a:prstClr val="black"/>
                </a:solidFill>
                <a:latin typeface="Courier"/>
                <a:cs typeface="Courier"/>
              </a:rPr>
              <a:t> d</a:t>
            </a:r>
            <a:r>
              <a:rPr lang="ro-RO" sz="1800" dirty="0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ro-RO" sz="1800" dirty="0">
                <a:solidFill>
                  <a:prstClr val="black"/>
                </a:solidFill>
                <a:latin typeface="Courier"/>
                <a:cs typeface="Courier"/>
              </a:rPr>
              <a:t>values()</a:t>
            </a:r>
            <a:r>
              <a:rPr lang="ro-RO" sz="1800" dirty="0" smtClean="0">
                <a:solidFill>
                  <a:prstClr val="black"/>
                </a:solidFill>
                <a:latin typeface="Courier"/>
                <a:cs typeface="Courier"/>
              </a:rPr>
              <a:t>: </a:t>
            </a:r>
            <a:r>
              <a:rPr lang="ro-RO" sz="1800" i="1" dirty="0">
                <a:solidFill>
                  <a:srgbClr val="408080"/>
                </a:solidFill>
                <a:latin typeface="Courier"/>
                <a:cs typeface="Courier"/>
              </a:rPr>
              <a:t># boucle for sur les valeurs du </a:t>
            </a:r>
            <a:r>
              <a:rPr lang="ro-RO" sz="1800" i="1" dirty="0" smtClean="0">
                <a:solidFill>
                  <a:srgbClr val="408080"/>
                </a:solidFill>
                <a:latin typeface="Courier"/>
                <a:cs typeface="Courier"/>
              </a:rPr>
              <a:t>dico</a:t>
            </a:r>
            <a:endParaRPr lang="ro-RO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ro-RO" sz="1800" dirty="0" smtClean="0">
                <a:solidFill>
                  <a:prstClr val="black"/>
                </a:solidFill>
                <a:latin typeface="Courier"/>
                <a:cs typeface="Courier"/>
              </a:rPr>
              <a:t>   </a:t>
            </a:r>
            <a:r>
              <a:rPr lang="ro-RO" sz="1800" dirty="0" smtClean="0">
                <a:solidFill>
                  <a:prstClr val="black"/>
                </a:solidFill>
                <a:latin typeface="Courier"/>
                <a:cs typeface="Courier"/>
              </a:rPr>
              <a:t>print</a:t>
            </a:r>
            <a:r>
              <a:rPr lang="ro-RO" sz="1800" dirty="0" smtClean="0">
                <a:solidFill>
                  <a:prstClr val="black"/>
                </a:solidFill>
                <a:latin typeface="Courier"/>
                <a:cs typeface="Courier"/>
              </a:rPr>
              <a:t>(k</a:t>
            </a:r>
            <a:r>
              <a:rPr lang="en-US" sz="18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  <a:endParaRPr lang="ro-RO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ro-RO" sz="1800" i="1" dirty="0">
                <a:solidFill>
                  <a:srgbClr val="408080"/>
                </a:solidFill>
                <a:latin typeface="Courier"/>
                <a:cs typeface="Courier"/>
              </a:rPr>
              <a:t># boucle for sur les couples clé-valeur du </a:t>
            </a:r>
            <a:r>
              <a:rPr lang="ro-RO" sz="1800" i="1" dirty="0" smtClean="0">
                <a:solidFill>
                  <a:srgbClr val="408080"/>
                </a:solidFill>
                <a:latin typeface="Courier"/>
                <a:cs typeface="Courier"/>
              </a:rPr>
              <a:t>dico</a:t>
            </a:r>
            <a:endParaRPr lang="ro-RO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ro-RO" sz="1800" b="1" dirty="0" smtClean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ro-RO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ro-RO" sz="1800" dirty="0">
                <a:solidFill>
                  <a:prstClr val="black"/>
                </a:solidFill>
                <a:latin typeface="Courier"/>
                <a:cs typeface="Courier"/>
              </a:rPr>
              <a:t>k </a:t>
            </a:r>
            <a:r>
              <a:rPr lang="ro-RO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ro-RO" sz="1800" dirty="0">
                <a:solidFill>
                  <a:prstClr val="black"/>
                </a:solidFill>
                <a:latin typeface="Courier"/>
                <a:cs typeface="Courier"/>
              </a:rPr>
              <a:t> d</a:t>
            </a:r>
            <a:r>
              <a:rPr lang="ro-RO" sz="1800" dirty="0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ro-RO" sz="1800" dirty="0">
                <a:solidFill>
                  <a:prstClr val="black"/>
                </a:solidFill>
                <a:latin typeface="Courier"/>
                <a:cs typeface="Courier"/>
              </a:rPr>
              <a:t>items()</a:t>
            </a:r>
            <a:r>
              <a:rPr lang="ro-RO" sz="1800" dirty="0" smtClean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ro-RO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ro-RO" sz="1800" dirty="0" smtClean="0">
                <a:solidFill>
                  <a:prstClr val="black"/>
                </a:solidFill>
                <a:latin typeface="Courier"/>
                <a:cs typeface="Courier"/>
              </a:rPr>
              <a:t>  print(k</a:t>
            </a:r>
            <a:r>
              <a:rPr lang="en-US" sz="18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  <a:endParaRPr lang="fr-FR" sz="1800" dirty="0" smtClean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6080490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Boucle « for » sur les </a:t>
            </a:r>
            <a:r>
              <a:rPr lang="fr-FR" dirty="0" smtClean="0"/>
              <a:t>dictionnaires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31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7091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1800" b="1" dirty="0" smtClean="0">
                <a:solidFill>
                  <a:srgbClr val="000000"/>
                </a:solidFill>
                <a:latin typeface="Courier"/>
                <a:cs typeface="Courier"/>
              </a:rPr>
              <a:t>Exécution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0</a:t>
            </a:r>
            <a:endParaRPr lang="fr-FR" sz="1800" dirty="0" smtClean="0">
              <a:solidFill>
                <a:srgbClr val="00000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1</a:t>
            </a:r>
            <a:endParaRPr lang="fr-FR" sz="1800" dirty="0" smtClean="0">
              <a:solidFill>
                <a:srgbClr val="00000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2</a:t>
            </a:r>
            <a:endParaRPr lang="fr-FR" sz="1800" dirty="0" smtClean="0">
              <a:solidFill>
                <a:srgbClr val="00000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srgbClr val="000000"/>
                </a:solidFill>
                <a:latin typeface="Courier"/>
                <a:cs typeface="Courier"/>
              </a:rPr>
              <a:t>...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srgbClr val="000000"/>
                </a:solidFill>
                <a:latin typeface="Courier"/>
                <a:cs typeface="Courier"/>
              </a:rPr>
              <a:t>8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srgbClr val="000000"/>
                </a:solidFill>
                <a:latin typeface="Courier"/>
                <a:cs typeface="Courier"/>
              </a:rPr>
              <a:t>2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srgbClr val="000000"/>
                </a:solidFill>
                <a:latin typeface="Courier"/>
                <a:cs typeface="Courier"/>
              </a:rPr>
              <a:t>0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srgbClr val="000000"/>
                </a:solidFill>
                <a:latin typeface="Courier"/>
                <a:cs typeface="Courier"/>
              </a:rPr>
              <a:t>...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srgbClr val="000000"/>
                </a:solidFill>
                <a:latin typeface="Courier"/>
                <a:cs typeface="Courier"/>
              </a:rPr>
              <a:t>(0,8)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srgbClr val="000000"/>
                </a:solidFill>
                <a:latin typeface="Courier"/>
                <a:cs typeface="Courier"/>
              </a:rPr>
              <a:t>(1,2)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srgbClr val="000000"/>
                </a:solidFill>
                <a:latin typeface="Courier"/>
                <a:cs typeface="Courier"/>
              </a:rPr>
              <a:t>(2,0)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srgbClr val="000000"/>
                </a:solidFill>
                <a:latin typeface="Courier"/>
                <a:cs typeface="Courier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41406487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Programme (faire démo)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32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925144"/>
          </a:xfrm>
        </p:spPr>
        <p:txBody>
          <a:bodyPr>
            <a:normAutofit/>
          </a:bodyPr>
          <a:lstStyle/>
          <a:p>
            <a:r>
              <a:rPr lang="fr-FR" dirty="0" smtClean="0"/>
              <a:t>On fait un programme qui génère le cours d’une action qui part du niveau 80 et fluctue </a:t>
            </a:r>
            <a:r>
              <a:rPr lang="fr-FR" dirty="0" err="1" smtClean="0"/>
              <a:t>aléatoire-ment</a:t>
            </a:r>
            <a:r>
              <a:rPr lang="fr-FR" dirty="0" smtClean="0"/>
              <a:t> de +/- 2 durant 1000 pas de temps.</a:t>
            </a:r>
          </a:p>
          <a:p>
            <a:r>
              <a:rPr lang="fr-FR" dirty="0" smtClean="0"/>
              <a:t>Puis, on implémente une stratégie automatique d’achat et de vente en fonction de la fluctuation de ce cours.</a:t>
            </a:r>
          </a:p>
          <a:p>
            <a:pPr lvl="1"/>
            <a:r>
              <a:rPr lang="fr-FR" dirty="0" smtClean="0"/>
              <a:t>si le cours passe en-dessous de 75, </a:t>
            </a:r>
            <a:r>
              <a:rPr lang="fr-FR" dirty="0"/>
              <a:t>o</a:t>
            </a:r>
            <a:r>
              <a:rPr lang="fr-FR" dirty="0" smtClean="0"/>
              <a:t>n achète</a:t>
            </a:r>
          </a:p>
          <a:p>
            <a:pPr lvl="1"/>
            <a:r>
              <a:rPr lang="fr-FR" dirty="0" smtClean="0"/>
              <a:t>se le cours dépasse les 85, on vend</a:t>
            </a:r>
          </a:p>
        </p:txBody>
      </p:sp>
    </p:spTree>
    <p:extLst>
      <p:ext uri="{BB962C8B-B14F-4D97-AF65-F5344CB8AC3E}">
        <p14:creationId xmlns:p14="http://schemas.microsoft.com/office/powerpoint/2010/main" val="24955791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Programme (</a:t>
            </a:r>
            <a:r>
              <a:rPr lang="fr-FR" smtClean="0"/>
              <a:t>faire démo)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33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7091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from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 err="1">
                <a:solidFill>
                  <a:srgbClr val="0000FF"/>
                </a:solidFill>
                <a:latin typeface="Courier"/>
                <a:cs typeface="Courier"/>
              </a:rPr>
              <a:t>random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import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*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importation de la librairie </a:t>
            </a:r>
            <a:r>
              <a:rPr lang="fr-FR" sz="1800" i="1" dirty="0" err="1">
                <a:solidFill>
                  <a:srgbClr val="408080"/>
                </a:solidFill>
                <a:latin typeface="Courier"/>
                <a:cs typeface="Courier"/>
              </a:rPr>
              <a:t>random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on génère le cours d'une action de 1000 valeurs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le cours varie de +/- 2 à chaque pas de temps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on initialise le 1er élément de la liste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cours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[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80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]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on crée les 999 éléments restants de la liste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i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range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999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cours</a:t>
            </a:r>
            <a:r>
              <a:rPr lang="fr-FR" sz="1800" dirty="0" err="1" smtClean="0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append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 cours[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-1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]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randint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-2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 )</a:t>
            </a: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8381445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Programme (</a:t>
            </a:r>
            <a:r>
              <a:rPr lang="fr-FR" smtClean="0"/>
              <a:t>faire démo)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34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781128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on implémente une stratégie d'achat et de de vente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on suppose qu'on a acheté les actions au départ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ordre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"achat"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it-IT" sz="1800" b="1" dirty="0">
                <a:solidFill>
                  <a:srgbClr val="008000"/>
                </a:solidFill>
                <a:latin typeface="Courier"/>
                <a:cs typeface="Courier"/>
              </a:rPr>
              <a:t>for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 i </a:t>
            </a:r>
            <a:r>
              <a:rPr lang="it-IT" sz="1800" b="1" dirty="0">
                <a:solidFill>
                  <a:srgbClr val="AA22FF"/>
                </a:solidFill>
                <a:latin typeface="Courier"/>
                <a:cs typeface="Courier"/>
              </a:rPr>
              <a:t>in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it-IT" sz="1800" dirty="0" err="1">
                <a:solidFill>
                  <a:srgbClr val="008000"/>
                </a:solidFill>
                <a:latin typeface="Courier"/>
                <a:cs typeface="Courier"/>
              </a:rPr>
              <a:t>range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it-IT" sz="1800" dirty="0">
                <a:solidFill>
                  <a:srgbClr val="666666"/>
                </a:solidFill>
                <a:latin typeface="Courier"/>
                <a:cs typeface="Courier"/>
              </a:rPr>
              <a:t>1000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):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it-IT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it-IT" sz="1800" i="1" dirty="0">
                <a:solidFill>
                  <a:srgbClr val="408080"/>
                </a:solidFill>
                <a:latin typeface="Courier"/>
                <a:cs typeface="Courier"/>
              </a:rPr>
              <a:t>si </a:t>
            </a:r>
            <a:r>
              <a:rPr lang="it-IT" sz="1800" i="1" dirty="0" err="1">
                <a:solidFill>
                  <a:srgbClr val="408080"/>
                </a:solidFill>
                <a:latin typeface="Courier"/>
                <a:cs typeface="Courier"/>
              </a:rPr>
              <a:t>l'action</a:t>
            </a:r>
            <a:r>
              <a:rPr lang="it-IT" sz="1800" i="1" dirty="0">
                <a:solidFill>
                  <a:srgbClr val="408080"/>
                </a:solidFill>
                <a:latin typeface="Courier"/>
                <a:cs typeface="Courier"/>
              </a:rPr>
              <a:t> monte en-</a:t>
            </a:r>
            <a:r>
              <a:rPr lang="it-IT" sz="1800" i="1" dirty="0" err="1">
                <a:solidFill>
                  <a:srgbClr val="408080"/>
                </a:solidFill>
                <a:latin typeface="Courier"/>
                <a:cs typeface="Courier"/>
              </a:rPr>
              <a:t>dessus</a:t>
            </a:r>
            <a:r>
              <a:rPr lang="it-IT" sz="1800" i="1" dirty="0">
                <a:solidFill>
                  <a:srgbClr val="408080"/>
                </a:solidFill>
                <a:latin typeface="Courier"/>
                <a:cs typeface="Courier"/>
              </a:rPr>
              <a:t> de 85, on </a:t>
            </a:r>
            <a:r>
              <a:rPr lang="it-IT" sz="1800" i="1" dirty="0" err="1">
                <a:solidFill>
                  <a:srgbClr val="408080"/>
                </a:solidFill>
                <a:latin typeface="Courier"/>
                <a:cs typeface="Courier"/>
              </a:rPr>
              <a:t>vend</a:t>
            </a:r>
            <a:endParaRPr lang="it-IT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it-IT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it-IT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it-IT" sz="1800" i="1" dirty="0">
                <a:solidFill>
                  <a:srgbClr val="408080"/>
                </a:solidFill>
                <a:latin typeface="Courier"/>
                <a:cs typeface="Courier"/>
              </a:rPr>
              <a:t>(pour </a:t>
            </a:r>
            <a:r>
              <a:rPr lang="it-IT" sz="1800" i="1" dirty="0" err="1">
                <a:solidFill>
                  <a:srgbClr val="408080"/>
                </a:solidFill>
                <a:latin typeface="Courier"/>
                <a:cs typeface="Courier"/>
              </a:rPr>
              <a:t>autant</a:t>
            </a:r>
            <a:r>
              <a:rPr lang="it-IT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it-IT" sz="1800" i="1" dirty="0" err="1">
                <a:solidFill>
                  <a:srgbClr val="408080"/>
                </a:solidFill>
                <a:latin typeface="Courier"/>
                <a:cs typeface="Courier"/>
              </a:rPr>
              <a:t>qu'on</a:t>
            </a:r>
            <a:r>
              <a:rPr lang="it-IT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it-IT" sz="1800" i="1" dirty="0" err="1">
                <a:solidFill>
                  <a:srgbClr val="408080"/>
                </a:solidFill>
                <a:latin typeface="Courier"/>
                <a:cs typeface="Courier"/>
              </a:rPr>
              <a:t>avait</a:t>
            </a:r>
            <a:r>
              <a:rPr lang="it-IT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it-IT" sz="1800" i="1" dirty="0" err="1">
                <a:solidFill>
                  <a:srgbClr val="408080"/>
                </a:solidFill>
                <a:latin typeface="Courier"/>
                <a:cs typeface="Courier"/>
              </a:rPr>
              <a:t>acheté</a:t>
            </a:r>
            <a:r>
              <a:rPr lang="it-IT" sz="1800" i="1" dirty="0">
                <a:solidFill>
                  <a:srgbClr val="408080"/>
                </a:solidFill>
                <a:latin typeface="Courier"/>
                <a:cs typeface="Courier"/>
              </a:rPr>
              <a:t> </a:t>
            </a:r>
            <a:r>
              <a:rPr lang="it-IT" sz="1800" i="1" dirty="0" err="1">
                <a:solidFill>
                  <a:srgbClr val="408080"/>
                </a:solidFill>
                <a:latin typeface="Courier"/>
                <a:cs typeface="Courier"/>
              </a:rPr>
              <a:t>auparavant</a:t>
            </a:r>
            <a:r>
              <a:rPr lang="it-IT" sz="1800" i="1" dirty="0">
                <a:solidFill>
                  <a:srgbClr val="408080"/>
                </a:solidFill>
                <a:latin typeface="Courier"/>
                <a:cs typeface="Courier"/>
              </a:rPr>
              <a:t>)</a:t>
            </a:r>
            <a:endParaRPr lang="it-IT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(cours[i]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&gt;=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85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and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ordre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"achat"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Vendre au temps"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ordre </a:t>
            </a:r>
            <a:r>
              <a:rPr lang="fr-FR" sz="1800" dirty="0" smtClean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 "vente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endParaRPr lang="fr-FR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si l'action baisse en-dessous de 75, on achète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(pour autant qu'on avait vendu auparavant)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elif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(cours[i]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&lt;=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75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and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ordre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"vente"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Acheter au temps"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, 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ordre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achat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dirty="0" smtClean="0">
              <a:solidFill>
                <a:srgbClr val="000000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834460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Boucle « </a:t>
            </a:r>
            <a:r>
              <a:rPr lang="fr-FR" dirty="0" err="1" smtClean="0"/>
              <a:t>while</a:t>
            </a:r>
            <a:r>
              <a:rPr lang="fr-FR" dirty="0" smtClean="0"/>
              <a:t> »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35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smtClean="0"/>
              <a:t>En programmation, une boucle « </a:t>
            </a:r>
            <a:r>
              <a:rPr lang="fr-FR" dirty="0" err="1" smtClean="0"/>
              <a:t>while</a:t>
            </a:r>
            <a:r>
              <a:rPr lang="fr-FR" dirty="0" smtClean="0"/>
              <a:t> » est une instruction de répétition qui ré-exécute un même bloc d’instructions tant qu’une condition booléenne est vraie.</a:t>
            </a:r>
            <a:endParaRPr lang="fr-FR" dirty="0"/>
          </a:p>
          <a:p>
            <a:r>
              <a:rPr lang="fr-FR" dirty="0" smtClean="0"/>
              <a:t>Autrement dit, la boucle « </a:t>
            </a:r>
            <a:r>
              <a:rPr lang="fr-FR" dirty="0" err="1" smtClean="0"/>
              <a:t>while</a:t>
            </a:r>
            <a:r>
              <a:rPr lang="fr-FR" dirty="0" smtClean="0"/>
              <a:t> » continue d’être exécutée tant que la condition booléenne reste vraie ; elle cesse donc d’être exécutée dès que la condition booléenne devient fausse.</a:t>
            </a:r>
          </a:p>
          <a:p>
            <a:r>
              <a:rPr lang="fr-FR" dirty="0"/>
              <a:t>« </a:t>
            </a:r>
            <a:r>
              <a:rPr lang="fr-FR" dirty="0" err="1" smtClean="0"/>
              <a:t>While</a:t>
            </a:r>
            <a:r>
              <a:rPr lang="fr-FR" dirty="0" smtClean="0"/>
              <a:t> condition, </a:t>
            </a:r>
            <a:r>
              <a:rPr lang="fr-FR" dirty="0"/>
              <a:t>do... » se lit « </a:t>
            </a:r>
            <a:r>
              <a:rPr lang="fr-FR" dirty="0" smtClean="0"/>
              <a:t>tant que la condition booléenne est vraie, </a:t>
            </a:r>
            <a:r>
              <a:rPr lang="fr-FR" dirty="0"/>
              <a:t>faire... </a:t>
            </a:r>
            <a:r>
              <a:rPr lang="fr-FR" dirty="0" smtClean="0"/>
              <a:t>».</a:t>
            </a:r>
            <a:endParaRPr lang="fr-FR" dirty="0"/>
          </a:p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32069861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Boucle « </a:t>
            </a:r>
            <a:r>
              <a:rPr lang="fr-FR" dirty="0" err="1" smtClean="0"/>
              <a:t>while</a:t>
            </a:r>
            <a:r>
              <a:rPr lang="fr-FR" dirty="0" smtClean="0"/>
              <a:t> »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36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1560" y="1628800"/>
            <a:ext cx="8153400" cy="4637112"/>
          </a:xfrm>
        </p:spPr>
        <p:txBody>
          <a:bodyPr>
            <a:normAutofit/>
          </a:bodyPr>
          <a:lstStyle/>
          <a:p>
            <a:r>
              <a:rPr lang="fr-FR" dirty="0" smtClean="0"/>
              <a:t>La syntaxe d’une boucle « </a:t>
            </a:r>
            <a:r>
              <a:rPr lang="fr-FR" dirty="0" err="1" smtClean="0"/>
              <a:t>while</a:t>
            </a:r>
            <a:r>
              <a:rPr lang="fr-FR" dirty="0" smtClean="0"/>
              <a:t> » est la suivante :</a:t>
            </a:r>
          </a:p>
          <a:p>
            <a:pPr marL="0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	</a:t>
            </a: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while condition:</a:t>
            </a:r>
            <a:endParaRPr lang="fr-CH" sz="2400" dirty="0">
              <a:solidFill>
                <a:srgbClr val="3366FF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		</a:t>
            </a:r>
            <a:r>
              <a:rPr lang="fr-CH" sz="2400" dirty="0" smtClean="0">
                <a:solidFill>
                  <a:srgbClr val="3366FF"/>
                </a:solidFill>
                <a:latin typeface="Courier"/>
                <a:cs typeface="Courier"/>
              </a:rPr>
              <a:t>instructions</a:t>
            </a:r>
            <a:r>
              <a:rPr lang="fr-CH" sz="2400" dirty="0">
                <a:solidFill>
                  <a:srgbClr val="3366FF"/>
                </a:solidFill>
                <a:latin typeface="Courier"/>
                <a:cs typeface="Courier"/>
              </a:rPr>
              <a:t>...</a:t>
            </a:r>
            <a:endParaRPr lang="fr-CH" sz="2400" dirty="0">
              <a:latin typeface="Courier"/>
              <a:cs typeface="Courier"/>
            </a:endParaRPr>
          </a:p>
          <a:p>
            <a:pPr lvl="1"/>
            <a:r>
              <a:rPr lang="fr-FR" dirty="0" smtClean="0"/>
              <a:t>le bloc d’instructions « instructions</a:t>
            </a:r>
            <a:r>
              <a:rPr lang="is-IS" dirty="0" smtClean="0"/>
              <a:t>...</a:t>
            </a:r>
            <a:r>
              <a:rPr lang="fr-FR" dirty="0" smtClean="0"/>
              <a:t> » est ré-exécuté tant que la condition booléenne « condition » est vraie, i.e., a prend valeur </a:t>
            </a:r>
            <a:r>
              <a:rPr lang="fr-FR" sz="2200" dirty="0" err="1" smtClean="0">
                <a:latin typeface="Courier"/>
                <a:cs typeface="Courier"/>
              </a:rPr>
              <a:t>True</a:t>
            </a:r>
            <a:r>
              <a:rPr lang="fr-FR" dirty="0" smtClean="0"/>
              <a:t>.</a:t>
            </a:r>
          </a:p>
          <a:p>
            <a:r>
              <a:rPr lang="fr-FR" dirty="0" smtClean="0"/>
              <a:t>On dira : « tant que la condition est vraie, faire</a:t>
            </a:r>
            <a:r>
              <a:rPr lang="is-IS" dirty="0" smtClean="0"/>
              <a:t>...</a:t>
            </a:r>
            <a:r>
              <a:rPr lang="fr-FR" dirty="0" smtClean="0"/>
              <a:t> ».</a:t>
            </a:r>
          </a:p>
          <a:p>
            <a:r>
              <a:rPr lang="fr-FR" dirty="0" smtClean="0"/>
              <a:t>On peut également forcer l’interruption d’une boucle « </a:t>
            </a:r>
            <a:r>
              <a:rPr lang="fr-FR" dirty="0" err="1" smtClean="0"/>
              <a:t>while</a:t>
            </a:r>
            <a:r>
              <a:rPr lang="fr-FR" dirty="0" smtClean="0"/>
              <a:t> » avec l’instruction </a:t>
            </a:r>
            <a:r>
              <a:rPr lang="fr-FR" sz="2400" dirty="0" smtClean="0">
                <a:solidFill>
                  <a:srgbClr val="3366FF"/>
                </a:solidFill>
                <a:latin typeface="Courier"/>
                <a:cs typeface="Courier"/>
              </a:rPr>
              <a:t>break</a:t>
            </a:r>
            <a:r>
              <a:rPr lang="fr-FR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71387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Boucle « </a:t>
            </a:r>
            <a:r>
              <a:rPr lang="fr-FR" dirty="0" err="1" smtClean="0"/>
              <a:t>while</a:t>
            </a:r>
            <a:r>
              <a:rPr lang="fr-FR" dirty="0" smtClean="0"/>
              <a:t> »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37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1560" y="1628800"/>
            <a:ext cx="8153400" cy="4637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 dirty="0" smtClean="0">
                <a:solidFill>
                  <a:prstClr val="black"/>
                </a:solidFill>
                <a:latin typeface="Courier"/>
                <a:cs typeface="Courier"/>
              </a:rPr>
              <a:t>&gt;&gt;&gt; l </a:t>
            </a:r>
            <a:r>
              <a:rPr lang="pt-B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pt-BR" sz="1800" dirty="0">
                <a:solidFill>
                  <a:prstClr val="black"/>
                </a:solidFill>
                <a:latin typeface="Courier"/>
                <a:cs typeface="Courier"/>
              </a:rPr>
              <a:t> []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&gt;&gt;&gt; x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en-US" sz="1800" b="1" dirty="0" smtClean="0">
                <a:solidFill>
                  <a:srgbClr val="008000"/>
                </a:solidFill>
                <a:latin typeface="Courier"/>
                <a:cs typeface="Courier"/>
              </a:rPr>
              <a:t>while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(x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**2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&lt;=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1000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):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   </a:t>
            </a:r>
            <a:r>
              <a:rPr lang="en-US" sz="1800" dirty="0" err="1" smtClean="0">
                <a:solidFill>
                  <a:prstClr val="black"/>
                </a:solidFill>
                <a:latin typeface="Courier"/>
                <a:cs typeface="Courier"/>
              </a:rPr>
              <a:t>l</a:t>
            </a:r>
            <a:r>
              <a:rPr lang="en-US" sz="1800" dirty="0" err="1" smtClean="0">
                <a:solidFill>
                  <a:srgbClr val="666666"/>
                </a:solidFill>
                <a:latin typeface="Courier"/>
                <a:cs typeface="Courier"/>
              </a:rPr>
              <a:t>.</a:t>
            </a:r>
            <a:r>
              <a:rPr lang="en-US" sz="1800" dirty="0" err="1" smtClean="0">
                <a:solidFill>
                  <a:prstClr val="black"/>
                </a:solidFill>
                <a:latin typeface="Courier"/>
                <a:cs typeface="Courier"/>
              </a:rPr>
              <a:t>append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(x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**2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is-IS" sz="1800" dirty="0" smtClean="0">
                <a:solidFill>
                  <a:prstClr val="black"/>
                </a:solidFill>
                <a:latin typeface="Courier"/>
                <a:cs typeface="Courier"/>
              </a:rPr>
              <a:t>        x </a:t>
            </a:r>
            <a:r>
              <a:rPr lang="is-IS" sz="1800" dirty="0">
                <a:solidFill>
                  <a:srgbClr val="666666"/>
                </a:solidFill>
                <a:latin typeface="Courier"/>
                <a:cs typeface="Courier"/>
              </a:rPr>
              <a:t>+=</a:t>
            </a: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is-IS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endParaRPr lang="is-I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dirty="0" smtClean="0">
              <a:solidFill>
                <a:srgbClr val="00800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&gt;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(l</a:t>
            </a:r>
            <a:r>
              <a:rPr lang="en-US" sz="18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  <a:endParaRPr lang="fr-FR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cs-CZ" sz="1800" dirty="0">
                <a:latin typeface="Courier"/>
                <a:cs typeface="Courier"/>
              </a:rPr>
              <a:t>[0, 1, 4, 9, 16, 25, 36, 49, 64, 81, 100, 121, 144, 169, 196, 225, 256, 289, 324, 361, 400, 441, 484, 529, 576, 625, 676, 729, 784, 841, 900, 961]</a:t>
            </a:r>
          </a:p>
          <a:p>
            <a:pPr marL="0" indent="0">
              <a:buNone/>
            </a:pPr>
            <a:endParaRPr lang="fr-FR" sz="1800" dirty="0" smtClean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0573448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Programme (faire démo)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38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637112"/>
          </a:xfrm>
        </p:spPr>
        <p:txBody>
          <a:bodyPr>
            <a:normAutofit/>
          </a:bodyPr>
          <a:lstStyle/>
          <a:p>
            <a:r>
              <a:rPr lang="fr-CH" dirty="0" smtClean="0"/>
              <a:t>On crée un programme qui permet de jouer à « pile ou face » contre l’ordinateur.</a:t>
            </a:r>
          </a:p>
          <a:p>
            <a:r>
              <a:rPr lang="fr-CH" dirty="0" smtClean="0"/>
              <a:t>L’ordinateur génère aléatoirement un jet de pièce.</a:t>
            </a:r>
          </a:p>
          <a:p>
            <a:r>
              <a:rPr lang="fr-CH" dirty="0" smtClean="0"/>
              <a:t>Tant qu’on trouve si c’est pile ou face, on peut rejouer...</a:t>
            </a:r>
          </a:p>
          <a:p>
            <a:pPr lvl="1"/>
            <a:endParaRPr lang="fr-FR" dirty="0"/>
          </a:p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24829028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Programme (faire démo)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39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637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importation de la librairie </a:t>
            </a:r>
            <a:r>
              <a:rPr lang="fr-FR" sz="1800" i="1" dirty="0" err="1">
                <a:solidFill>
                  <a:srgbClr val="408080"/>
                </a:solidFill>
                <a:latin typeface="Courier"/>
                <a:cs typeface="Courier"/>
              </a:rPr>
              <a:t>random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from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 err="1">
                <a:solidFill>
                  <a:srgbClr val="0000FF"/>
                </a:solidFill>
                <a:latin typeface="Courier"/>
                <a:cs typeface="Courier"/>
              </a:rPr>
              <a:t>random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import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smtClean="0">
                <a:solidFill>
                  <a:srgbClr val="666666"/>
                </a:solidFill>
                <a:latin typeface="Courier"/>
                <a:cs typeface="Courier"/>
              </a:rPr>
              <a:t>*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sk-SK" sz="1800" dirty="0">
                <a:solidFill>
                  <a:prstClr val="black"/>
                </a:solidFill>
                <a:latin typeface="Courier"/>
                <a:cs typeface="Courier"/>
              </a:rPr>
              <a:t>score </a:t>
            </a:r>
            <a:r>
              <a:rPr lang="sk-SK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sk-SK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sk-SK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endParaRPr lang="sk-SK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sk-SK" sz="1800" dirty="0">
                <a:solidFill>
                  <a:prstClr val="black"/>
                </a:solidFill>
                <a:latin typeface="Courier"/>
                <a:cs typeface="Courier"/>
              </a:rPr>
              <a:t>reponse </a:t>
            </a:r>
            <a:r>
              <a:rPr lang="sk-SK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sk-SK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sk-SK" sz="1800" dirty="0">
                <a:solidFill>
                  <a:srgbClr val="BA2121"/>
                </a:solidFill>
                <a:latin typeface="Courier"/>
                <a:cs typeface="Courier"/>
              </a:rPr>
              <a:t>"gagné"</a:t>
            </a:r>
            <a:endParaRPr lang="sk-SK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sk-SK" sz="1800" b="1" dirty="0">
                <a:solidFill>
                  <a:srgbClr val="008000"/>
                </a:solidFill>
                <a:latin typeface="Courier"/>
                <a:cs typeface="Courier"/>
              </a:rPr>
              <a:t>while</a:t>
            </a:r>
            <a:r>
              <a:rPr lang="sk-SK" sz="1800" dirty="0">
                <a:solidFill>
                  <a:prstClr val="black"/>
                </a:solidFill>
                <a:latin typeface="Courier"/>
                <a:cs typeface="Courier"/>
              </a:rPr>
              <a:t> reponse </a:t>
            </a:r>
            <a:r>
              <a:rPr lang="sk-SK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sk-SK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sk-SK" sz="1800" dirty="0">
                <a:solidFill>
                  <a:srgbClr val="BA2121"/>
                </a:solidFill>
                <a:latin typeface="Courier"/>
                <a:cs typeface="Courier"/>
              </a:rPr>
              <a:t>"gagné"</a:t>
            </a:r>
            <a:r>
              <a:rPr lang="sk-SK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ro-RO" sz="1800" dirty="0" smtClean="0">
                <a:solidFill>
                  <a:prstClr val="black"/>
                </a:solidFill>
                <a:latin typeface="Courier"/>
                <a:cs typeface="Courier"/>
              </a:rPr>
              <a:t>    x </a:t>
            </a:r>
            <a:r>
              <a:rPr lang="ro-RO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ro-RO" sz="1800" dirty="0">
                <a:solidFill>
                  <a:prstClr val="black"/>
                </a:solidFill>
                <a:latin typeface="Courier"/>
                <a:cs typeface="Courier"/>
              </a:rPr>
              <a:t> randint(</a:t>
            </a:r>
            <a:r>
              <a:rPr lang="ro-RO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ro-RO" sz="1800" dirty="0">
                <a:solidFill>
                  <a:prstClr val="black"/>
                </a:solidFill>
                <a:latin typeface="Courier"/>
                <a:cs typeface="Courier"/>
              </a:rPr>
              <a:t>,</a:t>
            </a:r>
            <a:r>
              <a:rPr lang="ro-RO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ro-RO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b="1" dirty="0" smtClean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x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x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pile</a:t>
            </a:r>
            <a:r>
              <a:rPr lang="sk-SK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else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x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face</a:t>
            </a:r>
            <a:r>
              <a:rPr lang="sk-SK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</a:p>
          <a:p>
            <a:pPr marL="0" indent="0">
              <a:buNone/>
            </a:pPr>
            <a:r>
              <a:rPr lang="sk-SK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sk-SK" sz="1800" dirty="0">
                <a:solidFill>
                  <a:prstClr val="black"/>
                </a:solidFill>
                <a:latin typeface="Courier"/>
                <a:cs typeface="Courier"/>
              </a:rPr>
              <a:t>entree </a:t>
            </a:r>
            <a:r>
              <a:rPr lang="sk-SK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sk-SK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sk-SK" sz="1800" dirty="0" smtClean="0">
                <a:solidFill>
                  <a:srgbClr val="008000"/>
                </a:solidFill>
                <a:latin typeface="Courier"/>
                <a:cs typeface="Courier"/>
              </a:rPr>
              <a:t>input</a:t>
            </a:r>
            <a:r>
              <a:rPr lang="sk-SK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sk-SK" sz="1800" dirty="0">
                <a:solidFill>
                  <a:srgbClr val="BA2121"/>
                </a:solidFill>
                <a:latin typeface="Courier"/>
                <a:cs typeface="Courier"/>
              </a:rPr>
              <a:t>"pile ou face? "</a:t>
            </a:r>
            <a:r>
              <a:rPr lang="sk-SK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37965756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Programme (faire démo)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40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637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b="1" dirty="0" smtClean="0">
                <a:solidFill>
                  <a:srgbClr val="008000"/>
                </a:solidFill>
                <a:latin typeface="Courier"/>
                <a:cs typeface="Courier"/>
              </a:rPr>
              <a:t>    if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entree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smtClean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x: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"vous avez gagné"</a:t>
            </a:r>
            <a:r>
              <a:rPr lang="en-US" sz="18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  <a:endParaRPr lang="fr-FR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"vous pouvez rejouer"</a:t>
            </a:r>
            <a:r>
              <a:rPr lang="en-US" sz="18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  <a:endParaRPr lang="fr-FR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score </a:t>
            </a:r>
            <a:r>
              <a:rPr lang="fr-FR" sz="1800" dirty="0" smtClean="0">
                <a:solidFill>
                  <a:srgbClr val="666666"/>
                </a:solidFill>
                <a:latin typeface="Courier"/>
                <a:cs typeface="Courier"/>
              </a:rPr>
              <a:t>+=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smtClean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incrémente le score</a:t>
            </a:r>
            <a:endParaRPr lang="fr-FR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else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"vous avez perdu"</a:t>
            </a:r>
            <a:r>
              <a:rPr lang="en-US" sz="18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  <a:endParaRPr lang="fr-FR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reponse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smtClean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"perdu"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interrompt la boucle </a:t>
            </a:r>
            <a:r>
              <a:rPr lang="fr-FR" sz="1800" i="1" dirty="0" err="1" smtClean="0">
                <a:solidFill>
                  <a:srgbClr val="408080"/>
                </a:solidFill>
                <a:latin typeface="Courier"/>
                <a:cs typeface="Courier"/>
              </a:rPr>
              <a:t>while</a:t>
            </a:r>
            <a:endParaRPr lang="fr-FR" sz="1800" dirty="0" smtClean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"votre score est:"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, score</a:t>
            </a:r>
            <a:r>
              <a:rPr lang="en-US" sz="18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  <a:endParaRPr lang="fr-FR" sz="1800" dirty="0" smtClean="0">
              <a:latin typeface="Courier"/>
              <a:cs typeface="Courier"/>
            </a:endParaRPr>
          </a:p>
          <a:p>
            <a:endParaRPr lang="fr-FR" sz="1800" dirty="0" smtClean="0"/>
          </a:p>
        </p:txBody>
      </p:sp>
    </p:spTree>
    <p:extLst>
      <p:ext uri="{BB962C8B-B14F-4D97-AF65-F5344CB8AC3E}">
        <p14:creationId xmlns:p14="http://schemas.microsoft.com/office/powerpoint/2010/main" val="42779610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Programme (faire démo)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41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637112"/>
          </a:xfrm>
        </p:spPr>
        <p:txBody>
          <a:bodyPr>
            <a:normAutofit/>
          </a:bodyPr>
          <a:lstStyle/>
          <a:p>
            <a:r>
              <a:rPr lang="fr-CH" dirty="0" smtClean="0"/>
              <a:t>On crée un programme qui détermine si un nombre entré par l’utilisateur est premier ou non.</a:t>
            </a:r>
          </a:p>
          <a:p>
            <a:r>
              <a:rPr lang="fr-CH" dirty="0" smtClean="0"/>
              <a:t>On rappelle qu’un nombre premier est un nombre qui n’est divisible que par un et par lui-même.</a:t>
            </a:r>
          </a:p>
          <a:p>
            <a:r>
              <a:rPr lang="fr-CH" dirty="0" smtClean="0"/>
              <a:t>Ainsi, pour déterminer si n est premier, on teste si n possède d’autre diviseurs que 1 et lui-même.</a:t>
            </a:r>
          </a:p>
          <a:p>
            <a:pPr lvl="1"/>
            <a:endParaRPr lang="fr-FR" dirty="0"/>
          </a:p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22281552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Programme (faire démo)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42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637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pour un nombre entier n entré par l'utilisateur,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ce programme détermine si n est premier ou non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i="1" dirty="0" smtClean="0">
              <a:solidFill>
                <a:srgbClr val="40808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importation de la librairie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math</a:t>
            </a:r>
            <a:endParaRPr lang="fr-FR" sz="1800" b="1" dirty="0" smtClean="0">
              <a:solidFill>
                <a:srgbClr val="008000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from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0000FF"/>
                </a:solidFill>
                <a:latin typeface="Courier"/>
                <a:cs typeface="Courier"/>
              </a:rPr>
              <a:t>math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import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smtClean="0">
                <a:solidFill>
                  <a:srgbClr val="666666"/>
                </a:solidFill>
                <a:latin typeface="Courier"/>
                <a:cs typeface="Courier"/>
              </a:rPr>
              <a:t>*</a:t>
            </a: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n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smtClean="0">
                <a:solidFill>
                  <a:srgbClr val="008000"/>
                </a:solidFill>
                <a:latin typeface="Courier"/>
                <a:cs typeface="Courier"/>
              </a:rPr>
              <a:t>input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"Entrer un nombre entier positif: 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"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)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0, 1 et 2 sont premiers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(n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b="1" dirty="0">
                <a:solidFill>
                  <a:srgbClr val="AA22FF"/>
                </a:solidFill>
                <a:latin typeface="Courier"/>
                <a:cs typeface="Courier"/>
              </a:rPr>
              <a:t>or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n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b="1" dirty="0">
                <a:solidFill>
                  <a:srgbClr val="AA22FF"/>
                </a:solidFill>
                <a:latin typeface="Courier"/>
                <a:cs typeface="Courier"/>
              </a:rPr>
              <a:t>or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n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):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premier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b="1" dirty="0">
                <a:solidFill>
                  <a:srgbClr val="008000"/>
                </a:solidFill>
                <a:latin typeface="Courier"/>
                <a:cs typeface="Courier"/>
              </a:rPr>
              <a:t>True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lvl="1"/>
            <a:endParaRPr lang="fr-FR" dirty="0"/>
          </a:p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5767027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Programme (faire démo)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43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637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 smtClean="0">
                <a:solidFill>
                  <a:srgbClr val="008000"/>
                </a:solidFill>
                <a:latin typeface="Courier"/>
                <a:cs typeface="Courier"/>
              </a:rPr>
              <a:t>else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i="1" dirty="0" smtClean="0">
                <a:solidFill>
                  <a:srgbClr val="408080"/>
                </a:solidFill>
                <a:latin typeface="Courier"/>
                <a:cs typeface="Courier"/>
              </a:rPr>
              <a:t>#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 au début,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si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n impair, premier = True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en-US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si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n pair, premier = False</a:t>
            </a:r>
            <a:endParaRPr lang="en-U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s-IS" sz="1800" dirty="0" smtClean="0">
                <a:solidFill>
                  <a:prstClr val="black"/>
                </a:solidFill>
                <a:latin typeface="Courier"/>
                <a:cs typeface="Courier"/>
              </a:rPr>
              <a:t>    premier </a:t>
            </a:r>
            <a:r>
              <a:rPr lang="is-IS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 ((n </a:t>
            </a:r>
            <a:r>
              <a:rPr lang="is-IS" sz="1800" dirty="0">
                <a:solidFill>
                  <a:srgbClr val="666666"/>
                </a:solidFill>
                <a:latin typeface="Courier"/>
                <a:cs typeface="Courier"/>
              </a:rPr>
              <a:t>%</a:t>
            </a: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is-IS" sz="1800" dirty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) </a:t>
            </a:r>
            <a:r>
              <a:rPr lang="is-IS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is-IS" sz="1800" dirty="0">
                <a:solidFill>
                  <a:srgbClr val="666666"/>
                </a:solidFill>
                <a:latin typeface="Courier"/>
                <a:cs typeface="Courier"/>
              </a:rPr>
              <a:t>1</a:t>
            </a: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diviseur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sqrtN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sqrt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(n)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augmenter le diviseur tant qu'il est premier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</a:t>
            </a:r>
            <a:r>
              <a:rPr lang="fr-FR" sz="1800" b="1" dirty="0" err="1" smtClean="0">
                <a:solidFill>
                  <a:srgbClr val="008000"/>
                </a:solidFill>
                <a:latin typeface="Courier"/>
                <a:cs typeface="Courier"/>
              </a:rPr>
              <a:t>while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(diviseur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&lt;=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sqrtN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>
                <a:solidFill>
                  <a:srgbClr val="AA22FF"/>
                </a:solidFill>
                <a:latin typeface="Courier"/>
                <a:cs typeface="Courier"/>
              </a:rPr>
              <a:t>and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premier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True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premier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((n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%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diviseur)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!=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0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on incrémente le diviseur de 2 en </a:t>
            </a: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2</a:t>
            </a:r>
          </a:p>
          <a:p>
            <a:pPr marL="0" indent="0">
              <a:buNone/>
            </a:pPr>
            <a:r>
              <a:rPr lang="fr-FR" sz="1800" i="1" dirty="0" smtClean="0">
                <a:solidFill>
                  <a:srgbClr val="408080"/>
                </a:solidFill>
                <a:latin typeface="Courier"/>
                <a:cs typeface="Courier"/>
              </a:rPr>
              <a:t>        # pour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éviter les diviseurs pairs, déjà testé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     diviseur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diviseur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+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 smtClean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5584239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Programme (faire démo)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44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637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b="1" dirty="0">
                <a:solidFill>
                  <a:srgbClr val="008000"/>
                </a:solidFill>
                <a:latin typeface="Courier"/>
                <a:cs typeface="Courier"/>
              </a:rPr>
              <a:t>if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premier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True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"Votre nombre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est 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premier"</a:t>
            </a:r>
            <a:r>
              <a:rPr lang="en-US" sz="18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b="1" dirty="0" err="1">
                <a:solidFill>
                  <a:srgbClr val="008000"/>
                </a:solidFill>
                <a:latin typeface="Courier"/>
                <a:cs typeface="Courier"/>
              </a:rPr>
              <a:t>else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:</a:t>
            </a:r>
          </a:p>
          <a:p>
            <a:pPr marL="0" indent="0">
              <a:buNone/>
            </a:pP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   </a:t>
            </a:r>
            <a:r>
              <a:rPr lang="fr-FR" sz="1800" dirty="0" err="1" smtClean="0">
                <a:solidFill>
                  <a:prstClr val="black"/>
                </a:solidFill>
                <a:latin typeface="Courier"/>
                <a:cs typeface="Courier"/>
              </a:rPr>
              <a:t>print</a:t>
            </a:r>
            <a:r>
              <a:rPr lang="fr-FR" sz="1800" dirty="0" smtClean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"Votre nombre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n'est pas </a:t>
            </a:r>
            <a:r>
              <a:rPr lang="fr-FR" sz="1800" dirty="0" smtClean="0">
                <a:solidFill>
                  <a:srgbClr val="BA2121"/>
                </a:solidFill>
                <a:latin typeface="Courier"/>
                <a:cs typeface="Courier"/>
              </a:rPr>
              <a:t>premier"</a:t>
            </a:r>
            <a:r>
              <a:rPr lang="en-US" sz="18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6568610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Médian">
  <a:themeElements>
    <a:clrScheme name="Mé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édian">
      <a:majorFont>
        <a:latin typeface="Tw Cen MT"/>
        <a:ea typeface=""/>
        <a:cs typeface=""/>
        <a:font script="Grek" typeface="Calibri"/>
        <a:font script="Cyrl" typeface="Calibri"/>
        <a:font script="Jpan" typeface="ＭＳ Ｐゴシック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ＭＳ Ｐゴシック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é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Médian.thmx</Template>
  <TotalTime>7073</TotalTime>
  <Words>1865</Words>
  <Application>Microsoft Macintosh PowerPoint</Application>
  <PresentationFormat>Présentation à l'écran (4:3)</PresentationFormat>
  <Paragraphs>414</Paragraphs>
  <Slides>44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44</vt:i4>
      </vt:variant>
    </vt:vector>
  </HeadingPairs>
  <TitlesOfParts>
    <vt:vector size="45" baseType="lpstr">
      <vt:lpstr>Médian</vt:lpstr>
      <vt:lpstr>Chapitre 5 tests conditionnels et instructions de répétition</vt:lpstr>
      <vt:lpstr>Test conditionnel « If-Elif-Else »</vt:lpstr>
      <vt:lpstr>Test conditionnel « If-Elif-Else »</vt:lpstr>
      <vt:lpstr>Test conditionnel « If-Elif-Else »</vt:lpstr>
      <vt:lpstr>Test conditionnel « If-Elif-Else »</vt:lpstr>
      <vt:lpstr>Test conditionnel « If-Elif-Else »</vt:lpstr>
      <vt:lpstr>Test conditionnel « If-Elif-Else »</vt:lpstr>
      <vt:lpstr>Test conditionnel « If-Elif-Else »</vt:lpstr>
      <vt:lpstr>Programme (faire démo)</vt:lpstr>
      <vt:lpstr>Programme (faire démo)</vt:lpstr>
      <vt:lpstr>Programme (faire démo)</vt:lpstr>
      <vt:lpstr>Boucle « for »</vt:lpstr>
      <vt:lpstr>Boucle « for »</vt:lpstr>
      <vt:lpstr>Boucle « for »</vt:lpstr>
      <vt:lpstr>Boucle « for »</vt:lpstr>
      <vt:lpstr>Boucle « for »</vt:lpstr>
      <vt:lpstr>Boucle « for »</vt:lpstr>
      <vt:lpstr>Boucle « for »</vt:lpstr>
      <vt:lpstr>Boucle « for » sur les chaînes</vt:lpstr>
      <vt:lpstr>Boucle « for » sur les chaînes</vt:lpstr>
      <vt:lpstr>Boucle « for » sur les chaînes</vt:lpstr>
      <vt:lpstr>Boucle « for » sur les listes ou tuples</vt:lpstr>
      <vt:lpstr>Boucle « for » sur les listes ou tuples</vt:lpstr>
      <vt:lpstr>Boucle « for » sur les listes ou tuples</vt:lpstr>
      <vt:lpstr>Boucle « for » sur les listes ou tuples</vt:lpstr>
      <vt:lpstr>Boucle « for » sur les dictionnaires</vt:lpstr>
      <vt:lpstr>Boucle « for » sur les dictionnaires</vt:lpstr>
      <vt:lpstr>Boucle « for » sur les dictionnaires</vt:lpstr>
      <vt:lpstr>Boucle « for » sur les dictionnaires</vt:lpstr>
      <vt:lpstr>Boucle « for » sur les dictionnaires</vt:lpstr>
      <vt:lpstr>Boucle « for » sur les dictionnaires</vt:lpstr>
      <vt:lpstr>Programme (faire démo)</vt:lpstr>
      <vt:lpstr>Programme (faire démo)</vt:lpstr>
      <vt:lpstr>Programme (faire démo)</vt:lpstr>
      <vt:lpstr>Boucle « while »</vt:lpstr>
      <vt:lpstr>Boucle « while »</vt:lpstr>
      <vt:lpstr>Boucle « while »</vt:lpstr>
      <vt:lpstr>Programme (faire démo)</vt:lpstr>
      <vt:lpstr>Programme (faire démo)</vt:lpstr>
      <vt:lpstr>Programme (faire démo)</vt:lpstr>
      <vt:lpstr>Programme (faire démo)</vt:lpstr>
      <vt:lpstr>Programme (faire démo)</vt:lpstr>
      <vt:lpstr>Programme (faire démo)</vt:lpstr>
      <vt:lpstr>Programme (faire démo)</vt:lpstr>
    </vt:vector>
  </TitlesOfParts>
  <Company>Université de Lausanne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INTRODUCTION</dc:title>
  <dc:creator>Campus Agreement</dc:creator>
  <cp:lastModifiedBy>UNIL</cp:lastModifiedBy>
  <cp:revision>1830</cp:revision>
  <cp:lastPrinted>2011-09-18T10:53:10Z</cp:lastPrinted>
  <dcterms:created xsi:type="dcterms:W3CDTF">2002-10-22T15:56:56Z</dcterms:created>
  <dcterms:modified xsi:type="dcterms:W3CDTF">2018-10-09T08:38:32Z</dcterms:modified>
</cp:coreProperties>
</file>