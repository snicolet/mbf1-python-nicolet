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32" r:id="rId1"/>
  </p:sldMasterIdLst>
  <p:notesMasterIdLst>
    <p:notesMasterId r:id="rId74"/>
  </p:notesMasterIdLst>
  <p:handoutMasterIdLst>
    <p:handoutMasterId r:id="rId75"/>
  </p:handoutMasterIdLst>
  <p:sldIdLst>
    <p:sldId id="375" r:id="rId2"/>
    <p:sldId id="394" r:id="rId3"/>
    <p:sldId id="378" r:id="rId4"/>
    <p:sldId id="391" r:id="rId5"/>
    <p:sldId id="392" r:id="rId6"/>
    <p:sldId id="393" r:id="rId7"/>
    <p:sldId id="395" r:id="rId8"/>
    <p:sldId id="396" r:id="rId9"/>
    <p:sldId id="397" r:id="rId10"/>
    <p:sldId id="398" r:id="rId11"/>
    <p:sldId id="380" r:id="rId12"/>
    <p:sldId id="403" r:id="rId13"/>
    <p:sldId id="399" r:id="rId14"/>
    <p:sldId id="405" r:id="rId15"/>
    <p:sldId id="404" r:id="rId16"/>
    <p:sldId id="406" r:id="rId17"/>
    <p:sldId id="423" r:id="rId18"/>
    <p:sldId id="400" r:id="rId19"/>
    <p:sldId id="407" r:id="rId20"/>
    <p:sldId id="409" r:id="rId21"/>
    <p:sldId id="408" r:id="rId22"/>
    <p:sldId id="410" r:id="rId23"/>
    <p:sldId id="402" r:id="rId24"/>
    <p:sldId id="411" r:id="rId25"/>
    <p:sldId id="412" r:id="rId26"/>
    <p:sldId id="414" r:id="rId27"/>
    <p:sldId id="415" r:id="rId28"/>
    <p:sldId id="417" r:id="rId29"/>
    <p:sldId id="401" r:id="rId30"/>
    <p:sldId id="419" r:id="rId31"/>
    <p:sldId id="418" r:id="rId32"/>
    <p:sldId id="420" r:id="rId33"/>
    <p:sldId id="421" r:id="rId34"/>
    <p:sldId id="422" r:id="rId35"/>
    <p:sldId id="425" r:id="rId36"/>
    <p:sldId id="426" r:id="rId37"/>
    <p:sldId id="431" r:id="rId38"/>
    <p:sldId id="432" r:id="rId39"/>
    <p:sldId id="427" r:id="rId40"/>
    <p:sldId id="428" r:id="rId41"/>
    <p:sldId id="433" r:id="rId42"/>
    <p:sldId id="434" r:id="rId43"/>
    <p:sldId id="429" r:id="rId44"/>
    <p:sldId id="430" r:id="rId45"/>
    <p:sldId id="435" r:id="rId46"/>
    <p:sldId id="436" r:id="rId47"/>
    <p:sldId id="437" r:id="rId48"/>
    <p:sldId id="440" r:id="rId49"/>
    <p:sldId id="441" r:id="rId50"/>
    <p:sldId id="442" r:id="rId51"/>
    <p:sldId id="438" r:id="rId52"/>
    <p:sldId id="439" r:id="rId53"/>
    <p:sldId id="444" r:id="rId54"/>
    <p:sldId id="445" r:id="rId55"/>
    <p:sldId id="446" r:id="rId56"/>
    <p:sldId id="447" r:id="rId57"/>
    <p:sldId id="448" r:id="rId58"/>
    <p:sldId id="449" r:id="rId59"/>
    <p:sldId id="450" r:id="rId60"/>
    <p:sldId id="451" r:id="rId61"/>
    <p:sldId id="452" r:id="rId62"/>
    <p:sldId id="453" r:id="rId63"/>
    <p:sldId id="460" r:id="rId64"/>
    <p:sldId id="454" r:id="rId65"/>
    <p:sldId id="455" r:id="rId66"/>
    <p:sldId id="456" r:id="rId67"/>
    <p:sldId id="457" r:id="rId68"/>
    <p:sldId id="458" r:id="rId69"/>
    <p:sldId id="459" r:id="rId70"/>
    <p:sldId id="461" r:id="rId71"/>
    <p:sldId id="463" r:id="rId72"/>
    <p:sldId id="462" r:id="rId73"/>
  </p:sldIdLst>
  <p:sldSz cx="9144000" cy="6858000" type="screen4x3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6pPr>
    <a:lvl7pPr marL="2743200" algn="l" defTabSz="457200" rtl="0" eaLnBrk="1" latinLnBrk="0" hangingPunct="1"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7pPr>
    <a:lvl8pPr marL="3200400" algn="l" defTabSz="457200" rtl="0" eaLnBrk="1" latinLnBrk="0" hangingPunct="1"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8pPr>
    <a:lvl9pPr marL="3657600" algn="l" defTabSz="457200" rtl="0" eaLnBrk="1" latinLnBrk="0" hangingPunct="1"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0432FF"/>
    <a:srgbClr val="99CCFF"/>
    <a:srgbClr val="FFCCFF"/>
    <a:srgbClr val="99FFCC"/>
    <a:srgbClr val="CCFFFF"/>
    <a:srgbClr val="FF00FF"/>
    <a:srgbClr val="FF0000"/>
    <a:srgbClr val="E1E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Style léger 3 - Accentuation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Style léger 1 - Accentuation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Style léger 1 - Accentuation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Style léger 1 - Accentuation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43"/>
    <p:restoredTop sz="90856"/>
  </p:normalViewPr>
  <p:slideViewPr>
    <p:cSldViewPr>
      <p:cViewPr varScale="1">
        <p:scale>
          <a:sx n="116" d="100"/>
          <a:sy n="116" d="100"/>
        </p:scale>
        <p:origin x="41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18" d="100"/>
          <a:sy n="118" d="100"/>
        </p:scale>
        <p:origin x="-425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ACD6F964-0E01-0347-96A4-C37FEA3034E6}" type="slidenum">
              <a:rPr lang="fr-FR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303468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2BB96183-5730-AF4B-A221-215C0AAD25FC}" type="slidenum">
              <a:rPr lang="fr-FR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642413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CH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r>
              <a:rPr lang="fr-CH"/>
              <a:t>30.10.12</a:t>
            </a:r>
            <a:endParaRPr lang="fr-FR" dirty="0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UNIL - Informatique I</a:t>
            </a:r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D2109F-C210-9F4F-BE50-DE6D04027247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30.10.12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UNIL - Informatique I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84C434B-4C1C-AA4B-9FC7-3C7BDD6F6ADC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-tête de sec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CH"/>
              <a:t>Cliquez pour modifier les styles du texte du masque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30.10.12</a:t>
            </a:r>
            <a:endParaRPr lang="fr-FR" dirty="0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CA062017-3E5F-D545-803C-22C050AB822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 dirty="0"/>
              <a:t>UNIL - Informatique 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r>
              <a:rPr lang="fr-CH"/>
              <a:t>30.10.12</a:t>
            </a:r>
            <a:endParaRPr lang="fr-FR" dirty="0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0BA543E-D95F-E941-884E-49F19CC3D311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2" name="Espace réservé du pied de page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fr-FR" dirty="0"/>
              <a:t>UNIL - Informatique I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r>
              <a:rPr lang="fr-CH"/>
              <a:t>30.10.12</a:t>
            </a:r>
            <a:endParaRPr lang="fr-FR" dirty="0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9F22BEEB-CA8A-C040-983A-AAABE0F651E1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fr-FR" dirty="0"/>
              <a:t>UNIL - Informatique I</a:t>
            </a:r>
          </a:p>
        </p:txBody>
      </p:sp>
      <p:sp>
        <p:nvSpPr>
          <p:cNvPr id="16" name="Espace réservé du texte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CH"/>
              <a:t>Cliquez pour modifier les styles du texte du masque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CH"/>
              <a:t>Cliquez pour modifier les styles du texte du masque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30.10.12</a:t>
            </a: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UNIL - Informatique I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D9B8300-181C-054A-A328-E2139B9AD5F7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30.10.12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UNIL - Informatique I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1A05B3F-7440-4047-9795-78A3F4158249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30.10.12</a:t>
            </a:r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UNIL - Informatique I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92FAD62-4CC2-5B40-ACA0-2FA3AD3CFBCF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CH"/>
              <a:t>Cliquez pour modifier les styles du texte du masque</a:t>
            </a:r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fr-CH"/>
              <a:t>Cliquez pour modifier les styles du texte du masque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r>
              <a:rPr lang="fr-CH"/>
              <a:t>30.10.12</a:t>
            </a:r>
            <a:endParaRPr lang="fr-FR" dirty="0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CC79D76C-33C8-DF41-AB83-387084CEC10B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r>
              <a:rPr lang="fr-FR" dirty="0"/>
              <a:t>UNIL - Informatique I</a:t>
            </a:r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CH" dirty="0"/>
              <a:t>Faire glisser l'image vers l'espace réservé ou cliquer sur l'icône pour l'ajouter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30.10.12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UNIL - Informatique I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8A849-4122-6640-96DA-97F7188E7D39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r>
              <a:rPr lang="fr-CH"/>
              <a:t>30.10.12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r>
              <a:rPr lang="fr-FR" dirty="0"/>
              <a:t>UNIL - Informatique I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F97011EA-94E7-C94D-AD82-14E12DD73888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CH"/>
              <a:t>Cliquez pour modifier les styles du texte du masque</a:t>
            </a:r>
          </a:p>
          <a:p>
            <a:pPr lvl="1" eaLnBrk="1" latinLnBrk="0" hangingPunct="1"/>
            <a:r>
              <a:rPr kumimoji="0" lang="fr-CH"/>
              <a:t>Deuxième niveau</a:t>
            </a:r>
          </a:p>
          <a:p>
            <a:pPr lvl="2" eaLnBrk="1" latinLnBrk="0" hangingPunct="1"/>
            <a:r>
              <a:rPr kumimoji="0" lang="fr-CH"/>
              <a:t>Troisième niveau</a:t>
            </a:r>
          </a:p>
          <a:p>
            <a:pPr lvl="3" eaLnBrk="1" latinLnBrk="0" hangingPunct="1"/>
            <a:r>
              <a:rPr kumimoji="0" lang="fr-CH"/>
              <a:t>Quatrième niveau</a:t>
            </a:r>
          </a:p>
          <a:p>
            <a:pPr lvl="4" eaLnBrk="1" latinLnBrk="0" hangingPunct="1"/>
            <a:r>
              <a:rPr kumimoji="0" lang="fr-CH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fr-CH"/>
              <a:t>30.10.12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UNIL - Informatique I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6BE7D13C-A807-CA4C-B7E6-D4B4CB6419C0}" type="slidenum">
              <a:rPr lang="fr-FR" smtClean="0"/>
              <a:pPr/>
              <a:t>‹#›</a:t>
            </a:fld>
            <a:endParaRPr lang="fr-FR" dirty="0"/>
          </a:p>
        </p:txBody>
      </p:sp>
      <p:pic>
        <p:nvPicPr>
          <p:cNvPr id="10" name="Picture 12" descr="logoBlancTransparent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6130925"/>
            <a:ext cx="1152525" cy="62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Chapitre 11</a:t>
            </a:r>
            <a:br>
              <a:rPr lang="fr-FR" dirty="0"/>
            </a:br>
            <a:r>
              <a:rPr lang="fr-FR" dirty="0"/>
              <a:t>Programmation </a:t>
            </a:r>
            <a:r>
              <a:rPr lang="fr-FR"/>
              <a:t>Orientée Objet </a:t>
            </a:r>
            <a:r>
              <a:rPr lang="fr-FR" dirty="0"/>
              <a:t>(POO)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Programmation en Python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109F-C210-9F4F-BE50-DE6D04027247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83278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9B74C16-215F-E745-AD37-8C15D5A595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95FB29-841A-084A-B5D4-54B0E67DE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604BA5-E56A-7541-8BC6-57E44F9429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fr-FR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75885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Programmation objet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La </a:t>
            </a:r>
            <a:r>
              <a:rPr lang="fr-FR" b="1" dirty="0"/>
              <a:t>programmation objet</a:t>
            </a:r>
            <a:r>
              <a:rPr lang="fr-FR" dirty="0"/>
              <a:t> est un paradigme de programmation. </a:t>
            </a:r>
          </a:p>
          <a:p>
            <a:r>
              <a:rPr lang="fr-FR" dirty="0"/>
              <a:t>L’idée générale consiste à concevoir des concepts, idées ou toutes entités du monde physique comme des « objets ». Les objets possèdent des structures internes, des comportements et peuvent interagir avec leur pairs. </a:t>
            </a:r>
          </a:p>
        </p:txBody>
      </p:sp>
    </p:spTree>
    <p:extLst>
      <p:ext uri="{BB962C8B-B14F-4D97-AF65-F5344CB8AC3E}">
        <p14:creationId xmlns:p14="http://schemas.microsoft.com/office/powerpoint/2010/main" val="1427001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Classe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Intuitivement, une </a:t>
            </a:r>
            <a:r>
              <a:rPr lang="fr-FR" b="1" dirty="0"/>
              <a:t>classe</a:t>
            </a:r>
            <a:r>
              <a:rPr lang="fr-FR" dirty="0"/>
              <a:t> est une sorte d’usine, de boîte à outil ou de moule à partir de laquelle il est possible de créer des </a:t>
            </a:r>
            <a:r>
              <a:rPr lang="fr-FR" b="1" dirty="0"/>
              <a:t>objets</a:t>
            </a:r>
            <a:r>
              <a:rPr lang="fr-FR" dirty="0"/>
              <a:t>.</a:t>
            </a:r>
          </a:p>
          <a:p>
            <a:r>
              <a:rPr lang="fr-FR" dirty="0"/>
              <a:t>Une </a:t>
            </a:r>
            <a:r>
              <a:rPr lang="fr-FR" b="1" dirty="0"/>
              <a:t>classe</a:t>
            </a:r>
            <a:r>
              <a:rPr lang="fr-FR" dirty="0"/>
              <a:t> peut également être vue comme un concept ou une idée (au sens platonicien).</a:t>
            </a:r>
          </a:p>
          <a:p>
            <a:r>
              <a:rPr lang="fr-FR" b="1" dirty="0"/>
              <a:t>Exemples:</a:t>
            </a:r>
            <a:r>
              <a:rPr lang="fr-FR" dirty="0"/>
              <a:t> la classe des </a:t>
            </a:r>
            <a:r>
              <a:rPr lang="fr-FR" dirty="0">
                <a:solidFill>
                  <a:srgbClr val="0432FF"/>
                </a:solidFill>
              </a:rPr>
              <a:t>Humains</a:t>
            </a:r>
            <a:r>
              <a:rPr lang="fr-FR" dirty="0"/>
              <a:t>; la classe des </a:t>
            </a:r>
            <a:r>
              <a:rPr lang="fr-FR" dirty="0">
                <a:solidFill>
                  <a:srgbClr val="0432FF"/>
                </a:solidFill>
              </a:rPr>
              <a:t>Voitures</a:t>
            </a:r>
            <a:r>
              <a:rPr lang="fr-FR" dirty="0"/>
              <a:t>; la classe des </a:t>
            </a:r>
            <a:r>
              <a:rPr lang="fr-FR" dirty="0">
                <a:solidFill>
                  <a:srgbClr val="0432FF"/>
                </a:solidFill>
              </a:rPr>
              <a:t>Entiers</a:t>
            </a:r>
            <a:r>
              <a:rPr lang="fr-FR" dirty="0"/>
              <a:t> (‘</a:t>
            </a:r>
            <a:r>
              <a:rPr lang="fr-FR" dirty="0" err="1"/>
              <a:t>int</a:t>
            </a:r>
            <a:r>
              <a:rPr lang="fr-FR" dirty="0"/>
              <a:t>’ en python).</a:t>
            </a:r>
          </a:p>
          <a:p>
            <a:r>
              <a:rPr lang="fr-FR" dirty="0"/>
              <a:t>Plus formellement, une </a:t>
            </a:r>
            <a:r>
              <a:rPr lang="fr-FR" b="1" dirty="0"/>
              <a:t>classe</a:t>
            </a:r>
            <a:r>
              <a:rPr lang="fr-FR" dirty="0"/>
              <a:t> est un modèles de données qui partagent des caractéristiques communes: </a:t>
            </a:r>
            <a:r>
              <a:rPr lang="fr-FR" b="1" dirty="0"/>
              <a:t>attributs</a:t>
            </a:r>
            <a:r>
              <a:rPr lang="fr-FR" dirty="0"/>
              <a:t>, </a:t>
            </a:r>
            <a:r>
              <a:rPr lang="fr-FR" b="1" dirty="0"/>
              <a:t>méthodes</a:t>
            </a:r>
            <a:r>
              <a:rPr lang="fr-FR" dirty="0"/>
              <a:t>,…</a:t>
            </a:r>
          </a:p>
        </p:txBody>
      </p:sp>
    </p:spTree>
    <p:extLst>
      <p:ext uri="{BB962C8B-B14F-4D97-AF65-F5344CB8AC3E}">
        <p14:creationId xmlns:p14="http://schemas.microsoft.com/office/powerpoint/2010/main" val="3822522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Objet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5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Intuitivement, un </a:t>
            </a:r>
            <a:r>
              <a:rPr lang="fr-FR" b="1" dirty="0"/>
              <a:t>objet</a:t>
            </a:r>
            <a:r>
              <a:rPr lang="fr-FR" dirty="0"/>
              <a:t> est un élément spécifique d’une classe, i.e., un élément créé, fabriqué ou issu d’une classe.</a:t>
            </a:r>
          </a:p>
          <a:p>
            <a:r>
              <a:rPr lang="fr-FR" b="1" dirty="0"/>
              <a:t>Exemples:</a:t>
            </a:r>
            <a:r>
              <a:rPr lang="fr-FR" dirty="0"/>
              <a:t> </a:t>
            </a:r>
            <a:r>
              <a:rPr lang="fr-FR" dirty="0">
                <a:solidFill>
                  <a:srgbClr val="0432FF"/>
                </a:solidFill>
              </a:rPr>
              <a:t>Adam</a:t>
            </a:r>
            <a:r>
              <a:rPr lang="fr-FR" dirty="0"/>
              <a:t> est un objet la classe des </a:t>
            </a:r>
            <a:r>
              <a:rPr lang="fr-FR" dirty="0">
                <a:solidFill>
                  <a:srgbClr val="0432FF"/>
                </a:solidFill>
              </a:rPr>
              <a:t>Humains</a:t>
            </a:r>
            <a:r>
              <a:rPr lang="fr-FR" dirty="0"/>
              <a:t>; une </a:t>
            </a:r>
            <a:r>
              <a:rPr lang="fr-FR" dirty="0">
                <a:solidFill>
                  <a:srgbClr val="0432FF"/>
                </a:solidFill>
              </a:rPr>
              <a:t>Rolls-Royce</a:t>
            </a:r>
            <a:r>
              <a:rPr lang="fr-FR" dirty="0"/>
              <a:t> et un objet de la classe des </a:t>
            </a:r>
            <a:r>
              <a:rPr lang="fr-FR" dirty="0">
                <a:solidFill>
                  <a:srgbClr val="0432FF"/>
                </a:solidFill>
              </a:rPr>
              <a:t>Voitures</a:t>
            </a:r>
            <a:r>
              <a:rPr lang="fr-FR" dirty="0"/>
              <a:t>; </a:t>
            </a:r>
            <a:r>
              <a:rPr lang="fr-FR" dirty="0">
                <a:solidFill>
                  <a:srgbClr val="0432FF"/>
                </a:solidFill>
              </a:rPr>
              <a:t>3</a:t>
            </a:r>
            <a:r>
              <a:rPr lang="fr-FR" dirty="0"/>
              <a:t> est un objet la classe des </a:t>
            </a:r>
            <a:r>
              <a:rPr lang="fr-FR" dirty="0">
                <a:solidFill>
                  <a:srgbClr val="0432FF"/>
                </a:solidFill>
              </a:rPr>
              <a:t>Entiers</a:t>
            </a:r>
            <a:r>
              <a:rPr lang="fr-FR" dirty="0"/>
              <a:t>.</a:t>
            </a:r>
          </a:p>
          <a:p>
            <a:r>
              <a:rPr lang="fr-FR" dirty="0"/>
              <a:t>Plus formellement, une </a:t>
            </a:r>
            <a:r>
              <a:rPr lang="fr-FR" b="1" dirty="0"/>
              <a:t>objet</a:t>
            </a:r>
            <a:r>
              <a:rPr lang="fr-FR" dirty="0"/>
              <a:t> est une instance d’une classe (un conteneur symbolique et autonome qui regroupe des informations et des mécanismes).</a:t>
            </a:r>
          </a:p>
        </p:txBody>
      </p:sp>
    </p:spTree>
    <p:extLst>
      <p:ext uri="{BB962C8B-B14F-4D97-AF65-F5344CB8AC3E}">
        <p14:creationId xmlns:p14="http://schemas.microsoft.com/office/powerpoint/2010/main" val="3957921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Attributs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6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495800"/>
          </a:xfrm>
        </p:spPr>
        <p:txBody>
          <a:bodyPr>
            <a:normAutofit/>
          </a:bodyPr>
          <a:lstStyle/>
          <a:p>
            <a:r>
              <a:rPr lang="fr-FR" dirty="0"/>
              <a:t>Les </a:t>
            </a:r>
            <a:r>
              <a:rPr lang="fr-FR" b="1" dirty="0"/>
              <a:t>attributs</a:t>
            </a:r>
            <a:r>
              <a:rPr lang="fr-FR" dirty="0"/>
              <a:t> sont des caractéristiques ou propriétés qui définissent les objets issus d’une classe.</a:t>
            </a:r>
          </a:p>
          <a:p>
            <a:r>
              <a:rPr lang="fr-FR" b="1" dirty="0"/>
              <a:t>Exemples:</a:t>
            </a:r>
            <a:r>
              <a:rPr lang="fr-FR" dirty="0"/>
              <a:t> les objets la classe des </a:t>
            </a:r>
            <a:r>
              <a:rPr lang="fr-FR" dirty="0">
                <a:solidFill>
                  <a:srgbClr val="0432FF"/>
                </a:solidFill>
              </a:rPr>
              <a:t>Humains</a:t>
            </a:r>
            <a:r>
              <a:rPr lang="fr-FR" dirty="0"/>
              <a:t> peuvent être définis par les attributs </a:t>
            </a:r>
            <a:r>
              <a:rPr lang="fr-FR" dirty="0">
                <a:solidFill>
                  <a:srgbClr val="0432FF"/>
                </a:solidFill>
              </a:rPr>
              <a:t>prénom</a:t>
            </a:r>
            <a:r>
              <a:rPr lang="fr-FR" dirty="0"/>
              <a:t>, </a:t>
            </a:r>
            <a:r>
              <a:rPr lang="fr-FR" dirty="0">
                <a:solidFill>
                  <a:srgbClr val="0432FF"/>
                </a:solidFill>
              </a:rPr>
              <a:t>nom</a:t>
            </a:r>
            <a:r>
              <a:rPr lang="fr-FR" dirty="0"/>
              <a:t>, </a:t>
            </a:r>
            <a:r>
              <a:rPr lang="fr-FR" dirty="0" err="1">
                <a:solidFill>
                  <a:srgbClr val="0432FF"/>
                </a:solidFill>
              </a:rPr>
              <a:t>génôme</a:t>
            </a:r>
            <a:r>
              <a:rPr lang="fr-FR" dirty="0"/>
              <a:t>, etc. Les objets de la classe des </a:t>
            </a:r>
            <a:r>
              <a:rPr lang="fr-FR" dirty="0">
                <a:solidFill>
                  <a:srgbClr val="0432FF"/>
                </a:solidFill>
              </a:rPr>
              <a:t>Voitures</a:t>
            </a:r>
            <a:r>
              <a:rPr lang="fr-FR" dirty="0"/>
              <a:t> peuvent être définis par les attributs </a:t>
            </a:r>
            <a:r>
              <a:rPr lang="fr-FR" dirty="0">
                <a:solidFill>
                  <a:srgbClr val="0432FF"/>
                </a:solidFill>
              </a:rPr>
              <a:t>marque</a:t>
            </a:r>
            <a:r>
              <a:rPr lang="fr-FR" dirty="0"/>
              <a:t>, </a:t>
            </a:r>
            <a:r>
              <a:rPr lang="fr-FR" dirty="0">
                <a:solidFill>
                  <a:srgbClr val="0432FF"/>
                </a:solidFill>
              </a:rPr>
              <a:t>année de construction</a:t>
            </a:r>
            <a:r>
              <a:rPr lang="fr-FR" dirty="0"/>
              <a:t>, </a:t>
            </a:r>
            <a:r>
              <a:rPr lang="fr-FR" dirty="0">
                <a:solidFill>
                  <a:srgbClr val="0432FF"/>
                </a:solidFill>
              </a:rPr>
              <a:t>puissance</a:t>
            </a:r>
            <a:r>
              <a:rPr lang="fr-FR" dirty="0"/>
              <a:t>, etc.</a:t>
            </a:r>
          </a:p>
          <a:p>
            <a:r>
              <a:rPr lang="fr-FR" dirty="0"/>
              <a:t>Plus formellement, les </a:t>
            </a:r>
            <a:r>
              <a:rPr lang="fr-FR" b="1" dirty="0"/>
              <a:t>attributs</a:t>
            </a:r>
            <a:r>
              <a:rPr lang="fr-FR" dirty="0"/>
              <a:t> sont un ensemble de variables partagées par tous les objets d’une classe.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51555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7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Intuitivement, les </a:t>
            </a:r>
            <a:r>
              <a:rPr lang="fr-FR" b="1" dirty="0"/>
              <a:t>méthodes</a:t>
            </a:r>
            <a:r>
              <a:rPr lang="fr-FR" dirty="0"/>
              <a:t> sont des mécanismes qui agissent sur les objets d’une classe.</a:t>
            </a:r>
          </a:p>
          <a:p>
            <a:r>
              <a:rPr lang="fr-FR" b="1" dirty="0"/>
              <a:t>Exemples:</a:t>
            </a:r>
            <a:r>
              <a:rPr lang="fr-FR" dirty="0"/>
              <a:t> les objets la classe des </a:t>
            </a:r>
            <a:r>
              <a:rPr lang="fr-FR" dirty="0">
                <a:solidFill>
                  <a:srgbClr val="0432FF"/>
                </a:solidFill>
              </a:rPr>
              <a:t>Humains</a:t>
            </a:r>
            <a:r>
              <a:rPr lang="fr-FR" dirty="0"/>
              <a:t> peuvent posséder les méthodes </a:t>
            </a:r>
            <a:r>
              <a:rPr lang="fr-FR" dirty="0">
                <a:solidFill>
                  <a:srgbClr val="0432FF"/>
                </a:solidFill>
              </a:rPr>
              <a:t>rire</a:t>
            </a:r>
            <a:r>
              <a:rPr lang="fr-FR" dirty="0"/>
              <a:t>, </a:t>
            </a:r>
            <a:r>
              <a:rPr lang="fr-FR" dirty="0">
                <a:solidFill>
                  <a:srgbClr val="0432FF"/>
                </a:solidFill>
              </a:rPr>
              <a:t>pleurer</a:t>
            </a:r>
            <a:r>
              <a:rPr lang="fr-FR" dirty="0"/>
              <a:t>. etc. Les objets de la classe des </a:t>
            </a:r>
            <a:r>
              <a:rPr lang="fr-FR" dirty="0">
                <a:solidFill>
                  <a:srgbClr val="0432FF"/>
                </a:solidFill>
              </a:rPr>
              <a:t>Voitures</a:t>
            </a:r>
            <a:r>
              <a:rPr lang="fr-FR" dirty="0"/>
              <a:t> peuvent posséder les méthodes </a:t>
            </a:r>
            <a:r>
              <a:rPr lang="fr-FR" dirty="0">
                <a:solidFill>
                  <a:srgbClr val="0432FF"/>
                </a:solidFill>
              </a:rPr>
              <a:t>avancer</a:t>
            </a:r>
            <a:r>
              <a:rPr lang="fr-FR" dirty="0"/>
              <a:t>, </a:t>
            </a:r>
            <a:r>
              <a:rPr lang="fr-FR" dirty="0">
                <a:solidFill>
                  <a:srgbClr val="0432FF"/>
                </a:solidFill>
              </a:rPr>
              <a:t>reculer</a:t>
            </a:r>
            <a:r>
              <a:rPr lang="fr-FR" dirty="0"/>
              <a:t>, </a:t>
            </a:r>
            <a:r>
              <a:rPr lang="fr-FR" dirty="0">
                <a:solidFill>
                  <a:srgbClr val="0432FF"/>
                </a:solidFill>
              </a:rPr>
              <a:t>tomber en panne</a:t>
            </a:r>
            <a:r>
              <a:rPr lang="fr-FR" dirty="0"/>
              <a:t>, etc.</a:t>
            </a:r>
          </a:p>
          <a:p>
            <a:r>
              <a:rPr lang="fr-FR" dirty="0"/>
              <a:t>Plus formellement, les </a:t>
            </a:r>
            <a:r>
              <a:rPr lang="fr-FR" b="1" dirty="0"/>
              <a:t>méthodes</a:t>
            </a:r>
            <a:r>
              <a:rPr lang="fr-FR" dirty="0"/>
              <a:t> sont des fonctions qui agissent sur les objets d’une classe (et transforment potentiellement leur attributs).</a:t>
            </a:r>
          </a:p>
        </p:txBody>
      </p:sp>
    </p:spTree>
    <p:extLst>
      <p:ext uri="{BB962C8B-B14F-4D97-AF65-F5344CB8AC3E}">
        <p14:creationId xmlns:p14="http://schemas.microsoft.com/office/powerpoint/2010/main" val="2242331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Héritage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8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141168"/>
          </a:xfrm>
        </p:spPr>
        <p:txBody>
          <a:bodyPr>
            <a:normAutofit/>
          </a:bodyPr>
          <a:lstStyle/>
          <a:p>
            <a:r>
              <a:rPr lang="fr-FR" dirty="0"/>
              <a:t>L’</a:t>
            </a:r>
            <a:r>
              <a:rPr lang="fr-FR" b="1" dirty="0"/>
              <a:t>héritage</a:t>
            </a:r>
            <a:r>
              <a:rPr lang="fr-FR" dirty="0"/>
              <a:t> est un mécanisme qui permet, lors de la déclaration d’une nouvelle classe, d'y inclure les caractéristiques d’une autre classe.</a:t>
            </a:r>
          </a:p>
          <a:p>
            <a:r>
              <a:rPr lang="fr-FR" dirty="0"/>
              <a:t>Une classe-fille ou sous-classe </a:t>
            </a:r>
            <a:r>
              <a:rPr lang="fr-FR" b="1" dirty="0"/>
              <a:t>hérite</a:t>
            </a:r>
            <a:r>
              <a:rPr lang="fr-FR" dirty="0"/>
              <a:t> des attributs et méthodes d’une classe-mère ou </a:t>
            </a:r>
            <a:r>
              <a:rPr lang="fr-FR" dirty="0" err="1"/>
              <a:t>super-classe</a:t>
            </a:r>
            <a:r>
              <a:rPr lang="fr-FR" dirty="0"/>
              <a:t>.</a:t>
            </a:r>
          </a:p>
          <a:p>
            <a:r>
              <a:rPr lang="fr-FR" b="1" dirty="0"/>
              <a:t>Exemple:</a:t>
            </a:r>
            <a:r>
              <a:rPr lang="fr-FR" dirty="0"/>
              <a:t> la classe des </a:t>
            </a:r>
            <a:r>
              <a:rPr lang="fr-FR" dirty="0">
                <a:solidFill>
                  <a:srgbClr val="0432FF"/>
                </a:solidFill>
              </a:rPr>
              <a:t>Humains</a:t>
            </a:r>
            <a:r>
              <a:rPr lang="fr-FR" dirty="0"/>
              <a:t> possède les attributs </a:t>
            </a:r>
            <a:r>
              <a:rPr lang="fr-FR" dirty="0">
                <a:solidFill>
                  <a:srgbClr val="0432FF"/>
                </a:solidFill>
              </a:rPr>
              <a:t>prénom</a:t>
            </a:r>
            <a:r>
              <a:rPr lang="fr-FR" dirty="0"/>
              <a:t>, </a:t>
            </a:r>
            <a:r>
              <a:rPr lang="fr-FR" dirty="0">
                <a:solidFill>
                  <a:srgbClr val="0432FF"/>
                </a:solidFill>
              </a:rPr>
              <a:t>nom</a:t>
            </a:r>
            <a:r>
              <a:rPr lang="fr-FR" dirty="0"/>
              <a:t>, </a:t>
            </a:r>
            <a:r>
              <a:rPr lang="fr-FR" dirty="0" err="1">
                <a:solidFill>
                  <a:srgbClr val="0432FF"/>
                </a:solidFill>
              </a:rPr>
              <a:t>génôme</a:t>
            </a:r>
            <a:r>
              <a:rPr lang="fr-FR" dirty="0"/>
              <a:t> et les méthodes </a:t>
            </a:r>
            <a:r>
              <a:rPr lang="fr-FR" dirty="0">
                <a:solidFill>
                  <a:srgbClr val="0432FF"/>
                </a:solidFill>
              </a:rPr>
              <a:t>rire</a:t>
            </a:r>
            <a:r>
              <a:rPr lang="fr-FR" dirty="0"/>
              <a:t>, </a:t>
            </a:r>
            <a:r>
              <a:rPr lang="fr-FR" dirty="0">
                <a:solidFill>
                  <a:srgbClr val="0432FF"/>
                </a:solidFill>
              </a:rPr>
              <a:t>pleurer</a:t>
            </a:r>
            <a:r>
              <a:rPr lang="fr-FR" dirty="0"/>
              <a:t>. On pourrait définir la sous-classe des </a:t>
            </a:r>
            <a:r>
              <a:rPr lang="fr-FR" dirty="0">
                <a:solidFill>
                  <a:srgbClr val="0432FF"/>
                </a:solidFill>
              </a:rPr>
              <a:t>Sportifs</a:t>
            </a:r>
            <a:r>
              <a:rPr lang="fr-FR" dirty="0"/>
              <a:t> – des </a:t>
            </a:r>
            <a:r>
              <a:rPr lang="fr-FR" dirty="0">
                <a:solidFill>
                  <a:srgbClr val="0432FF"/>
                </a:solidFill>
              </a:rPr>
              <a:t>Humains</a:t>
            </a:r>
            <a:r>
              <a:rPr lang="fr-FR" dirty="0"/>
              <a:t> particuliers – qui aurait un attribut supplémentaire </a:t>
            </a:r>
            <a:r>
              <a:rPr lang="fr-FR" dirty="0">
                <a:solidFill>
                  <a:srgbClr val="0432FF"/>
                </a:solidFill>
              </a:rPr>
              <a:t>type de sport</a:t>
            </a:r>
            <a:r>
              <a:rPr lang="fr-FR" dirty="0"/>
              <a:t> et une méthode supplémentaire </a:t>
            </a:r>
            <a:r>
              <a:rPr lang="fr-FR" dirty="0">
                <a:solidFill>
                  <a:srgbClr val="0432FF"/>
                </a:solidFill>
              </a:rPr>
              <a:t>s’entraîner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7530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Héritage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9</a:t>
            </a:fld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B8D8F4-1463-8240-8C79-137860FB98C1}"/>
              </a:ext>
            </a:extLst>
          </p:cNvPr>
          <p:cNvSpPr/>
          <p:nvPr/>
        </p:nvSpPr>
        <p:spPr>
          <a:xfrm>
            <a:off x="720116" y="2731976"/>
            <a:ext cx="2592288" cy="2232248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/>
              <a:t>Humains</a:t>
            </a:r>
          </a:p>
          <a:p>
            <a:r>
              <a:rPr lang="fr-FR" dirty="0" err="1"/>
              <a:t>attr</a:t>
            </a:r>
            <a:r>
              <a:rPr lang="fr-FR" dirty="0"/>
              <a:t>: 	prénom</a:t>
            </a:r>
          </a:p>
          <a:p>
            <a:r>
              <a:rPr lang="fr-FR" dirty="0" err="1"/>
              <a:t>attr</a:t>
            </a:r>
            <a:r>
              <a:rPr lang="fr-FR" dirty="0"/>
              <a:t>: 	nom</a:t>
            </a:r>
          </a:p>
          <a:p>
            <a:r>
              <a:rPr lang="fr-FR" dirty="0" err="1"/>
              <a:t>attr</a:t>
            </a:r>
            <a:r>
              <a:rPr lang="fr-FR" dirty="0"/>
              <a:t>: 	</a:t>
            </a:r>
            <a:r>
              <a:rPr lang="fr-FR" dirty="0" err="1"/>
              <a:t>génôme</a:t>
            </a:r>
            <a:endParaRPr lang="fr-FR" dirty="0"/>
          </a:p>
          <a:p>
            <a:r>
              <a:rPr lang="fr-FR" dirty="0" err="1"/>
              <a:t>méth</a:t>
            </a:r>
            <a:r>
              <a:rPr lang="fr-FR" dirty="0"/>
              <a:t>: 	rire()</a:t>
            </a:r>
          </a:p>
          <a:p>
            <a:r>
              <a:rPr lang="fr-FR" dirty="0" err="1"/>
              <a:t>méth</a:t>
            </a:r>
            <a:r>
              <a:rPr lang="fr-FR" dirty="0"/>
              <a:t>: 	pleurer()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2A9BEE-4AA4-9B4B-B414-0AFA308C8078}"/>
              </a:ext>
            </a:extLst>
          </p:cNvPr>
          <p:cNvSpPr/>
          <p:nvPr/>
        </p:nvSpPr>
        <p:spPr>
          <a:xfrm>
            <a:off x="5868144" y="2167744"/>
            <a:ext cx="2768676" cy="336071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/>
              <a:t>Sportifs(Humains) </a:t>
            </a:r>
          </a:p>
          <a:p>
            <a:r>
              <a:rPr lang="fr-FR" dirty="0" err="1"/>
              <a:t>attr</a:t>
            </a:r>
            <a:r>
              <a:rPr lang="fr-FR" dirty="0"/>
              <a:t>: 	prénom</a:t>
            </a:r>
          </a:p>
          <a:p>
            <a:r>
              <a:rPr lang="fr-FR" dirty="0" err="1"/>
              <a:t>attr</a:t>
            </a:r>
            <a:r>
              <a:rPr lang="fr-FR" dirty="0"/>
              <a:t>: 	nom</a:t>
            </a:r>
          </a:p>
          <a:p>
            <a:r>
              <a:rPr lang="fr-FR" dirty="0" err="1"/>
              <a:t>attr</a:t>
            </a:r>
            <a:r>
              <a:rPr lang="fr-FR" dirty="0"/>
              <a:t>: 	</a:t>
            </a:r>
            <a:r>
              <a:rPr lang="fr-FR" dirty="0" err="1"/>
              <a:t>génôme</a:t>
            </a:r>
            <a:endParaRPr lang="fr-FR" dirty="0"/>
          </a:p>
          <a:p>
            <a:r>
              <a:rPr lang="fr-FR" dirty="0" err="1">
                <a:solidFill>
                  <a:srgbClr val="FF0000"/>
                </a:solidFill>
              </a:rPr>
              <a:t>attr</a:t>
            </a:r>
            <a:r>
              <a:rPr lang="fr-FR" dirty="0">
                <a:solidFill>
                  <a:srgbClr val="FF0000"/>
                </a:solidFill>
              </a:rPr>
              <a:t>:	type de sport</a:t>
            </a:r>
          </a:p>
          <a:p>
            <a:r>
              <a:rPr lang="fr-FR" dirty="0" err="1"/>
              <a:t>méth</a:t>
            </a:r>
            <a:r>
              <a:rPr lang="fr-FR" dirty="0"/>
              <a:t>: 	rire()</a:t>
            </a:r>
          </a:p>
          <a:p>
            <a:r>
              <a:rPr lang="fr-FR" dirty="0" err="1"/>
              <a:t>méth</a:t>
            </a:r>
            <a:r>
              <a:rPr lang="fr-FR" dirty="0"/>
              <a:t>: 	pleurer()</a:t>
            </a:r>
          </a:p>
          <a:p>
            <a:r>
              <a:rPr lang="fr-FR" dirty="0" err="1">
                <a:solidFill>
                  <a:srgbClr val="FF0000"/>
                </a:solidFill>
              </a:rPr>
              <a:t>méth</a:t>
            </a:r>
            <a:r>
              <a:rPr lang="fr-FR" dirty="0">
                <a:solidFill>
                  <a:srgbClr val="FF0000"/>
                </a:solidFill>
              </a:rPr>
              <a:t>:	s’entraîner()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0505A1F-2558-8F40-AEA9-3416A633FD8A}"/>
              </a:ext>
            </a:extLst>
          </p:cNvPr>
          <p:cNvCxnSpPr>
            <a:cxnSpLocks/>
            <a:stCxn id="9" idx="1"/>
            <a:endCxn id="8" idx="3"/>
          </p:cNvCxnSpPr>
          <p:nvPr/>
        </p:nvCxnSpPr>
        <p:spPr>
          <a:xfrm flipH="1">
            <a:off x="3312404" y="3848100"/>
            <a:ext cx="255574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A53B72C-7E40-8542-96A5-FA7229D4D04F}"/>
              </a:ext>
            </a:extLst>
          </p:cNvPr>
          <p:cNvSpPr txBox="1"/>
          <p:nvPr/>
        </p:nvSpPr>
        <p:spPr>
          <a:xfrm>
            <a:off x="4039971" y="3386435"/>
            <a:ext cx="1298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tx1"/>
                </a:solidFill>
              </a:rPr>
              <a:t>héritage</a:t>
            </a:r>
          </a:p>
        </p:txBody>
      </p:sp>
    </p:spTree>
    <p:extLst>
      <p:ext uri="{BB962C8B-B14F-4D97-AF65-F5344CB8AC3E}">
        <p14:creationId xmlns:p14="http://schemas.microsoft.com/office/powerpoint/2010/main" val="2376544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57AB707-A4E7-4B42-B817-934DD87CB0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8D0021-F64C-2D45-8566-69ADE696C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Classes et objets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2CACF6-B88D-084E-B9F2-58075BA310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fr-FR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62418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Classe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11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853136"/>
          </a:xfrm>
        </p:spPr>
        <p:txBody>
          <a:bodyPr>
            <a:normAutofit/>
          </a:bodyPr>
          <a:lstStyle/>
          <a:p>
            <a:r>
              <a:rPr lang="fr-CH" dirty="0"/>
              <a:t>L’instruction pour définir une </a:t>
            </a:r>
            <a:r>
              <a:rPr lang="fr-CH" b="1" dirty="0"/>
              <a:t>classe</a:t>
            </a:r>
            <a:r>
              <a:rPr lang="fr-CH" dirty="0"/>
              <a:t> est :</a:t>
            </a:r>
          </a:p>
          <a:p>
            <a:pPr marL="0" indent="0">
              <a:buNone/>
            </a:pPr>
            <a:r>
              <a:rPr lang="fr-FR" sz="2400" b="1" dirty="0">
                <a:solidFill>
                  <a:srgbClr val="008000"/>
                </a:solidFill>
                <a:latin typeface="Courier" pitchFamily="2" charset="0"/>
              </a:rPr>
              <a:t>class</a:t>
            </a:r>
            <a:r>
              <a:rPr lang="fr-FR" sz="24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400" b="1" dirty="0" err="1">
                <a:solidFill>
                  <a:srgbClr val="0000FF"/>
                </a:solidFill>
                <a:latin typeface="Courier" pitchFamily="2" charset="0"/>
              </a:rPr>
              <a:t>NomClasse</a:t>
            </a:r>
            <a:r>
              <a:rPr lang="fr-FR" sz="2400" dirty="0">
                <a:solidFill>
                  <a:srgbClr val="000000"/>
                </a:solidFill>
                <a:latin typeface="Courier" pitchFamily="2" charset="0"/>
              </a:rPr>
              <a:t>:</a:t>
            </a:r>
            <a:endParaRPr lang="fr-FR" sz="2400" dirty="0">
              <a:solidFill>
                <a:srgbClr val="0000F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400" dirty="0">
                <a:latin typeface="Courier" pitchFamily="2" charset="0"/>
              </a:rPr>
              <a:t>    </a:t>
            </a:r>
            <a:r>
              <a:rPr lang="fr-FR" sz="2400" i="1" dirty="0">
                <a:solidFill>
                  <a:srgbClr val="BA2121"/>
                </a:solidFill>
                <a:latin typeface="Courier" pitchFamily="2" charset="0"/>
              </a:rPr>
              <a:t>"""</a:t>
            </a:r>
            <a:endParaRPr lang="fr-FR" sz="24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400" i="1" dirty="0">
                <a:solidFill>
                  <a:srgbClr val="BA2121"/>
                </a:solidFill>
                <a:latin typeface="Courier" pitchFamily="2" charset="0"/>
              </a:rPr>
              <a:t>    description facultative</a:t>
            </a:r>
            <a:endParaRPr lang="fr-FR" sz="2400" dirty="0">
              <a:solidFill>
                <a:srgbClr val="BA2121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400" i="1" dirty="0">
                <a:solidFill>
                  <a:srgbClr val="BA2121"/>
                </a:solidFill>
                <a:latin typeface="Courier" pitchFamily="2" charset="0"/>
              </a:rPr>
              <a:t>    """</a:t>
            </a:r>
          </a:p>
          <a:p>
            <a:pPr marL="0" indent="0">
              <a:buNone/>
            </a:pP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767872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12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853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b="1" dirty="0">
                <a:solidFill>
                  <a:srgbClr val="008000"/>
                </a:solidFill>
                <a:latin typeface="Courier" pitchFamily="2" charset="0"/>
              </a:rPr>
              <a:t>class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b="1" dirty="0">
                <a:solidFill>
                  <a:srgbClr val="0000FF"/>
                </a:solidFill>
                <a:latin typeface="Courier" pitchFamily="2" charset="0"/>
              </a:rPr>
              <a:t>Humain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:</a:t>
            </a:r>
            <a:endParaRPr lang="fr-FR" sz="2000" dirty="0">
              <a:solidFill>
                <a:srgbClr val="0000F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    </a:t>
            </a:r>
            <a:r>
              <a:rPr lang="fr-FR" sz="2000" i="1" dirty="0">
                <a:solidFill>
                  <a:srgbClr val="BA2121"/>
                </a:solidFill>
                <a:latin typeface="Courier" pitchFamily="2" charset="0"/>
              </a:rPr>
              <a:t>"""</a:t>
            </a: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i="1" dirty="0">
                <a:solidFill>
                  <a:srgbClr val="BA2121"/>
                </a:solidFill>
                <a:latin typeface="Courier" pitchFamily="2" charset="0"/>
              </a:rPr>
              <a:t>    classe de tous les humains</a:t>
            </a:r>
            <a:endParaRPr lang="fr-FR" sz="2000" dirty="0">
              <a:solidFill>
                <a:srgbClr val="BA2121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i="1" dirty="0">
                <a:solidFill>
                  <a:srgbClr val="BA2121"/>
                </a:solidFill>
                <a:latin typeface="Courier" pitchFamily="2" charset="0"/>
              </a:rPr>
              <a:t>    """</a:t>
            </a:r>
          </a:p>
          <a:p>
            <a:pPr marL="0" indent="0">
              <a:buNone/>
            </a:pPr>
            <a:r>
              <a:rPr lang="fr-FR" sz="2000" b="1" dirty="0">
                <a:solidFill>
                  <a:srgbClr val="008000"/>
                </a:solidFill>
                <a:latin typeface="Courier" pitchFamily="2" charset="0"/>
              </a:rPr>
              <a:t>    </a:t>
            </a: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pass</a:t>
            </a:r>
            <a:endParaRPr lang="fr-FR" sz="2000" dirty="0">
              <a:solidFill>
                <a:srgbClr val="008000"/>
              </a:solidFill>
              <a:latin typeface="Courier" pitchFamily="2" charset="0"/>
            </a:endParaRPr>
          </a:p>
          <a:p>
            <a:pPr marL="0" indent="0">
              <a:buNone/>
            </a:pPr>
            <a:endParaRPr lang="fr-FR" sz="2400" dirty="0">
              <a:solidFill>
                <a:srgbClr val="BA2121"/>
              </a:solidFill>
              <a:latin typeface="Courier" pitchFamily="2" charset="0"/>
            </a:endParaRPr>
          </a:p>
          <a:p>
            <a:pPr marL="0" indent="0">
              <a:buNone/>
            </a:pP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446356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Constructeur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13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5141168"/>
          </a:xfrm>
        </p:spPr>
        <p:txBody>
          <a:bodyPr>
            <a:normAutofit/>
          </a:bodyPr>
          <a:lstStyle/>
          <a:p>
            <a:r>
              <a:rPr lang="fr-CH" dirty="0"/>
              <a:t>Le </a:t>
            </a:r>
            <a:r>
              <a:rPr lang="fr-CH" b="1" dirty="0"/>
              <a:t>constructeur</a:t>
            </a:r>
            <a:r>
              <a:rPr lang="fr-CH" dirty="0"/>
              <a:t> est une méthode spécifique qui est automatiquement exécutée lors de l’instanciation de tout objet de la classe.</a:t>
            </a:r>
          </a:p>
          <a:p>
            <a:r>
              <a:rPr lang="fr-CH" dirty="0"/>
              <a:t>C’est la fonction qui crée l’objet à partir de la classe. Sa syntaxe est :</a:t>
            </a:r>
          </a:p>
          <a:p>
            <a:pPr marL="0" indent="0">
              <a:buNone/>
            </a:pPr>
            <a:r>
              <a:rPr lang="fr-FR" sz="2400" b="1" dirty="0">
                <a:solidFill>
                  <a:srgbClr val="008000"/>
                </a:solidFill>
                <a:latin typeface="Courier" pitchFamily="2" charset="0"/>
              </a:rPr>
              <a:t>class</a:t>
            </a:r>
            <a:r>
              <a:rPr lang="fr-FR" sz="24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400" b="1" dirty="0" err="1">
                <a:solidFill>
                  <a:srgbClr val="0000FF"/>
                </a:solidFill>
                <a:latin typeface="Courier" pitchFamily="2" charset="0"/>
              </a:rPr>
              <a:t>NomClasse</a:t>
            </a:r>
            <a:r>
              <a:rPr lang="fr-FR" sz="2400" dirty="0">
                <a:solidFill>
                  <a:srgbClr val="000000"/>
                </a:solidFill>
                <a:latin typeface="Courier" pitchFamily="2" charset="0"/>
              </a:rPr>
              <a:t>:</a:t>
            </a:r>
            <a:endParaRPr lang="fr-FR" sz="2400" dirty="0">
              <a:solidFill>
                <a:srgbClr val="0000F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400" b="1" dirty="0">
                <a:solidFill>
                  <a:srgbClr val="0000FF"/>
                </a:solidFill>
                <a:latin typeface="Courier" pitchFamily="2" charset="0"/>
              </a:rPr>
              <a:t>	</a:t>
            </a:r>
            <a:r>
              <a:rPr lang="fr-FR" sz="2400" b="1" dirty="0" err="1">
                <a:solidFill>
                  <a:srgbClr val="008000"/>
                </a:solidFill>
                <a:latin typeface="Courier" pitchFamily="2" charset="0"/>
              </a:rPr>
              <a:t>def</a:t>
            </a:r>
            <a:r>
              <a:rPr lang="fr-FR" sz="2400" dirty="0">
                <a:latin typeface="Courier" pitchFamily="2" charset="0"/>
              </a:rPr>
              <a:t> </a:t>
            </a:r>
            <a:r>
              <a:rPr lang="fr-FR" sz="2400" dirty="0">
                <a:solidFill>
                  <a:srgbClr val="0000FF"/>
                </a:solidFill>
                <a:latin typeface="Courier" pitchFamily="2" charset="0"/>
              </a:rPr>
              <a:t>__</a:t>
            </a:r>
            <a:r>
              <a:rPr lang="fr-FR" sz="2400" dirty="0" err="1">
                <a:solidFill>
                  <a:srgbClr val="0000FF"/>
                </a:solidFill>
                <a:latin typeface="Courier" pitchFamily="2" charset="0"/>
              </a:rPr>
              <a:t>init</a:t>
            </a:r>
            <a:r>
              <a:rPr lang="fr-FR" sz="2400" dirty="0">
                <a:solidFill>
                  <a:srgbClr val="0000FF"/>
                </a:solidFill>
                <a:latin typeface="Courier" pitchFamily="2" charset="0"/>
              </a:rPr>
              <a:t>__</a:t>
            </a:r>
            <a:r>
              <a:rPr lang="fr-FR" sz="2400" dirty="0">
                <a:latin typeface="Courier" pitchFamily="2" charset="0"/>
              </a:rPr>
              <a:t>(</a:t>
            </a:r>
            <a:r>
              <a:rPr lang="fr-FR" sz="2400" dirty="0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400" dirty="0">
                <a:latin typeface="Courier" pitchFamily="2" charset="0"/>
              </a:rPr>
              <a:t>):</a:t>
            </a:r>
          </a:p>
          <a:p>
            <a:pPr marL="0" indent="0">
              <a:buNone/>
            </a:pPr>
            <a:r>
              <a:rPr lang="fr-FR" sz="2400" dirty="0">
                <a:latin typeface="Courier" pitchFamily="2" charset="0"/>
              </a:rPr>
              <a:t>		...</a:t>
            </a:r>
          </a:p>
          <a:p>
            <a:r>
              <a:rPr lang="fr-FR" dirty="0"/>
              <a:t>Le paramètre </a:t>
            </a:r>
            <a:r>
              <a:rPr lang="fr-FR" sz="2400" b="1" dirty="0">
                <a:latin typeface="Courier" pitchFamily="2" charset="0"/>
              </a:rPr>
              <a:t>self</a:t>
            </a:r>
            <a:r>
              <a:rPr lang="fr-FR" dirty="0"/>
              <a:t> signifie que la méthode </a:t>
            </a:r>
            <a:r>
              <a:rPr lang="fr-FR" sz="2400" b="1" dirty="0">
                <a:latin typeface="Courier" pitchFamily="2" charset="0"/>
              </a:rPr>
              <a:t>__</a:t>
            </a:r>
            <a:r>
              <a:rPr lang="fr-FR" sz="2400" b="1" dirty="0" err="1">
                <a:latin typeface="Courier" pitchFamily="2" charset="0"/>
              </a:rPr>
              <a:t>init</a:t>
            </a:r>
            <a:r>
              <a:rPr lang="fr-FR" sz="2400" b="1" dirty="0">
                <a:latin typeface="Courier" pitchFamily="2" charset="0"/>
              </a:rPr>
              <a:t>_()</a:t>
            </a:r>
            <a:r>
              <a:rPr lang="fr-FR" dirty="0"/>
              <a:t> s'applique à l'objet lui-même (to </a:t>
            </a:r>
            <a:r>
              <a:rPr lang="fr-FR" dirty="0" err="1"/>
              <a:t>itself</a:t>
            </a:r>
            <a:r>
              <a:rPr lang="fr-FR" dirty="0"/>
              <a:t>)</a:t>
            </a:r>
          </a:p>
          <a:p>
            <a:pPr marL="0" indent="0">
              <a:buNone/>
            </a:pP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794709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Objet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14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853136"/>
          </a:xfrm>
        </p:spPr>
        <p:txBody>
          <a:bodyPr>
            <a:normAutofit/>
          </a:bodyPr>
          <a:lstStyle/>
          <a:p>
            <a:r>
              <a:rPr lang="fr-CH" dirty="0"/>
              <a:t>Une fois le constructeur défini, on peut instancier (i.e., créer) des </a:t>
            </a:r>
            <a:r>
              <a:rPr lang="fr-CH" b="1" dirty="0"/>
              <a:t>objets</a:t>
            </a:r>
            <a:r>
              <a:rPr lang="fr-CH" dirty="0"/>
              <a:t> de la classe grâce à la syntaxe suivante : </a:t>
            </a:r>
            <a:endParaRPr lang="fr-FR" dirty="0"/>
          </a:p>
          <a:p>
            <a:pPr marL="0" indent="0">
              <a:buNone/>
            </a:pPr>
            <a:r>
              <a:rPr lang="fr-FR" sz="2400" dirty="0">
                <a:latin typeface="Courier" pitchFamily="2" charset="0"/>
              </a:rPr>
              <a:t>obj1 </a:t>
            </a:r>
            <a:r>
              <a:rPr lang="fr-FR" sz="24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400" dirty="0">
                <a:latin typeface="Courier" pitchFamily="2" charset="0"/>
              </a:rPr>
              <a:t> </a:t>
            </a:r>
            <a:r>
              <a:rPr lang="fr-FR" sz="2400" dirty="0" err="1">
                <a:latin typeface="Courier" pitchFamily="2" charset="0"/>
              </a:rPr>
              <a:t>NomClasse</a:t>
            </a:r>
            <a:r>
              <a:rPr lang="fr-FR" sz="2400" dirty="0">
                <a:latin typeface="Courier" pitchFamily="2" charset="0"/>
              </a:rPr>
              <a:t>()</a:t>
            </a:r>
          </a:p>
          <a:p>
            <a:pPr marL="0" indent="0">
              <a:buNone/>
            </a:pPr>
            <a:r>
              <a:rPr lang="fr-FR" sz="2400" dirty="0">
                <a:latin typeface="Courier" pitchFamily="2" charset="0"/>
              </a:rPr>
              <a:t>obj2 </a:t>
            </a:r>
            <a:r>
              <a:rPr lang="fr-FR" sz="24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400" dirty="0">
                <a:latin typeface="Courier" pitchFamily="2" charset="0"/>
              </a:rPr>
              <a:t> </a:t>
            </a:r>
            <a:r>
              <a:rPr lang="fr-FR" sz="2400" dirty="0" err="1">
                <a:latin typeface="Courier" pitchFamily="2" charset="0"/>
              </a:rPr>
              <a:t>NomClasse</a:t>
            </a:r>
            <a:r>
              <a:rPr lang="fr-FR" sz="2400" dirty="0">
                <a:latin typeface="Courier" pitchFamily="2" charset="0"/>
              </a:rPr>
              <a:t>()</a:t>
            </a:r>
          </a:p>
          <a:p>
            <a:pPr marL="0" indent="0">
              <a:buNone/>
            </a:pPr>
            <a:r>
              <a:rPr lang="fr-FR" sz="2400" dirty="0"/>
              <a:t>…</a:t>
            </a:r>
          </a:p>
          <a:p>
            <a:r>
              <a:rPr lang="fr-CH" dirty="0"/>
              <a:t>Les objets crées sont alors stockés dans les variables appelées </a:t>
            </a:r>
            <a:r>
              <a:rPr lang="fr-FR" sz="2400" dirty="0">
                <a:latin typeface="Courier" pitchFamily="2" charset="0"/>
              </a:rPr>
              <a:t>obj1</a:t>
            </a:r>
            <a:r>
              <a:rPr lang="fr-CH" dirty="0"/>
              <a:t>, </a:t>
            </a:r>
            <a:r>
              <a:rPr lang="fr-FR" sz="2400" dirty="0">
                <a:latin typeface="Courier" pitchFamily="2" charset="0"/>
              </a:rPr>
              <a:t>obj2</a:t>
            </a:r>
            <a:r>
              <a:rPr lang="fr-CH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25021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15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711880" cy="4853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b="1" dirty="0">
                <a:solidFill>
                  <a:srgbClr val="008000"/>
                </a:solidFill>
                <a:latin typeface="Courier" pitchFamily="2" charset="0"/>
              </a:rPr>
              <a:t>class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b="1" dirty="0">
                <a:solidFill>
                  <a:srgbClr val="0000FF"/>
                </a:solidFill>
                <a:latin typeface="Courier" pitchFamily="2" charset="0"/>
              </a:rPr>
              <a:t>Humain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:</a:t>
            </a:r>
            <a:endParaRPr lang="fr-FR" sz="2000" dirty="0">
              <a:solidFill>
                <a:srgbClr val="0000F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    </a:t>
            </a:r>
            <a:r>
              <a:rPr lang="fr-FR" sz="2000" i="1" dirty="0">
                <a:solidFill>
                  <a:srgbClr val="BA2121"/>
                </a:solidFill>
                <a:latin typeface="Courier" pitchFamily="2" charset="0"/>
              </a:rPr>
              <a:t>"""</a:t>
            </a: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i="1" dirty="0">
                <a:solidFill>
                  <a:srgbClr val="BA2121"/>
                </a:solidFill>
                <a:latin typeface="Courier" pitchFamily="2" charset="0"/>
              </a:rPr>
              <a:t>    classe de tous les humains</a:t>
            </a:r>
            <a:endParaRPr lang="fr-FR" sz="2000" dirty="0">
              <a:solidFill>
                <a:srgbClr val="BA2121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i="1" dirty="0">
                <a:solidFill>
                  <a:srgbClr val="BA2121"/>
                </a:solidFill>
                <a:latin typeface="Courier" pitchFamily="2" charset="0"/>
              </a:rPr>
              <a:t>    """</a:t>
            </a:r>
            <a:endParaRPr lang="fr-FR" sz="2000" dirty="0">
              <a:solidFill>
                <a:srgbClr val="BA2121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   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constructeur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    </a:t>
            </a: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def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0000FF"/>
                </a:solidFill>
                <a:latin typeface="Courier" pitchFamily="2" charset="0"/>
              </a:rPr>
              <a:t>__</a:t>
            </a:r>
            <a:r>
              <a:rPr lang="fr-FR" sz="2000" dirty="0" err="1">
                <a:solidFill>
                  <a:srgbClr val="0000FF"/>
                </a:solidFill>
                <a:latin typeface="Courier" pitchFamily="2" charset="0"/>
              </a:rPr>
              <a:t>init</a:t>
            </a:r>
            <a:r>
              <a:rPr lang="fr-FR" sz="2000" dirty="0">
                <a:solidFill>
                  <a:srgbClr val="0000FF"/>
                </a:solidFill>
                <a:latin typeface="Courier" pitchFamily="2" charset="0"/>
              </a:rPr>
              <a:t>__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>
                <a:latin typeface="Courier" pitchFamily="2" charset="0"/>
              </a:rPr>
              <a:t>):</a:t>
            </a:r>
          </a:p>
          <a:p>
            <a:pPr marL="0" indent="0">
              <a:buNone/>
            </a:pPr>
            <a:r>
              <a:rPr lang="fr-FR" sz="2000" b="1" dirty="0">
                <a:solidFill>
                  <a:srgbClr val="008000"/>
                </a:solidFill>
                <a:latin typeface="Courier" pitchFamily="2" charset="0"/>
              </a:rPr>
              <a:t>        </a:t>
            </a: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"création d’un objet humain..."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)</a:t>
            </a:r>
            <a:endParaRPr lang="fr-FR" sz="2000" dirty="0">
              <a:solidFill>
                <a:srgbClr val="BA2121"/>
              </a:solidFill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4140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16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853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création d'un objet de la classe Humain</a:t>
            </a:r>
          </a:p>
          <a:p>
            <a:pPr marL="0" indent="0"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l’objet est stocké dans une variable h1</a:t>
            </a:r>
          </a:p>
          <a:p>
            <a:pPr marL="0" indent="0"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le constructeur est exécuté lors de la création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h1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latin typeface="Courier" pitchFamily="2" charset="0"/>
              </a:rPr>
              <a:t> Humain()</a:t>
            </a:r>
          </a:p>
          <a:p>
            <a:pPr marL="0" indent="0">
              <a:buNone/>
            </a:pPr>
            <a:r>
              <a:rPr lang="fr-FR" sz="2000" b="1" dirty="0">
                <a:latin typeface="Courier" pitchFamily="2" charset="0"/>
              </a:rPr>
              <a:t>création d’un objet humain...</a:t>
            </a:r>
          </a:p>
        </p:txBody>
      </p:sp>
    </p:spTree>
    <p:extLst>
      <p:ext uri="{BB962C8B-B14F-4D97-AF65-F5344CB8AC3E}">
        <p14:creationId xmlns:p14="http://schemas.microsoft.com/office/powerpoint/2010/main" val="1291255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AEA1B71-A494-1A46-8DBF-F3CCBEE66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0C333A-28D9-E741-87A6-BBB404E16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Attributs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5469C-AD01-924B-B3F8-FC47A750C5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fr-FR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989344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Attribut d’instance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18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853136"/>
          </a:xfrm>
        </p:spPr>
        <p:txBody>
          <a:bodyPr>
            <a:normAutofit/>
          </a:bodyPr>
          <a:lstStyle/>
          <a:p>
            <a:r>
              <a:rPr lang="fr-CH" dirty="0"/>
              <a:t>Les </a:t>
            </a:r>
            <a:r>
              <a:rPr lang="fr-CH" b="1" dirty="0"/>
              <a:t>attributs (d’instances)</a:t>
            </a:r>
            <a:r>
              <a:rPr lang="fr-CH" dirty="0"/>
              <a:t> sont des variables partagées par tous les objets de la classe. Ils sont définis dans le constructeur :</a:t>
            </a:r>
          </a:p>
          <a:p>
            <a:pPr marL="0" indent="0">
              <a:buNone/>
            </a:pPr>
            <a:r>
              <a:rPr lang="fr-FR" sz="2400" b="1" dirty="0">
                <a:solidFill>
                  <a:srgbClr val="008000"/>
                </a:solidFill>
                <a:latin typeface="Courier" pitchFamily="2" charset="0"/>
              </a:rPr>
              <a:t>class</a:t>
            </a:r>
            <a:r>
              <a:rPr lang="fr-FR" sz="24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400" b="1" dirty="0" err="1">
                <a:solidFill>
                  <a:srgbClr val="0000FF"/>
                </a:solidFill>
                <a:latin typeface="Courier" pitchFamily="2" charset="0"/>
              </a:rPr>
              <a:t>NomClasse</a:t>
            </a:r>
            <a:r>
              <a:rPr lang="fr-FR" sz="2400" dirty="0">
                <a:solidFill>
                  <a:srgbClr val="000000"/>
                </a:solidFill>
                <a:latin typeface="Courier" pitchFamily="2" charset="0"/>
              </a:rPr>
              <a:t>:</a:t>
            </a:r>
            <a:endParaRPr lang="fr-FR" sz="2400" dirty="0">
              <a:solidFill>
                <a:srgbClr val="0000F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400" b="1" dirty="0">
                <a:solidFill>
                  <a:srgbClr val="0000FF"/>
                </a:solidFill>
                <a:latin typeface="Courier" pitchFamily="2" charset="0"/>
              </a:rPr>
              <a:t>	</a:t>
            </a:r>
            <a:r>
              <a:rPr lang="fr-FR" sz="2400" b="1" dirty="0" err="1">
                <a:solidFill>
                  <a:srgbClr val="008000"/>
                </a:solidFill>
                <a:latin typeface="Courier" pitchFamily="2" charset="0"/>
              </a:rPr>
              <a:t>def</a:t>
            </a:r>
            <a:r>
              <a:rPr lang="fr-FR" sz="2400" dirty="0">
                <a:latin typeface="Courier" pitchFamily="2" charset="0"/>
              </a:rPr>
              <a:t> </a:t>
            </a:r>
            <a:r>
              <a:rPr lang="fr-FR" sz="2400" dirty="0">
                <a:solidFill>
                  <a:srgbClr val="0000FF"/>
                </a:solidFill>
                <a:latin typeface="Courier" pitchFamily="2" charset="0"/>
              </a:rPr>
              <a:t>__</a:t>
            </a:r>
            <a:r>
              <a:rPr lang="fr-FR" sz="2400" dirty="0" err="1">
                <a:solidFill>
                  <a:srgbClr val="0000FF"/>
                </a:solidFill>
                <a:latin typeface="Courier" pitchFamily="2" charset="0"/>
              </a:rPr>
              <a:t>init</a:t>
            </a:r>
            <a:r>
              <a:rPr lang="fr-FR" sz="2400" dirty="0">
                <a:solidFill>
                  <a:srgbClr val="0000FF"/>
                </a:solidFill>
                <a:latin typeface="Courier" pitchFamily="2" charset="0"/>
              </a:rPr>
              <a:t>__</a:t>
            </a:r>
            <a:r>
              <a:rPr lang="fr-FR" sz="2400" dirty="0">
                <a:latin typeface="Courier" pitchFamily="2" charset="0"/>
              </a:rPr>
              <a:t>(</a:t>
            </a:r>
            <a:r>
              <a:rPr lang="fr-FR" sz="2400" dirty="0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400" dirty="0">
                <a:latin typeface="Courier" pitchFamily="2" charset="0"/>
              </a:rPr>
              <a:t>):</a:t>
            </a:r>
          </a:p>
          <a:p>
            <a:pPr marL="0" indent="0">
              <a:buNone/>
            </a:pPr>
            <a:r>
              <a:rPr lang="fr-FR" sz="2400" dirty="0">
                <a:solidFill>
                  <a:srgbClr val="008000"/>
                </a:solidFill>
                <a:latin typeface="Courier" pitchFamily="2" charset="0"/>
              </a:rPr>
              <a:t>		self</a:t>
            </a:r>
            <a:r>
              <a:rPr lang="fr-FR" sz="24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400" dirty="0">
                <a:latin typeface="Courier" pitchFamily="2" charset="0"/>
              </a:rPr>
              <a:t>attribut1 </a:t>
            </a:r>
            <a:r>
              <a:rPr lang="fr-FR" sz="24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400" dirty="0">
                <a:latin typeface="Courier" pitchFamily="2" charset="0"/>
              </a:rPr>
              <a:t> valeur1</a:t>
            </a:r>
          </a:p>
          <a:p>
            <a:pPr marL="0" indent="0">
              <a:buNone/>
            </a:pPr>
            <a:r>
              <a:rPr lang="fr-FR" sz="2400" dirty="0">
                <a:solidFill>
                  <a:srgbClr val="008000"/>
                </a:solidFill>
                <a:latin typeface="Courier" pitchFamily="2" charset="0"/>
              </a:rPr>
              <a:t>		self</a:t>
            </a:r>
            <a:r>
              <a:rPr lang="fr-FR" sz="24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400" dirty="0">
                <a:latin typeface="Courier" pitchFamily="2" charset="0"/>
              </a:rPr>
              <a:t>attribut2 </a:t>
            </a:r>
            <a:r>
              <a:rPr lang="fr-FR" sz="24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400" dirty="0">
                <a:latin typeface="Courier" pitchFamily="2" charset="0"/>
              </a:rPr>
              <a:t> valeur2</a:t>
            </a:r>
          </a:p>
          <a:p>
            <a:pPr marL="0" indent="0">
              <a:buNone/>
            </a:pPr>
            <a:r>
              <a:rPr lang="fr-FR" sz="2400" dirty="0">
                <a:latin typeface="Courier" pitchFamily="2" charset="0"/>
              </a:rPr>
              <a:t>		...</a:t>
            </a:r>
          </a:p>
          <a:p>
            <a:r>
              <a:rPr lang="fr-FR" dirty="0"/>
              <a:t>Le paramètre </a:t>
            </a:r>
            <a:r>
              <a:rPr lang="fr-FR" sz="2400" b="1" dirty="0">
                <a:latin typeface="Courier" pitchFamily="2" charset="0"/>
              </a:rPr>
              <a:t>self</a:t>
            </a:r>
            <a:r>
              <a:rPr lang="fr-FR" dirty="0"/>
              <a:t> signifie que les attributs sont liés à l'objet lui-même (to </a:t>
            </a:r>
            <a:r>
              <a:rPr lang="fr-FR" dirty="0" err="1"/>
              <a:t>itself</a:t>
            </a:r>
            <a:r>
              <a:rPr lang="fr-FR" dirty="0"/>
              <a:t>)</a:t>
            </a:r>
          </a:p>
          <a:p>
            <a:pPr marL="0" indent="0">
              <a:buNone/>
            </a:pP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384700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19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853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b="1" dirty="0">
                <a:solidFill>
                  <a:srgbClr val="008000"/>
                </a:solidFill>
                <a:latin typeface="Courier" pitchFamily="2" charset="0"/>
              </a:rPr>
              <a:t>class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b="1" dirty="0">
                <a:solidFill>
                  <a:srgbClr val="0000FF"/>
                </a:solidFill>
                <a:latin typeface="Courier" pitchFamily="2" charset="0"/>
              </a:rPr>
              <a:t>Humain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:</a:t>
            </a:r>
            <a:endParaRPr lang="fr-FR" sz="2000" dirty="0">
              <a:solidFill>
                <a:srgbClr val="0000F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   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constructeur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    </a:t>
            </a: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def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0000FF"/>
                </a:solidFill>
                <a:latin typeface="Courier" pitchFamily="2" charset="0"/>
              </a:rPr>
              <a:t>__</a:t>
            </a:r>
            <a:r>
              <a:rPr lang="fr-FR" sz="2000" dirty="0" err="1">
                <a:solidFill>
                  <a:srgbClr val="0000FF"/>
                </a:solidFill>
                <a:latin typeface="Courier" pitchFamily="2" charset="0"/>
              </a:rPr>
              <a:t>init</a:t>
            </a:r>
            <a:r>
              <a:rPr lang="fr-FR" sz="2000" dirty="0">
                <a:solidFill>
                  <a:srgbClr val="0000FF"/>
                </a:solidFill>
                <a:latin typeface="Courier" pitchFamily="2" charset="0"/>
              </a:rPr>
              <a:t>__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>
                <a:latin typeface="Courier" pitchFamily="2" charset="0"/>
              </a:rPr>
              <a:t>):</a:t>
            </a:r>
          </a:p>
          <a:p>
            <a:pPr marL="0" indent="0">
              <a:buNone/>
            </a:pP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        </a:t>
            </a: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"création d'un objet humain..."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)</a:t>
            </a:r>
            <a:endParaRPr lang="fr-FR" sz="2000" dirty="0">
              <a:solidFill>
                <a:srgbClr val="BA2121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       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attributs d'instances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        </a:t>
            </a:r>
            <a:r>
              <a:rPr lang="fr-FR" sz="2000" dirty="0" err="1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 err="1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 err="1">
                <a:latin typeface="Courier" pitchFamily="2" charset="0"/>
              </a:rPr>
              <a:t>prenom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"Adam"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attribut </a:t>
            </a:r>
            <a:r>
              <a:rPr lang="fr-FR" sz="2000" i="1" dirty="0" err="1">
                <a:solidFill>
                  <a:srgbClr val="408080"/>
                </a:solidFill>
                <a:latin typeface="Courier" pitchFamily="2" charset="0"/>
              </a:rPr>
              <a:t>prenom</a:t>
            </a: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        </a:t>
            </a:r>
            <a:r>
              <a:rPr lang="fr-FR" sz="2000" dirty="0" err="1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 err="1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 err="1">
                <a:latin typeface="Courier" pitchFamily="2" charset="0"/>
              </a:rPr>
              <a:t>age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33</a:t>
            </a:r>
            <a:r>
              <a:rPr lang="fr-FR" sz="2000" dirty="0">
                <a:latin typeface="Courier" pitchFamily="2" charset="0"/>
              </a:rPr>
              <a:t>       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attribut </a:t>
            </a:r>
            <a:r>
              <a:rPr lang="fr-FR" sz="2000" i="1" dirty="0" err="1">
                <a:solidFill>
                  <a:srgbClr val="408080"/>
                </a:solidFill>
                <a:latin typeface="Courier" pitchFamily="2" charset="0"/>
              </a:rPr>
              <a:t>age</a:t>
            </a:r>
            <a:endParaRPr lang="fr-FR" sz="20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4052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Attribut d’instance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20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853136"/>
          </a:xfrm>
        </p:spPr>
        <p:txBody>
          <a:bodyPr>
            <a:normAutofit/>
          </a:bodyPr>
          <a:lstStyle/>
          <a:p>
            <a:r>
              <a:rPr lang="fr-CH" dirty="0"/>
              <a:t>On accède aux valeurs des </a:t>
            </a:r>
            <a:r>
              <a:rPr lang="fr-CH" b="1" dirty="0"/>
              <a:t>attributs </a:t>
            </a:r>
            <a:r>
              <a:rPr lang="fr-CH" dirty="0"/>
              <a:t>d’un objet </a:t>
            </a:r>
            <a:r>
              <a:rPr lang="fr-FR" sz="2400" dirty="0">
                <a:latin typeface="Courier" pitchFamily="2" charset="0"/>
              </a:rPr>
              <a:t>objet</a:t>
            </a:r>
            <a:r>
              <a:rPr lang="fr-FR" sz="3200" dirty="0">
                <a:latin typeface="Courier" pitchFamily="2" charset="0"/>
              </a:rPr>
              <a:t> </a:t>
            </a:r>
            <a:r>
              <a:rPr lang="fr-CH" dirty="0"/>
              <a:t>via la syntaxe :</a:t>
            </a:r>
          </a:p>
          <a:p>
            <a:pPr marL="0" indent="0">
              <a:buNone/>
            </a:pPr>
            <a:r>
              <a:rPr lang="fr-FR" sz="2400" dirty="0">
                <a:latin typeface="Courier" pitchFamily="2" charset="0"/>
              </a:rPr>
              <a:t>objet.attribut1</a:t>
            </a:r>
          </a:p>
          <a:p>
            <a:pPr marL="0" indent="0">
              <a:buNone/>
            </a:pPr>
            <a:r>
              <a:rPr lang="fr-FR" sz="2400" dirty="0">
                <a:latin typeface="Courier" pitchFamily="2" charset="0"/>
              </a:rPr>
              <a:t>objet.attribut2</a:t>
            </a:r>
          </a:p>
          <a:p>
            <a:pPr marL="0" indent="0">
              <a:buNone/>
            </a:pPr>
            <a:r>
              <a:rPr lang="fr-FR" sz="2400" dirty="0">
                <a:latin typeface="Courier" pitchFamily="2" charset="0"/>
              </a:rPr>
              <a:t>...</a:t>
            </a:r>
          </a:p>
          <a:p>
            <a:pPr marL="0" indent="0">
              <a:buNone/>
            </a:pPr>
            <a:endParaRPr lang="fr-FR" sz="24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346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21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853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création d'un objet de la classe Humain</a:t>
            </a: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h1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latin typeface="Courier" pitchFamily="2" charset="0"/>
              </a:rPr>
              <a:t> Humain()</a:t>
            </a:r>
          </a:p>
          <a:p>
            <a:pPr marL="0" indent="0">
              <a:buNone/>
            </a:pPr>
            <a:r>
              <a:rPr lang="fr-FR" sz="2000" b="1" dirty="0">
                <a:latin typeface="Courier" pitchFamily="2" charset="0"/>
              </a:rPr>
              <a:t>création d'un objet humain...</a:t>
            </a:r>
          </a:p>
          <a:p>
            <a:pPr marL="0" indent="0">
              <a:buNone/>
            </a:pP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affichage des attributs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</a:t>
            </a:r>
            <a:r>
              <a:rPr lang="fr-FR" sz="2000" dirty="0" err="1">
                <a:solidFill>
                  <a:srgbClr val="BA2121"/>
                </a:solidFill>
                <a:latin typeface="Courier" pitchFamily="2" charset="0"/>
              </a:rPr>
              <a:t>prenom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:"</a:t>
            </a:r>
            <a:r>
              <a:rPr lang="fr-FR" sz="2000" dirty="0">
                <a:latin typeface="Courier" pitchFamily="2" charset="0"/>
              </a:rPr>
              <a:t>, h1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latin typeface="Courier" pitchFamily="2" charset="0"/>
              </a:rPr>
              <a:t>prenom)</a:t>
            </a:r>
          </a:p>
          <a:p>
            <a:pPr marL="0" indent="0">
              <a:buNone/>
            </a:pPr>
            <a:r>
              <a:rPr lang="fr-FR" sz="2000" b="1" dirty="0" err="1">
                <a:latin typeface="Courier" pitchFamily="2" charset="0"/>
              </a:rPr>
              <a:t>prenom</a:t>
            </a:r>
            <a:r>
              <a:rPr lang="fr-FR" sz="2000" b="1" dirty="0">
                <a:latin typeface="Courier" pitchFamily="2" charset="0"/>
              </a:rPr>
              <a:t>: Adam</a:t>
            </a: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</a:t>
            </a:r>
            <a:r>
              <a:rPr lang="fr-FR" sz="2000" dirty="0" err="1">
                <a:solidFill>
                  <a:srgbClr val="BA2121"/>
                </a:solidFill>
                <a:latin typeface="Courier" pitchFamily="2" charset="0"/>
              </a:rPr>
              <a:t>age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:"</a:t>
            </a:r>
            <a:r>
              <a:rPr lang="fr-FR" sz="2000" dirty="0">
                <a:latin typeface="Courier" pitchFamily="2" charset="0"/>
              </a:rPr>
              <a:t>, h1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latin typeface="Courier" pitchFamily="2" charset="0"/>
              </a:rPr>
              <a:t>age)</a:t>
            </a:r>
            <a:endParaRPr lang="fr-FR" sz="2000" b="1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b="1" dirty="0" err="1">
                <a:latin typeface="Courier" pitchFamily="2" charset="0"/>
              </a:rPr>
              <a:t>age</a:t>
            </a:r>
            <a:r>
              <a:rPr lang="fr-FR" sz="2000" b="1" dirty="0">
                <a:latin typeface="Courier" pitchFamily="2" charset="0"/>
              </a:rPr>
              <a:t>: 33 </a:t>
            </a:r>
          </a:p>
        </p:txBody>
      </p:sp>
    </p:spTree>
    <p:extLst>
      <p:ext uri="{BB962C8B-B14F-4D97-AF65-F5344CB8AC3E}">
        <p14:creationId xmlns:p14="http://schemas.microsoft.com/office/powerpoint/2010/main" val="3073283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22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8104" y="1628800"/>
            <a:ext cx="8477944" cy="5069160"/>
          </a:xfrm>
        </p:spPr>
        <p:txBody>
          <a:bodyPr>
            <a:noAutofit/>
          </a:bodyPr>
          <a:lstStyle/>
          <a:p>
            <a:pPr marL="0" indent="0">
              <a:lnSpc>
                <a:spcPts val="2600"/>
              </a:lnSpc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on peut changer les valeurs des attributs!</a:t>
            </a:r>
            <a:endParaRPr lang="fr-FR" sz="2000" dirty="0">
              <a:latin typeface="Courier" pitchFamily="2" charset="0"/>
            </a:endParaRPr>
          </a:p>
          <a:p>
            <a:pPr marL="0" indent="0">
              <a:lnSpc>
                <a:spcPts val="2600"/>
              </a:lnSpc>
              <a:buNone/>
            </a:pPr>
            <a:r>
              <a:rPr lang="fr-FR" sz="2000" dirty="0">
                <a:latin typeface="Courier" pitchFamily="2" charset="0"/>
              </a:rPr>
              <a:t>h1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latin typeface="Courier" pitchFamily="2" charset="0"/>
              </a:rPr>
              <a:t>prenom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"Eve"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réaffectation attribut</a:t>
            </a:r>
            <a:endParaRPr lang="fr-FR" sz="2000" dirty="0">
              <a:latin typeface="Courier" pitchFamily="2" charset="0"/>
            </a:endParaRPr>
          </a:p>
          <a:p>
            <a:pPr marL="0" indent="0">
              <a:lnSpc>
                <a:spcPts val="2600"/>
              </a:lnSpc>
              <a:buNone/>
            </a:pPr>
            <a:r>
              <a:rPr lang="fr-FR" sz="2000" dirty="0">
                <a:latin typeface="Courier" pitchFamily="2" charset="0"/>
              </a:rPr>
              <a:t>h1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latin typeface="Courier" pitchFamily="2" charset="0"/>
              </a:rPr>
              <a:t>age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27	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      # réaffectation attribut</a:t>
            </a:r>
            <a:endParaRPr lang="fr-FR" sz="2000" dirty="0">
              <a:latin typeface="Courier" pitchFamily="2" charset="0"/>
            </a:endParaRPr>
          </a:p>
          <a:p>
            <a:pPr marL="0" indent="0">
              <a:lnSpc>
                <a:spcPts val="2600"/>
              </a:lnSpc>
              <a:buNone/>
            </a:pPr>
            <a:endParaRPr lang="fr-FR" sz="2000" dirty="0">
              <a:latin typeface="Courier" pitchFamily="2" charset="0"/>
            </a:endParaRPr>
          </a:p>
          <a:p>
            <a:pPr marL="0" indent="0">
              <a:lnSpc>
                <a:spcPts val="2600"/>
              </a:lnSpc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affichage des nouvelles valeurs des attributs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lnSpc>
                <a:spcPts val="2600"/>
              </a:lnSpc>
              <a:buNone/>
            </a:pP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</a:t>
            </a:r>
            <a:r>
              <a:rPr lang="fr-FR" sz="2000" dirty="0" err="1">
                <a:solidFill>
                  <a:srgbClr val="BA2121"/>
                </a:solidFill>
                <a:latin typeface="Courier" pitchFamily="2" charset="0"/>
              </a:rPr>
              <a:t>prenom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:"</a:t>
            </a:r>
            <a:r>
              <a:rPr lang="fr-FR" sz="2000" dirty="0">
                <a:latin typeface="Courier" pitchFamily="2" charset="0"/>
              </a:rPr>
              <a:t>, h1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latin typeface="Courier" pitchFamily="2" charset="0"/>
              </a:rPr>
              <a:t>prenom)</a:t>
            </a:r>
          </a:p>
          <a:p>
            <a:pPr marL="0" indent="0">
              <a:lnSpc>
                <a:spcPts val="2600"/>
              </a:lnSpc>
              <a:buNone/>
            </a:pPr>
            <a:r>
              <a:rPr lang="fr-FR" sz="2000" b="1" dirty="0" err="1">
                <a:latin typeface="Courier" pitchFamily="2" charset="0"/>
              </a:rPr>
              <a:t>prenom</a:t>
            </a:r>
            <a:r>
              <a:rPr lang="fr-FR" sz="2000" b="1" dirty="0">
                <a:latin typeface="Courier" pitchFamily="2" charset="0"/>
              </a:rPr>
              <a:t>: Eve</a:t>
            </a:r>
            <a:endParaRPr lang="fr-FR" sz="2000" dirty="0">
              <a:latin typeface="Courier" pitchFamily="2" charset="0"/>
            </a:endParaRPr>
          </a:p>
          <a:p>
            <a:pPr marL="0" indent="0">
              <a:lnSpc>
                <a:spcPts val="2600"/>
              </a:lnSpc>
              <a:buNone/>
            </a:pP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</a:t>
            </a:r>
            <a:r>
              <a:rPr lang="fr-FR" sz="2000" dirty="0" err="1">
                <a:solidFill>
                  <a:srgbClr val="BA2121"/>
                </a:solidFill>
                <a:latin typeface="Courier" pitchFamily="2" charset="0"/>
              </a:rPr>
              <a:t>age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:"</a:t>
            </a:r>
            <a:r>
              <a:rPr lang="fr-FR" sz="2000" dirty="0">
                <a:latin typeface="Courier" pitchFamily="2" charset="0"/>
              </a:rPr>
              <a:t>, h1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latin typeface="Courier" pitchFamily="2" charset="0"/>
              </a:rPr>
              <a:t>age)</a:t>
            </a:r>
          </a:p>
          <a:p>
            <a:pPr marL="0" indent="0">
              <a:lnSpc>
                <a:spcPts val="2600"/>
              </a:lnSpc>
              <a:buNone/>
            </a:pPr>
            <a:r>
              <a:rPr lang="fr-FR" sz="2000" b="1" dirty="0" err="1">
                <a:latin typeface="Courier" pitchFamily="2" charset="0"/>
              </a:rPr>
              <a:t>age</a:t>
            </a:r>
            <a:r>
              <a:rPr lang="fr-FR" sz="2000" b="1" dirty="0">
                <a:latin typeface="Courier" pitchFamily="2" charset="0"/>
              </a:rPr>
              <a:t>: 27 </a:t>
            </a:r>
          </a:p>
        </p:txBody>
      </p:sp>
    </p:spTree>
    <p:extLst>
      <p:ext uri="{BB962C8B-B14F-4D97-AF65-F5344CB8AC3E}">
        <p14:creationId xmlns:p14="http://schemas.microsoft.com/office/powerpoint/2010/main" val="1747764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Constructeur avec paramètres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23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853136"/>
          </a:xfrm>
        </p:spPr>
        <p:txBody>
          <a:bodyPr>
            <a:normAutofit/>
          </a:bodyPr>
          <a:lstStyle/>
          <a:p>
            <a:r>
              <a:rPr lang="fr-CH" dirty="0"/>
              <a:t>Le </a:t>
            </a:r>
            <a:r>
              <a:rPr lang="fr-CH" b="1" dirty="0"/>
              <a:t>constructeur</a:t>
            </a:r>
            <a:r>
              <a:rPr lang="fr-CH" dirty="0"/>
              <a:t> peut prendre des paramètres. En général, ces paramètres servent à définir les attributs de l’objet lors de sa création :</a:t>
            </a:r>
          </a:p>
          <a:p>
            <a:pPr marL="0" indent="0">
              <a:buNone/>
            </a:pPr>
            <a:r>
              <a:rPr lang="fr-FR" sz="2400" b="1" dirty="0">
                <a:solidFill>
                  <a:srgbClr val="008000"/>
                </a:solidFill>
                <a:latin typeface="Courier" pitchFamily="2" charset="0"/>
              </a:rPr>
              <a:t>class</a:t>
            </a:r>
            <a:r>
              <a:rPr lang="fr-FR" sz="24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400" b="1" dirty="0" err="1">
                <a:solidFill>
                  <a:srgbClr val="0000FF"/>
                </a:solidFill>
                <a:latin typeface="Courier" pitchFamily="2" charset="0"/>
              </a:rPr>
              <a:t>NomClasse</a:t>
            </a:r>
            <a:r>
              <a:rPr lang="fr-FR" sz="2400" dirty="0">
                <a:solidFill>
                  <a:srgbClr val="000000"/>
                </a:solidFill>
                <a:latin typeface="Courier" pitchFamily="2" charset="0"/>
              </a:rPr>
              <a:t>:</a:t>
            </a:r>
            <a:endParaRPr lang="fr-FR" sz="2400" dirty="0">
              <a:solidFill>
                <a:srgbClr val="0000F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400" b="1" dirty="0">
                <a:solidFill>
                  <a:srgbClr val="0000FF"/>
                </a:solidFill>
                <a:latin typeface="Courier" pitchFamily="2" charset="0"/>
              </a:rPr>
              <a:t>	</a:t>
            </a:r>
            <a:r>
              <a:rPr lang="fr-FR" sz="2400" b="1" dirty="0" err="1">
                <a:solidFill>
                  <a:srgbClr val="008000"/>
                </a:solidFill>
                <a:latin typeface="Courier" pitchFamily="2" charset="0"/>
              </a:rPr>
              <a:t>def</a:t>
            </a:r>
            <a:r>
              <a:rPr lang="fr-FR" sz="2400" dirty="0">
                <a:latin typeface="Courier" pitchFamily="2" charset="0"/>
              </a:rPr>
              <a:t> </a:t>
            </a:r>
            <a:r>
              <a:rPr lang="fr-FR" sz="2400" dirty="0">
                <a:solidFill>
                  <a:srgbClr val="0000FF"/>
                </a:solidFill>
                <a:latin typeface="Courier" pitchFamily="2" charset="0"/>
              </a:rPr>
              <a:t>__</a:t>
            </a:r>
            <a:r>
              <a:rPr lang="fr-FR" sz="2400" dirty="0" err="1">
                <a:solidFill>
                  <a:srgbClr val="0000FF"/>
                </a:solidFill>
                <a:latin typeface="Courier" pitchFamily="2" charset="0"/>
              </a:rPr>
              <a:t>init</a:t>
            </a:r>
            <a:r>
              <a:rPr lang="fr-FR" sz="2400" dirty="0">
                <a:solidFill>
                  <a:srgbClr val="0000FF"/>
                </a:solidFill>
                <a:latin typeface="Courier" pitchFamily="2" charset="0"/>
              </a:rPr>
              <a:t>__</a:t>
            </a:r>
            <a:r>
              <a:rPr lang="fr-FR" sz="2400" dirty="0">
                <a:latin typeface="Courier" pitchFamily="2" charset="0"/>
              </a:rPr>
              <a:t>(</a:t>
            </a:r>
            <a:r>
              <a:rPr lang="fr-FR" sz="2400" dirty="0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400" dirty="0">
                <a:latin typeface="Courier" pitchFamily="2" charset="0"/>
              </a:rPr>
              <a:t>, par1, par2,...):</a:t>
            </a:r>
          </a:p>
          <a:p>
            <a:pPr marL="0" indent="0">
              <a:buNone/>
            </a:pPr>
            <a:r>
              <a:rPr lang="fr-FR" sz="2400" dirty="0">
                <a:solidFill>
                  <a:srgbClr val="008000"/>
                </a:solidFill>
                <a:latin typeface="Courier" pitchFamily="2" charset="0"/>
              </a:rPr>
              <a:t>		self</a:t>
            </a:r>
            <a:r>
              <a:rPr lang="fr-FR" sz="24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400" dirty="0">
                <a:latin typeface="Courier" pitchFamily="2" charset="0"/>
              </a:rPr>
              <a:t>attribut1 </a:t>
            </a:r>
            <a:r>
              <a:rPr lang="fr-FR" sz="24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400" dirty="0">
                <a:latin typeface="Courier" pitchFamily="2" charset="0"/>
              </a:rPr>
              <a:t> par1</a:t>
            </a:r>
          </a:p>
          <a:p>
            <a:pPr marL="0" indent="0">
              <a:buNone/>
            </a:pPr>
            <a:r>
              <a:rPr lang="fr-FR" sz="2400" dirty="0">
                <a:solidFill>
                  <a:srgbClr val="008000"/>
                </a:solidFill>
                <a:latin typeface="Courier" pitchFamily="2" charset="0"/>
              </a:rPr>
              <a:t>		self</a:t>
            </a:r>
            <a:r>
              <a:rPr lang="fr-FR" sz="24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400" dirty="0">
                <a:latin typeface="Courier" pitchFamily="2" charset="0"/>
              </a:rPr>
              <a:t>attribut2 </a:t>
            </a:r>
            <a:r>
              <a:rPr lang="fr-FR" sz="24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400" dirty="0">
                <a:latin typeface="Courier" pitchFamily="2" charset="0"/>
              </a:rPr>
              <a:t> par2</a:t>
            </a:r>
          </a:p>
          <a:p>
            <a:pPr marL="0" indent="0">
              <a:buNone/>
            </a:pPr>
            <a:r>
              <a:rPr lang="fr-FR" sz="2400" dirty="0">
                <a:latin typeface="Courier" pitchFamily="2" charset="0"/>
              </a:rPr>
              <a:t>		...</a:t>
            </a:r>
          </a:p>
          <a:p>
            <a:r>
              <a:rPr lang="fr-CH" dirty="0"/>
              <a:t>Dans ce cas, il faudra spécifier la valeurs de ces paramètres lors de l’instanciation de tout objet.</a:t>
            </a:r>
          </a:p>
        </p:txBody>
      </p:sp>
    </p:spTree>
    <p:extLst>
      <p:ext uri="{BB962C8B-B14F-4D97-AF65-F5344CB8AC3E}">
        <p14:creationId xmlns:p14="http://schemas.microsoft.com/office/powerpoint/2010/main" val="987931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24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8104" y="1628800"/>
            <a:ext cx="8477944" cy="50691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000" b="1" dirty="0">
                <a:solidFill>
                  <a:srgbClr val="008000"/>
                </a:solidFill>
                <a:latin typeface="Courier" pitchFamily="2" charset="0"/>
              </a:rPr>
              <a:t>class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b="1" dirty="0">
                <a:solidFill>
                  <a:srgbClr val="0000FF"/>
                </a:solidFill>
                <a:latin typeface="Courier" pitchFamily="2" charset="0"/>
              </a:rPr>
              <a:t>Humain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:</a:t>
            </a:r>
            <a:endParaRPr lang="fr-FR" sz="2000" dirty="0">
              <a:solidFill>
                <a:srgbClr val="0000F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i="1" dirty="0">
                <a:solidFill>
                  <a:srgbClr val="0000FF"/>
                </a:solidFill>
                <a:latin typeface="Courier" pitchFamily="2" charset="0"/>
              </a:rPr>
              <a:t>   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constructeur avec paramètres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    </a:t>
            </a: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def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0000FF"/>
                </a:solidFill>
                <a:latin typeface="Courier" pitchFamily="2" charset="0"/>
              </a:rPr>
              <a:t>__</a:t>
            </a:r>
            <a:r>
              <a:rPr lang="fr-FR" sz="2000" dirty="0" err="1">
                <a:solidFill>
                  <a:srgbClr val="0000FF"/>
                </a:solidFill>
                <a:latin typeface="Courier" pitchFamily="2" charset="0"/>
              </a:rPr>
              <a:t>init</a:t>
            </a:r>
            <a:r>
              <a:rPr lang="fr-FR" sz="2000" dirty="0">
                <a:solidFill>
                  <a:srgbClr val="0000FF"/>
                </a:solidFill>
                <a:latin typeface="Courier" pitchFamily="2" charset="0"/>
              </a:rPr>
              <a:t>__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>
                <a:latin typeface="Courier" pitchFamily="2" charset="0"/>
              </a:rPr>
              <a:t>, </a:t>
            </a:r>
            <a:r>
              <a:rPr lang="fr-FR" sz="2000" dirty="0" err="1">
                <a:latin typeface="Courier" pitchFamily="2" charset="0"/>
              </a:rPr>
              <a:t>prenom_cstr</a:t>
            </a:r>
            <a:r>
              <a:rPr lang="fr-FR" sz="2000" dirty="0">
                <a:latin typeface="Courier" pitchFamily="2" charset="0"/>
              </a:rPr>
              <a:t>, </a:t>
            </a:r>
            <a:r>
              <a:rPr lang="fr-FR" sz="2000" dirty="0" err="1">
                <a:latin typeface="Courier" pitchFamily="2" charset="0"/>
              </a:rPr>
              <a:t>age_cstr</a:t>
            </a:r>
            <a:r>
              <a:rPr lang="fr-FR" sz="2000" dirty="0">
                <a:latin typeface="Courier" pitchFamily="2" charset="0"/>
              </a:rPr>
              <a:t>):</a:t>
            </a:r>
          </a:p>
          <a:p>
            <a:pPr marL="0" indent="0">
              <a:buNone/>
            </a:pP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        </a:t>
            </a:r>
            <a:r>
              <a:rPr lang="fr-FR" sz="2000" dirty="0" err="1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 err="1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 err="1">
                <a:solidFill>
                  <a:srgbClr val="000000"/>
                </a:solidFill>
                <a:latin typeface="Courier" pitchFamily="2" charset="0"/>
              </a:rPr>
              <a:t>prenom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dirty="0" err="1">
                <a:solidFill>
                  <a:srgbClr val="000000"/>
                </a:solidFill>
                <a:latin typeface="Courier" pitchFamily="2" charset="0"/>
              </a:rPr>
              <a:t>prenom_cstr</a:t>
            </a:r>
            <a:endParaRPr lang="fr-FR" sz="2000" dirty="0">
              <a:solidFill>
                <a:srgbClr val="00000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    # attribut </a:t>
            </a:r>
            <a:r>
              <a:rPr lang="fr-FR" sz="2000" i="1" dirty="0" err="1">
                <a:solidFill>
                  <a:srgbClr val="408080"/>
                </a:solidFill>
                <a:latin typeface="Courier" pitchFamily="2" charset="0"/>
              </a:rPr>
              <a:t>prenom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: valeur du </a:t>
            </a:r>
            <a:r>
              <a:rPr lang="fr-FR" sz="2000" i="1" dirty="0" err="1">
                <a:solidFill>
                  <a:srgbClr val="408080"/>
                </a:solidFill>
                <a:latin typeface="Courier" pitchFamily="2" charset="0"/>
              </a:rPr>
              <a:t>param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. </a:t>
            </a:r>
            <a:r>
              <a:rPr lang="fr-FR" sz="2000" i="1" dirty="0" err="1">
                <a:solidFill>
                  <a:srgbClr val="408080"/>
                </a:solidFill>
                <a:latin typeface="Courier" pitchFamily="2" charset="0"/>
              </a:rPr>
              <a:t>prenom_cstr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        </a:t>
            </a:r>
            <a:r>
              <a:rPr lang="fr-FR" sz="2000" dirty="0" err="1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 err="1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 err="1">
                <a:solidFill>
                  <a:srgbClr val="000000"/>
                </a:solidFill>
                <a:latin typeface="Courier" pitchFamily="2" charset="0"/>
              </a:rPr>
              <a:t>age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dirty="0" err="1">
                <a:solidFill>
                  <a:srgbClr val="000000"/>
                </a:solidFill>
                <a:latin typeface="Courier" pitchFamily="2" charset="0"/>
              </a:rPr>
              <a:t>age_cstr</a:t>
            </a:r>
            <a:endParaRPr lang="fr-FR" sz="2000" dirty="0">
              <a:solidFill>
                <a:srgbClr val="00000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    # attribut </a:t>
            </a:r>
            <a:r>
              <a:rPr lang="fr-FR" sz="2000" i="1" dirty="0" err="1">
                <a:solidFill>
                  <a:srgbClr val="408080"/>
                </a:solidFill>
                <a:latin typeface="Courier" pitchFamily="2" charset="0"/>
              </a:rPr>
              <a:t>age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: valeur du </a:t>
            </a:r>
            <a:r>
              <a:rPr lang="fr-FR" sz="2000" i="1" dirty="0" err="1">
                <a:solidFill>
                  <a:srgbClr val="408080"/>
                </a:solidFill>
                <a:latin typeface="Courier" pitchFamily="2" charset="0"/>
              </a:rPr>
              <a:t>param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. </a:t>
            </a:r>
            <a:r>
              <a:rPr lang="fr-FR" sz="2000" i="1" dirty="0" err="1">
                <a:solidFill>
                  <a:srgbClr val="408080"/>
                </a:solidFill>
                <a:latin typeface="Courier" pitchFamily="2" charset="0"/>
              </a:rPr>
              <a:t>age_cstr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lnSpc>
                <a:spcPts val="2600"/>
              </a:lnSpc>
              <a:buNone/>
            </a:pPr>
            <a:endParaRPr lang="fr-FR" sz="2000" b="1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8495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25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8104" y="1628800"/>
            <a:ext cx="8604376" cy="50691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création d'objets de la classe Humain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on donne des valeurs aux paramètres à l’instanciation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h1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latin typeface="Courier" pitchFamily="2" charset="0"/>
              </a:rPr>
              <a:t> Humain(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"Eve"</a:t>
            </a:r>
            <a:r>
              <a:rPr lang="fr-FR" sz="2000" dirty="0">
                <a:latin typeface="Courier" pitchFamily="2" charset="0"/>
              </a:rPr>
              <a:t>,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35</a:t>
            </a:r>
            <a:r>
              <a:rPr lang="fr-FR" sz="2000" dirty="0">
                <a:latin typeface="Courier" pitchFamily="2" charset="0"/>
              </a:rPr>
              <a:t>)</a:t>
            </a: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h2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latin typeface="Courier" pitchFamily="2" charset="0"/>
              </a:rPr>
              <a:t> Humain(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"Adam"</a:t>
            </a:r>
            <a:r>
              <a:rPr lang="fr-FR" sz="2000" dirty="0">
                <a:latin typeface="Courier" pitchFamily="2" charset="0"/>
              </a:rPr>
              <a:t>,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33</a:t>
            </a:r>
            <a:r>
              <a:rPr lang="fr-FR" sz="2000" dirty="0">
                <a:latin typeface="Courier" pitchFamily="2" charset="0"/>
              </a:rPr>
              <a:t>)</a:t>
            </a:r>
            <a:endParaRPr lang="fr-FR" sz="2000" i="1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affichage des attributs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</a:t>
            </a:r>
            <a:r>
              <a:rPr lang="fr-FR" sz="2000" dirty="0" err="1">
                <a:solidFill>
                  <a:srgbClr val="BA2121"/>
                </a:solidFill>
                <a:latin typeface="Courier" pitchFamily="2" charset="0"/>
              </a:rPr>
              <a:t>prenom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:"</a:t>
            </a:r>
            <a:r>
              <a:rPr lang="fr-FR" sz="2000" dirty="0">
                <a:latin typeface="Courier" pitchFamily="2" charset="0"/>
              </a:rPr>
              <a:t>, h1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latin typeface="Courier" pitchFamily="2" charset="0"/>
              </a:rPr>
              <a:t>prenom)</a:t>
            </a:r>
          </a:p>
          <a:p>
            <a:pPr marL="0" indent="0">
              <a:buNone/>
            </a:pPr>
            <a:r>
              <a:rPr lang="fr-FR" sz="2000" b="1" dirty="0" err="1">
                <a:latin typeface="Courier" pitchFamily="2" charset="0"/>
              </a:rPr>
              <a:t>prenom</a:t>
            </a:r>
            <a:r>
              <a:rPr lang="fr-FR" sz="2000" b="1" dirty="0">
                <a:latin typeface="Courier" pitchFamily="2" charset="0"/>
              </a:rPr>
              <a:t>: Eve</a:t>
            </a: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</a:t>
            </a:r>
            <a:r>
              <a:rPr lang="fr-FR" sz="2000" dirty="0" err="1">
                <a:solidFill>
                  <a:srgbClr val="BA2121"/>
                </a:solidFill>
                <a:latin typeface="Courier" pitchFamily="2" charset="0"/>
              </a:rPr>
              <a:t>age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:"</a:t>
            </a:r>
            <a:r>
              <a:rPr lang="fr-FR" sz="2000" dirty="0">
                <a:latin typeface="Courier" pitchFamily="2" charset="0"/>
              </a:rPr>
              <a:t>, h1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latin typeface="Courier" pitchFamily="2" charset="0"/>
              </a:rPr>
              <a:t>age)</a:t>
            </a:r>
          </a:p>
          <a:p>
            <a:pPr marL="0" indent="0">
              <a:buNone/>
            </a:pPr>
            <a:r>
              <a:rPr lang="fr-FR" sz="2000" b="1" dirty="0" err="1">
                <a:latin typeface="Courier" pitchFamily="2" charset="0"/>
              </a:rPr>
              <a:t>age</a:t>
            </a:r>
            <a:r>
              <a:rPr lang="fr-FR" sz="2000" b="1" dirty="0">
                <a:latin typeface="Courier" pitchFamily="2" charset="0"/>
              </a:rPr>
              <a:t>: 35</a:t>
            </a: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</a:t>
            </a:r>
            <a:r>
              <a:rPr lang="fr-FR" sz="2000" dirty="0" err="1">
                <a:solidFill>
                  <a:srgbClr val="BA2121"/>
                </a:solidFill>
                <a:latin typeface="Courier" pitchFamily="2" charset="0"/>
              </a:rPr>
              <a:t>prenom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:"</a:t>
            </a:r>
            <a:r>
              <a:rPr lang="fr-FR" sz="2000" dirty="0">
                <a:latin typeface="Courier" pitchFamily="2" charset="0"/>
              </a:rPr>
              <a:t>, h2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latin typeface="Courier" pitchFamily="2" charset="0"/>
              </a:rPr>
              <a:t>prenom)</a:t>
            </a:r>
          </a:p>
          <a:p>
            <a:pPr marL="0" indent="0">
              <a:buNone/>
            </a:pPr>
            <a:r>
              <a:rPr lang="fr-FR" sz="2000" b="1" dirty="0" err="1">
                <a:latin typeface="Courier" pitchFamily="2" charset="0"/>
              </a:rPr>
              <a:t>prenom</a:t>
            </a:r>
            <a:r>
              <a:rPr lang="fr-FR" sz="2000" b="1" dirty="0">
                <a:latin typeface="Courier" pitchFamily="2" charset="0"/>
              </a:rPr>
              <a:t>: Adam</a:t>
            </a: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</a:t>
            </a:r>
            <a:r>
              <a:rPr lang="fr-FR" sz="2000" dirty="0" err="1">
                <a:solidFill>
                  <a:srgbClr val="BA2121"/>
                </a:solidFill>
                <a:latin typeface="Courier" pitchFamily="2" charset="0"/>
              </a:rPr>
              <a:t>age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:"</a:t>
            </a:r>
            <a:r>
              <a:rPr lang="fr-FR" sz="2000" dirty="0">
                <a:latin typeface="Courier" pitchFamily="2" charset="0"/>
              </a:rPr>
              <a:t>, h2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latin typeface="Courier" pitchFamily="2" charset="0"/>
              </a:rPr>
              <a:t>age)</a:t>
            </a:r>
          </a:p>
          <a:p>
            <a:pPr marL="0" indent="0">
              <a:buNone/>
            </a:pPr>
            <a:r>
              <a:rPr lang="fr-FR" sz="2000" b="1" dirty="0" err="1">
                <a:latin typeface="Courier" pitchFamily="2" charset="0"/>
              </a:rPr>
              <a:t>age</a:t>
            </a:r>
            <a:r>
              <a:rPr lang="fr-FR" sz="2000" b="1" dirty="0">
                <a:latin typeface="Courier" pitchFamily="2" charset="0"/>
              </a:rPr>
              <a:t>: 33</a:t>
            </a:r>
          </a:p>
          <a:p>
            <a:pPr marL="0" indent="0">
              <a:buNone/>
            </a:pPr>
            <a:endParaRPr lang="fr-FR" sz="2000" dirty="0">
              <a:latin typeface="Courier" pitchFamily="2" charset="0"/>
            </a:endParaRPr>
          </a:p>
          <a:p>
            <a:pPr marL="0" indent="0">
              <a:lnSpc>
                <a:spcPts val="2600"/>
              </a:lnSpc>
              <a:buNone/>
            </a:pPr>
            <a:endParaRPr lang="fr-FR" sz="2000" b="1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8650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26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179584" y="1628800"/>
            <a:ext cx="8964416" cy="50691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000" b="1" dirty="0">
                <a:solidFill>
                  <a:srgbClr val="008000"/>
                </a:solidFill>
                <a:latin typeface="Courier" pitchFamily="2" charset="0"/>
              </a:rPr>
              <a:t>class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b="1" dirty="0">
                <a:solidFill>
                  <a:srgbClr val="0000FF"/>
                </a:solidFill>
                <a:latin typeface="Courier" pitchFamily="2" charset="0"/>
              </a:rPr>
              <a:t>Humain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:</a:t>
            </a:r>
            <a:endParaRPr lang="fr-FR" sz="2000" dirty="0">
              <a:solidFill>
                <a:srgbClr val="0000F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    # constructeur avec </a:t>
            </a:r>
            <a:r>
              <a:rPr lang="fr-FR" sz="2000" i="1" dirty="0" err="1">
                <a:solidFill>
                  <a:srgbClr val="408080"/>
                </a:solidFill>
                <a:latin typeface="Courier" pitchFamily="2" charset="0"/>
              </a:rPr>
              <a:t>param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. et valeurs par défaut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    </a:t>
            </a: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def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0000FF"/>
                </a:solidFill>
                <a:latin typeface="Courier" pitchFamily="2" charset="0"/>
              </a:rPr>
              <a:t>__</a:t>
            </a:r>
            <a:r>
              <a:rPr lang="fr-FR" sz="2000" dirty="0" err="1">
                <a:solidFill>
                  <a:srgbClr val="0000FF"/>
                </a:solidFill>
                <a:latin typeface="Courier" pitchFamily="2" charset="0"/>
              </a:rPr>
              <a:t>init</a:t>
            </a:r>
            <a:r>
              <a:rPr lang="fr-FR" sz="2000" dirty="0">
                <a:solidFill>
                  <a:srgbClr val="0000FF"/>
                </a:solidFill>
                <a:latin typeface="Courier" pitchFamily="2" charset="0"/>
              </a:rPr>
              <a:t>__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>
                <a:latin typeface="Courier" pitchFamily="2" charset="0"/>
              </a:rPr>
              <a:t>,</a:t>
            </a: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		</a:t>
            </a:r>
            <a:r>
              <a:rPr lang="fr-FR" sz="2000" dirty="0" err="1">
                <a:latin typeface="Courier" pitchFamily="2" charset="0"/>
              </a:rPr>
              <a:t>prenom_cstr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"Adam"</a:t>
            </a:r>
            <a:r>
              <a:rPr lang="fr-FR" sz="2000" dirty="0">
                <a:latin typeface="Courier" pitchFamily="2" charset="0"/>
              </a:rPr>
              <a:t>,</a:t>
            </a: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		</a:t>
            </a:r>
            <a:r>
              <a:rPr lang="fr-FR" sz="2000" dirty="0" err="1">
                <a:latin typeface="Courier" pitchFamily="2" charset="0"/>
              </a:rPr>
              <a:t>age_cstr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0</a:t>
            </a:r>
            <a:r>
              <a:rPr lang="fr-FR" sz="2000" dirty="0">
                <a:latin typeface="Courier" pitchFamily="2" charset="0"/>
              </a:rPr>
              <a:t>):</a:t>
            </a:r>
          </a:p>
          <a:p>
            <a:pPr marL="0" indent="0">
              <a:buNone/>
            </a:pP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        </a:t>
            </a:r>
            <a:r>
              <a:rPr lang="fr-FR" sz="2000" dirty="0" err="1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 err="1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 err="1">
                <a:solidFill>
                  <a:srgbClr val="000000"/>
                </a:solidFill>
                <a:latin typeface="Courier" pitchFamily="2" charset="0"/>
              </a:rPr>
              <a:t>prenom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dirty="0" err="1">
                <a:solidFill>
                  <a:srgbClr val="000000"/>
                </a:solidFill>
                <a:latin typeface="Courier" pitchFamily="2" charset="0"/>
              </a:rPr>
              <a:t>prenom_cstr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attribut </a:t>
            </a:r>
            <a:r>
              <a:rPr lang="fr-FR" sz="2000" i="1" dirty="0" err="1">
                <a:solidFill>
                  <a:srgbClr val="408080"/>
                </a:solidFill>
                <a:latin typeface="Courier" pitchFamily="2" charset="0"/>
              </a:rPr>
              <a:t>prenom</a:t>
            </a:r>
            <a:endParaRPr lang="fr-FR" sz="2000" dirty="0">
              <a:solidFill>
                <a:srgbClr val="00000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        </a:t>
            </a:r>
            <a:r>
              <a:rPr lang="fr-FR" sz="2000" dirty="0" err="1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 err="1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 err="1">
                <a:solidFill>
                  <a:srgbClr val="000000"/>
                </a:solidFill>
                <a:latin typeface="Courier" pitchFamily="2" charset="0"/>
              </a:rPr>
              <a:t>age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dirty="0" err="1">
                <a:solidFill>
                  <a:srgbClr val="000000"/>
                </a:solidFill>
                <a:latin typeface="Courier" pitchFamily="2" charset="0"/>
              </a:rPr>
              <a:t>age_cstr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     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 # attribut </a:t>
            </a:r>
            <a:r>
              <a:rPr lang="fr-FR" sz="2000" i="1" dirty="0" err="1">
                <a:solidFill>
                  <a:srgbClr val="408080"/>
                </a:solidFill>
                <a:latin typeface="Courier" pitchFamily="2" charset="0"/>
              </a:rPr>
              <a:t>age</a:t>
            </a:r>
            <a:endParaRPr lang="fr-FR" sz="2000" b="1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792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27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71064" y="1628800"/>
            <a:ext cx="9072936" cy="50691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création d'objets de la classe Humain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h1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Humain(</a:t>
            </a:r>
            <a:r>
              <a:rPr lang="fr-FR" sz="2000" dirty="0" err="1">
                <a:solidFill>
                  <a:srgbClr val="000000"/>
                </a:solidFill>
                <a:latin typeface="Courier" pitchFamily="2" charset="0"/>
              </a:rPr>
              <a:t>age_cstr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33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)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 </a:t>
            </a:r>
            <a:r>
              <a:rPr lang="fr-FR" sz="2000" i="1" dirty="0" err="1">
                <a:solidFill>
                  <a:srgbClr val="408080"/>
                </a:solidFill>
                <a:latin typeface="Courier" pitchFamily="2" charset="0"/>
              </a:rPr>
              <a:t>prenom_cstr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 = "Adam" par </a:t>
            </a:r>
            <a:r>
              <a:rPr lang="fr-FR" sz="2000" i="1" dirty="0" err="1">
                <a:solidFill>
                  <a:srgbClr val="408080"/>
                </a:solidFill>
                <a:latin typeface="Courier" pitchFamily="2" charset="0"/>
              </a:rPr>
              <a:t>déf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.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h2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latin typeface="Courier" pitchFamily="2" charset="0"/>
              </a:rPr>
              <a:t> Humain(</a:t>
            </a:r>
            <a:r>
              <a:rPr lang="fr-FR" sz="2000" dirty="0" err="1">
                <a:latin typeface="Courier" pitchFamily="2" charset="0"/>
              </a:rPr>
              <a:t>prenom_cstr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"Eve"</a:t>
            </a:r>
            <a:r>
              <a:rPr lang="fr-FR" sz="2000" dirty="0">
                <a:latin typeface="Courier" pitchFamily="2" charset="0"/>
              </a:rPr>
              <a:t>)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</a:t>
            </a:r>
            <a:r>
              <a:rPr lang="fr-FR" sz="2000" i="1" dirty="0" err="1">
                <a:solidFill>
                  <a:srgbClr val="408080"/>
                </a:solidFill>
                <a:latin typeface="Courier" pitchFamily="2" charset="0"/>
              </a:rPr>
              <a:t>age_cstr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 = 0 par </a:t>
            </a:r>
            <a:r>
              <a:rPr lang="fr-FR" sz="2000" i="1" dirty="0" err="1">
                <a:solidFill>
                  <a:srgbClr val="408080"/>
                </a:solidFill>
                <a:latin typeface="Courier" pitchFamily="2" charset="0"/>
              </a:rPr>
              <a:t>déf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.</a:t>
            </a: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affichage des attributs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</a:t>
            </a:r>
            <a:r>
              <a:rPr lang="fr-FR" sz="2000" dirty="0" err="1">
                <a:solidFill>
                  <a:srgbClr val="BA2121"/>
                </a:solidFill>
                <a:latin typeface="Courier" pitchFamily="2" charset="0"/>
              </a:rPr>
              <a:t>prenom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:"</a:t>
            </a:r>
            <a:r>
              <a:rPr lang="fr-FR" sz="2000" dirty="0">
                <a:latin typeface="Courier" pitchFamily="2" charset="0"/>
              </a:rPr>
              <a:t>, h1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latin typeface="Courier" pitchFamily="2" charset="0"/>
              </a:rPr>
              <a:t>prenom)</a:t>
            </a:r>
          </a:p>
          <a:p>
            <a:pPr marL="0" indent="0">
              <a:buNone/>
            </a:pPr>
            <a:r>
              <a:rPr lang="fr-FR" sz="2000" b="1" dirty="0" err="1">
                <a:latin typeface="Courier" pitchFamily="2" charset="0"/>
              </a:rPr>
              <a:t>prenom</a:t>
            </a:r>
            <a:r>
              <a:rPr lang="fr-FR" sz="2000" b="1" dirty="0">
                <a:latin typeface="Courier" pitchFamily="2" charset="0"/>
              </a:rPr>
              <a:t>: Adam</a:t>
            </a: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</a:t>
            </a:r>
            <a:r>
              <a:rPr lang="fr-FR" sz="2000" dirty="0" err="1">
                <a:solidFill>
                  <a:srgbClr val="BA2121"/>
                </a:solidFill>
                <a:latin typeface="Courier" pitchFamily="2" charset="0"/>
              </a:rPr>
              <a:t>age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:"</a:t>
            </a:r>
            <a:r>
              <a:rPr lang="fr-FR" sz="2000" dirty="0">
                <a:latin typeface="Courier" pitchFamily="2" charset="0"/>
              </a:rPr>
              <a:t>, h1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latin typeface="Courier" pitchFamily="2" charset="0"/>
              </a:rPr>
              <a:t>age)</a:t>
            </a:r>
          </a:p>
          <a:p>
            <a:pPr marL="0" indent="0">
              <a:buNone/>
            </a:pPr>
            <a:r>
              <a:rPr lang="fr-FR" sz="2000" b="1" dirty="0" err="1">
                <a:latin typeface="Courier" pitchFamily="2" charset="0"/>
              </a:rPr>
              <a:t>age</a:t>
            </a:r>
            <a:r>
              <a:rPr lang="fr-FR" sz="2000" b="1" dirty="0">
                <a:latin typeface="Courier" pitchFamily="2" charset="0"/>
              </a:rPr>
              <a:t>: 33</a:t>
            </a: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</a:t>
            </a:r>
            <a:r>
              <a:rPr lang="fr-FR" sz="2000" dirty="0" err="1">
                <a:solidFill>
                  <a:srgbClr val="BA2121"/>
                </a:solidFill>
                <a:latin typeface="Courier" pitchFamily="2" charset="0"/>
              </a:rPr>
              <a:t>prenom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:"</a:t>
            </a:r>
            <a:r>
              <a:rPr lang="fr-FR" sz="2000" dirty="0">
                <a:latin typeface="Courier" pitchFamily="2" charset="0"/>
              </a:rPr>
              <a:t>, h2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latin typeface="Courier" pitchFamily="2" charset="0"/>
              </a:rPr>
              <a:t>prenom)</a:t>
            </a:r>
          </a:p>
          <a:p>
            <a:pPr marL="0" indent="0">
              <a:buNone/>
            </a:pPr>
            <a:r>
              <a:rPr lang="fr-FR" sz="2000" b="1" dirty="0" err="1">
                <a:latin typeface="Courier" pitchFamily="2" charset="0"/>
              </a:rPr>
              <a:t>prenom</a:t>
            </a:r>
            <a:r>
              <a:rPr lang="fr-FR" sz="2000" b="1" dirty="0">
                <a:latin typeface="Courier" pitchFamily="2" charset="0"/>
              </a:rPr>
              <a:t>: Eve</a:t>
            </a: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</a:t>
            </a:r>
            <a:r>
              <a:rPr lang="fr-FR" sz="2000" dirty="0" err="1">
                <a:solidFill>
                  <a:srgbClr val="BA2121"/>
                </a:solidFill>
                <a:latin typeface="Courier" pitchFamily="2" charset="0"/>
              </a:rPr>
              <a:t>age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:"</a:t>
            </a:r>
            <a:r>
              <a:rPr lang="fr-FR" sz="2000" dirty="0">
                <a:latin typeface="Courier" pitchFamily="2" charset="0"/>
              </a:rPr>
              <a:t>, h2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latin typeface="Courier" pitchFamily="2" charset="0"/>
              </a:rPr>
              <a:t>age)</a:t>
            </a:r>
          </a:p>
          <a:p>
            <a:pPr marL="0" indent="0">
              <a:buNone/>
            </a:pPr>
            <a:r>
              <a:rPr lang="fr-FR" sz="2000" b="1" dirty="0" err="1">
                <a:latin typeface="Courier" pitchFamily="2" charset="0"/>
              </a:rPr>
              <a:t>age</a:t>
            </a:r>
            <a:r>
              <a:rPr lang="fr-FR" sz="2000" b="1" dirty="0">
                <a:latin typeface="Courier" pitchFamily="2" charset="0"/>
              </a:rPr>
              <a:t>: 0</a:t>
            </a:r>
          </a:p>
          <a:p>
            <a:pPr marL="0" indent="0">
              <a:buNone/>
            </a:pPr>
            <a:endParaRPr lang="fr-FR" sz="20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029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28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179584" y="1628800"/>
            <a:ext cx="8784904" cy="50691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on peut les modifier les attributs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h1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latin typeface="Courier" pitchFamily="2" charset="0"/>
              </a:rPr>
              <a:t>prenom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</a:t>
            </a:r>
            <a:r>
              <a:rPr lang="fr-FR" sz="2000" dirty="0" err="1">
                <a:solidFill>
                  <a:srgbClr val="BA2121"/>
                </a:solidFill>
                <a:latin typeface="Courier" pitchFamily="2" charset="0"/>
              </a:rPr>
              <a:t>Noe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réaffectation</a:t>
            </a: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h1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latin typeface="Courier" pitchFamily="2" charset="0"/>
              </a:rPr>
              <a:t>age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100	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réaffectation</a:t>
            </a: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affichage des nouvelles valeurs des attributs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</a:t>
            </a:r>
            <a:r>
              <a:rPr lang="fr-FR" sz="2000" dirty="0" err="1">
                <a:solidFill>
                  <a:srgbClr val="BA2121"/>
                </a:solidFill>
                <a:latin typeface="Courier" pitchFamily="2" charset="0"/>
              </a:rPr>
              <a:t>prenom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:"</a:t>
            </a:r>
            <a:r>
              <a:rPr lang="fr-FR" sz="2000" dirty="0">
                <a:latin typeface="Courier" pitchFamily="2" charset="0"/>
              </a:rPr>
              <a:t>, h1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latin typeface="Courier" pitchFamily="2" charset="0"/>
              </a:rPr>
              <a:t>prenom)</a:t>
            </a:r>
          </a:p>
          <a:p>
            <a:pPr marL="0" indent="0">
              <a:buNone/>
            </a:pPr>
            <a:r>
              <a:rPr lang="fr-FR" sz="2000" b="1" dirty="0" err="1">
                <a:latin typeface="Courier" pitchFamily="2" charset="0"/>
              </a:rPr>
              <a:t>prenom</a:t>
            </a:r>
            <a:r>
              <a:rPr lang="fr-FR" sz="2000" b="1" dirty="0">
                <a:latin typeface="Courier" pitchFamily="2" charset="0"/>
              </a:rPr>
              <a:t>: </a:t>
            </a:r>
            <a:r>
              <a:rPr lang="fr-FR" sz="2000" b="1" dirty="0" err="1">
                <a:latin typeface="Courier" pitchFamily="2" charset="0"/>
              </a:rPr>
              <a:t>Noe</a:t>
            </a: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</a:t>
            </a:r>
            <a:r>
              <a:rPr lang="fr-FR" sz="2000" dirty="0" err="1">
                <a:solidFill>
                  <a:srgbClr val="BA2121"/>
                </a:solidFill>
                <a:latin typeface="Courier" pitchFamily="2" charset="0"/>
              </a:rPr>
              <a:t>age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:"</a:t>
            </a:r>
            <a:r>
              <a:rPr lang="fr-FR" sz="2000" dirty="0">
                <a:latin typeface="Courier" pitchFamily="2" charset="0"/>
              </a:rPr>
              <a:t>, h1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latin typeface="Courier" pitchFamily="2" charset="0"/>
              </a:rPr>
              <a:t>age)</a:t>
            </a:r>
          </a:p>
          <a:p>
            <a:pPr marL="0" indent="0">
              <a:buNone/>
            </a:pPr>
            <a:r>
              <a:rPr lang="fr-FR" sz="2000" b="1" dirty="0" err="1">
                <a:latin typeface="Courier" pitchFamily="2" charset="0"/>
              </a:rPr>
              <a:t>age</a:t>
            </a:r>
            <a:r>
              <a:rPr lang="fr-FR" sz="2000" b="1" dirty="0">
                <a:latin typeface="Courier" pitchFamily="2" charset="0"/>
              </a:rPr>
              <a:t>: 100</a:t>
            </a:r>
          </a:p>
        </p:txBody>
      </p:sp>
    </p:spTree>
    <p:extLst>
      <p:ext uri="{BB962C8B-B14F-4D97-AF65-F5344CB8AC3E}">
        <p14:creationId xmlns:p14="http://schemas.microsoft.com/office/powerpoint/2010/main" val="1122765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Attribut de classe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29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853136"/>
          </a:xfrm>
        </p:spPr>
        <p:txBody>
          <a:bodyPr>
            <a:normAutofit/>
          </a:bodyPr>
          <a:lstStyle/>
          <a:p>
            <a:r>
              <a:rPr lang="fr-CH" dirty="0"/>
              <a:t>Les </a:t>
            </a:r>
            <a:r>
              <a:rPr lang="fr-CH" b="1" dirty="0"/>
              <a:t>attributs de classe</a:t>
            </a:r>
            <a:r>
              <a:rPr lang="fr-CH" dirty="0"/>
              <a:t> sont des variables associées directement à la classe et non à ses objets. Ils sont définis hors du constructeur (pas de mot-clé </a:t>
            </a:r>
            <a:r>
              <a:rPr lang="fr-CH" sz="2400" b="1" dirty="0">
                <a:latin typeface="Courier" pitchFamily="2" charset="0"/>
              </a:rPr>
              <a:t>self</a:t>
            </a:r>
            <a:r>
              <a:rPr lang="fr-CH" dirty="0"/>
              <a:t>) :</a:t>
            </a:r>
          </a:p>
          <a:p>
            <a:pPr marL="0" indent="0">
              <a:buNone/>
            </a:pPr>
            <a:r>
              <a:rPr lang="fr-FR" sz="2400" b="1" dirty="0">
                <a:solidFill>
                  <a:srgbClr val="008000"/>
                </a:solidFill>
                <a:latin typeface="Courier" pitchFamily="2" charset="0"/>
              </a:rPr>
              <a:t>class</a:t>
            </a:r>
            <a:r>
              <a:rPr lang="fr-FR" sz="24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400" b="1" dirty="0" err="1">
                <a:solidFill>
                  <a:srgbClr val="0000FF"/>
                </a:solidFill>
                <a:latin typeface="Courier" pitchFamily="2" charset="0"/>
              </a:rPr>
              <a:t>NomClasse</a:t>
            </a:r>
            <a:r>
              <a:rPr lang="fr-FR" sz="2400" b="1" dirty="0">
                <a:solidFill>
                  <a:srgbClr val="0000FF"/>
                </a:solidFill>
                <a:latin typeface="Courier" pitchFamily="2" charset="0"/>
              </a:rPr>
              <a:t>:</a:t>
            </a:r>
            <a:endParaRPr lang="fr-FR" sz="2400" dirty="0">
              <a:solidFill>
                <a:srgbClr val="00000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400" dirty="0">
                <a:solidFill>
                  <a:srgbClr val="000000"/>
                </a:solidFill>
                <a:latin typeface="Courier" pitchFamily="2" charset="0"/>
              </a:rPr>
              <a:t>	</a:t>
            </a:r>
            <a:r>
              <a:rPr lang="fr-FR" sz="2400" dirty="0" err="1">
                <a:latin typeface="Courier" pitchFamily="2" charset="0"/>
              </a:rPr>
              <a:t>attribut_de_classe</a:t>
            </a:r>
            <a:r>
              <a:rPr lang="fr-FR" sz="2400" dirty="0">
                <a:latin typeface="Courier" pitchFamily="2" charset="0"/>
              </a:rPr>
              <a:t> </a:t>
            </a:r>
            <a:r>
              <a:rPr lang="fr-FR" sz="24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400" dirty="0">
                <a:latin typeface="Courier" pitchFamily="2" charset="0"/>
              </a:rPr>
              <a:t> valeur</a:t>
            </a:r>
          </a:p>
          <a:p>
            <a:pPr marL="0" indent="0">
              <a:buNone/>
            </a:pPr>
            <a:r>
              <a:rPr lang="fr-FR" sz="2400" b="1" dirty="0">
                <a:solidFill>
                  <a:srgbClr val="0000FF"/>
                </a:solidFill>
                <a:latin typeface="Courier" pitchFamily="2" charset="0"/>
              </a:rPr>
              <a:t>	</a:t>
            </a:r>
            <a:r>
              <a:rPr lang="fr-FR" sz="2400" b="1" dirty="0" err="1">
                <a:solidFill>
                  <a:srgbClr val="008000"/>
                </a:solidFill>
                <a:latin typeface="Courier" pitchFamily="2" charset="0"/>
              </a:rPr>
              <a:t>def</a:t>
            </a:r>
            <a:r>
              <a:rPr lang="fr-FR" sz="2400" dirty="0">
                <a:latin typeface="Courier" pitchFamily="2" charset="0"/>
              </a:rPr>
              <a:t> </a:t>
            </a:r>
            <a:r>
              <a:rPr lang="fr-FR" sz="2400" dirty="0">
                <a:solidFill>
                  <a:srgbClr val="0000FF"/>
                </a:solidFill>
                <a:latin typeface="Courier" pitchFamily="2" charset="0"/>
              </a:rPr>
              <a:t>__</a:t>
            </a:r>
            <a:r>
              <a:rPr lang="fr-FR" sz="2400" dirty="0" err="1">
                <a:solidFill>
                  <a:srgbClr val="0000FF"/>
                </a:solidFill>
                <a:latin typeface="Courier" pitchFamily="2" charset="0"/>
              </a:rPr>
              <a:t>init</a:t>
            </a:r>
            <a:r>
              <a:rPr lang="fr-FR" sz="2400" dirty="0">
                <a:solidFill>
                  <a:srgbClr val="0000FF"/>
                </a:solidFill>
                <a:latin typeface="Courier" pitchFamily="2" charset="0"/>
              </a:rPr>
              <a:t>__</a:t>
            </a:r>
            <a:r>
              <a:rPr lang="fr-FR" sz="2400" dirty="0">
                <a:latin typeface="Courier" pitchFamily="2" charset="0"/>
              </a:rPr>
              <a:t>(</a:t>
            </a:r>
            <a:r>
              <a:rPr lang="fr-FR" sz="2400" dirty="0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400" dirty="0">
                <a:latin typeface="Courier" pitchFamily="2" charset="0"/>
              </a:rPr>
              <a:t>, par1, par2,...):</a:t>
            </a:r>
          </a:p>
          <a:p>
            <a:pPr marL="0" indent="0">
              <a:buNone/>
            </a:pPr>
            <a:r>
              <a:rPr lang="fr-FR" sz="2400" dirty="0">
                <a:solidFill>
                  <a:srgbClr val="008000"/>
                </a:solidFill>
                <a:latin typeface="Courier" pitchFamily="2" charset="0"/>
              </a:rPr>
              <a:t>		self</a:t>
            </a:r>
            <a:r>
              <a:rPr lang="fr-FR" sz="24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400" dirty="0">
                <a:latin typeface="Courier" pitchFamily="2" charset="0"/>
              </a:rPr>
              <a:t>attribut1 </a:t>
            </a:r>
            <a:r>
              <a:rPr lang="fr-FR" sz="24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400" dirty="0">
                <a:latin typeface="Courier" pitchFamily="2" charset="0"/>
              </a:rPr>
              <a:t> par1</a:t>
            </a:r>
          </a:p>
          <a:p>
            <a:pPr marL="0" indent="0">
              <a:buNone/>
            </a:pPr>
            <a:r>
              <a:rPr lang="fr-FR" sz="2400" dirty="0">
                <a:solidFill>
                  <a:srgbClr val="008000"/>
                </a:solidFill>
                <a:latin typeface="Courier" pitchFamily="2" charset="0"/>
              </a:rPr>
              <a:t>		self</a:t>
            </a:r>
            <a:r>
              <a:rPr lang="fr-FR" sz="24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400" dirty="0">
                <a:latin typeface="Courier" pitchFamily="2" charset="0"/>
              </a:rPr>
              <a:t>attribut2 </a:t>
            </a:r>
            <a:r>
              <a:rPr lang="fr-FR" sz="24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400" dirty="0">
                <a:latin typeface="Courier" pitchFamily="2" charset="0"/>
              </a:rPr>
              <a:t> par2</a:t>
            </a:r>
          </a:p>
          <a:p>
            <a:pPr marL="0" indent="0">
              <a:buNone/>
            </a:pPr>
            <a:r>
              <a:rPr lang="fr-FR" sz="2400" dirty="0">
                <a:latin typeface="Courier" pitchFamily="2" charset="0"/>
              </a:rPr>
              <a:t>		...</a:t>
            </a:r>
          </a:p>
          <a:p>
            <a:pPr marL="0" indent="0">
              <a:buNone/>
            </a:pP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247647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Attribut de classe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30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853136"/>
          </a:xfrm>
        </p:spPr>
        <p:txBody>
          <a:bodyPr>
            <a:normAutofit/>
          </a:bodyPr>
          <a:lstStyle/>
          <a:p>
            <a:r>
              <a:rPr lang="fr-CH" dirty="0"/>
              <a:t>On accède aux valeurs des </a:t>
            </a:r>
            <a:r>
              <a:rPr lang="fr-CH" b="1" dirty="0"/>
              <a:t>attributs de classe </a:t>
            </a:r>
            <a:r>
              <a:rPr lang="fr-CH" dirty="0"/>
              <a:t>via la syntaxe :</a:t>
            </a:r>
          </a:p>
          <a:p>
            <a:pPr marL="0" indent="0">
              <a:buNone/>
            </a:pPr>
            <a:r>
              <a:rPr lang="fr-FR" sz="2400" dirty="0">
                <a:latin typeface="Courier" pitchFamily="2" charset="0"/>
              </a:rPr>
              <a:t>NomClasse.attribut1</a:t>
            </a:r>
          </a:p>
          <a:p>
            <a:pPr marL="0" indent="0">
              <a:buNone/>
            </a:pPr>
            <a:r>
              <a:rPr lang="fr-FR" sz="2400" dirty="0">
                <a:latin typeface="Courier" pitchFamily="2" charset="0"/>
              </a:rPr>
              <a:t>NomClasse.attribut2</a:t>
            </a:r>
          </a:p>
          <a:p>
            <a:pPr marL="0" indent="0">
              <a:buNone/>
            </a:pPr>
            <a:r>
              <a:rPr lang="fr-FR" sz="2400" dirty="0">
                <a:latin typeface="Courier" pitchFamily="2" charset="0"/>
              </a:rPr>
              <a:t>...</a:t>
            </a:r>
          </a:p>
          <a:p>
            <a:pPr marL="0" indent="0">
              <a:buNone/>
            </a:pPr>
            <a:endParaRPr lang="fr-FR" sz="24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6633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31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8531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000" b="1" dirty="0">
                <a:solidFill>
                  <a:srgbClr val="008000"/>
                </a:solidFill>
                <a:latin typeface="Courier" pitchFamily="2" charset="0"/>
              </a:rPr>
              <a:t>class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b="1" dirty="0">
                <a:solidFill>
                  <a:srgbClr val="0000FF"/>
                </a:solidFill>
                <a:latin typeface="Courier" pitchFamily="2" charset="0"/>
              </a:rPr>
              <a:t>Humain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:</a:t>
            </a:r>
          </a:p>
          <a:p>
            <a:pPr marL="0" indent="0">
              <a:buNone/>
            </a:pP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   </a:t>
            </a:r>
            <a:r>
              <a:rPr lang="fr-FR" sz="2000" dirty="0" err="1">
                <a:solidFill>
                  <a:srgbClr val="000000"/>
                </a:solidFill>
                <a:latin typeface="Courier" pitchFamily="2" charset="0"/>
              </a:rPr>
              <a:t>nb_humains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0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attribut de classe</a:t>
            </a:r>
            <a:endParaRPr lang="fr-FR" sz="2000" dirty="0">
              <a:solidFill>
                <a:srgbClr val="00000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i="1" dirty="0">
                <a:solidFill>
                  <a:srgbClr val="000000"/>
                </a:solidFill>
                <a:latin typeface="Courier" pitchFamily="2" charset="0"/>
              </a:rPr>
              <a:t>   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constructeur</a:t>
            </a: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    </a:t>
            </a: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def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0000FF"/>
                </a:solidFill>
                <a:latin typeface="Courier" pitchFamily="2" charset="0"/>
              </a:rPr>
              <a:t>__</a:t>
            </a:r>
            <a:r>
              <a:rPr lang="fr-FR" sz="2000" dirty="0" err="1">
                <a:solidFill>
                  <a:srgbClr val="0000FF"/>
                </a:solidFill>
                <a:latin typeface="Courier" pitchFamily="2" charset="0"/>
              </a:rPr>
              <a:t>init</a:t>
            </a:r>
            <a:r>
              <a:rPr lang="fr-FR" sz="2000" dirty="0">
                <a:solidFill>
                  <a:srgbClr val="0000FF"/>
                </a:solidFill>
                <a:latin typeface="Courier" pitchFamily="2" charset="0"/>
              </a:rPr>
              <a:t>__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>
                <a:latin typeface="Courier" pitchFamily="2" charset="0"/>
              </a:rPr>
              <a:t>,</a:t>
            </a: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		</a:t>
            </a:r>
            <a:r>
              <a:rPr lang="fr-FR" sz="2000" dirty="0" err="1">
                <a:latin typeface="Courier" pitchFamily="2" charset="0"/>
              </a:rPr>
              <a:t>prenom_cstr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"Adam"</a:t>
            </a: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		</a:t>
            </a:r>
            <a:r>
              <a:rPr lang="fr-FR" sz="2000" dirty="0" err="1">
                <a:latin typeface="Courier" pitchFamily="2" charset="0"/>
              </a:rPr>
              <a:t>age_cstr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0</a:t>
            </a:r>
            <a:r>
              <a:rPr lang="fr-FR" sz="2000" dirty="0">
                <a:latin typeface="Courier" pitchFamily="2" charset="0"/>
              </a:rPr>
              <a:t>):</a:t>
            </a:r>
          </a:p>
          <a:p>
            <a:pPr marL="0" indent="0">
              <a:buNone/>
            </a:pP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        </a:t>
            </a:r>
            <a:r>
              <a:rPr lang="fr-FR" sz="2000" dirty="0" err="1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 err="1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 err="1">
                <a:solidFill>
                  <a:srgbClr val="000000"/>
                </a:solidFill>
                <a:latin typeface="Courier" pitchFamily="2" charset="0"/>
              </a:rPr>
              <a:t>prenom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dirty="0" err="1">
                <a:solidFill>
                  <a:srgbClr val="000000"/>
                </a:solidFill>
                <a:latin typeface="Courier" pitchFamily="2" charset="0"/>
              </a:rPr>
              <a:t>prenom_cstr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        </a:t>
            </a:r>
            <a:r>
              <a:rPr lang="fr-FR" sz="2000" dirty="0" err="1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 err="1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 err="1">
                <a:solidFill>
                  <a:srgbClr val="000000"/>
                </a:solidFill>
                <a:latin typeface="Courier" pitchFamily="2" charset="0"/>
              </a:rPr>
              <a:t>age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dirty="0" err="1">
                <a:solidFill>
                  <a:srgbClr val="000000"/>
                </a:solidFill>
                <a:latin typeface="Courier" pitchFamily="2" charset="0"/>
              </a:rPr>
              <a:t>age_cstr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	  # incrémentation de l'attribut de classe</a:t>
            </a:r>
          </a:p>
          <a:p>
            <a:pPr marL="0" indent="0"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	  # à chaque appel du constructeur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        </a:t>
            </a:r>
            <a:r>
              <a:rPr lang="fr-FR" sz="2000" dirty="0" err="1">
                <a:latin typeface="Courier" pitchFamily="2" charset="0"/>
              </a:rPr>
              <a:t>Humain</a:t>
            </a:r>
            <a:r>
              <a:rPr lang="fr-FR" sz="2000" dirty="0" err="1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 err="1">
                <a:latin typeface="Courier" pitchFamily="2" charset="0"/>
              </a:rPr>
              <a:t>nb_humains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+=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1</a:t>
            </a:r>
            <a:endParaRPr lang="fr-FR" sz="20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59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32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8531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création d'objets de la classe Humain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h1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latin typeface="Courier" pitchFamily="2" charset="0"/>
              </a:rPr>
              <a:t> Humain(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"Alice"</a:t>
            </a:r>
            <a:r>
              <a:rPr lang="fr-FR" sz="2000" dirty="0">
                <a:latin typeface="Courier" pitchFamily="2" charset="0"/>
              </a:rPr>
              <a:t>,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31</a:t>
            </a:r>
            <a:r>
              <a:rPr lang="fr-FR" sz="2000" dirty="0">
                <a:latin typeface="Courier" pitchFamily="2" charset="0"/>
              </a:rPr>
              <a:t>)</a:t>
            </a:r>
          </a:p>
          <a:p>
            <a:pPr marL="0" indent="0">
              <a:buNone/>
            </a:pP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"Nombre d'objets crées:"</a:t>
            </a:r>
            <a:r>
              <a:rPr lang="fr-FR" sz="2000" dirty="0">
                <a:latin typeface="Courier" pitchFamily="2" charset="0"/>
              </a:rPr>
              <a:t>, </a:t>
            </a:r>
            <a:r>
              <a:rPr lang="fr-FR" sz="2000" dirty="0" err="1">
                <a:latin typeface="Courier" pitchFamily="2" charset="0"/>
              </a:rPr>
              <a:t>Humain</a:t>
            </a:r>
            <a:r>
              <a:rPr lang="fr-FR" sz="2000" dirty="0" err="1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 err="1">
                <a:latin typeface="Courier" pitchFamily="2" charset="0"/>
              </a:rPr>
              <a:t>nb_humains</a:t>
            </a:r>
            <a:r>
              <a:rPr lang="fr-FR" sz="2000" dirty="0">
                <a:latin typeface="Courier" pitchFamily="2" charset="0"/>
              </a:rPr>
              <a:t>)</a:t>
            </a:r>
          </a:p>
          <a:p>
            <a:pPr marL="0" indent="0">
              <a:buNone/>
            </a:pPr>
            <a:r>
              <a:rPr lang="fr-FR" sz="2000" b="1" dirty="0">
                <a:latin typeface="Courier" pitchFamily="2" charset="0"/>
              </a:rPr>
              <a:t>Nombre d'objets crées: 1</a:t>
            </a: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h2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latin typeface="Courier" pitchFamily="2" charset="0"/>
              </a:rPr>
              <a:t> Humain(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"Bob"</a:t>
            </a:r>
            <a:r>
              <a:rPr lang="fr-FR" sz="2000" dirty="0">
                <a:latin typeface="Courier" pitchFamily="2" charset="0"/>
              </a:rPr>
              <a:t>,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32</a:t>
            </a:r>
            <a:r>
              <a:rPr lang="fr-FR" sz="2000" dirty="0">
                <a:latin typeface="Courier" pitchFamily="2" charset="0"/>
              </a:rPr>
              <a:t>)</a:t>
            </a:r>
          </a:p>
          <a:p>
            <a:pPr marL="0" indent="0">
              <a:buNone/>
            </a:pP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"Nombre d'objets crées:"</a:t>
            </a:r>
            <a:r>
              <a:rPr lang="fr-FR" sz="2000" dirty="0">
                <a:latin typeface="Courier" pitchFamily="2" charset="0"/>
              </a:rPr>
              <a:t>,</a:t>
            </a:r>
            <a:r>
              <a:rPr lang="fr-FR" sz="2000" dirty="0" err="1">
                <a:latin typeface="Courier" pitchFamily="2" charset="0"/>
              </a:rPr>
              <a:t>Humain</a:t>
            </a:r>
            <a:r>
              <a:rPr lang="fr-FR" sz="2000" dirty="0" err="1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 err="1">
                <a:latin typeface="Courier" pitchFamily="2" charset="0"/>
              </a:rPr>
              <a:t>nb_humains</a:t>
            </a:r>
            <a:r>
              <a:rPr lang="fr-FR" sz="2000" dirty="0">
                <a:latin typeface="Courier" pitchFamily="2" charset="0"/>
              </a:rPr>
              <a:t>)</a:t>
            </a:r>
          </a:p>
          <a:p>
            <a:pPr marL="0" indent="0">
              <a:buNone/>
            </a:pPr>
            <a:r>
              <a:rPr lang="fr-FR" sz="2000" b="1" dirty="0">
                <a:latin typeface="Courier" pitchFamily="2" charset="0"/>
              </a:rPr>
              <a:t>Nombre d'objets crées: 2</a:t>
            </a: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h3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latin typeface="Courier" pitchFamily="2" charset="0"/>
              </a:rPr>
              <a:t> Humain(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</a:t>
            </a:r>
            <a:r>
              <a:rPr lang="fr-FR" sz="2000" dirty="0" err="1">
                <a:solidFill>
                  <a:srgbClr val="BA2121"/>
                </a:solidFill>
                <a:latin typeface="Courier" pitchFamily="2" charset="0"/>
              </a:rPr>
              <a:t>Chloe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</a:t>
            </a:r>
            <a:r>
              <a:rPr lang="fr-FR" sz="2000" dirty="0">
                <a:latin typeface="Courier" pitchFamily="2" charset="0"/>
              </a:rPr>
              <a:t>,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33</a:t>
            </a:r>
            <a:r>
              <a:rPr lang="fr-FR" sz="2000" dirty="0">
                <a:latin typeface="Courier" pitchFamily="2" charset="0"/>
              </a:rPr>
              <a:t>)</a:t>
            </a:r>
          </a:p>
          <a:p>
            <a:pPr marL="0" indent="0">
              <a:buNone/>
            </a:pP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"Nombre d'objets crées:"</a:t>
            </a:r>
            <a:r>
              <a:rPr lang="fr-FR" sz="2000" dirty="0">
                <a:latin typeface="Courier" pitchFamily="2" charset="0"/>
              </a:rPr>
              <a:t>, </a:t>
            </a:r>
            <a:r>
              <a:rPr lang="fr-FR" sz="2000" dirty="0" err="1">
                <a:latin typeface="Courier" pitchFamily="2" charset="0"/>
              </a:rPr>
              <a:t>Humain</a:t>
            </a:r>
            <a:r>
              <a:rPr lang="fr-FR" sz="2000" dirty="0" err="1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 err="1">
                <a:latin typeface="Courier" pitchFamily="2" charset="0"/>
              </a:rPr>
              <a:t>nb_humains</a:t>
            </a:r>
            <a:r>
              <a:rPr lang="fr-FR" sz="2000" dirty="0">
                <a:latin typeface="Courier" pitchFamily="2" charset="0"/>
              </a:rPr>
              <a:t>)</a:t>
            </a:r>
          </a:p>
          <a:p>
            <a:pPr marL="0" indent="0">
              <a:buNone/>
            </a:pPr>
            <a:r>
              <a:rPr lang="fr-FR" sz="2000" b="1" dirty="0">
                <a:latin typeface="Courier" pitchFamily="2" charset="0"/>
              </a:rPr>
              <a:t>Nombre d'objets crées: 3</a:t>
            </a:r>
          </a:p>
        </p:txBody>
      </p:sp>
    </p:spTree>
    <p:extLst>
      <p:ext uri="{BB962C8B-B14F-4D97-AF65-F5344CB8AC3E}">
        <p14:creationId xmlns:p14="http://schemas.microsoft.com/office/powerpoint/2010/main" val="215193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33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8531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on peut définir une multitude d'objets</a:t>
            </a:r>
          </a:p>
          <a:p>
            <a:pPr marL="0" indent="0"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et les stocker dans une liste p.ex.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 err="1">
                <a:latin typeface="Courier" pitchFamily="2" charset="0"/>
              </a:rPr>
              <a:t>ma_liste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latin typeface="Courier" pitchFamily="2" charset="0"/>
              </a:rPr>
              <a:t> []</a:t>
            </a:r>
          </a:p>
          <a:p>
            <a:pPr marL="0" indent="0">
              <a:buNone/>
            </a:pPr>
            <a:r>
              <a:rPr lang="fr-FR" sz="2000" b="1" dirty="0">
                <a:solidFill>
                  <a:srgbClr val="008000"/>
                </a:solidFill>
                <a:latin typeface="Courier" pitchFamily="2" charset="0"/>
              </a:rPr>
              <a:t>for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i </a:t>
            </a:r>
            <a:r>
              <a:rPr lang="fr-FR" sz="2000" b="1" dirty="0">
                <a:solidFill>
                  <a:srgbClr val="AA22FF"/>
                </a:solidFill>
                <a:latin typeface="Courier" pitchFamily="2" charset="0"/>
              </a:rPr>
              <a:t>in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008000"/>
                </a:solidFill>
                <a:latin typeface="Courier" pitchFamily="2" charset="0"/>
              </a:rPr>
              <a:t>range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1000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):</a:t>
            </a:r>
            <a:endParaRPr lang="fr-FR" sz="2000" dirty="0">
              <a:solidFill>
                <a:srgbClr val="00800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    </a:t>
            </a:r>
            <a:r>
              <a:rPr lang="fr-FR" sz="2000" dirty="0" err="1">
                <a:latin typeface="Courier" pitchFamily="2" charset="0"/>
              </a:rPr>
              <a:t>ma_liste</a:t>
            </a:r>
            <a:r>
              <a:rPr lang="fr-FR" sz="2000" dirty="0" err="1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 err="1">
                <a:latin typeface="Courier" pitchFamily="2" charset="0"/>
              </a:rPr>
              <a:t>append</a:t>
            </a:r>
            <a:r>
              <a:rPr lang="fr-FR" sz="2000" dirty="0">
                <a:latin typeface="Courier" pitchFamily="2" charset="0"/>
              </a:rPr>
              <a:t>(Humain(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"Adam_"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+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 err="1">
                <a:solidFill>
                  <a:srgbClr val="008000"/>
                </a:solidFill>
                <a:latin typeface="Courier" pitchFamily="2" charset="0"/>
              </a:rPr>
              <a:t>str</a:t>
            </a:r>
            <a:r>
              <a:rPr lang="fr-FR" sz="2000" dirty="0">
                <a:latin typeface="Courier" pitchFamily="2" charset="0"/>
              </a:rPr>
              <a:t>(i),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33</a:t>
            </a:r>
            <a:r>
              <a:rPr lang="fr-FR" sz="2000" dirty="0">
                <a:latin typeface="Courier" pitchFamily="2" charset="0"/>
              </a:rPr>
              <a:t>))</a:t>
            </a: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    </a:t>
            </a:r>
          </a:p>
          <a:p>
            <a:pPr marL="0" indent="0"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affichage des attributs du 104ème humain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</a:t>
            </a:r>
            <a:r>
              <a:rPr lang="fr-FR" sz="2000" dirty="0" err="1">
                <a:solidFill>
                  <a:srgbClr val="BA2121"/>
                </a:solidFill>
                <a:latin typeface="Courier" pitchFamily="2" charset="0"/>
              </a:rPr>
              <a:t>prenom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:"</a:t>
            </a:r>
            <a:r>
              <a:rPr lang="fr-FR" sz="2000" dirty="0">
                <a:latin typeface="Courier" pitchFamily="2" charset="0"/>
              </a:rPr>
              <a:t>, liste[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104</a:t>
            </a:r>
            <a:r>
              <a:rPr lang="fr-FR" sz="2000" dirty="0">
                <a:latin typeface="Courier" pitchFamily="2" charset="0"/>
              </a:rPr>
              <a:t>]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 err="1">
                <a:latin typeface="Courier" pitchFamily="2" charset="0"/>
              </a:rPr>
              <a:t>prenom</a:t>
            </a:r>
            <a:r>
              <a:rPr lang="fr-FR" sz="2000" dirty="0">
                <a:latin typeface="Courier" pitchFamily="2" charset="0"/>
              </a:rPr>
              <a:t>)</a:t>
            </a:r>
          </a:p>
          <a:p>
            <a:pPr marL="0" indent="0">
              <a:buNone/>
            </a:pPr>
            <a:r>
              <a:rPr lang="fr-FR" sz="2000" b="1" dirty="0" err="1">
                <a:latin typeface="Courier" pitchFamily="2" charset="0"/>
              </a:rPr>
              <a:t>prenom</a:t>
            </a:r>
            <a:r>
              <a:rPr lang="fr-FR" sz="2000" b="1" dirty="0">
                <a:latin typeface="Courier" pitchFamily="2" charset="0"/>
              </a:rPr>
              <a:t>: Adam_104</a:t>
            </a:r>
            <a:endParaRPr lang="fr-FR" sz="2000" b="1" dirty="0">
              <a:solidFill>
                <a:srgbClr val="00800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</a:t>
            </a:r>
            <a:r>
              <a:rPr lang="fr-FR" sz="2000" dirty="0" err="1">
                <a:solidFill>
                  <a:srgbClr val="BA2121"/>
                </a:solidFill>
                <a:latin typeface="Courier" pitchFamily="2" charset="0"/>
              </a:rPr>
              <a:t>age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:"</a:t>
            </a:r>
            <a:r>
              <a:rPr lang="fr-FR" sz="2000" dirty="0">
                <a:latin typeface="Courier" pitchFamily="2" charset="0"/>
              </a:rPr>
              <a:t>, liste[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104</a:t>
            </a:r>
            <a:r>
              <a:rPr lang="fr-FR" sz="2000" dirty="0">
                <a:latin typeface="Courier" pitchFamily="2" charset="0"/>
              </a:rPr>
              <a:t>]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 err="1">
                <a:latin typeface="Courier" pitchFamily="2" charset="0"/>
              </a:rPr>
              <a:t>age</a:t>
            </a:r>
            <a:r>
              <a:rPr lang="fr-FR" sz="2000" dirty="0">
                <a:latin typeface="Courier" pitchFamily="2" charset="0"/>
              </a:rPr>
              <a:t>)</a:t>
            </a:r>
          </a:p>
          <a:p>
            <a:pPr marL="0" indent="0">
              <a:buNone/>
            </a:pPr>
            <a:r>
              <a:rPr lang="fr-FR" sz="2000" b="1" dirty="0" err="1">
                <a:latin typeface="Courier" pitchFamily="2" charset="0"/>
              </a:rPr>
              <a:t>age</a:t>
            </a:r>
            <a:r>
              <a:rPr lang="fr-FR" sz="2000" b="1" dirty="0">
                <a:latin typeface="Courier" pitchFamily="2" charset="0"/>
              </a:rPr>
              <a:t>: 33</a:t>
            </a:r>
          </a:p>
        </p:txBody>
      </p:sp>
    </p:spTree>
    <p:extLst>
      <p:ext uri="{BB962C8B-B14F-4D97-AF65-F5344CB8AC3E}">
        <p14:creationId xmlns:p14="http://schemas.microsoft.com/office/powerpoint/2010/main" val="853481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EEC1AAB-096E-C045-96CE-B2F8C2553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A7304C-087C-D645-8575-DE6A840E4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ABD519-8FA9-884B-8626-69CAEDA8DB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fr-FR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6009022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Méthode d’instance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35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853136"/>
          </a:xfrm>
        </p:spPr>
        <p:txBody>
          <a:bodyPr>
            <a:normAutofit/>
          </a:bodyPr>
          <a:lstStyle/>
          <a:p>
            <a:r>
              <a:rPr lang="fr-CH" dirty="0"/>
              <a:t>Une </a:t>
            </a:r>
            <a:r>
              <a:rPr lang="fr-CH" b="1" dirty="0"/>
              <a:t>méthode (d’instance)</a:t>
            </a:r>
            <a:r>
              <a:rPr lang="fr-CH" dirty="0"/>
              <a:t> est une fonction définie à l’intérieur d’une classe et qui agit sur les objets de la classe :</a:t>
            </a:r>
          </a:p>
          <a:p>
            <a:r>
              <a:rPr lang="fr-FR" dirty="0"/>
              <a:t>Pour indiquer que la méthode agit sur les objets, on donne Le paramètre </a:t>
            </a:r>
            <a:r>
              <a:rPr lang="fr-FR" sz="2400" b="1" dirty="0">
                <a:latin typeface="Courier" pitchFamily="2" charset="0"/>
              </a:rPr>
              <a:t>self</a:t>
            </a:r>
            <a:r>
              <a:rPr lang="fr-FR" dirty="0"/>
              <a:t>.</a:t>
            </a:r>
            <a:endParaRPr lang="fr-CH" dirty="0"/>
          </a:p>
          <a:p>
            <a:pPr marL="0" indent="0">
              <a:buNone/>
            </a:pPr>
            <a:r>
              <a:rPr lang="fr-FR" sz="2400" b="1" dirty="0">
                <a:solidFill>
                  <a:srgbClr val="008000"/>
                </a:solidFill>
                <a:latin typeface="Courier" pitchFamily="2" charset="0"/>
              </a:rPr>
              <a:t>class</a:t>
            </a:r>
            <a:r>
              <a:rPr lang="fr-FR" sz="24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400" b="1" dirty="0" err="1">
                <a:solidFill>
                  <a:srgbClr val="0000FF"/>
                </a:solidFill>
                <a:latin typeface="Courier" pitchFamily="2" charset="0"/>
              </a:rPr>
              <a:t>NomClasse</a:t>
            </a:r>
            <a:r>
              <a:rPr lang="fr-FR" sz="2400" dirty="0">
                <a:solidFill>
                  <a:srgbClr val="000000"/>
                </a:solidFill>
                <a:latin typeface="Courier" pitchFamily="2" charset="0"/>
              </a:rPr>
              <a:t>:</a:t>
            </a:r>
            <a:endParaRPr lang="fr-FR" sz="2400" dirty="0">
              <a:solidFill>
                <a:srgbClr val="0000F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400" b="1" dirty="0">
                <a:solidFill>
                  <a:srgbClr val="0000FF"/>
                </a:solidFill>
                <a:latin typeface="Courier" pitchFamily="2" charset="0"/>
              </a:rPr>
              <a:t>	</a:t>
            </a:r>
            <a:r>
              <a:rPr lang="fr-FR" sz="2400" b="1" dirty="0" err="1">
                <a:solidFill>
                  <a:srgbClr val="008000"/>
                </a:solidFill>
                <a:latin typeface="Courier" pitchFamily="2" charset="0"/>
              </a:rPr>
              <a:t>def</a:t>
            </a:r>
            <a:r>
              <a:rPr lang="fr-FR" sz="2400" dirty="0">
                <a:latin typeface="Courier" pitchFamily="2" charset="0"/>
              </a:rPr>
              <a:t> </a:t>
            </a:r>
            <a:r>
              <a:rPr lang="fr-FR" sz="2400" dirty="0">
                <a:solidFill>
                  <a:srgbClr val="0000FF"/>
                </a:solidFill>
                <a:latin typeface="Courier" pitchFamily="2" charset="0"/>
              </a:rPr>
              <a:t>__</a:t>
            </a:r>
            <a:r>
              <a:rPr lang="fr-FR" sz="2400" dirty="0" err="1">
                <a:solidFill>
                  <a:srgbClr val="0000FF"/>
                </a:solidFill>
                <a:latin typeface="Courier" pitchFamily="2" charset="0"/>
              </a:rPr>
              <a:t>init</a:t>
            </a:r>
            <a:r>
              <a:rPr lang="fr-FR" sz="2400" dirty="0">
                <a:solidFill>
                  <a:srgbClr val="0000FF"/>
                </a:solidFill>
                <a:latin typeface="Courier" pitchFamily="2" charset="0"/>
              </a:rPr>
              <a:t>__</a:t>
            </a:r>
            <a:r>
              <a:rPr lang="fr-FR" sz="2400" dirty="0">
                <a:latin typeface="Courier" pitchFamily="2" charset="0"/>
              </a:rPr>
              <a:t>(</a:t>
            </a:r>
            <a:r>
              <a:rPr lang="fr-FR" sz="2400" dirty="0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400" dirty="0">
                <a:latin typeface="Courier" pitchFamily="2" charset="0"/>
              </a:rPr>
              <a:t>):</a:t>
            </a:r>
          </a:p>
          <a:p>
            <a:pPr marL="0" indent="0">
              <a:buNone/>
            </a:pPr>
            <a:r>
              <a:rPr lang="fr-FR" sz="2400" dirty="0">
                <a:latin typeface="Courier" pitchFamily="2" charset="0"/>
              </a:rPr>
              <a:t>		...</a:t>
            </a:r>
          </a:p>
          <a:p>
            <a:pPr marL="0" indent="0">
              <a:buNone/>
            </a:pPr>
            <a:r>
              <a:rPr lang="fr-FR" sz="2400" dirty="0">
                <a:latin typeface="Courier" pitchFamily="2" charset="0"/>
              </a:rPr>
              <a:t>	</a:t>
            </a:r>
            <a:r>
              <a:rPr lang="fr-FR" sz="2400" b="1" dirty="0" err="1">
                <a:solidFill>
                  <a:srgbClr val="008000"/>
                </a:solidFill>
                <a:latin typeface="Courier" pitchFamily="2" charset="0"/>
              </a:rPr>
              <a:t>def</a:t>
            </a:r>
            <a:r>
              <a:rPr lang="fr-FR" sz="2400" dirty="0">
                <a:latin typeface="Courier" pitchFamily="2" charset="0"/>
              </a:rPr>
              <a:t> </a:t>
            </a:r>
            <a:r>
              <a:rPr lang="fr-FR" sz="2400" dirty="0" err="1">
                <a:solidFill>
                  <a:srgbClr val="0000FF"/>
                </a:solidFill>
                <a:latin typeface="Courier" pitchFamily="2" charset="0"/>
              </a:rPr>
              <a:t>methode</a:t>
            </a:r>
            <a:r>
              <a:rPr lang="fr-FR" sz="2400" dirty="0">
                <a:latin typeface="Courier" pitchFamily="2" charset="0"/>
              </a:rPr>
              <a:t>(</a:t>
            </a:r>
            <a:r>
              <a:rPr lang="fr-FR" sz="2400" dirty="0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400" dirty="0">
                <a:latin typeface="Courier" pitchFamily="2" charset="0"/>
              </a:rPr>
              <a:t>,par1,par2,...):</a:t>
            </a:r>
          </a:p>
          <a:p>
            <a:pPr marL="0" indent="0">
              <a:buNone/>
            </a:pPr>
            <a:r>
              <a:rPr lang="fr-FR" sz="2400" dirty="0">
                <a:latin typeface="Courier" pitchFamily="2" charset="0"/>
              </a:rPr>
              <a:t>		...</a:t>
            </a:r>
          </a:p>
        </p:txBody>
      </p:sp>
    </p:spTree>
    <p:extLst>
      <p:ext uri="{BB962C8B-B14F-4D97-AF65-F5344CB8AC3E}">
        <p14:creationId xmlns:p14="http://schemas.microsoft.com/office/powerpoint/2010/main" val="331820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Méthode d’instance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36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853136"/>
          </a:xfrm>
        </p:spPr>
        <p:txBody>
          <a:bodyPr>
            <a:normAutofit/>
          </a:bodyPr>
          <a:lstStyle/>
          <a:p>
            <a:r>
              <a:rPr lang="fr-CH" dirty="0"/>
              <a:t>Pour appliquer une méthode (d’instance) </a:t>
            </a:r>
            <a:r>
              <a:rPr lang="fr-CH" sz="2400" dirty="0" err="1">
                <a:latin typeface="Courier" pitchFamily="2" charset="0"/>
              </a:rPr>
              <a:t>methode</a:t>
            </a:r>
            <a:r>
              <a:rPr lang="fr-CH" sz="2400" dirty="0">
                <a:latin typeface="Courier" pitchFamily="2" charset="0"/>
              </a:rPr>
              <a:t>()</a:t>
            </a:r>
            <a:r>
              <a:rPr lang="fr-CH" dirty="0"/>
              <a:t> à un objet </a:t>
            </a:r>
            <a:r>
              <a:rPr lang="fr-FR" sz="2400" dirty="0">
                <a:latin typeface="Courier" pitchFamily="2" charset="0"/>
              </a:rPr>
              <a:t>objet</a:t>
            </a:r>
            <a:r>
              <a:rPr lang="fr-CH" dirty="0"/>
              <a:t>, on utilise la syntaxe :</a:t>
            </a:r>
          </a:p>
          <a:p>
            <a:pPr marL="0" indent="0">
              <a:buNone/>
            </a:pPr>
            <a:r>
              <a:rPr lang="fr-FR" sz="2400" dirty="0" err="1">
                <a:latin typeface="Courier" pitchFamily="2" charset="0"/>
              </a:rPr>
              <a:t>objet.methode</a:t>
            </a:r>
            <a:r>
              <a:rPr lang="fr-FR" sz="2400" dirty="0">
                <a:latin typeface="Courier" pitchFamily="2" charset="0"/>
              </a:rPr>
              <a:t>(par1,par2,...)</a:t>
            </a:r>
          </a:p>
          <a:p>
            <a:pPr marL="0" indent="0">
              <a:buNone/>
            </a:pPr>
            <a:endParaRPr lang="fr-FR" sz="2400" dirty="0">
              <a:latin typeface="Courier" pitchFamily="2" charset="0"/>
            </a:endParaRPr>
          </a:p>
          <a:p>
            <a:pPr marL="0" indent="0">
              <a:buNone/>
            </a:pPr>
            <a:endParaRPr lang="fr-FR" sz="24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775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37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853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b="1" dirty="0">
                <a:solidFill>
                  <a:srgbClr val="008000"/>
                </a:solidFill>
                <a:latin typeface="Courier" pitchFamily="2" charset="0"/>
              </a:rPr>
              <a:t>class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b="1" dirty="0">
                <a:solidFill>
                  <a:srgbClr val="0000FF"/>
                </a:solidFill>
                <a:latin typeface="Courier" pitchFamily="2" charset="0"/>
              </a:rPr>
              <a:t>Humain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:</a:t>
            </a:r>
          </a:p>
          <a:p>
            <a:pPr marL="0" indent="0">
              <a:buNone/>
            </a:pP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    </a:t>
            </a:r>
            <a:r>
              <a:rPr lang="fr-FR" sz="2000" dirty="0" err="1">
                <a:latin typeface="Courier" pitchFamily="2" charset="0"/>
              </a:rPr>
              <a:t>lieu_habitation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"Terre"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attribut de classe</a:t>
            </a: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    </a:t>
            </a: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def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0000FF"/>
                </a:solidFill>
                <a:latin typeface="Courier" pitchFamily="2" charset="0"/>
              </a:rPr>
              <a:t>__</a:t>
            </a:r>
            <a:r>
              <a:rPr lang="fr-FR" sz="2000" dirty="0" err="1">
                <a:solidFill>
                  <a:srgbClr val="0000FF"/>
                </a:solidFill>
                <a:latin typeface="Courier" pitchFamily="2" charset="0"/>
              </a:rPr>
              <a:t>init</a:t>
            </a:r>
            <a:r>
              <a:rPr lang="fr-FR" sz="2000" dirty="0">
                <a:solidFill>
                  <a:srgbClr val="0000FF"/>
                </a:solidFill>
                <a:latin typeface="Courier" pitchFamily="2" charset="0"/>
              </a:rPr>
              <a:t>__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>
                <a:latin typeface="Courier" pitchFamily="2" charset="0"/>
              </a:rPr>
              <a:t>, nom, </a:t>
            </a:r>
            <a:r>
              <a:rPr lang="fr-FR" sz="2000" dirty="0" err="1">
                <a:latin typeface="Courier" pitchFamily="2" charset="0"/>
              </a:rPr>
              <a:t>age</a:t>
            </a:r>
            <a:r>
              <a:rPr lang="fr-FR" sz="2000" dirty="0">
                <a:latin typeface="Courier" pitchFamily="2" charset="0"/>
              </a:rPr>
              <a:t>):</a:t>
            </a:r>
          </a:p>
          <a:p>
            <a:pPr marL="0" indent="0">
              <a:buNone/>
            </a:pP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        </a:t>
            </a:r>
            <a:r>
              <a:rPr lang="fr-FR" sz="2000" dirty="0" err="1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 err="1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 err="1">
                <a:solidFill>
                  <a:srgbClr val="000000"/>
                </a:solidFill>
                <a:latin typeface="Courier" pitchFamily="2" charset="0"/>
              </a:rPr>
              <a:t>nom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nom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attribut (d'instance)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        </a:t>
            </a:r>
            <a:r>
              <a:rPr lang="fr-FR" sz="2000" dirty="0" err="1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 err="1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 err="1">
                <a:solidFill>
                  <a:srgbClr val="000000"/>
                </a:solidFill>
                <a:latin typeface="Courier" pitchFamily="2" charset="0"/>
              </a:rPr>
              <a:t>age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dirty="0" err="1">
                <a:solidFill>
                  <a:srgbClr val="000000"/>
                </a:solidFill>
                <a:latin typeface="Courier" pitchFamily="2" charset="0"/>
              </a:rPr>
              <a:t>age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attribut (d'instance)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    </a:t>
            </a: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def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0000FF"/>
                </a:solidFill>
                <a:latin typeface="Courier" pitchFamily="2" charset="0"/>
              </a:rPr>
              <a:t>parler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, message):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 méthode (d'instance)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        </a:t>
            </a: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 err="1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 err="1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 err="1">
                <a:latin typeface="Courier" pitchFamily="2" charset="0"/>
              </a:rPr>
              <a:t>nom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+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 dit: "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+</a:t>
            </a:r>
            <a:r>
              <a:rPr lang="fr-FR" sz="2000" dirty="0">
                <a:latin typeface="Courier" pitchFamily="2" charset="0"/>
              </a:rPr>
              <a:t> message)</a:t>
            </a:r>
          </a:p>
        </p:txBody>
      </p:sp>
    </p:spTree>
    <p:extLst>
      <p:ext uri="{BB962C8B-B14F-4D97-AF65-F5344CB8AC3E}">
        <p14:creationId xmlns:p14="http://schemas.microsoft.com/office/powerpoint/2010/main" val="2356110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38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853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création d'un objet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h1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latin typeface="Courier" pitchFamily="2" charset="0"/>
              </a:rPr>
              <a:t> Humain(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"Dan"</a:t>
            </a:r>
            <a:r>
              <a:rPr lang="fr-FR" sz="2000" dirty="0">
                <a:latin typeface="Courier" pitchFamily="2" charset="0"/>
              </a:rPr>
              <a:t>,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23</a:t>
            </a:r>
            <a:r>
              <a:rPr lang="fr-FR" sz="2000" dirty="0">
                <a:latin typeface="Courier" pitchFamily="2" charset="0"/>
              </a:rPr>
              <a:t>)</a:t>
            </a:r>
          </a:p>
          <a:p>
            <a:pPr marL="0" indent="0"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application d'une méthode (d'instance)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h1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latin typeface="Courier" pitchFamily="2" charset="0"/>
              </a:rPr>
              <a:t>parler(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"Salut!"</a:t>
            </a:r>
            <a:r>
              <a:rPr lang="fr-FR" sz="2000" dirty="0">
                <a:latin typeface="Courier" pitchFamily="2" charset="0"/>
              </a:rPr>
              <a:t>)</a:t>
            </a:r>
          </a:p>
          <a:p>
            <a:pPr marL="0" indent="0">
              <a:buNone/>
            </a:pPr>
            <a:r>
              <a:rPr lang="fr-FR" sz="2000" b="1" dirty="0">
                <a:latin typeface="Courier" pitchFamily="2" charset="0"/>
              </a:rPr>
              <a:t>Dan dit: Salut!</a:t>
            </a: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application d'une méthode (d'instance)</a:t>
            </a:r>
            <a:endParaRPr lang="fr-FR" sz="2000" dirty="0">
              <a:solidFill>
                <a:srgbClr val="00000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h1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parler(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"Au revoir..."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)</a:t>
            </a:r>
          </a:p>
          <a:p>
            <a:pPr marL="0" indent="0">
              <a:buNone/>
            </a:pPr>
            <a:r>
              <a:rPr lang="fr-FR" sz="2000" b="1" dirty="0">
                <a:latin typeface="Courier" pitchFamily="2" charset="0"/>
              </a:rPr>
              <a:t>Dan dit: Au revoir...</a:t>
            </a:r>
            <a:endParaRPr lang="fr-FR" sz="2000" b="1" dirty="0">
              <a:solidFill>
                <a:srgbClr val="BA2121"/>
              </a:solidFill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0887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Méthode de classe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39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5257800"/>
          </a:xfrm>
        </p:spPr>
        <p:txBody>
          <a:bodyPr>
            <a:normAutofit lnSpcReduction="10000"/>
          </a:bodyPr>
          <a:lstStyle/>
          <a:p>
            <a:r>
              <a:rPr lang="fr-CH" dirty="0"/>
              <a:t>Une </a:t>
            </a:r>
            <a:r>
              <a:rPr lang="fr-CH" b="1" dirty="0"/>
              <a:t>méthode de classe</a:t>
            </a:r>
            <a:r>
              <a:rPr lang="fr-CH" dirty="0"/>
              <a:t> est une fonction définie à l’intérieur d’une classe, mais qui agit sur la classe totale (ses attributs), au lieu d’agir sur ses objets.</a:t>
            </a:r>
          </a:p>
          <a:p>
            <a:r>
              <a:rPr lang="fr-FR" dirty="0"/>
              <a:t>Pour indiquer que la méthode agit sur la classe, on donne le paramètre </a:t>
            </a:r>
            <a:r>
              <a:rPr lang="fr-FR" sz="2400" b="1" dirty="0" err="1">
                <a:latin typeface="Courier" pitchFamily="2" charset="0"/>
              </a:rPr>
              <a:t>cls</a:t>
            </a:r>
            <a:r>
              <a:rPr lang="fr-FR" dirty="0"/>
              <a:t> ainsi qu’une instruction supplémentaire </a:t>
            </a:r>
            <a:r>
              <a:rPr lang="fr-FR" sz="2400" b="1" dirty="0" err="1">
                <a:latin typeface="Courier" pitchFamily="2" charset="0"/>
              </a:rPr>
              <a:t>classmethod</a:t>
            </a:r>
            <a:r>
              <a:rPr lang="fr-FR" sz="2400" b="1" dirty="0">
                <a:latin typeface="Courier" pitchFamily="2" charset="0"/>
              </a:rPr>
              <a:t>()</a:t>
            </a:r>
            <a:r>
              <a:rPr lang="fr-FR" dirty="0"/>
              <a:t>:</a:t>
            </a:r>
            <a:endParaRPr lang="fr-CH" dirty="0"/>
          </a:p>
          <a:p>
            <a:pPr marL="0" indent="0">
              <a:buNone/>
            </a:pPr>
            <a:r>
              <a:rPr lang="fr-FR" sz="2400" b="1" dirty="0">
                <a:solidFill>
                  <a:srgbClr val="008000"/>
                </a:solidFill>
                <a:latin typeface="Courier" pitchFamily="2" charset="0"/>
              </a:rPr>
              <a:t>class</a:t>
            </a:r>
            <a:r>
              <a:rPr lang="fr-FR" sz="24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400" b="1" dirty="0" err="1">
                <a:solidFill>
                  <a:srgbClr val="0000FF"/>
                </a:solidFill>
                <a:latin typeface="Courier" pitchFamily="2" charset="0"/>
              </a:rPr>
              <a:t>NomClasse</a:t>
            </a:r>
            <a:r>
              <a:rPr lang="fr-FR" sz="2400" dirty="0">
                <a:solidFill>
                  <a:srgbClr val="000000"/>
                </a:solidFill>
                <a:latin typeface="Courier" pitchFamily="2" charset="0"/>
              </a:rPr>
              <a:t>:</a:t>
            </a:r>
            <a:endParaRPr lang="fr-FR" sz="2400" dirty="0">
              <a:solidFill>
                <a:srgbClr val="0000F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400" b="1" dirty="0">
                <a:solidFill>
                  <a:srgbClr val="0000FF"/>
                </a:solidFill>
                <a:latin typeface="Courier" pitchFamily="2" charset="0"/>
              </a:rPr>
              <a:t>	</a:t>
            </a:r>
            <a:r>
              <a:rPr lang="fr-FR" sz="2400" b="1" dirty="0" err="1">
                <a:solidFill>
                  <a:srgbClr val="008000"/>
                </a:solidFill>
                <a:latin typeface="Courier" pitchFamily="2" charset="0"/>
              </a:rPr>
              <a:t>def</a:t>
            </a:r>
            <a:r>
              <a:rPr lang="fr-FR" sz="2400" dirty="0">
                <a:latin typeface="Courier" pitchFamily="2" charset="0"/>
              </a:rPr>
              <a:t> </a:t>
            </a:r>
            <a:r>
              <a:rPr lang="fr-FR" sz="2400" dirty="0">
                <a:solidFill>
                  <a:srgbClr val="0000FF"/>
                </a:solidFill>
                <a:latin typeface="Courier" pitchFamily="2" charset="0"/>
              </a:rPr>
              <a:t>__</a:t>
            </a:r>
            <a:r>
              <a:rPr lang="fr-FR" sz="2400" dirty="0" err="1">
                <a:solidFill>
                  <a:srgbClr val="0000FF"/>
                </a:solidFill>
                <a:latin typeface="Courier" pitchFamily="2" charset="0"/>
              </a:rPr>
              <a:t>init</a:t>
            </a:r>
            <a:r>
              <a:rPr lang="fr-FR" sz="2400" dirty="0">
                <a:solidFill>
                  <a:srgbClr val="0000FF"/>
                </a:solidFill>
                <a:latin typeface="Courier" pitchFamily="2" charset="0"/>
              </a:rPr>
              <a:t>__</a:t>
            </a:r>
            <a:r>
              <a:rPr lang="fr-FR" sz="2400" dirty="0">
                <a:latin typeface="Courier" pitchFamily="2" charset="0"/>
              </a:rPr>
              <a:t>(</a:t>
            </a:r>
            <a:r>
              <a:rPr lang="fr-FR" sz="2400" dirty="0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400" dirty="0">
                <a:latin typeface="Courier" pitchFamily="2" charset="0"/>
              </a:rPr>
              <a:t>):</a:t>
            </a:r>
          </a:p>
          <a:p>
            <a:pPr marL="0" indent="0">
              <a:buNone/>
            </a:pPr>
            <a:r>
              <a:rPr lang="fr-FR" sz="2400" dirty="0">
                <a:latin typeface="Courier" pitchFamily="2" charset="0"/>
              </a:rPr>
              <a:t>		...</a:t>
            </a:r>
          </a:p>
          <a:p>
            <a:pPr marL="0" indent="0">
              <a:buNone/>
            </a:pPr>
            <a:r>
              <a:rPr lang="fr-FR" sz="2400" dirty="0">
                <a:latin typeface="Courier" pitchFamily="2" charset="0"/>
              </a:rPr>
              <a:t>	</a:t>
            </a:r>
            <a:r>
              <a:rPr lang="fr-FR" sz="2400" b="1" dirty="0" err="1">
                <a:solidFill>
                  <a:srgbClr val="008000"/>
                </a:solidFill>
                <a:latin typeface="Courier" pitchFamily="2" charset="0"/>
              </a:rPr>
              <a:t>def</a:t>
            </a:r>
            <a:r>
              <a:rPr lang="fr-FR" sz="2400" dirty="0">
                <a:latin typeface="Courier" pitchFamily="2" charset="0"/>
              </a:rPr>
              <a:t> </a:t>
            </a:r>
            <a:r>
              <a:rPr lang="fr-FR" sz="2400" dirty="0" err="1">
                <a:solidFill>
                  <a:srgbClr val="0000FF"/>
                </a:solidFill>
                <a:latin typeface="Courier" pitchFamily="2" charset="0"/>
              </a:rPr>
              <a:t>methode_c</a:t>
            </a:r>
            <a:r>
              <a:rPr lang="fr-FR" sz="2400" dirty="0">
                <a:latin typeface="Courier" pitchFamily="2" charset="0"/>
              </a:rPr>
              <a:t>(</a:t>
            </a:r>
            <a:r>
              <a:rPr lang="fr-FR" sz="2400" dirty="0">
                <a:solidFill>
                  <a:srgbClr val="008000"/>
                </a:solidFill>
                <a:latin typeface="Courier" pitchFamily="2" charset="0"/>
              </a:rPr>
              <a:t>cls</a:t>
            </a:r>
            <a:r>
              <a:rPr lang="fr-FR" sz="2400" b="1" dirty="0">
                <a:latin typeface="Courier" pitchFamily="2" charset="0"/>
              </a:rPr>
              <a:t>,</a:t>
            </a:r>
            <a:r>
              <a:rPr lang="fr-FR" sz="2400" dirty="0">
                <a:latin typeface="Courier" pitchFamily="2" charset="0"/>
              </a:rPr>
              <a:t>par1,par2,...):</a:t>
            </a:r>
          </a:p>
          <a:p>
            <a:pPr marL="0" indent="0">
              <a:buNone/>
            </a:pPr>
            <a:r>
              <a:rPr lang="fr-FR" sz="2400" dirty="0">
                <a:latin typeface="Courier" pitchFamily="2" charset="0"/>
              </a:rPr>
              <a:t>		...</a:t>
            </a:r>
          </a:p>
          <a:p>
            <a:pPr marL="0" indent="0">
              <a:buNone/>
            </a:pPr>
            <a:r>
              <a:rPr lang="fr-FR" sz="2400" dirty="0">
                <a:latin typeface="Courier" pitchFamily="2" charset="0"/>
              </a:rPr>
              <a:t>	</a:t>
            </a:r>
            <a:r>
              <a:rPr lang="fr-FR" sz="2400" dirty="0" err="1">
                <a:latin typeface="Courier" pitchFamily="2" charset="0"/>
              </a:rPr>
              <a:t>methode_c</a:t>
            </a:r>
            <a:r>
              <a:rPr lang="fr-FR" sz="2400" dirty="0">
                <a:solidFill>
                  <a:srgbClr val="0000FF"/>
                </a:solidFill>
                <a:latin typeface="Courier" pitchFamily="2" charset="0"/>
              </a:rPr>
              <a:t> = </a:t>
            </a:r>
            <a:r>
              <a:rPr lang="fr-FR" sz="2400" dirty="0" err="1">
                <a:solidFill>
                  <a:srgbClr val="008000"/>
                </a:solidFill>
                <a:latin typeface="Courier" pitchFamily="2" charset="0"/>
              </a:rPr>
              <a:t>classmethod</a:t>
            </a:r>
            <a:r>
              <a:rPr lang="fr-FR" sz="2400" dirty="0">
                <a:latin typeface="Courier" pitchFamily="2" charset="0"/>
              </a:rPr>
              <a:t>(</a:t>
            </a:r>
            <a:r>
              <a:rPr lang="fr-FR" sz="2400" dirty="0" err="1">
                <a:latin typeface="Courier" pitchFamily="2" charset="0"/>
              </a:rPr>
              <a:t>methode_c</a:t>
            </a:r>
            <a:r>
              <a:rPr lang="fr-FR" sz="2400" dirty="0">
                <a:latin typeface="Courier" pitchFamily="2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01131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Méthode de classe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40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853136"/>
          </a:xfrm>
        </p:spPr>
        <p:txBody>
          <a:bodyPr>
            <a:normAutofit/>
          </a:bodyPr>
          <a:lstStyle/>
          <a:p>
            <a:r>
              <a:rPr lang="fr-CH" dirty="0"/>
              <a:t>Pour appliquer une méthode de classe </a:t>
            </a:r>
            <a:r>
              <a:rPr lang="fr-CH" sz="2400" dirty="0" err="1">
                <a:latin typeface="Courier" pitchFamily="2" charset="0"/>
              </a:rPr>
              <a:t>methode_c</a:t>
            </a:r>
            <a:r>
              <a:rPr lang="fr-CH" sz="2400" dirty="0">
                <a:latin typeface="Courier" pitchFamily="2" charset="0"/>
              </a:rPr>
              <a:t>()</a:t>
            </a:r>
            <a:r>
              <a:rPr lang="fr-CH" dirty="0"/>
              <a:t> à une classe </a:t>
            </a:r>
            <a:r>
              <a:rPr lang="fr-FR" sz="2400" dirty="0">
                <a:latin typeface="Courier" pitchFamily="2" charset="0"/>
              </a:rPr>
              <a:t>classe</a:t>
            </a:r>
            <a:r>
              <a:rPr lang="fr-CH" dirty="0"/>
              <a:t>, on utilise la syntaxe :</a:t>
            </a:r>
          </a:p>
          <a:p>
            <a:pPr marL="0" indent="0">
              <a:buNone/>
            </a:pPr>
            <a:r>
              <a:rPr lang="fr-FR" sz="2400" dirty="0" err="1">
                <a:latin typeface="Courier" pitchFamily="2" charset="0"/>
              </a:rPr>
              <a:t>classe.methode_c</a:t>
            </a:r>
            <a:r>
              <a:rPr lang="fr-FR" sz="2400" dirty="0">
                <a:latin typeface="Courier" pitchFamily="2" charset="0"/>
              </a:rPr>
              <a:t>(par1,par2,...)</a:t>
            </a:r>
          </a:p>
          <a:p>
            <a:pPr marL="0" indent="0">
              <a:buNone/>
            </a:pPr>
            <a:endParaRPr lang="fr-FR" sz="2400" dirty="0">
              <a:latin typeface="Courier" pitchFamily="2" charset="0"/>
            </a:endParaRPr>
          </a:p>
          <a:p>
            <a:pPr marL="0" indent="0">
              <a:buNone/>
            </a:pPr>
            <a:endParaRPr lang="fr-FR" sz="24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486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41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5257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b="1" dirty="0">
                <a:solidFill>
                  <a:srgbClr val="008000"/>
                </a:solidFill>
                <a:latin typeface="Courier" pitchFamily="2" charset="0"/>
              </a:rPr>
              <a:t>class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b="1" dirty="0">
                <a:solidFill>
                  <a:srgbClr val="0000FF"/>
                </a:solidFill>
                <a:latin typeface="Courier" pitchFamily="2" charset="0"/>
              </a:rPr>
              <a:t>Humain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:</a:t>
            </a:r>
          </a:p>
          <a:p>
            <a:pPr marL="0" indent="0">
              <a:buNone/>
            </a:pP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    </a:t>
            </a:r>
            <a:r>
              <a:rPr lang="fr-FR" sz="2000" dirty="0" err="1">
                <a:latin typeface="Courier" pitchFamily="2" charset="0"/>
              </a:rPr>
              <a:t>lieu_habitation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"Terre"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attribut de classe</a:t>
            </a: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    </a:t>
            </a: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def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0000FF"/>
                </a:solidFill>
                <a:latin typeface="Courier" pitchFamily="2" charset="0"/>
              </a:rPr>
              <a:t>__</a:t>
            </a:r>
            <a:r>
              <a:rPr lang="fr-FR" sz="2000" dirty="0" err="1">
                <a:solidFill>
                  <a:srgbClr val="0000FF"/>
                </a:solidFill>
                <a:latin typeface="Courier" pitchFamily="2" charset="0"/>
              </a:rPr>
              <a:t>init</a:t>
            </a:r>
            <a:r>
              <a:rPr lang="fr-FR" sz="2000" dirty="0">
                <a:solidFill>
                  <a:srgbClr val="0000FF"/>
                </a:solidFill>
                <a:latin typeface="Courier" pitchFamily="2" charset="0"/>
              </a:rPr>
              <a:t>__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>
                <a:latin typeface="Courier" pitchFamily="2" charset="0"/>
              </a:rPr>
              <a:t>, nom, </a:t>
            </a:r>
            <a:r>
              <a:rPr lang="fr-FR" sz="2000" dirty="0" err="1">
                <a:latin typeface="Courier" pitchFamily="2" charset="0"/>
              </a:rPr>
              <a:t>age</a:t>
            </a:r>
            <a:r>
              <a:rPr lang="fr-FR" sz="2000" dirty="0">
                <a:latin typeface="Courier" pitchFamily="2" charset="0"/>
              </a:rPr>
              <a:t>):</a:t>
            </a:r>
          </a:p>
          <a:p>
            <a:pPr marL="0" indent="0">
              <a:buNone/>
            </a:pP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        </a:t>
            </a:r>
            <a:r>
              <a:rPr lang="fr-FR" sz="2000" dirty="0" err="1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 err="1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 err="1">
                <a:solidFill>
                  <a:srgbClr val="000000"/>
                </a:solidFill>
                <a:latin typeface="Courier" pitchFamily="2" charset="0"/>
              </a:rPr>
              <a:t>nom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nom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attribut (d'instance)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        </a:t>
            </a:r>
            <a:r>
              <a:rPr lang="fr-FR" sz="2000" dirty="0" err="1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 err="1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 err="1">
                <a:solidFill>
                  <a:srgbClr val="000000"/>
                </a:solidFill>
                <a:latin typeface="Courier" pitchFamily="2" charset="0"/>
              </a:rPr>
              <a:t>age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dirty="0" err="1">
                <a:solidFill>
                  <a:srgbClr val="000000"/>
                </a:solidFill>
                <a:latin typeface="Courier" pitchFamily="2" charset="0"/>
              </a:rPr>
              <a:t>age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attribut (d'instance)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	</a:t>
            </a:r>
          </a:p>
          <a:p>
            <a:pPr marL="0" indent="0"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    # méthode de classe</a:t>
            </a: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b="1" dirty="0">
                <a:solidFill>
                  <a:srgbClr val="008000"/>
                </a:solidFill>
                <a:latin typeface="Courier" pitchFamily="2" charset="0"/>
              </a:rPr>
              <a:t>    </a:t>
            </a: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def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 err="1">
                <a:solidFill>
                  <a:srgbClr val="0000FF"/>
                </a:solidFill>
                <a:latin typeface="Courier" pitchFamily="2" charset="0"/>
              </a:rPr>
              <a:t>changer_planete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 err="1">
                <a:solidFill>
                  <a:srgbClr val="008000"/>
                </a:solidFill>
                <a:latin typeface="Courier" pitchFamily="2" charset="0"/>
              </a:rPr>
              <a:t>cls</a:t>
            </a:r>
            <a:r>
              <a:rPr lang="fr-FR" sz="2000" dirty="0">
                <a:latin typeface="Courier" pitchFamily="2" charset="0"/>
              </a:rPr>
              <a:t>, </a:t>
            </a:r>
            <a:r>
              <a:rPr lang="fr-FR" sz="2000" dirty="0" err="1">
                <a:latin typeface="Courier" pitchFamily="2" charset="0"/>
              </a:rPr>
              <a:t>nouvelle_planete</a:t>
            </a:r>
            <a:r>
              <a:rPr lang="fr-FR" sz="2000" dirty="0">
                <a:latin typeface="Courier" pitchFamily="2" charset="0"/>
              </a:rPr>
              <a:t>):</a:t>
            </a: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        </a:t>
            </a:r>
            <a:r>
              <a:rPr lang="fr-FR" sz="2000" dirty="0" err="1">
                <a:latin typeface="Courier" pitchFamily="2" charset="0"/>
              </a:rPr>
              <a:t>Humain</a:t>
            </a:r>
            <a:r>
              <a:rPr lang="fr-FR" sz="2000" dirty="0" err="1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 err="1">
                <a:latin typeface="Courier" pitchFamily="2" charset="0"/>
              </a:rPr>
              <a:t>lieu_habitation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 err="1">
                <a:latin typeface="Courier" pitchFamily="2" charset="0"/>
              </a:rPr>
              <a:t>nouvelle_planete</a:t>
            </a: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    </a:t>
            </a:r>
            <a:r>
              <a:rPr lang="fr-FR" sz="2000" dirty="0" err="1">
                <a:latin typeface="Courier" pitchFamily="2" charset="0"/>
              </a:rPr>
              <a:t>changer_planete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 err="1">
                <a:solidFill>
                  <a:srgbClr val="008000"/>
                </a:solidFill>
                <a:latin typeface="Courier" pitchFamily="2" charset="0"/>
              </a:rPr>
              <a:t>classmethod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 err="1">
                <a:latin typeface="Courier" pitchFamily="2" charset="0"/>
              </a:rPr>
              <a:t>changer_planete</a:t>
            </a:r>
            <a:r>
              <a:rPr lang="fr-FR" sz="2000" dirty="0">
                <a:latin typeface="Courier" pitchFamily="2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16673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42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853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application d'une méthode de classe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 err="1">
                <a:latin typeface="Courier" pitchFamily="2" charset="0"/>
              </a:rPr>
              <a:t>Humain</a:t>
            </a:r>
            <a:r>
              <a:rPr lang="fr-FR" sz="2000" dirty="0" err="1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 err="1">
                <a:latin typeface="Courier" pitchFamily="2" charset="0"/>
              </a:rPr>
              <a:t>lieu_habitation</a:t>
            </a:r>
            <a:r>
              <a:rPr lang="fr-FR" sz="2000" dirty="0">
                <a:latin typeface="Courier" pitchFamily="2" charset="0"/>
              </a:rPr>
              <a:t>)</a:t>
            </a:r>
          </a:p>
          <a:p>
            <a:pPr marL="0" indent="0">
              <a:buNone/>
            </a:pPr>
            <a:r>
              <a:rPr lang="fr-FR" sz="2000" b="1" dirty="0">
                <a:latin typeface="Courier" pitchFamily="2" charset="0"/>
              </a:rPr>
              <a:t>Terre</a:t>
            </a:r>
          </a:p>
          <a:p>
            <a:pPr marL="0" indent="0">
              <a:buNone/>
            </a:pPr>
            <a:r>
              <a:rPr lang="fr-FR" sz="2000" dirty="0" err="1">
                <a:latin typeface="Courier" pitchFamily="2" charset="0"/>
              </a:rPr>
              <a:t>Humain</a:t>
            </a:r>
            <a:r>
              <a:rPr lang="fr-FR" sz="2000" dirty="0" err="1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 err="1">
                <a:latin typeface="Courier" pitchFamily="2" charset="0"/>
              </a:rPr>
              <a:t>changer_planete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"Mars"</a:t>
            </a:r>
            <a:r>
              <a:rPr lang="fr-FR" sz="2000" dirty="0">
                <a:latin typeface="Courier" pitchFamily="2" charset="0"/>
              </a:rPr>
              <a:t>)</a:t>
            </a:r>
          </a:p>
          <a:p>
            <a:pPr marL="0" indent="0">
              <a:buNone/>
            </a:pP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 err="1">
                <a:latin typeface="Courier" pitchFamily="2" charset="0"/>
              </a:rPr>
              <a:t>Humain</a:t>
            </a:r>
            <a:r>
              <a:rPr lang="fr-FR" sz="2000" dirty="0" err="1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 err="1">
                <a:latin typeface="Courier" pitchFamily="2" charset="0"/>
              </a:rPr>
              <a:t>lieu_habitation</a:t>
            </a:r>
            <a:r>
              <a:rPr lang="fr-FR" sz="2000" dirty="0">
                <a:latin typeface="Courier" pitchFamily="2" charset="0"/>
              </a:rPr>
              <a:t>)</a:t>
            </a:r>
          </a:p>
          <a:p>
            <a:pPr marL="0" indent="0">
              <a:buNone/>
            </a:pPr>
            <a:r>
              <a:rPr lang="fr-FR" sz="2000" b="1" dirty="0">
                <a:latin typeface="Courier" pitchFamily="2" charset="0"/>
              </a:rPr>
              <a:t>Mars</a:t>
            </a: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endParaRPr lang="fr-FR" sz="2000" b="1" dirty="0">
              <a:solidFill>
                <a:srgbClr val="BA2121"/>
              </a:solidFill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8423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Méthode statique (plus rare)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43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5257800"/>
          </a:xfrm>
        </p:spPr>
        <p:txBody>
          <a:bodyPr>
            <a:normAutofit/>
          </a:bodyPr>
          <a:lstStyle/>
          <a:p>
            <a:r>
              <a:rPr lang="fr-CH" dirty="0"/>
              <a:t>Une </a:t>
            </a:r>
            <a:r>
              <a:rPr lang="fr-CH" b="1" dirty="0"/>
              <a:t>méthode statique </a:t>
            </a:r>
            <a:r>
              <a:rPr lang="fr-CH" dirty="0"/>
              <a:t>est une fonction définie à l’intérieur d’une classe, mais qui n’agit ni sur les objets, ni sur les attributs de classe.</a:t>
            </a:r>
          </a:p>
          <a:p>
            <a:r>
              <a:rPr lang="fr-FR" dirty="0"/>
              <a:t>Pour indiquer que la méthode est statique, on donne une instruction supplémentaire </a:t>
            </a:r>
            <a:r>
              <a:rPr lang="fr-FR" sz="2400" b="1" dirty="0" err="1">
                <a:latin typeface="Courier" pitchFamily="2" charset="0"/>
              </a:rPr>
              <a:t>staticmethod</a:t>
            </a:r>
            <a:r>
              <a:rPr lang="fr-FR" sz="2400" b="1" dirty="0">
                <a:latin typeface="Courier" pitchFamily="2" charset="0"/>
              </a:rPr>
              <a:t>()</a:t>
            </a:r>
            <a:r>
              <a:rPr lang="fr-FR" dirty="0"/>
              <a:t>:</a:t>
            </a:r>
            <a:endParaRPr lang="fr-CH" dirty="0"/>
          </a:p>
          <a:p>
            <a:pPr marL="0" indent="0">
              <a:buNone/>
            </a:pPr>
            <a:r>
              <a:rPr lang="fr-FR" sz="2400" b="1" dirty="0">
                <a:solidFill>
                  <a:srgbClr val="008000"/>
                </a:solidFill>
                <a:latin typeface="Courier" pitchFamily="2" charset="0"/>
              </a:rPr>
              <a:t>class</a:t>
            </a:r>
            <a:r>
              <a:rPr lang="fr-FR" sz="24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400" b="1" dirty="0" err="1">
                <a:solidFill>
                  <a:srgbClr val="0000FF"/>
                </a:solidFill>
                <a:latin typeface="Courier" pitchFamily="2" charset="0"/>
              </a:rPr>
              <a:t>NomClasse</a:t>
            </a:r>
            <a:r>
              <a:rPr lang="fr-FR" sz="2400" dirty="0">
                <a:solidFill>
                  <a:srgbClr val="000000"/>
                </a:solidFill>
                <a:latin typeface="Courier" pitchFamily="2" charset="0"/>
              </a:rPr>
              <a:t>:</a:t>
            </a:r>
            <a:endParaRPr lang="fr-FR" sz="2400" dirty="0">
              <a:solidFill>
                <a:srgbClr val="0000F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400" b="1" dirty="0">
                <a:solidFill>
                  <a:srgbClr val="0000FF"/>
                </a:solidFill>
                <a:latin typeface="Courier" pitchFamily="2" charset="0"/>
              </a:rPr>
              <a:t>	</a:t>
            </a:r>
            <a:r>
              <a:rPr lang="fr-FR" sz="2400" b="1" dirty="0" err="1">
                <a:solidFill>
                  <a:srgbClr val="008000"/>
                </a:solidFill>
                <a:latin typeface="Courier" pitchFamily="2" charset="0"/>
              </a:rPr>
              <a:t>def</a:t>
            </a:r>
            <a:r>
              <a:rPr lang="fr-FR" sz="2400" dirty="0">
                <a:latin typeface="Courier" pitchFamily="2" charset="0"/>
              </a:rPr>
              <a:t> </a:t>
            </a:r>
            <a:r>
              <a:rPr lang="fr-FR" sz="2400" dirty="0">
                <a:solidFill>
                  <a:srgbClr val="0000FF"/>
                </a:solidFill>
                <a:latin typeface="Courier" pitchFamily="2" charset="0"/>
              </a:rPr>
              <a:t>__</a:t>
            </a:r>
            <a:r>
              <a:rPr lang="fr-FR" sz="2400" dirty="0" err="1">
                <a:solidFill>
                  <a:srgbClr val="0000FF"/>
                </a:solidFill>
                <a:latin typeface="Courier" pitchFamily="2" charset="0"/>
              </a:rPr>
              <a:t>init</a:t>
            </a:r>
            <a:r>
              <a:rPr lang="fr-FR" sz="2400" dirty="0">
                <a:solidFill>
                  <a:srgbClr val="0000FF"/>
                </a:solidFill>
                <a:latin typeface="Courier" pitchFamily="2" charset="0"/>
              </a:rPr>
              <a:t>__</a:t>
            </a:r>
            <a:r>
              <a:rPr lang="fr-FR" sz="2400" dirty="0">
                <a:latin typeface="Courier" pitchFamily="2" charset="0"/>
              </a:rPr>
              <a:t>(</a:t>
            </a:r>
            <a:r>
              <a:rPr lang="fr-FR" sz="2400" dirty="0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400" dirty="0">
                <a:latin typeface="Courier" pitchFamily="2" charset="0"/>
              </a:rPr>
              <a:t>):</a:t>
            </a:r>
          </a:p>
          <a:p>
            <a:pPr marL="0" indent="0">
              <a:buNone/>
            </a:pPr>
            <a:r>
              <a:rPr lang="fr-FR" sz="2400" dirty="0">
                <a:latin typeface="Courier" pitchFamily="2" charset="0"/>
              </a:rPr>
              <a:t>		...</a:t>
            </a:r>
          </a:p>
          <a:p>
            <a:pPr marL="0" indent="0">
              <a:buNone/>
            </a:pPr>
            <a:r>
              <a:rPr lang="fr-FR" sz="2400" dirty="0">
                <a:latin typeface="Courier" pitchFamily="2" charset="0"/>
              </a:rPr>
              <a:t>	</a:t>
            </a:r>
            <a:r>
              <a:rPr lang="fr-FR" sz="2400" b="1" dirty="0" err="1">
                <a:solidFill>
                  <a:srgbClr val="008000"/>
                </a:solidFill>
                <a:latin typeface="Courier" pitchFamily="2" charset="0"/>
              </a:rPr>
              <a:t>def</a:t>
            </a:r>
            <a:r>
              <a:rPr lang="fr-FR" sz="2400" dirty="0">
                <a:latin typeface="Courier" pitchFamily="2" charset="0"/>
              </a:rPr>
              <a:t> </a:t>
            </a:r>
            <a:r>
              <a:rPr lang="fr-FR" sz="2400" dirty="0" err="1">
                <a:solidFill>
                  <a:srgbClr val="0000FF"/>
                </a:solidFill>
                <a:latin typeface="Courier" pitchFamily="2" charset="0"/>
              </a:rPr>
              <a:t>methode_s</a:t>
            </a:r>
            <a:r>
              <a:rPr lang="fr-FR" sz="2400" dirty="0">
                <a:latin typeface="Courier" pitchFamily="2" charset="0"/>
              </a:rPr>
              <a:t>(</a:t>
            </a:r>
            <a:r>
              <a:rPr lang="fr-FR" sz="2400" dirty="0">
                <a:solidFill>
                  <a:srgbClr val="008000"/>
                </a:solidFill>
                <a:latin typeface="Courier" pitchFamily="2" charset="0"/>
              </a:rPr>
              <a:t>par1</a:t>
            </a:r>
            <a:r>
              <a:rPr lang="fr-FR" sz="2400" dirty="0">
                <a:latin typeface="Courier" pitchFamily="2" charset="0"/>
              </a:rPr>
              <a:t>,par2,...):</a:t>
            </a:r>
          </a:p>
          <a:p>
            <a:pPr marL="0" indent="0">
              <a:buNone/>
            </a:pPr>
            <a:r>
              <a:rPr lang="fr-FR" sz="2400" dirty="0">
                <a:latin typeface="Courier" pitchFamily="2" charset="0"/>
              </a:rPr>
              <a:t>		...</a:t>
            </a:r>
          </a:p>
          <a:p>
            <a:pPr marL="0" indent="0">
              <a:buNone/>
            </a:pPr>
            <a:r>
              <a:rPr lang="fr-FR" sz="2400" dirty="0">
                <a:solidFill>
                  <a:srgbClr val="0000FF"/>
                </a:solidFill>
                <a:latin typeface="Courier" pitchFamily="2" charset="0"/>
              </a:rPr>
              <a:t>	</a:t>
            </a:r>
            <a:r>
              <a:rPr lang="fr-FR" sz="2400" dirty="0" err="1">
                <a:latin typeface="Courier" pitchFamily="2" charset="0"/>
              </a:rPr>
              <a:t>methode_s</a:t>
            </a:r>
            <a:r>
              <a:rPr lang="fr-FR" sz="2400" dirty="0">
                <a:solidFill>
                  <a:srgbClr val="0000FF"/>
                </a:solidFill>
                <a:latin typeface="Courier" pitchFamily="2" charset="0"/>
              </a:rPr>
              <a:t> = </a:t>
            </a:r>
            <a:r>
              <a:rPr lang="fr-FR" sz="2400" dirty="0" err="1">
                <a:solidFill>
                  <a:srgbClr val="008000"/>
                </a:solidFill>
                <a:latin typeface="Courier" pitchFamily="2" charset="0"/>
              </a:rPr>
              <a:t>staticmethod</a:t>
            </a:r>
            <a:r>
              <a:rPr lang="fr-FR" sz="2400" dirty="0">
                <a:latin typeface="Courier" pitchFamily="2" charset="0"/>
              </a:rPr>
              <a:t>(</a:t>
            </a:r>
            <a:r>
              <a:rPr lang="fr-FR" sz="2400" dirty="0" err="1">
                <a:latin typeface="Courier" pitchFamily="2" charset="0"/>
              </a:rPr>
              <a:t>methode_s</a:t>
            </a:r>
            <a:r>
              <a:rPr lang="fr-FR" sz="2400" dirty="0">
                <a:latin typeface="Courier" pitchFamily="2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53120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Méthode statique (plus rare)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44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853136"/>
          </a:xfrm>
        </p:spPr>
        <p:txBody>
          <a:bodyPr>
            <a:normAutofit/>
          </a:bodyPr>
          <a:lstStyle/>
          <a:p>
            <a:r>
              <a:rPr lang="fr-CH" dirty="0"/>
              <a:t>Pour appliquer une méthode statique </a:t>
            </a:r>
            <a:r>
              <a:rPr lang="fr-CH" sz="2400" dirty="0" err="1">
                <a:latin typeface="Courier" pitchFamily="2" charset="0"/>
              </a:rPr>
              <a:t>methode_s</a:t>
            </a:r>
            <a:r>
              <a:rPr lang="fr-CH" sz="2400" dirty="0">
                <a:latin typeface="Courier" pitchFamily="2" charset="0"/>
              </a:rPr>
              <a:t>()</a:t>
            </a:r>
            <a:r>
              <a:rPr lang="fr-CH" dirty="0"/>
              <a:t> qui est définie dans la classe </a:t>
            </a:r>
            <a:r>
              <a:rPr lang="fr-FR" sz="2400" dirty="0">
                <a:latin typeface="Courier" pitchFamily="2" charset="0"/>
              </a:rPr>
              <a:t>classe</a:t>
            </a:r>
            <a:r>
              <a:rPr lang="fr-CH" dirty="0"/>
              <a:t>, on utilise la syntaxe :</a:t>
            </a:r>
          </a:p>
          <a:p>
            <a:pPr marL="0" indent="0">
              <a:buNone/>
            </a:pPr>
            <a:r>
              <a:rPr lang="fr-FR" sz="2400" dirty="0" err="1">
                <a:latin typeface="Courier" pitchFamily="2" charset="0"/>
              </a:rPr>
              <a:t>classe.methode_s</a:t>
            </a:r>
            <a:r>
              <a:rPr lang="fr-FR" sz="2400" dirty="0">
                <a:latin typeface="Courier" pitchFamily="2" charset="0"/>
              </a:rPr>
              <a:t>(par1,par2,...)</a:t>
            </a:r>
          </a:p>
          <a:p>
            <a:pPr marL="0" indent="0">
              <a:buNone/>
            </a:pPr>
            <a:endParaRPr lang="fr-FR" sz="2400" dirty="0">
              <a:latin typeface="Courier" pitchFamily="2" charset="0"/>
            </a:endParaRPr>
          </a:p>
          <a:p>
            <a:pPr marL="0" indent="0">
              <a:buNone/>
            </a:pPr>
            <a:endParaRPr lang="fr-FR" sz="24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0881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45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52578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sz="2000" b="1" dirty="0">
                <a:solidFill>
                  <a:srgbClr val="008000"/>
                </a:solidFill>
                <a:latin typeface="Courier" pitchFamily="2" charset="0"/>
              </a:rPr>
              <a:t>class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b="1" dirty="0">
                <a:solidFill>
                  <a:srgbClr val="0000FF"/>
                </a:solidFill>
                <a:latin typeface="Courier" pitchFamily="2" charset="0"/>
              </a:rPr>
              <a:t>Humain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:</a:t>
            </a:r>
          </a:p>
          <a:p>
            <a:pPr marL="0" indent="0">
              <a:buNone/>
            </a:pP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    </a:t>
            </a:r>
            <a:r>
              <a:rPr lang="fr-FR" sz="2000" dirty="0" err="1">
                <a:latin typeface="Courier" pitchFamily="2" charset="0"/>
              </a:rPr>
              <a:t>lieu_habitation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"Terre"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attribut de classe</a:t>
            </a: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    </a:t>
            </a: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def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0000FF"/>
                </a:solidFill>
                <a:latin typeface="Courier" pitchFamily="2" charset="0"/>
              </a:rPr>
              <a:t>__</a:t>
            </a:r>
            <a:r>
              <a:rPr lang="fr-FR" sz="2000" dirty="0" err="1">
                <a:solidFill>
                  <a:srgbClr val="0000FF"/>
                </a:solidFill>
                <a:latin typeface="Courier" pitchFamily="2" charset="0"/>
              </a:rPr>
              <a:t>init</a:t>
            </a:r>
            <a:r>
              <a:rPr lang="fr-FR" sz="2000" dirty="0">
                <a:solidFill>
                  <a:srgbClr val="0000FF"/>
                </a:solidFill>
                <a:latin typeface="Courier" pitchFamily="2" charset="0"/>
              </a:rPr>
              <a:t>__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>
                <a:latin typeface="Courier" pitchFamily="2" charset="0"/>
              </a:rPr>
              <a:t>, nom, </a:t>
            </a:r>
            <a:r>
              <a:rPr lang="fr-FR" sz="2000" dirty="0" err="1">
                <a:latin typeface="Courier" pitchFamily="2" charset="0"/>
              </a:rPr>
              <a:t>age</a:t>
            </a:r>
            <a:r>
              <a:rPr lang="fr-FR" sz="2000" dirty="0">
                <a:latin typeface="Courier" pitchFamily="2" charset="0"/>
              </a:rPr>
              <a:t>):</a:t>
            </a:r>
          </a:p>
          <a:p>
            <a:pPr marL="0" indent="0">
              <a:buNone/>
            </a:pP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        </a:t>
            </a:r>
            <a:r>
              <a:rPr lang="fr-FR" sz="2000" dirty="0" err="1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 err="1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 err="1">
                <a:solidFill>
                  <a:srgbClr val="000000"/>
                </a:solidFill>
                <a:latin typeface="Courier" pitchFamily="2" charset="0"/>
              </a:rPr>
              <a:t>nom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nom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attribut (d'instance)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        </a:t>
            </a:r>
            <a:r>
              <a:rPr lang="fr-FR" sz="2000" dirty="0" err="1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 err="1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 err="1">
                <a:solidFill>
                  <a:srgbClr val="000000"/>
                </a:solidFill>
                <a:latin typeface="Courier" pitchFamily="2" charset="0"/>
              </a:rPr>
              <a:t>age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dirty="0" err="1">
                <a:solidFill>
                  <a:srgbClr val="000000"/>
                </a:solidFill>
                <a:latin typeface="Courier" pitchFamily="2" charset="0"/>
              </a:rPr>
              <a:t>age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attribut (d'instance)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	</a:t>
            </a:r>
          </a:p>
          <a:p>
            <a:pPr marL="0" indent="0"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    # méthode statique</a:t>
            </a: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b="1" dirty="0">
                <a:solidFill>
                  <a:srgbClr val="008000"/>
                </a:solidFill>
                <a:latin typeface="Courier" pitchFamily="2" charset="0"/>
              </a:rPr>
              <a:t>    </a:t>
            </a: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def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0000FF"/>
                </a:solidFill>
                <a:latin typeface="Courier" pitchFamily="2" charset="0"/>
              </a:rPr>
              <a:t>message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():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méthode statique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        </a:t>
            </a: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"Les humains ne sont pas les seuls \</a:t>
            </a:r>
          </a:p>
          <a:p>
            <a:pPr marL="0" indent="0">
              <a:buNone/>
            </a:pP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	êtres vivants à éprouver de la sensibilité."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)</a:t>
            </a:r>
            <a:endParaRPr lang="fr-FR" sz="2000" dirty="0">
              <a:solidFill>
                <a:srgbClr val="BA2121"/>
              </a:solidFill>
              <a:latin typeface="Courier" pitchFamily="2" charset="0"/>
            </a:endParaRPr>
          </a:p>
          <a:p>
            <a:pPr marL="0" indent="0">
              <a:buNone/>
            </a:pP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    message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 err="1">
                <a:solidFill>
                  <a:srgbClr val="008000"/>
                </a:solidFill>
                <a:latin typeface="Courier" pitchFamily="2" charset="0"/>
              </a:rPr>
              <a:t>staticmethod</a:t>
            </a:r>
            <a:r>
              <a:rPr lang="fr-FR" sz="2000" dirty="0">
                <a:latin typeface="Courier" pitchFamily="2" charset="0"/>
              </a:rPr>
              <a:t>(message)</a:t>
            </a:r>
          </a:p>
        </p:txBody>
      </p:sp>
    </p:spTree>
    <p:extLst>
      <p:ext uri="{BB962C8B-B14F-4D97-AF65-F5344CB8AC3E}">
        <p14:creationId xmlns:p14="http://schemas.microsoft.com/office/powerpoint/2010/main" val="1649782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46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853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application d'une méthode statique</a:t>
            </a:r>
          </a:p>
          <a:p>
            <a:pPr marL="0" indent="0"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la méthode s’applique à la classe, mais ne modifie # rien – ou n’agit sur rien – dans cette classe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 err="1">
                <a:latin typeface="Courier" pitchFamily="2" charset="0"/>
              </a:rPr>
              <a:t>Humain</a:t>
            </a:r>
            <a:r>
              <a:rPr lang="fr-FR" sz="2000" dirty="0" err="1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 err="1">
                <a:latin typeface="Courier" pitchFamily="2" charset="0"/>
              </a:rPr>
              <a:t>message</a:t>
            </a:r>
            <a:r>
              <a:rPr lang="fr-FR" sz="2000" dirty="0">
                <a:latin typeface="Courier" pitchFamily="2" charset="0"/>
              </a:rPr>
              <a:t>()</a:t>
            </a:r>
          </a:p>
          <a:p>
            <a:pPr marL="0" indent="0">
              <a:buNone/>
            </a:pPr>
            <a:r>
              <a:rPr lang="fr-FR" sz="2000" b="1" dirty="0">
                <a:latin typeface="Courier" pitchFamily="2" charset="0"/>
              </a:rPr>
              <a:t>Les humains ne sont pas les seuls êtres vivants à éprouver de la sensibilité.</a:t>
            </a:r>
          </a:p>
        </p:txBody>
      </p:sp>
    </p:spTree>
    <p:extLst>
      <p:ext uri="{BB962C8B-B14F-4D97-AF65-F5344CB8AC3E}">
        <p14:creationId xmlns:p14="http://schemas.microsoft.com/office/powerpoint/2010/main" val="2166027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E1EF8A-A729-EC40-84A8-9BCBB01A9D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AB9BD1-971A-C24A-BD05-066FFA661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Propriétés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BB9EA-3082-5149-ADE1-3F52FB9DF9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fr-FR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0498656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Propriétés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48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853136"/>
          </a:xfrm>
        </p:spPr>
        <p:txBody>
          <a:bodyPr>
            <a:normAutofit/>
          </a:bodyPr>
          <a:lstStyle/>
          <a:p>
            <a:r>
              <a:rPr lang="fr-FR" dirty="0"/>
              <a:t>En Python, les </a:t>
            </a:r>
            <a:r>
              <a:rPr lang="fr-FR" b="1" dirty="0"/>
              <a:t>propriétés</a:t>
            </a:r>
            <a:r>
              <a:rPr lang="fr-FR" dirty="0"/>
              <a:t> permettent de contrôler l'accès à certains attributs d'instance.</a:t>
            </a:r>
          </a:p>
          <a:p>
            <a:r>
              <a:rPr lang="fr-FR" dirty="0"/>
              <a:t>Une propriété permet de contrôler : </a:t>
            </a:r>
          </a:p>
          <a:p>
            <a:pPr lvl="1"/>
            <a:r>
              <a:rPr lang="fr-FR" dirty="0"/>
              <a:t>l’accession à la valeur d’un attribut : </a:t>
            </a:r>
            <a:r>
              <a:rPr lang="fr-FR" b="1" dirty="0" err="1"/>
              <a:t>accessor</a:t>
            </a:r>
            <a:endParaRPr lang="fr-FR" b="1" dirty="0"/>
          </a:p>
          <a:p>
            <a:pPr lvl="1"/>
            <a:r>
              <a:rPr lang="fr-FR" dirty="0"/>
              <a:t>la modification de la valeur d’un attribut : </a:t>
            </a:r>
            <a:r>
              <a:rPr lang="fr-FR" b="1" dirty="0" err="1"/>
              <a:t>mutator</a:t>
            </a:r>
            <a:endParaRPr lang="fr-FR" b="1" dirty="0"/>
          </a:p>
          <a:p>
            <a:pPr lvl="1"/>
            <a:r>
              <a:rPr lang="fr-FR" dirty="0"/>
              <a:t>la suppression d’un attribut : </a:t>
            </a:r>
            <a:r>
              <a:rPr lang="fr-FR" b="1" dirty="0" err="1"/>
              <a:t>deleter</a:t>
            </a:r>
            <a:endParaRPr lang="fr-FR" b="1" dirty="0"/>
          </a:p>
          <a:p>
            <a:pPr lvl="1"/>
            <a:r>
              <a:rPr lang="fr-FR" dirty="0"/>
              <a:t>La documentation d’un attribut : </a:t>
            </a:r>
            <a:r>
              <a:rPr lang="fr-FR" b="1" dirty="0" err="1"/>
              <a:t>helper</a:t>
            </a:r>
            <a:endParaRPr lang="fr-FR" b="1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8255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Propriétés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49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853136"/>
          </a:xfrm>
        </p:spPr>
        <p:txBody>
          <a:bodyPr>
            <a:normAutofit/>
          </a:bodyPr>
          <a:lstStyle/>
          <a:p>
            <a:r>
              <a:rPr lang="fr-FR" dirty="0"/>
              <a:t>En python, une </a:t>
            </a:r>
            <a:r>
              <a:rPr lang="fr-FR" b="1" dirty="0"/>
              <a:t>propriété</a:t>
            </a:r>
            <a:r>
              <a:rPr lang="fr-FR" dirty="0"/>
              <a:t> est une fonction prédéfinie qui retourne un objet </a:t>
            </a:r>
            <a:r>
              <a:rPr lang="fr-FR" sz="2400" dirty="0" err="1">
                <a:latin typeface="Courier" pitchFamily="2" charset="0"/>
              </a:rPr>
              <a:t>property</a:t>
            </a:r>
            <a:r>
              <a:rPr lang="fr-FR" dirty="0"/>
              <a:t> qui prend en paramètre (au plus) 4 méthodes.</a:t>
            </a:r>
          </a:p>
          <a:p>
            <a:r>
              <a:rPr lang="fr-FR" dirty="0"/>
              <a:t>Pour contrôler un attribut </a:t>
            </a:r>
            <a:r>
              <a:rPr lang="fr-FR" sz="2400" dirty="0">
                <a:latin typeface="Courier" pitchFamily="2" charset="0"/>
              </a:rPr>
              <a:t>attribut</a:t>
            </a:r>
            <a:r>
              <a:rPr lang="fr-FR" dirty="0"/>
              <a:t> via une propriété, on utilise les syntaxes :</a:t>
            </a:r>
          </a:p>
          <a:p>
            <a:pPr marL="0" indent="0">
              <a:buNone/>
            </a:pPr>
            <a:r>
              <a:rPr lang="fr-FR" sz="2400" dirty="0" err="1">
                <a:solidFill>
                  <a:srgbClr val="009900"/>
                </a:solidFill>
                <a:latin typeface="Courier" pitchFamily="2" charset="0"/>
              </a:rPr>
              <a:t>self</a:t>
            </a:r>
            <a:r>
              <a:rPr lang="fr-FR" sz="2400" dirty="0" err="1">
                <a:latin typeface="Courier" pitchFamily="2" charset="0"/>
              </a:rPr>
              <a:t>._attribut</a:t>
            </a:r>
            <a:r>
              <a:rPr lang="fr-FR" sz="2400" dirty="0">
                <a:latin typeface="Courier" pitchFamily="2" charset="0"/>
              </a:rPr>
              <a:t> = attribut	         </a:t>
            </a:r>
            <a:r>
              <a:rPr lang="fr-FR" sz="2400" dirty="0"/>
              <a:t>(constructeur)</a:t>
            </a:r>
          </a:p>
          <a:p>
            <a:pPr marL="0" indent="0">
              <a:buNone/>
            </a:pPr>
            <a:r>
              <a:rPr lang="fr-FR" sz="2400" dirty="0">
                <a:latin typeface="Courier" pitchFamily="2" charset="0"/>
              </a:rPr>
              <a:t>attribut</a:t>
            </a:r>
            <a:r>
              <a:rPr lang="fr-FR" sz="2400" b="1" dirty="0">
                <a:latin typeface="Courier" pitchFamily="2" charset="0"/>
              </a:rPr>
              <a:t> =                    </a:t>
            </a:r>
            <a:r>
              <a:rPr lang="fr-FR" sz="2400" dirty="0"/>
              <a:t>(corps de la classe)</a:t>
            </a:r>
            <a:endParaRPr lang="fr-FR" sz="2400" b="1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400" dirty="0" err="1">
                <a:solidFill>
                  <a:srgbClr val="008000"/>
                </a:solidFill>
                <a:latin typeface="Courier" pitchFamily="2" charset="0"/>
              </a:rPr>
              <a:t>property</a:t>
            </a:r>
            <a:r>
              <a:rPr lang="fr-FR" sz="2400" dirty="0">
                <a:latin typeface="Courier" pitchFamily="2" charset="0"/>
              </a:rPr>
              <a:t>(</a:t>
            </a:r>
            <a:r>
              <a:rPr lang="fr-FR" sz="2400" dirty="0">
                <a:solidFill>
                  <a:srgbClr val="0432FF"/>
                </a:solidFill>
                <a:latin typeface="Courier" pitchFamily="2" charset="0"/>
              </a:rPr>
              <a:t>getter</a:t>
            </a:r>
            <a:r>
              <a:rPr lang="fr-FR" sz="2400" dirty="0">
                <a:latin typeface="Courier" pitchFamily="2" charset="0"/>
              </a:rPr>
              <a:t>, </a:t>
            </a:r>
            <a:r>
              <a:rPr lang="fr-FR" sz="2400" dirty="0">
                <a:solidFill>
                  <a:srgbClr val="0432FF"/>
                </a:solidFill>
                <a:latin typeface="Courier" pitchFamily="2" charset="0"/>
              </a:rPr>
              <a:t>setter</a:t>
            </a:r>
            <a:r>
              <a:rPr lang="fr-FR" sz="2400" dirty="0">
                <a:latin typeface="Courier" pitchFamily="2" charset="0"/>
              </a:rPr>
              <a:t>, 	</a:t>
            </a:r>
            <a:r>
              <a:rPr lang="fr-FR" sz="2400" dirty="0" err="1">
                <a:solidFill>
                  <a:srgbClr val="0432FF"/>
                </a:solidFill>
                <a:latin typeface="Courier" pitchFamily="2" charset="0"/>
              </a:rPr>
              <a:t>deleter</a:t>
            </a:r>
            <a:r>
              <a:rPr lang="fr-FR" sz="2400" dirty="0">
                <a:latin typeface="Courier" pitchFamily="2" charset="0"/>
              </a:rPr>
              <a:t>, </a:t>
            </a:r>
            <a:r>
              <a:rPr lang="fr-FR" sz="2400" dirty="0" err="1">
                <a:solidFill>
                  <a:srgbClr val="0432FF"/>
                </a:solidFill>
                <a:latin typeface="Courier" pitchFamily="2" charset="0"/>
              </a:rPr>
              <a:t>helper</a:t>
            </a:r>
            <a:r>
              <a:rPr lang="fr-FR" sz="2400" dirty="0">
                <a:latin typeface="Courier" pitchFamily="2" charset="0"/>
              </a:rPr>
              <a:t>)</a:t>
            </a:r>
          </a:p>
          <a:p>
            <a:pPr marL="320040" lvl="1" indent="0">
              <a:buNone/>
            </a:pPr>
            <a:r>
              <a:rPr lang="fr-FR" sz="2900" dirty="0"/>
              <a:t>où </a:t>
            </a:r>
            <a:r>
              <a:rPr lang="fr-FR" sz="2400" dirty="0">
                <a:solidFill>
                  <a:srgbClr val="0432FF"/>
                </a:solidFill>
                <a:latin typeface="Courier" pitchFamily="2" charset="0"/>
              </a:rPr>
              <a:t>getter</a:t>
            </a:r>
            <a:r>
              <a:rPr lang="fr-FR" sz="2900" dirty="0"/>
              <a:t>, </a:t>
            </a:r>
            <a:r>
              <a:rPr lang="fr-FR" sz="2400" dirty="0">
                <a:solidFill>
                  <a:srgbClr val="0432FF"/>
                </a:solidFill>
                <a:latin typeface="Courier" pitchFamily="2" charset="0"/>
              </a:rPr>
              <a:t>setter</a:t>
            </a:r>
            <a:r>
              <a:rPr lang="fr-FR" sz="2900" dirty="0"/>
              <a:t>, </a:t>
            </a:r>
            <a:r>
              <a:rPr lang="fr-FR" sz="2400" dirty="0" err="1">
                <a:solidFill>
                  <a:srgbClr val="0432FF"/>
                </a:solidFill>
                <a:latin typeface="Courier" pitchFamily="2" charset="0"/>
              </a:rPr>
              <a:t>deleter</a:t>
            </a:r>
            <a:r>
              <a:rPr lang="fr-FR" sz="2900" dirty="0"/>
              <a:t>, </a:t>
            </a:r>
            <a:r>
              <a:rPr lang="fr-FR" sz="2400" dirty="0" err="1">
                <a:solidFill>
                  <a:srgbClr val="0432FF"/>
                </a:solidFill>
                <a:latin typeface="Courier" pitchFamily="2" charset="0"/>
              </a:rPr>
              <a:t>helper</a:t>
            </a:r>
            <a:r>
              <a:rPr lang="fr-FR" sz="2900" dirty="0"/>
              <a:t>, sont 4 méthodes définies dans le corps de la classe.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60142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Propriétés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50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853136"/>
          </a:xfrm>
        </p:spPr>
        <p:txBody>
          <a:bodyPr>
            <a:normAutofit/>
          </a:bodyPr>
          <a:lstStyle/>
          <a:p>
            <a:r>
              <a:rPr lang="fr-FR" dirty="0"/>
              <a:t>La méthode </a:t>
            </a:r>
            <a:r>
              <a:rPr lang="fr-FR" sz="2400" dirty="0">
                <a:solidFill>
                  <a:srgbClr val="0432FF"/>
                </a:solidFill>
                <a:latin typeface="Courier" pitchFamily="2" charset="0"/>
              </a:rPr>
              <a:t>getter</a:t>
            </a:r>
            <a:r>
              <a:rPr lang="fr-FR" dirty="0"/>
              <a:t> est appelée lors de l’accession à la valeur de attribut (</a:t>
            </a:r>
            <a:r>
              <a:rPr lang="fr-FR" sz="2400" dirty="0" err="1">
                <a:latin typeface="Courier" pitchFamily="2" charset="0"/>
              </a:rPr>
              <a:t>objet.attribut</a:t>
            </a:r>
            <a:r>
              <a:rPr lang="fr-FR" dirty="0"/>
              <a:t>) : </a:t>
            </a:r>
            <a:r>
              <a:rPr lang="fr-FR" b="1" dirty="0" err="1"/>
              <a:t>accessor</a:t>
            </a:r>
            <a:endParaRPr lang="fr-FR" b="1" dirty="0"/>
          </a:p>
          <a:p>
            <a:r>
              <a:rPr lang="fr-FR" dirty="0"/>
              <a:t>La méthode </a:t>
            </a:r>
            <a:r>
              <a:rPr lang="fr-FR" sz="2400" dirty="0">
                <a:solidFill>
                  <a:srgbClr val="0432FF"/>
                </a:solidFill>
                <a:latin typeface="Courier" pitchFamily="2" charset="0"/>
              </a:rPr>
              <a:t>setter</a:t>
            </a:r>
            <a:r>
              <a:rPr lang="fr-FR" dirty="0"/>
              <a:t> est appelée lors de la modification de la valeur de attribut : </a:t>
            </a:r>
            <a:r>
              <a:rPr lang="fr-FR" b="1" dirty="0" err="1"/>
              <a:t>mutator</a:t>
            </a:r>
            <a:r>
              <a:rPr lang="fr-FR" dirty="0"/>
              <a:t> (</a:t>
            </a:r>
            <a:r>
              <a:rPr lang="fr-FR" sz="2400" dirty="0" err="1">
                <a:latin typeface="Courier" pitchFamily="2" charset="0"/>
              </a:rPr>
              <a:t>objet.attribut</a:t>
            </a:r>
            <a:r>
              <a:rPr lang="fr-FR" sz="2400" dirty="0">
                <a:latin typeface="Courier" pitchFamily="2" charset="0"/>
              </a:rPr>
              <a:t> = </a:t>
            </a:r>
            <a:r>
              <a:rPr lang="fr-FR" sz="2400" dirty="0" err="1">
                <a:latin typeface="Courier" pitchFamily="2" charset="0"/>
              </a:rPr>
              <a:t>nouvelle_valeur</a:t>
            </a:r>
            <a:r>
              <a:rPr lang="fr-FR" dirty="0"/>
              <a:t>)</a:t>
            </a:r>
          </a:p>
          <a:p>
            <a:r>
              <a:rPr lang="fr-FR" dirty="0"/>
              <a:t>La méthode </a:t>
            </a:r>
            <a:r>
              <a:rPr lang="fr-FR" sz="2400" dirty="0" err="1">
                <a:solidFill>
                  <a:srgbClr val="0432FF"/>
                </a:solidFill>
                <a:latin typeface="Courier" pitchFamily="2" charset="0"/>
              </a:rPr>
              <a:t>deleter</a:t>
            </a:r>
            <a:r>
              <a:rPr lang="fr-FR" dirty="0"/>
              <a:t> est appelée lorsqu’on désire supprimer un attribut : </a:t>
            </a:r>
            <a:r>
              <a:rPr lang="fr-FR" b="1" dirty="0" err="1"/>
              <a:t>deleter</a:t>
            </a:r>
            <a:endParaRPr lang="fr-FR" b="1" dirty="0"/>
          </a:p>
          <a:p>
            <a:r>
              <a:rPr lang="fr-FR" dirty="0"/>
              <a:t>La méthode </a:t>
            </a:r>
            <a:r>
              <a:rPr lang="fr-FR" sz="2400" dirty="0" err="1">
                <a:solidFill>
                  <a:srgbClr val="0432FF"/>
                </a:solidFill>
                <a:latin typeface="Courier" pitchFamily="2" charset="0"/>
              </a:rPr>
              <a:t>helper</a:t>
            </a:r>
            <a:r>
              <a:rPr lang="fr-FR" dirty="0"/>
              <a:t> permet d’en registrer une documentation de l’attribut </a:t>
            </a:r>
            <a:r>
              <a:rPr lang="fr-FR" b="1" dirty="0" err="1"/>
              <a:t>helper</a:t>
            </a:r>
            <a:endParaRPr lang="fr-FR" b="1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27941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51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5257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b="1" dirty="0">
                <a:solidFill>
                  <a:srgbClr val="008000"/>
                </a:solidFill>
                <a:latin typeface="Courier" pitchFamily="2" charset="0"/>
              </a:rPr>
              <a:t>class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b="1" dirty="0">
                <a:solidFill>
                  <a:srgbClr val="0000FF"/>
                </a:solidFill>
                <a:latin typeface="Courier" pitchFamily="2" charset="0"/>
              </a:rPr>
              <a:t>Humain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:</a:t>
            </a:r>
          </a:p>
          <a:p>
            <a:pPr marL="0" indent="0">
              <a:buNone/>
            </a:pP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    </a:t>
            </a: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def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0000FF"/>
                </a:solidFill>
                <a:latin typeface="Courier" pitchFamily="2" charset="0"/>
              </a:rPr>
              <a:t>__</a:t>
            </a:r>
            <a:r>
              <a:rPr lang="fr-FR" sz="2000" dirty="0" err="1">
                <a:solidFill>
                  <a:srgbClr val="0000FF"/>
                </a:solidFill>
                <a:latin typeface="Courier" pitchFamily="2" charset="0"/>
              </a:rPr>
              <a:t>init</a:t>
            </a:r>
            <a:r>
              <a:rPr lang="fr-FR" sz="2000" dirty="0">
                <a:solidFill>
                  <a:srgbClr val="0000FF"/>
                </a:solidFill>
                <a:latin typeface="Courier" pitchFamily="2" charset="0"/>
              </a:rPr>
              <a:t>__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>
                <a:latin typeface="Courier" pitchFamily="2" charset="0"/>
              </a:rPr>
              <a:t>, nom, </a:t>
            </a:r>
            <a:r>
              <a:rPr lang="fr-FR" sz="2000" dirty="0" err="1">
                <a:latin typeface="Courier" pitchFamily="2" charset="0"/>
              </a:rPr>
              <a:t>age</a:t>
            </a:r>
            <a:r>
              <a:rPr lang="fr-FR" sz="2000" dirty="0">
                <a:latin typeface="Courier" pitchFamily="2" charset="0"/>
              </a:rPr>
              <a:t>):</a:t>
            </a:r>
          </a:p>
          <a:p>
            <a:pPr marL="0" indent="0">
              <a:buNone/>
            </a:pP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        </a:t>
            </a:r>
            <a:r>
              <a:rPr lang="fr-FR" sz="2000" dirty="0" err="1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 err="1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 err="1">
                <a:solidFill>
                  <a:srgbClr val="000000"/>
                </a:solidFill>
                <a:latin typeface="Courier" pitchFamily="2" charset="0"/>
              </a:rPr>
              <a:t>nom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nom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attribut (d'instance)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        </a:t>
            </a:r>
            <a:r>
              <a:rPr lang="fr-FR" sz="2000" dirty="0" err="1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 err="1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 err="1">
                <a:solidFill>
                  <a:srgbClr val="000000"/>
                </a:solidFill>
                <a:latin typeface="Courier" pitchFamily="2" charset="0"/>
              </a:rPr>
              <a:t>age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dirty="0" err="1">
                <a:solidFill>
                  <a:srgbClr val="000000"/>
                </a:solidFill>
                <a:latin typeface="Courier" pitchFamily="2" charset="0"/>
              </a:rPr>
              <a:t>age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attribut (d'instance)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endParaRPr lang="fr-FR" sz="20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804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52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179584" y="1628800"/>
            <a:ext cx="8784904" cy="50691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création d’un objet</a:t>
            </a: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h1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latin typeface="Courier" pitchFamily="2" charset="0"/>
              </a:rPr>
              <a:t> Humain(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"Adam"</a:t>
            </a:r>
            <a:r>
              <a:rPr lang="fr-FR" sz="2000" dirty="0">
                <a:latin typeface="Courier" pitchFamily="2" charset="0"/>
              </a:rPr>
              <a:t>,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30</a:t>
            </a:r>
            <a:r>
              <a:rPr lang="fr-FR" sz="2000" dirty="0">
                <a:latin typeface="Courier" pitchFamily="2" charset="0"/>
              </a:rPr>
              <a:t>)</a:t>
            </a:r>
            <a:endParaRPr lang="fr-FR" sz="2000" b="1" dirty="0">
              <a:solidFill>
                <a:srgbClr val="00800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latin typeface="Courier" pitchFamily="2" charset="0"/>
              </a:rPr>
              <a:t>(h1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latin typeface="Courier" pitchFamily="2" charset="0"/>
              </a:rPr>
              <a:t>nom, h1.age)</a:t>
            </a:r>
          </a:p>
          <a:p>
            <a:pPr marL="0" indent="0">
              <a:buNone/>
            </a:pPr>
            <a:r>
              <a:rPr lang="fr-FR" sz="2000" b="1" dirty="0">
                <a:latin typeface="Courier" pitchFamily="2" charset="0"/>
              </a:rPr>
              <a:t>Adam 30</a:t>
            </a:r>
            <a:endParaRPr lang="fr-FR" sz="2000" i="1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modification des attributs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h1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latin typeface="Courier" pitchFamily="2" charset="0"/>
              </a:rPr>
              <a:t>prenom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</a:t>
            </a:r>
            <a:r>
              <a:rPr lang="fr-FR" sz="2000" dirty="0" err="1">
                <a:solidFill>
                  <a:srgbClr val="BA2121"/>
                </a:solidFill>
                <a:latin typeface="Courier" pitchFamily="2" charset="0"/>
              </a:rPr>
              <a:t>Noe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réaffectation</a:t>
            </a: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h1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latin typeface="Courier" pitchFamily="2" charset="0"/>
              </a:rPr>
              <a:t>age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100	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réaffectation</a:t>
            </a: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affichage des nouvelles valeurs des attributs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latin typeface="Courier" pitchFamily="2" charset="0"/>
              </a:rPr>
              <a:t>(h1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latin typeface="Courier" pitchFamily="2" charset="0"/>
              </a:rPr>
              <a:t>nom, h1.age)</a:t>
            </a:r>
          </a:p>
          <a:p>
            <a:pPr marL="0" indent="0">
              <a:buNone/>
            </a:pPr>
            <a:r>
              <a:rPr lang="fr-FR" sz="2000" b="1" dirty="0" err="1">
                <a:latin typeface="Courier" pitchFamily="2" charset="0"/>
              </a:rPr>
              <a:t>Noe</a:t>
            </a:r>
            <a:r>
              <a:rPr lang="fr-FR" sz="2000" b="1" dirty="0">
                <a:latin typeface="Courier" pitchFamily="2" charset="0"/>
              </a:rPr>
              <a:t> 100</a:t>
            </a:r>
            <a:endParaRPr lang="fr-FR" sz="20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7819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53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179584" y="1600200"/>
            <a:ext cx="8784904" cy="50691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000" b="1" dirty="0">
                <a:solidFill>
                  <a:srgbClr val="008000"/>
                </a:solidFill>
                <a:latin typeface="Courier" pitchFamily="2" charset="0"/>
              </a:rPr>
              <a:t>class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b="1" dirty="0">
                <a:solidFill>
                  <a:srgbClr val="0000FF"/>
                </a:solidFill>
                <a:latin typeface="Courier" pitchFamily="2" charset="0"/>
              </a:rPr>
              <a:t>Humain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:</a:t>
            </a:r>
            <a:endParaRPr lang="fr-FR" sz="2000" dirty="0">
              <a:solidFill>
                <a:srgbClr val="0000F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        </a:t>
            </a: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    </a:t>
            </a: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def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0000FF"/>
                </a:solidFill>
                <a:latin typeface="Courier" pitchFamily="2" charset="0"/>
              </a:rPr>
              <a:t>__</a:t>
            </a:r>
            <a:r>
              <a:rPr lang="fr-FR" sz="2000" dirty="0" err="1">
                <a:solidFill>
                  <a:srgbClr val="0000FF"/>
                </a:solidFill>
                <a:latin typeface="Courier" pitchFamily="2" charset="0"/>
              </a:rPr>
              <a:t>init</a:t>
            </a:r>
            <a:r>
              <a:rPr lang="fr-FR" sz="2000" dirty="0">
                <a:solidFill>
                  <a:srgbClr val="0000FF"/>
                </a:solidFill>
                <a:latin typeface="Courier" pitchFamily="2" charset="0"/>
              </a:rPr>
              <a:t>__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>
                <a:latin typeface="Courier" pitchFamily="2" charset="0"/>
              </a:rPr>
              <a:t>, nom, </a:t>
            </a:r>
            <a:r>
              <a:rPr lang="fr-FR" sz="2000" dirty="0" err="1">
                <a:latin typeface="Courier" pitchFamily="2" charset="0"/>
              </a:rPr>
              <a:t>age</a:t>
            </a:r>
            <a:r>
              <a:rPr lang="fr-FR" sz="2000" dirty="0">
                <a:latin typeface="Courier" pitchFamily="2" charset="0"/>
              </a:rPr>
              <a:t>):</a:t>
            </a: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        </a:t>
            </a:r>
            <a:r>
              <a:rPr lang="fr-FR" sz="2000" dirty="0" err="1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 err="1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 err="1">
                <a:latin typeface="Courier" pitchFamily="2" charset="0"/>
              </a:rPr>
              <a:t>nom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latin typeface="Courier" pitchFamily="2" charset="0"/>
              </a:rPr>
              <a:t> nom 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attribut </a:t>
            </a: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        </a:t>
            </a:r>
            <a:r>
              <a:rPr lang="fr-FR" sz="2000" dirty="0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_</a:t>
            </a:r>
            <a:r>
              <a:rPr lang="fr-FR" sz="2000" dirty="0" err="1">
                <a:solidFill>
                  <a:srgbClr val="000000"/>
                </a:solidFill>
                <a:latin typeface="Courier" pitchFamily="2" charset="0"/>
              </a:rPr>
              <a:t>age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dirty="0" err="1">
                <a:solidFill>
                  <a:srgbClr val="000000"/>
                </a:solidFill>
                <a:latin typeface="Courier" pitchFamily="2" charset="0"/>
              </a:rPr>
              <a:t>age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attribut _</a:t>
            </a:r>
            <a:r>
              <a:rPr lang="fr-FR" sz="2000" i="1" dirty="0" err="1">
                <a:solidFill>
                  <a:srgbClr val="408080"/>
                </a:solidFill>
                <a:latin typeface="Courier" pitchFamily="2" charset="0"/>
              </a:rPr>
              <a:t>age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 -&gt; propriété </a:t>
            </a:r>
            <a:r>
              <a:rPr lang="fr-FR" sz="2000" i="1" dirty="0" err="1">
                <a:solidFill>
                  <a:srgbClr val="408080"/>
                </a:solidFill>
                <a:latin typeface="Courier" pitchFamily="2" charset="0"/>
              </a:rPr>
              <a:t>age</a:t>
            </a: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    </a:t>
            </a:r>
          </a:p>
          <a:p>
            <a:pPr marL="0" indent="0">
              <a:buNone/>
            </a:pPr>
            <a:r>
              <a:rPr lang="fr-FR" sz="2000" b="1" dirty="0">
                <a:solidFill>
                  <a:srgbClr val="008000"/>
                </a:solidFill>
                <a:latin typeface="Courier" pitchFamily="2" charset="0"/>
              </a:rPr>
              <a:t>    </a:t>
            </a: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def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0000FF"/>
                </a:solidFill>
                <a:latin typeface="Courier" pitchFamily="2" charset="0"/>
              </a:rPr>
              <a:t>_</a:t>
            </a:r>
            <a:r>
              <a:rPr lang="fr-FR" sz="2000" dirty="0" err="1">
                <a:solidFill>
                  <a:srgbClr val="0000FF"/>
                </a:solidFill>
                <a:latin typeface="Courier" pitchFamily="2" charset="0"/>
              </a:rPr>
              <a:t>get_age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>
                <a:latin typeface="Courier" pitchFamily="2" charset="0"/>
              </a:rPr>
              <a:t>):</a:t>
            </a:r>
          </a:p>
          <a:p>
            <a:pPr marL="0" indent="0">
              <a:buNone/>
            </a:pP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        </a:t>
            </a:r>
            <a:r>
              <a:rPr lang="fr-FR" sz="2000" i="1" dirty="0">
                <a:solidFill>
                  <a:srgbClr val="BA2121"/>
                </a:solidFill>
                <a:latin typeface="Courier" pitchFamily="2" charset="0"/>
              </a:rPr>
              <a:t>"""</a:t>
            </a:r>
            <a:r>
              <a:rPr lang="fr-FR" sz="2000" i="1" dirty="0" err="1">
                <a:solidFill>
                  <a:srgbClr val="BA2121"/>
                </a:solidFill>
                <a:latin typeface="Courier" pitchFamily="2" charset="0"/>
              </a:rPr>
              <a:t>accessor</a:t>
            </a:r>
            <a:r>
              <a:rPr lang="fr-FR" sz="2000" i="1" dirty="0">
                <a:solidFill>
                  <a:srgbClr val="BA2121"/>
                </a:solidFill>
                <a:latin typeface="Courier" pitchFamily="2" charset="0"/>
              </a:rPr>
              <a:t>"""</a:t>
            </a:r>
            <a:endParaRPr lang="fr-FR" sz="2000" dirty="0">
              <a:solidFill>
                <a:srgbClr val="BA2121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        </a:t>
            </a:r>
            <a:r>
              <a:rPr lang="fr-FR" sz="2000" b="1" dirty="0">
                <a:solidFill>
                  <a:srgbClr val="008000"/>
                </a:solidFill>
                <a:latin typeface="Courier" pitchFamily="2" charset="0"/>
              </a:rPr>
              <a:t>if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b="1" dirty="0">
                <a:solidFill>
                  <a:srgbClr val="AA22FF"/>
                </a:solidFill>
                <a:latin typeface="Courier" pitchFamily="2" charset="0"/>
              </a:rPr>
              <a:t>not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 err="1">
                <a:solidFill>
                  <a:srgbClr val="008000"/>
                </a:solidFill>
                <a:latin typeface="Courier" pitchFamily="2" charset="0"/>
              </a:rPr>
              <a:t>isinstance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latin typeface="Courier" pitchFamily="2" charset="0"/>
              </a:rPr>
              <a:t>_</a:t>
            </a:r>
            <a:r>
              <a:rPr lang="fr-FR" sz="2000" dirty="0" err="1">
                <a:latin typeface="Courier" pitchFamily="2" charset="0"/>
              </a:rPr>
              <a:t>age</a:t>
            </a:r>
            <a:r>
              <a:rPr lang="fr-FR" sz="2000" dirty="0">
                <a:latin typeface="Courier" pitchFamily="2" charset="0"/>
              </a:rPr>
              <a:t>, </a:t>
            </a:r>
            <a:r>
              <a:rPr lang="fr-FR" sz="2000" dirty="0" err="1">
                <a:solidFill>
                  <a:srgbClr val="008000"/>
                </a:solidFill>
                <a:latin typeface="Courier" pitchFamily="2" charset="0"/>
              </a:rPr>
              <a:t>int</a:t>
            </a:r>
            <a:r>
              <a:rPr lang="fr-FR" sz="2000" dirty="0">
                <a:latin typeface="Courier" pitchFamily="2" charset="0"/>
              </a:rPr>
              <a:t>):</a:t>
            </a:r>
          </a:p>
          <a:p>
            <a:pPr marL="0" indent="0">
              <a:buNone/>
            </a:pP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            </a:t>
            </a: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"Type de l'âge non conforme"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)</a:t>
            </a:r>
            <a:endParaRPr lang="fr-FR" sz="2000" dirty="0">
              <a:solidFill>
                <a:srgbClr val="BA2121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            </a:t>
            </a: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"Entrez un entier pour l'âge"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)</a:t>
            </a:r>
            <a:endParaRPr lang="fr-FR" sz="2000" dirty="0">
              <a:solidFill>
                <a:srgbClr val="BA2121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        </a:t>
            </a:r>
            <a:r>
              <a:rPr lang="fr-FR" sz="2000" b="1" dirty="0">
                <a:solidFill>
                  <a:srgbClr val="008000"/>
                </a:solidFill>
                <a:latin typeface="Courier" pitchFamily="2" charset="0"/>
              </a:rPr>
              <a:t>return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latin typeface="Courier" pitchFamily="2" charset="0"/>
              </a:rPr>
              <a:t>_</a:t>
            </a:r>
            <a:r>
              <a:rPr lang="fr-FR" sz="2000" dirty="0" err="1">
                <a:latin typeface="Courier" pitchFamily="2" charset="0"/>
              </a:rPr>
              <a:t>age</a:t>
            </a:r>
            <a:endParaRPr lang="fr-FR" sz="20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7613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54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179584" y="1600200"/>
            <a:ext cx="8784904" cy="50691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    </a:t>
            </a:r>
          </a:p>
          <a:p>
            <a:pPr marL="0" indent="0">
              <a:buNone/>
            </a:pPr>
            <a:r>
              <a:rPr lang="fr-FR" sz="2000" b="1" dirty="0">
                <a:solidFill>
                  <a:srgbClr val="008000"/>
                </a:solidFill>
                <a:latin typeface="Courier" pitchFamily="2" charset="0"/>
              </a:rPr>
              <a:t>    </a:t>
            </a: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def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0000FF"/>
                </a:solidFill>
                <a:latin typeface="Courier" pitchFamily="2" charset="0"/>
              </a:rPr>
              <a:t>_</a:t>
            </a:r>
            <a:r>
              <a:rPr lang="fr-FR" sz="2000" dirty="0" err="1">
                <a:solidFill>
                  <a:srgbClr val="0000FF"/>
                </a:solidFill>
                <a:latin typeface="Courier" pitchFamily="2" charset="0"/>
              </a:rPr>
              <a:t>set_age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>
                <a:latin typeface="Courier" pitchFamily="2" charset="0"/>
              </a:rPr>
              <a:t>, </a:t>
            </a:r>
            <a:r>
              <a:rPr lang="fr-FR" sz="2000" dirty="0" err="1">
                <a:latin typeface="Courier" pitchFamily="2" charset="0"/>
              </a:rPr>
              <a:t>nouvel_age</a:t>
            </a:r>
            <a:r>
              <a:rPr lang="fr-FR" sz="2000" dirty="0">
                <a:latin typeface="Courier" pitchFamily="2" charset="0"/>
              </a:rPr>
              <a:t>):</a:t>
            </a:r>
          </a:p>
          <a:p>
            <a:pPr marL="0" indent="0">
              <a:buNone/>
            </a:pP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        </a:t>
            </a:r>
            <a:r>
              <a:rPr lang="fr-FR" sz="2000" i="1" dirty="0">
                <a:solidFill>
                  <a:srgbClr val="BA2121"/>
                </a:solidFill>
                <a:latin typeface="Courier" pitchFamily="2" charset="0"/>
              </a:rPr>
              <a:t>"""</a:t>
            </a:r>
            <a:r>
              <a:rPr lang="fr-FR" sz="2000" i="1" dirty="0" err="1">
                <a:solidFill>
                  <a:srgbClr val="BA2121"/>
                </a:solidFill>
                <a:latin typeface="Courier" pitchFamily="2" charset="0"/>
              </a:rPr>
              <a:t>mutator</a:t>
            </a:r>
            <a:r>
              <a:rPr lang="fr-FR" sz="2000" i="1" dirty="0">
                <a:solidFill>
                  <a:srgbClr val="BA2121"/>
                </a:solidFill>
                <a:latin typeface="Courier" pitchFamily="2" charset="0"/>
              </a:rPr>
              <a:t>"""</a:t>
            </a:r>
            <a:endParaRPr lang="fr-FR" sz="2000" dirty="0">
              <a:solidFill>
                <a:srgbClr val="BA2121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        </a:t>
            </a:r>
            <a:r>
              <a:rPr lang="fr-FR" sz="2000" b="1" dirty="0">
                <a:solidFill>
                  <a:srgbClr val="008000"/>
                </a:solidFill>
                <a:latin typeface="Courier" pitchFamily="2" charset="0"/>
              </a:rPr>
              <a:t>if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 err="1">
                <a:latin typeface="Courier" pitchFamily="2" charset="0"/>
              </a:rPr>
              <a:t>nouvel_age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&lt;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0</a:t>
            </a:r>
            <a:r>
              <a:rPr lang="fr-FR" sz="2000" dirty="0">
                <a:latin typeface="Courier" pitchFamily="2" charset="0"/>
              </a:rPr>
              <a:t>:</a:t>
            </a:r>
          </a:p>
          <a:p>
            <a:pPr marL="0" indent="0">
              <a:buNone/>
            </a:pP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            </a:t>
            </a: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"âge négatif, je le remplace par 0"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)</a:t>
            </a:r>
            <a:endParaRPr lang="fr-FR" sz="2000" dirty="0">
              <a:solidFill>
                <a:srgbClr val="BA2121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            </a:t>
            </a:r>
            <a:r>
              <a:rPr lang="fr-FR" sz="2000" dirty="0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latin typeface="Courier" pitchFamily="2" charset="0"/>
              </a:rPr>
              <a:t>_</a:t>
            </a:r>
            <a:r>
              <a:rPr lang="fr-FR" sz="2000" dirty="0" err="1">
                <a:latin typeface="Courier" pitchFamily="2" charset="0"/>
              </a:rPr>
              <a:t>age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0</a:t>
            </a: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        </a:t>
            </a: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else</a:t>
            </a:r>
            <a:r>
              <a:rPr lang="fr-FR" sz="2000" dirty="0">
                <a:latin typeface="Courier" pitchFamily="2" charset="0"/>
              </a:rPr>
              <a:t>:</a:t>
            </a: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            </a:t>
            </a:r>
            <a:r>
              <a:rPr lang="fr-FR" sz="2000" dirty="0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latin typeface="Courier" pitchFamily="2" charset="0"/>
              </a:rPr>
              <a:t>_</a:t>
            </a:r>
            <a:r>
              <a:rPr lang="fr-FR" sz="2000" dirty="0" err="1">
                <a:latin typeface="Courier" pitchFamily="2" charset="0"/>
              </a:rPr>
              <a:t>age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 err="1">
                <a:latin typeface="Courier" pitchFamily="2" charset="0"/>
              </a:rPr>
              <a:t>nouvel_age</a:t>
            </a: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            </a:t>
            </a: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    </a:t>
            </a: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def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0000FF"/>
                </a:solidFill>
                <a:latin typeface="Courier" pitchFamily="2" charset="0"/>
              </a:rPr>
              <a:t>_</a:t>
            </a:r>
            <a:r>
              <a:rPr lang="fr-FR" sz="2000" dirty="0" err="1">
                <a:solidFill>
                  <a:srgbClr val="0000FF"/>
                </a:solidFill>
                <a:latin typeface="Courier" pitchFamily="2" charset="0"/>
              </a:rPr>
              <a:t>del_age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>
                <a:latin typeface="Courier" pitchFamily="2" charset="0"/>
              </a:rPr>
              <a:t>):</a:t>
            </a:r>
          </a:p>
          <a:p>
            <a:pPr marL="0" indent="0">
              <a:buNone/>
            </a:pP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        </a:t>
            </a:r>
            <a:r>
              <a:rPr lang="fr-FR" sz="2000" i="1" dirty="0">
                <a:solidFill>
                  <a:srgbClr val="BA2121"/>
                </a:solidFill>
                <a:latin typeface="Courier" pitchFamily="2" charset="0"/>
              </a:rPr>
              <a:t>"""</a:t>
            </a:r>
            <a:r>
              <a:rPr lang="fr-FR" sz="2000" i="1" dirty="0" err="1">
                <a:solidFill>
                  <a:srgbClr val="BA2121"/>
                </a:solidFill>
                <a:latin typeface="Courier" pitchFamily="2" charset="0"/>
              </a:rPr>
              <a:t>deleter</a:t>
            </a:r>
            <a:r>
              <a:rPr lang="fr-FR" sz="2000" i="1" dirty="0">
                <a:solidFill>
                  <a:srgbClr val="BA2121"/>
                </a:solidFill>
                <a:latin typeface="Courier" pitchFamily="2" charset="0"/>
              </a:rPr>
              <a:t>"""</a:t>
            </a:r>
            <a:endParaRPr lang="fr-FR" sz="2000" dirty="0">
              <a:solidFill>
                <a:srgbClr val="BA2121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        </a:t>
            </a: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del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latin typeface="Courier" pitchFamily="2" charset="0"/>
              </a:rPr>
              <a:t>_</a:t>
            </a:r>
            <a:r>
              <a:rPr lang="fr-FR" sz="2000" dirty="0" err="1">
                <a:latin typeface="Courier" pitchFamily="2" charset="0"/>
              </a:rPr>
              <a:t>age</a:t>
            </a:r>
            <a:endParaRPr lang="fr-FR" sz="20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300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55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179584" y="1600200"/>
            <a:ext cx="8784904" cy="50691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 </a:t>
            </a:r>
          </a:p>
          <a:p>
            <a:pPr marL="0" indent="0"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    # la propriété </a:t>
            </a:r>
            <a:r>
              <a:rPr lang="fr-FR" sz="2000" i="1" dirty="0" err="1">
                <a:solidFill>
                  <a:srgbClr val="408080"/>
                </a:solidFill>
                <a:latin typeface="Courier" pitchFamily="2" charset="0"/>
              </a:rPr>
              <a:t>age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 encapsule la valeur</a:t>
            </a:r>
          </a:p>
          <a:p>
            <a:pPr marL="0" indent="0"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    # de l'attribut _</a:t>
            </a:r>
            <a:r>
              <a:rPr lang="fr-FR" sz="2000" i="1" dirty="0" err="1">
                <a:solidFill>
                  <a:srgbClr val="408080"/>
                </a:solidFill>
                <a:latin typeface="Courier" pitchFamily="2" charset="0"/>
              </a:rPr>
              <a:t>age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 (cf. constructeur)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    </a:t>
            </a:r>
            <a:r>
              <a:rPr lang="fr-FR" sz="2000" dirty="0" err="1">
                <a:latin typeface="Courier" pitchFamily="2" charset="0"/>
              </a:rPr>
              <a:t>age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 err="1">
                <a:solidFill>
                  <a:srgbClr val="008000"/>
                </a:solidFill>
                <a:latin typeface="Courier" pitchFamily="2" charset="0"/>
              </a:rPr>
              <a:t>property</a:t>
            </a:r>
            <a:r>
              <a:rPr lang="fr-FR" sz="2000" dirty="0">
                <a:latin typeface="Courier" pitchFamily="2" charset="0"/>
              </a:rPr>
              <a:t>(_</a:t>
            </a:r>
            <a:r>
              <a:rPr lang="fr-FR" sz="2000" dirty="0" err="1">
                <a:latin typeface="Courier" pitchFamily="2" charset="0"/>
              </a:rPr>
              <a:t>get_age</a:t>
            </a:r>
            <a:r>
              <a:rPr lang="fr-FR" sz="2000" dirty="0">
                <a:latin typeface="Courier" pitchFamily="2" charset="0"/>
              </a:rPr>
              <a:t>, _</a:t>
            </a:r>
            <a:r>
              <a:rPr lang="fr-FR" sz="2000" dirty="0" err="1">
                <a:latin typeface="Courier" pitchFamily="2" charset="0"/>
              </a:rPr>
              <a:t>set_age</a:t>
            </a:r>
            <a:r>
              <a:rPr lang="fr-FR" sz="2000" dirty="0">
                <a:latin typeface="Courier" pitchFamily="2" charset="0"/>
              </a:rPr>
              <a:t>,</a:t>
            </a: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			 _</a:t>
            </a:r>
            <a:r>
              <a:rPr lang="fr-FR" sz="2000" dirty="0" err="1">
                <a:latin typeface="Courier" pitchFamily="2" charset="0"/>
              </a:rPr>
              <a:t>del_age</a:t>
            </a:r>
            <a:r>
              <a:rPr lang="fr-FR" sz="2000" dirty="0">
                <a:latin typeface="Courier" pitchFamily="2" charset="0"/>
              </a:rPr>
              <a:t>, 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</a:t>
            </a:r>
            <a:r>
              <a:rPr lang="fr-FR" sz="2000" dirty="0" err="1">
                <a:solidFill>
                  <a:srgbClr val="BA2121"/>
                </a:solidFill>
                <a:latin typeface="Courier" pitchFamily="2" charset="0"/>
              </a:rPr>
              <a:t>age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 de l'humain"</a:t>
            </a:r>
            <a:r>
              <a:rPr lang="fr-FR" sz="2000" dirty="0">
                <a:latin typeface="Courier" pitchFamily="2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34726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56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179584" y="1600200"/>
            <a:ext cx="8784904" cy="50691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création d'un humain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h1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latin typeface="Courier" pitchFamily="2" charset="0"/>
              </a:rPr>
              <a:t> Humain(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"Adam"</a:t>
            </a:r>
            <a:r>
              <a:rPr lang="fr-FR" sz="2000" dirty="0">
                <a:latin typeface="Courier" pitchFamily="2" charset="0"/>
              </a:rPr>
              <a:t>,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33</a:t>
            </a:r>
            <a:r>
              <a:rPr lang="fr-FR" sz="2000" dirty="0">
                <a:latin typeface="Courier" pitchFamily="2" charset="0"/>
              </a:rPr>
              <a:t>)</a:t>
            </a:r>
          </a:p>
          <a:p>
            <a:pPr marL="0" indent="0">
              <a:buNone/>
            </a:pP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(h1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age)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 appel la propriété _</a:t>
            </a:r>
            <a:r>
              <a:rPr lang="fr-FR" sz="2000" i="1" dirty="0" err="1">
                <a:solidFill>
                  <a:srgbClr val="408080"/>
                </a:solidFill>
                <a:latin typeface="Courier" pitchFamily="2" charset="0"/>
              </a:rPr>
              <a:t>get_age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b="1" dirty="0">
                <a:latin typeface="Courier" pitchFamily="2" charset="0"/>
              </a:rPr>
              <a:t>33</a:t>
            </a:r>
          </a:p>
          <a:p>
            <a:pPr marL="0" indent="0"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création d'un humain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h2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latin typeface="Courier" pitchFamily="2" charset="0"/>
              </a:rPr>
              <a:t> Humain(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"Eve"</a:t>
            </a:r>
            <a:r>
              <a:rPr lang="fr-FR" sz="2000" dirty="0">
                <a:latin typeface="Courier" pitchFamily="2" charset="0"/>
              </a:rPr>
              <a:t>,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2.3</a:t>
            </a:r>
            <a:r>
              <a:rPr lang="fr-FR" sz="2000" dirty="0">
                <a:latin typeface="Courier" pitchFamily="2" charset="0"/>
              </a:rPr>
              <a:t>)</a:t>
            </a:r>
          </a:p>
          <a:p>
            <a:pPr marL="0" indent="0">
              <a:buNone/>
            </a:pP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(h2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age)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appel la propriété _</a:t>
            </a:r>
            <a:r>
              <a:rPr lang="fr-FR" sz="2000" i="1" dirty="0" err="1">
                <a:solidFill>
                  <a:srgbClr val="408080"/>
                </a:solidFill>
                <a:latin typeface="Courier" pitchFamily="2" charset="0"/>
              </a:rPr>
              <a:t>get_age</a:t>
            </a:r>
            <a:endParaRPr lang="fr-FR" sz="2000" i="1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b="1" dirty="0">
                <a:latin typeface="Courier" pitchFamily="2" charset="0"/>
              </a:rPr>
              <a:t>Type de l'âge non conforme</a:t>
            </a:r>
          </a:p>
          <a:p>
            <a:pPr marL="0" indent="0">
              <a:buNone/>
            </a:pPr>
            <a:r>
              <a:rPr lang="fr-FR" sz="2000" b="1" dirty="0">
                <a:latin typeface="Courier" pitchFamily="2" charset="0"/>
              </a:rPr>
              <a:t>Entrez un entier pour l’âge</a:t>
            </a:r>
          </a:p>
          <a:p>
            <a:pPr marL="0" indent="0">
              <a:buNone/>
            </a:pPr>
            <a:r>
              <a:rPr lang="fr-FR" sz="2000" b="1" dirty="0">
                <a:latin typeface="Courier" pitchFamily="2" charset="0"/>
              </a:rPr>
              <a:t>2.3</a:t>
            </a:r>
          </a:p>
        </p:txBody>
      </p:sp>
    </p:spTree>
    <p:extLst>
      <p:ext uri="{BB962C8B-B14F-4D97-AF65-F5344CB8AC3E}">
        <p14:creationId xmlns:p14="http://schemas.microsoft.com/office/powerpoint/2010/main" val="1696508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57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179584" y="1600200"/>
            <a:ext cx="8784904" cy="50691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création d'un humain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h1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latin typeface="Courier" pitchFamily="2" charset="0"/>
              </a:rPr>
              <a:t> Humain(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"Adam"</a:t>
            </a:r>
            <a:r>
              <a:rPr lang="fr-FR" sz="2000" dirty="0">
                <a:latin typeface="Courier" pitchFamily="2" charset="0"/>
              </a:rPr>
              <a:t>,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33</a:t>
            </a:r>
            <a:r>
              <a:rPr lang="fr-FR" sz="2000" dirty="0">
                <a:latin typeface="Courier" pitchFamily="2" charset="0"/>
              </a:rPr>
              <a:t>)</a:t>
            </a:r>
          </a:p>
          <a:p>
            <a:pPr marL="0" indent="0">
              <a:buNone/>
            </a:pP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(h1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age)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appel la propriété _</a:t>
            </a:r>
            <a:r>
              <a:rPr lang="fr-FR" sz="2000" i="1" dirty="0" err="1">
                <a:solidFill>
                  <a:srgbClr val="408080"/>
                </a:solidFill>
                <a:latin typeface="Courier" pitchFamily="2" charset="0"/>
              </a:rPr>
              <a:t>get_age</a:t>
            </a:r>
            <a:endParaRPr lang="fr-FR" sz="2000" i="1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b="1" dirty="0">
                <a:latin typeface="Courier" pitchFamily="2" charset="0"/>
              </a:rPr>
              <a:t>33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h1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age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22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 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appel la propriété _</a:t>
            </a:r>
            <a:r>
              <a:rPr lang="fr-FR" sz="2000" i="1" dirty="0" err="1">
                <a:solidFill>
                  <a:srgbClr val="408080"/>
                </a:solidFill>
                <a:latin typeface="Courier" pitchFamily="2" charset="0"/>
              </a:rPr>
              <a:t>set_age</a:t>
            </a:r>
            <a:endParaRPr lang="fr-FR" sz="2000" i="1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              # pour modifier l'attribut _</a:t>
            </a:r>
            <a:r>
              <a:rPr lang="fr-FR" sz="2000" i="1" dirty="0" err="1">
                <a:solidFill>
                  <a:srgbClr val="408080"/>
                </a:solidFill>
                <a:latin typeface="Courier" pitchFamily="2" charset="0"/>
              </a:rPr>
              <a:t>age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(h1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age)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appel la propriété _</a:t>
            </a:r>
            <a:r>
              <a:rPr lang="fr-FR" sz="2000" i="1" dirty="0" err="1">
                <a:solidFill>
                  <a:srgbClr val="408080"/>
                </a:solidFill>
                <a:latin typeface="Courier" pitchFamily="2" charset="0"/>
              </a:rPr>
              <a:t>get_age</a:t>
            </a:r>
            <a:endParaRPr lang="fr-FR" sz="2000" i="1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b="1" dirty="0">
                <a:latin typeface="Courier" pitchFamily="2" charset="0"/>
              </a:rPr>
              <a:t>22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h1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age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-2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 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appel la propriété _</a:t>
            </a:r>
            <a:r>
              <a:rPr lang="fr-FR" sz="2000" i="1" dirty="0" err="1">
                <a:solidFill>
                  <a:srgbClr val="408080"/>
                </a:solidFill>
                <a:latin typeface="Courier" pitchFamily="2" charset="0"/>
              </a:rPr>
              <a:t>set_age</a:t>
            </a:r>
            <a:endParaRPr lang="fr-FR" sz="2000" i="1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              # pour modifier l'attribut _</a:t>
            </a:r>
            <a:r>
              <a:rPr lang="fr-FR" sz="2000" i="1" dirty="0" err="1">
                <a:solidFill>
                  <a:srgbClr val="408080"/>
                </a:solidFill>
                <a:latin typeface="Courier" pitchFamily="2" charset="0"/>
              </a:rPr>
              <a:t>age</a:t>
            </a:r>
            <a:endParaRPr lang="fr-FR" sz="2000" i="1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b="1" dirty="0">
                <a:latin typeface="Courier" pitchFamily="2" charset="0"/>
              </a:rPr>
              <a:t>âge négatif, je le remplace par 0</a:t>
            </a:r>
          </a:p>
          <a:p>
            <a:pPr marL="0" indent="0">
              <a:buNone/>
            </a:pP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(h1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age)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appel la propriété _</a:t>
            </a:r>
            <a:r>
              <a:rPr lang="fr-FR" sz="2000" i="1" dirty="0" err="1">
                <a:solidFill>
                  <a:srgbClr val="408080"/>
                </a:solidFill>
                <a:latin typeface="Courier" pitchFamily="2" charset="0"/>
              </a:rPr>
              <a:t>getage</a:t>
            </a:r>
            <a:endParaRPr lang="fr-FR" sz="2000" i="1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b="1" dirty="0">
                <a:latin typeface="Courier" pitchFamily="2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46397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58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179584" y="1600200"/>
            <a:ext cx="8784904" cy="50691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création d'un humain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h1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latin typeface="Courier" pitchFamily="2" charset="0"/>
              </a:rPr>
              <a:t> Humain(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"Adam"</a:t>
            </a:r>
            <a:r>
              <a:rPr lang="fr-FR" sz="2000" dirty="0">
                <a:latin typeface="Courier" pitchFamily="2" charset="0"/>
              </a:rPr>
              <a:t>,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33</a:t>
            </a:r>
            <a:r>
              <a:rPr lang="fr-FR" sz="2000" dirty="0">
                <a:latin typeface="Courier" pitchFamily="2" charset="0"/>
              </a:rPr>
              <a:t>)</a:t>
            </a:r>
          </a:p>
          <a:p>
            <a:pPr marL="0" indent="0">
              <a:buNone/>
            </a:pP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(h1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age)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appel la propriété _</a:t>
            </a:r>
            <a:r>
              <a:rPr lang="fr-FR" sz="2000" i="1" dirty="0" err="1">
                <a:solidFill>
                  <a:srgbClr val="408080"/>
                </a:solidFill>
                <a:latin typeface="Courier" pitchFamily="2" charset="0"/>
              </a:rPr>
              <a:t>get_age</a:t>
            </a:r>
            <a:endParaRPr lang="fr-FR" sz="2000" i="1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b="1" dirty="0">
                <a:latin typeface="Courier" pitchFamily="2" charset="0"/>
              </a:rPr>
              <a:t>33</a:t>
            </a:r>
          </a:p>
          <a:p>
            <a:pPr marL="0" indent="0">
              <a:buNone/>
            </a:pP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del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h1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age   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appel la propriété _</a:t>
            </a:r>
            <a:r>
              <a:rPr lang="fr-FR" sz="2000" i="1" dirty="0" err="1">
                <a:solidFill>
                  <a:srgbClr val="408080"/>
                </a:solidFill>
                <a:latin typeface="Courier" pitchFamily="2" charset="0"/>
              </a:rPr>
              <a:t>del_age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(h1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age)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appel la propriété _</a:t>
            </a:r>
            <a:r>
              <a:rPr lang="fr-FR" sz="2000" i="1" dirty="0" err="1">
                <a:solidFill>
                  <a:srgbClr val="408080"/>
                </a:solidFill>
                <a:latin typeface="Courier" pitchFamily="2" charset="0"/>
              </a:rPr>
              <a:t>get_age</a:t>
            </a:r>
            <a:endParaRPr lang="fr-FR" sz="2000" i="1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solidFill>
                  <a:srgbClr val="FF0000"/>
                </a:solidFill>
                <a:latin typeface="Courier" pitchFamily="2" charset="0"/>
              </a:rPr>
              <a:t>---------------------------------------------------</a:t>
            </a:r>
          </a:p>
          <a:p>
            <a:pPr marL="0" indent="0">
              <a:buNone/>
            </a:pPr>
            <a:r>
              <a:rPr lang="fr-FR" sz="2000" dirty="0" err="1">
                <a:solidFill>
                  <a:srgbClr val="FF0000"/>
                </a:solidFill>
                <a:latin typeface="Courier" pitchFamily="2" charset="0"/>
              </a:rPr>
              <a:t>AttributeError</a:t>
            </a:r>
            <a:r>
              <a:rPr lang="fr-FR" sz="2000" dirty="0">
                <a:solidFill>
                  <a:srgbClr val="FF0000"/>
                </a:solidFill>
                <a:latin typeface="Courier" pitchFamily="2" charset="0"/>
              </a:rPr>
              <a:t>         </a:t>
            </a:r>
            <a:r>
              <a:rPr lang="fr-FR" sz="2000" dirty="0" err="1">
                <a:solidFill>
                  <a:srgbClr val="FF0000"/>
                </a:solidFill>
                <a:latin typeface="Courier" pitchFamily="2" charset="0"/>
              </a:rPr>
              <a:t>Traceback</a:t>
            </a:r>
            <a:r>
              <a:rPr lang="fr-FR" sz="2000" dirty="0">
                <a:solidFill>
                  <a:srgbClr val="FF0000"/>
                </a:solidFill>
                <a:latin typeface="Courier" pitchFamily="2" charset="0"/>
              </a:rPr>
              <a:t> (</a:t>
            </a:r>
            <a:r>
              <a:rPr lang="fr-FR" sz="2000" dirty="0" err="1">
                <a:solidFill>
                  <a:srgbClr val="FF0000"/>
                </a:solidFill>
                <a:latin typeface="Courier" pitchFamily="2" charset="0"/>
              </a:rPr>
              <a:t>most</a:t>
            </a:r>
            <a:r>
              <a:rPr lang="fr-FR" sz="2000" dirty="0">
                <a:solidFill>
                  <a:srgbClr val="FF0000"/>
                </a:solidFill>
                <a:latin typeface="Courier" pitchFamily="2" charset="0"/>
              </a:rPr>
              <a:t> </a:t>
            </a:r>
            <a:r>
              <a:rPr lang="fr-FR" sz="2000" dirty="0" err="1">
                <a:solidFill>
                  <a:srgbClr val="FF0000"/>
                </a:solidFill>
                <a:latin typeface="Courier" pitchFamily="2" charset="0"/>
              </a:rPr>
              <a:t>recent</a:t>
            </a:r>
            <a:r>
              <a:rPr lang="fr-FR" sz="2000" dirty="0">
                <a:solidFill>
                  <a:srgbClr val="FF0000"/>
                </a:solidFill>
                <a:latin typeface="Courier" pitchFamily="2" charset="0"/>
              </a:rPr>
              <a:t> call last)</a:t>
            </a:r>
          </a:p>
          <a:p>
            <a:pPr marL="0" indent="0">
              <a:buNone/>
            </a:pPr>
            <a:r>
              <a:rPr lang="fr-FR" sz="2000" dirty="0">
                <a:solidFill>
                  <a:srgbClr val="FF0000"/>
                </a:solidFill>
                <a:latin typeface="Courier" pitchFamily="2" charset="0"/>
              </a:rPr>
              <a:t>&lt;ipython-input-263-30d3143f7859&gt; in &lt;module&gt;()</a:t>
            </a:r>
          </a:p>
          <a:p>
            <a:pPr marL="0" indent="0">
              <a:buNone/>
            </a:pPr>
            <a:r>
              <a:rPr lang="fr-FR" sz="2000" dirty="0">
                <a:solidFill>
                  <a:srgbClr val="FF0000"/>
                </a:solidFill>
                <a:latin typeface="Courier" pitchFamily="2" charset="0"/>
              </a:rPr>
              <a:t>      3 </a:t>
            </a:r>
            <a:r>
              <a:rPr lang="fr-FR" sz="2000" dirty="0" err="1">
                <a:solidFill>
                  <a:srgbClr val="FF0000"/>
                </a:solidFill>
                <a:latin typeface="Courier" pitchFamily="2" charset="0"/>
              </a:rPr>
              <a:t>print</a:t>
            </a:r>
            <a:r>
              <a:rPr lang="fr-FR" sz="2000" dirty="0">
                <a:solidFill>
                  <a:srgbClr val="FF0000"/>
                </a:solidFill>
                <a:latin typeface="Courier" pitchFamily="2" charset="0"/>
              </a:rPr>
              <a:t>(h1.age) # appel la propriété _</a:t>
            </a:r>
            <a:r>
              <a:rPr lang="fr-FR" sz="2000" dirty="0" err="1">
                <a:solidFill>
                  <a:srgbClr val="FF0000"/>
                </a:solidFill>
                <a:latin typeface="Courier" pitchFamily="2" charset="0"/>
              </a:rPr>
              <a:t>get_age</a:t>
            </a:r>
            <a:endParaRPr lang="fr-FR" sz="2000" dirty="0">
              <a:solidFill>
                <a:srgbClr val="FF000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solidFill>
                  <a:srgbClr val="FF0000"/>
                </a:solidFill>
                <a:latin typeface="Courier" pitchFamily="2" charset="0"/>
              </a:rPr>
              <a:t>      4 </a:t>
            </a:r>
            <a:r>
              <a:rPr lang="fr-FR" sz="2000" dirty="0" err="1">
                <a:solidFill>
                  <a:srgbClr val="FF0000"/>
                </a:solidFill>
                <a:latin typeface="Courier" pitchFamily="2" charset="0"/>
              </a:rPr>
              <a:t>del</a:t>
            </a:r>
            <a:r>
              <a:rPr lang="fr-FR" sz="2000" dirty="0">
                <a:solidFill>
                  <a:srgbClr val="FF0000"/>
                </a:solidFill>
                <a:latin typeface="Courier" pitchFamily="2" charset="0"/>
              </a:rPr>
              <a:t> h1.age    # appel la propriété _</a:t>
            </a:r>
            <a:r>
              <a:rPr lang="fr-FR" sz="2000" dirty="0" err="1">
                <a:solidFill>
                  <a:srgbClr val="FF0000"/>
                </a:solidFill>
                <a:latin typeface="Courier" pitchFamily="2" charset="0"/>
              </a:rPr>
              <a:t>del_age</a:t>
            </a:r>
            <a:endParaRPr lang="fr-FR" sz="2000" dirty="0">
              <a:solidFill>
                <a:srgbClr val="FF000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solidFill>
                  <a:srgbClr val="FF0000"/>
                </a:solidFill>
                <a:latin typeface="Courier" pitchFamily="2" charset="0"/>
              </a:rPr>
              <a:t>----&gt; 5 </a:t>
            </a:r>
            <a:r>
              <a:rPr lang="fr-FR" sz="2000" dirty="0" err="1">
                <a:solidFill>
                  <a:srgbClr val="FF0000"/>
                </a:solidFill>
                <a:latin typeface="Courier" pitchFamily="2" charset="0"/>
              </a:rPr>
              <a:t>print</a:t>
            </a:r>
            <a:r>
              <a:rPr lang="fr-FR" sz="2000" dirty="0">
                <a:solidFill>
                  <a:srgbClr val="FF0000"/>
                </a:solidFill>
                <a:latin typeface="Courier" pitchFamily="2" charset="0"/>
              </a:rPr>
              <a:t>(h1.age) # appel la propriété _</a:t>
            </a:r>
            <a:r>
              <a:rPr lang="fr-FR" sz="2000" dirty="0" err="1">
                <a:solidFill>
                  <a:srgbClr val="FF0000"/>
                </a:solidFill>
                <a:latin typeface="Courier" pitchFamily="2" charset="0"/>
              </a:rPr>
              <a:t>get_age</a:t>
            </a:r>
            <a:endParaRPr lang="fr-FR" sz="2000" dirty="0">
              <a:solidFill>
                <a:srgbClr val="FF000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solidFill>
                  <a:srgbClr val="FF0000"/>
                </a:solidFill>
                <a:latin typeface="Courier" pitchFamily="2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72537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59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179584" y="1600200"/>
            <a:ext cx="8784904" cy="50691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création d'un humain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h1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latin typeface="Courier" pitchFamily="2" charset="0"/>
              </a:rPr>
              <a:t> Humain(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"Adam"</a:t>
            </a:r>
            <a:r>
              <a:rPr lang="fr-FR" sz="2000" dirty="0">
                <a:latin typeface="Courier" pitchFamily="2" charset="0"/>
              </a:rPr>
              <a:t>,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33</a:t>
            </a:r>
            <a:r>
              <a:rPr lang="fr-FR" sz="2000" dirty="0">
                <a:latin typeface="Courier" pitchFamily="2" charset="0"/>
              </a:rPr>
              <a:t>)</a:t>
            </a:r>
          </a:p>
          <a:p>
            <a:pPr marL="0" indent="0">
              <a:buNone/>
            </a:pP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help(</a:t>
            </a:r>
            <a:r>
              <a:rPr lang="fr-FR" sz="2000" dirty="0" err="1">
                <a:solidFill>
                  <a:srgbClr val="000000"/>
                </a:solidFill>
                <a:latin typeface="Courier" pitchFamily="2" charset="0"/>
              </a:rPr>
              <a:t>Humain</a:t>
            </a:r>
            <a:r>
              <a:rPr lang="fr-FR" sz="2000" dirty="0" err="1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 err="1">
                <a:solidFill>
                  <a:srgbClr val="000000"/>
                </a:solidFill>
                <a:latin typeface="Courier" pitchFamily="2" charset="0"/>
              </a:rPr>
              <a:t>age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)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appel la propriété &lt;</a:t>
            </a:r>
            <a:r>
              <a:rPr lang="fr-FR" sz="2000" i="1" dirty="0" err="1">
                <a:solidFill>
                  <a:srgbClr val="408080"/>
                </a:solidFill>
                <a:latin typeface="Courier" pitchFamily="2" charset="0"/>
              </a:rPr>
              <a:t>helper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&gt; (dernier argument de </a:t>
            </a:r>
            <a:r>
              <a:rPr lang="fr-FR" sz="2000" i="1" dirty="0" err="1">
                <a:solidFill>
                  <a:srgbClr val="408080"/>
                </a:solidFill>
                <a:latin typeface="Courier" pitchFamily="2" charset="0"/>
              </a:rPr>
              <a:t>age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)</a:t>
            </a:r>
          </a:p>
          <a:p>
            <a:pPr marL="0" indent="0">
              <a:buNone/>
            </a:pPr>
            <a:r>
              <a:rPr lang="fr-FR" sz="2000" b="1" dirty="0">
                <a:latin typeface="Courier" pitchFamily="2" charset="0"/>
              </a:rPr>
              <a:t>Help on </a:t>
            </a:r>
            <a:r>
              <a:rPr lang="fr-FR" sz="2000" b="1" dirty="0" err="1">
                <a:latin typeface="Courier" pitchFamily="2" charset="0"/>
              </a:rPr>
              <a:t>property</a:t>
            </a:r>
            <a:r>
              <a:rPr lang="fr-FR" sz="2000" b="1" dirty="0">
                <a:latin typeface="Courier" pitchFamily="2" charset="0"/>
              </a:rPr>
              <a:t>:</a:t>
            </a:r>
          </a:p>
          <a:p>
            <a:pPr marL="0" indent="0">
              <a:buNone/>
            </a:pPr>
            <a:r>
              <a:rPr lang="fr-FR" sz="2000" b="1" dirty="0">
                <a:latin typeface="Courier" pitchFamily="2" charset="0"/>
              </a:rPr>
              <a:t>    </a:t>
            </a:r>
            <a:r>
              <a:rPr lang="fr-FR" sz="2000" b="1" dirty="0" err="1">
                <a:latin typeface="Courier" pitchFamily="2" charset="0"/>
              </a:rPr>
              <a:t>age</a:t>
            </a:r>
            <a:r>
              <a:rPr lang="fr-FR" sz="2000" b="1" dirty="0">
                <a:latin typeface="Courier" pitchFamily="2" charset="0"/>
              </a:rPr>
              <a:t> de l'humain</a:t>
            </a:r>
            <a:endParaRPr lang="fr-FR" sz="2000" b="1" dirty="0">
              <a:solidFill>
                <a:srgbClr val="408080"/>
              </a:solidFill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25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5E024C8-43F3-254B-89C9-D366A1777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10BDD7-6F6E-4B46-9149-2D6B753D5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Héritage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147562-0B49-0E44-BAD9-ED20A6CBE1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fr-FR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6364572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Héritage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61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853136"/>
          </a:xfrm>
        </p:spPr>
        <p:txBody>
          <a:bodyPr>
            <a:normAutofit/>
          </a:bodyPr>
          <a:lstStyle/>
          <a:p>
            <a:r>
              <a:rPr lang="fr-FR" dirty="0"/>
              <a:t>l’</a:t>
            </a:r>
            <a:r>
              <a:rPr lang="fr-FR" b="1" dirty="0"/>
              <a:t>héritage</a:t>
            </a:r>
            <a:r>
              <a:rPr lang="fr-FR" dirty="0"/>
              <a:t> est un mécanisme qui permet, lors de la déclaration d’une nouvelle classe, d'y inclure les caractéristiques d’une autre classe.</a:t>
            </a:r>
          </a:p>
          <a:p>
            <a:r>
              <a:rPr lang="fr-FR" dirty="0"/>
              <a:t>L'héritage établit une relation de généralisation / spécialisation entre une </a:t>
            </a:r>
            <a:r>
              <a:rPr lang="fr-FR" b="1" dirty="0"/>
              <a:t>classe mère</a:t>
            </a:r>
            <a:r>
              <a:rPr lang="fr-FR" dirty="0"/>
              <a:t> (</a:t>
            </a:r>
            <a:r>
              <a:rPr lang="fr-FR" b="1" dirty="0"/>
              <a:t>classe parent</a:t>
            </a:r>
            <a:r>
              <a:rPr lang="fr-FR" dirty="0"/>
              <a:t>, </a:t>
            </a:r>
            <a:r>
              <a:rPr lang="fr-FR" b="1" dirty="0" err="1"/>
              <a:t>super-classe</a:t>
            </a:r>
            <a:r>
              <a:rPr lang="fr-FR" dirty="0"/>
              <a:t>) et une </a:t>
            </a:r>
            <a:r>
              <a:rPr lang="fr-FR" b="1" dirty="0"/>
              <a:t>class fille</a:t>
            </a:r>
            <a:r>
              <a:rPr lang="fr-FR" dirty="0"/>
              <a:t> (</a:t>
            </a:r>
            <a:r>
              <a:rPr lang="fr-FR" b="1" dirty="0"/>
              <a:t>classe enfant</a:t>
            </a:r>
            <a:r>
              <a:rPr lang="fr-FR" dirty="0"/>
              <a:t>, </a:t>
            </a:r>
            <a:r>
              <a:rPr lang="fr-FR" b="1" dirty="0"/>
              <a:t>sous-classe</a:t>
            </a:r>
            <a:r>
              <a:rPr lang="fr-FR" dirty="0"/>
              <a:t>). </a:t>
            </a:r>
          </a:p>
          <a:p>
            <a:r>
              <a:rPr lang="fr-FR" dirty="0"/>
              <a:t>La classe fille </a:t>
            </a:r>
            <a:r>
              <a:rPr lang="fr-FR" b="1" dirty="0"/>
              <a:t>hérite</a:t>
            </a:r>
            <a:r>
              <a:rPr lang="fr-FR" dirty="0"/>
              <a:t> des caractéristiques, i.e., propriétés, attributs et méthodes, de la classe mère.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80058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Héritage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62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853136"/>
          </a:xfrm>
        </p:spPr>
        <p:txBody>
          <a:bodyPr>
            <a:normAutofit/>
          </a:bodyPr>
          <a:lstStyle/>
          <a:p>
            <a:r>
              <a:rPr lang="fr-FR" dirty="0"/>
              <a:t>La classe mère généralise la classe fille.</a:t>
            </a:r>
          </a:p>
          <a:p>
            <a:r>
              <a:rPr lang="fr-FR" dirty="0"/>
              <a:t>La classe fille spécialise la classe mère.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99D158C-3911-B343-BB63-6C3AF36477C6}"/>
              </a:ext>
            </a:extLst>
          </p:cNvPr>
          <p:cNvCxnSpPr>
            <a:cxnSpLocks/>
            <a:stCxn id="6" idx="1"/>
            <a:endCxn id="5" idx="3"/>
          </p:cNvCxnSpPr>
          <p:nvPr/>
        </p:nvCxnSpPr>
        <p:spPr>
          <a:xfrm flipH="1" flipV="1">
            <a:off x="3499635" y="4657268"/>
            <a:ext cx="1821189" cy="13653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05AD106-D9E9-D644-A068-4C7B2C8752EC}"/>
              </a:ext>
            </a:extLst>
          </p:cNvPr>
          <p:cNvSpPr txBox="1"/>
          <p:nvPr/>
        </p:nvSpPr>
        <p:spPr>
          <a:xfrm>
            <a:off x="3874813" y="4221266"/>
            <a:ext cx="1298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tx1"/>
                </a:solidFill>
              </a:rPr>
              <a:t>héritage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FBCDD75-7698-4A49-80A4-24F5CEF06588}"/>
              </a:ext>
            </a:extLst>
          </p:cNvPr>
          <p:cNvGrpSpPr/>
          <p:nvPr/>
        </p:nvGrpSpPr>
        <p:grpSpPr>
          <a:xfrm>
            <a:off x="680995" y="3290095"/>
            <a:ext cx="2818640" cy="2170113"/>
            <a:chOff x="533400" y="3308648"/>
            <a:chExt cx="2818640" cy="217011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A344F10-EF51-2644-922B-07C0804E800E}"/>
                </a:ext>
              </a:extLst>
            </p:cNvPr>
            <p:cNvSpPr/>
            <p:nvPr/>
          </p:nvSpPr>
          <p:spPr>
            <a:xfrm>
              <a:off x="533400" y="3872880"/>
              <a:ext cx="2818640" cy="1605881"/>
            </a:xfrm>
            <a:prstGeom prst="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b="1" dirty="0" err="1"/>
                <a:t>Vehicule</a:t>
              </a:r>
              <a:endParaRPr lang="fr-FR" b="1" dirty="0"/>
            </a:p>
            <a:p>
              <a:r>
                <a:rPr lang="fr-FR" dirty="0" err="1"/>
                <a:t>attr</a:t>
              </a:r>
              <a:r>
                <a:rPr lang="fr-FR" dirty="0"/>
                <a:t>: 	nom</a:t>
              </a:r>
            </a:p>
            <a:p>
              <a:r>
                <a:rPr lang="fr-FR" dirty="0" err="1"/>
                <a:t>attr</a:t>
              </a:r>
              <a:r>
                <a:rPr lang="fr-FR" dirty="0"/>
                <a:t>: 	vitesse</a:t>
              </a:r>
            </a:p>
            <a:p>
              <a:r>
                <a:rPr lang="fr-FR" dirty="0" err="1"/>
                <a:t>méth</a:t>
              </a:r>
              <a:r>
                <a:rPr lang="fr-FR" dirty="0"/>
                <a:t>: 	</a:t>
              </a:r>
              <a:r>
                <a:rPr lang="fr-FR" dirty="0" err="1"/>
                <a:t>se_deplacer</a:t>
              </a:r>
              <a:r>
                <a:rPr lang="fr-FR" dirty="0"/>
                <a:t>()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D408691-5BF9-5E44-AAEE-30FFB248D903}"/>
                </a:ext>
              </a:extLst>
            </p:cNvPr>
            <p:cNvSpPr txBox="1"/>
            <p:nvPr/>
          </p:nvSpPr>
          <p:spPr>
            <a:xfrm>
              <a:off x="1098742" y="3308648"/>
              <a:ext cx="200086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b="1" dirty="0">
                  <a:solidFill>
                    <a:srgbClr val="0432FF"/>
                  </a:solidFill>
                </a:rPr>
                <a:t>Classe mère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126398B-8877-0743-9C37-F1042E338D12}"/>
              </a:ext>
            </a:extLst>
          </p:cNvPr>
          <p:cNvGrpSpPr/>
          <p:nvPr/>
        </p:nvGrpSpPr>
        <p:grpSpPr>
          <a:xfrm>
            <a:off x="5320824" y="2996952"/>
            <a:ext cx="3347864" cy="2886273"/>
            <a:chOff x="5796136" y="2846983"/>
            <a:chExt cx="3347864" cy="288627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2B08635-00AB-3A48-B6F8-AA26C363F600}"/>
                </a:ext>
              </a:extLst>
            </p:cNvPr>
            <p:cNvSpPr/>
            <p:nvPr/>
          </p:nvSpPr>
          <p:spPr>
            <a:xfrm>
              <a:off x="5796136" y="3308648"/>
              <a:ext cx="3347864" cy="2424608"/>
            </a:xfrm>
            <a:prstGeom prst="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b="1" dirty="0"/>
                <a:t>Voiture(</a:t>
              </a:r>
              <a:r>
                <a:rPr lang="fr-FR" b="1" dirty="0" err="1"/>
                <a:t>Vehicule</a:t>
              </a:r>
              <a:r>
                <a:rPr lang="fr-FR" b="1" dirty="0"/>
                <a:t>) </a:t>
              </a:r>
            </a:p>
            <a:p>
              <a:r>
                <a:rPr lang="fr-FR" dirty="0" err="1"/>
                <a:t>attr</a:t>
              </a:r>
              <a:r>
                <a:rPr lang="fr-FR" dirty="0"/>
                <a:t>: 	nom</a:t>
              </a:r>
            </a:p>
            <a:p>
              <a:r>
                <a:rPr lang="fr-FR" dirty="0" err="1"/>
                <a:t>attr</a:t>
              </a:r>
              <a:r>
                <a:rPr lang="fr-FR" dirty="0"/>
                <a:t>: 	vitesse</a:t>
              </a:r>
            </a:p>
            <a:p>
              <a:r>
                <a:rPr lang="fr-FR" dirty="0" err="1">
                  <a:solidFill>
                    <a:srgbClr val="FF0000"/>
                  </a:solidFill>
                </a:rPr>
                <a:t>attr</a:t>
              </a:r>
              <a:r>
                <a:rPr lang="fr-FR" dirty="0">
                  <a:solidFill>
                    <a:srgbClr val="FF0000"/>
                  </a:solidFill>
                </a:rPr>
                <a:t>:	puissance</a:t>
              </a:r>
            </a:p>
            <a:p>
              <a:r>
                <a:rPr lang="fr-FR" dirty="0" err="1"/>
                <a:t>méth</a:t>
              </a:r>
              <a:r>
                <a:rPr lang="fr-FR" dirty="0"/>
                <a:t>: 	se_ </a:t>
              </a:r>
              <a:r>
                <a:rPr lang="fr-FR" dirty="0" err="1"/>
                <a:t>deplacer</a:t>
              </a:r>
              <a:r>
                <a:rPr lang="fr-FR" dirty="0"/>
                <a:t>()</a:t>
              </a:r>
            </a:p>
            <a:p>
              <a:r>
                <a:rPr lang="fr-FR" dirty="0" err="1">
                  <a:solidFill>
                    <a:srgbClr val="FF0000"/>
                  </a:solidFill>
                </a:rPr>
                <a:t>méth</a:t>
              </a:r>
              <a:r>
                <a:rPr lang="fr-FR" dirty="0">
                  <a:solidFill>
                    <a:srgbClr val="FF0000"/>
                  </a:solidFill>
                </a:rPr>
                <a:t>:	</a:t>
              </a:r>
              <a:r>
                <a:rPr lang="fr-FR" dirty="0" err="1">
                  <a:solidFill>
                    <a:srgbClr val="FF0000"/>
                  </a:solidFill>
                </a:rPr>
                <a:t>changer_moteur</a:t>
              </a:r>
              <a:r>
                <a:rPr lang="fr-FR" dirty="0">
                  <a:solidFill>
                    <a:srgbClr val="FF0000"/>
                  </a:solidFill>
                </a:rPr>
                <a:t>()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D4E4803-7459-0449-8C93-530907B88C00}"/>
                </a:ext>
              </a:extLst>
            </p:cNvPr>
            <p:cNvSpPr txBox="1"/>
            <p:nvPr/>
          </p:nvSpPr>
          <p:spPr>
            <a:xfrm>
              <a:off x="6573829" y="2846983"/>
              <a:ext cx="17924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b="1" dirty="0">
                  <a:solidFill>
                    <a:srgbClr val="0432FF"/>
                  </a:solidFill>
                </a:rPr>
                <a:t>Classe fille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1516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Héritage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63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423848" cy="4853136"/>
          </a:xfrm>
        </p:spPr>
        <p:txBody>
          <a:bodyPr>
            <a:normAutofit/>
          </a:bodyPr>
          <a:lstStyle/>
          <a:p>
            <a:r>
              <a:rPr lang="fr-FR" dirty="0"/>
              <a:t>La syntaxe pour définir une classe fille qui hérite d’une classe mère est la suivante :</a:t>
            </a:r>
          </a:p>
          <a:p>
            <a:pPr marL="0" indent="0">
              <a:buNone/>
            </a:pPr>
            <a:r>
              <a:rPr lang="fr-FR" sz="2400" b="1" dirty="0">
                <a:solidFill>
                  <a:srgbClr val="008000"/>
                </a:solidFill>
                <a:latin typeface="Courier" pitchFamily="2" charset="0"/>
              </a:rPr>
              <a:t>class</a:t>
            </a:r>
            <a:r>
              <a:rPr lang="fr-FR" sz="2400" dirty="0">
                <a:latin typeface="Courier" pitchFamily="2" charset="0"/>
              </a:rPr>
              <a:t> </a:t>
            </a:r>
            <a:r>
              <a:rPr lang="fr-FR" sz="2400" b="1" dirty="0" err="1">
                <a:solidFill>
                  <a:srgbClr val="0000FF"/>
                </a:solidFill>
                <a:latin typeface="Courier" pitchFamily="2" charset="0"/>
              </a:rPr>
              <a:t>ClasseFille</a:t>
            </a:r>
            <a:r>
              <a:rPr lang="fr-FR" sz="2400" dirty="0">
                <a:latin typeface="Courier" pitchFamily="2" charset="0"/>
              </a:rPr>
              <a:t>(</a:t>
            </a:r>
            <a:r>
              <a:rPr lang="fr-FR" sz="2400" dirty="0" err="1">
                <a:latin typeface="Courier" pitchFamily="2" charset="0"/>
              </a:rPr>
              <a:t>ClasseMere</a:t>
            </a:r>
            <a:r>
              <a:rPr lang="fr-FR" sz="2400" dirty="0">
                <a:latin typeface="Courier" pitchFamily="2" charset="0"/>
              </a:rPr>
              <a:t>):</a:t>
            </a:r>
          </a:p>
          <a:p>
            <a:pPr marL="0" indent="0">
              <a:buNone/>
            </a:pPr>
            <a:r>
              <a:rPr lang="fr-FR" sz="2400" dirty="0">
                <a:latin typeface="Courier" pitchFamily="2" charset="0"/>
              </a:rPr>
              <a:t>	</a:t>
            </a:r>
            <a:r>
              <a:rPr lang="fr-FR" sz="2400" b="1" dirty="0" err="1">
                <a:solidFill>
                  <a:srgbClr val="008000"/>
                </a:solidFill>
                <a:latin typeface="Courier" pitchFamily="2" charset="0"/>
              </a:rPr>
              <a:t>def</a:t>
            </a:r>
            <a:r>
              <a:rPr lang="fr-FR" sz="2400" dirty="0">
                <a:latin typeface="Courier" pitchFamily="2" charset="0"/>
              </a:rPr>
              <a:t> </a:t>
            </a:r>
            <a:r>
              <a:rPr lang="fr-FR" sz="2400" dirty="0">
                <a:solidFill>
                  <a:srgbClr val="0000FF"/>
                </a:solidFill>
                <a:latin typeface="Courier" pitchFamily="2" charset="0"/>
              </a:rPr>
              <a:t>__</a:t>
            </a:r>
            <a:r>
              <a:rPr lang="fr-FR" sz="2400" dirty="0" err="1">
                <a:solidFill>
                  <a:srgbClr val="0000FF"/>
                </a:solidFill>
                <a:latin typeface="Courier" pitchFamily="2" charset="0"/>
              </a:rPr>
              <a:t>init</a:t>
            </a:r>
            <a:r>
              <a:rPr lang="fr-FR" sz="2400" dirty="0">
                <a:solidFill>
                  <a:srgbClr val="0000FF"/>
                </a:solidFill>
                <a:latin typeface="Courier" pitchFamily="2" charset="0"/>
              </a:rPr>
              <a:t>__</a:t>
            </a:r>
            <a:r>
              <a:rPr lang="fr-FR" sz="2400" dirty="0">
                <a:latin typeface="Courier" pitchFamily="2" charset="0"/>
              </a:rPr>
              <a:t>(</a:t>
            </a:r>
            <a:r>
              <a:rPr lang="fr-FR" sz="2400" dirty="0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400" dirty="0">
                <a:latin typeface="Courier" pitchFamily="2" charset="0"/>
              </a:rPr>
              <a:t>,attr1,...,attr1’,...)</a:t>
            </a:r>
          </a:p>
          <a:p>
            <a:pPr marL="0" indent="0">
              <a:buNone/>
            </a:pPr>
            <a:r>
              <a:rPr lang="fr-FR" sz="2400" dirty="0">
                <a:latin typeface="Courier" pitchFamily="2" charset="0"/>
              </a:rPr>
              <a:t>		</a:t>
            </a:r>
            <a:r>
              <a:rPr lang="fr-FR" sz="2400" dirty="0" err="1">
                <a:latin typeface="Courier" pitchFamily="2" charset="0"/>
              </a:rPr>
              <a:t>ClasseMere</a:t>
            </a:r>
            <a:r>
              <a:rPr lang="fr-FR" sz="2400" dirty="0">
                <a:latin typeface="Courier" pitchFamily="2" charset="0"/>
              </a:rPr>
              <a:t>.__</a:t>
            </a:r>
            <a:r>
              <a:rPr lang="fr-FR" sz="2400" dirty="0" err="1">
                <a:latin typeface="Courier" pitchFamily="2" charset="0"/>
              </a:rPr>
              <a:t>init</a:t>
            </a:r>
            <a:r>
              <a:rPr lang="fr-FR" sz="2400" dirty="0">
                <a:latin typeface="Courier" pitchFamily="2" charset="0"/>
              </a:rPr>
              <a:t>__(</a:t>
            </a:r>
            <a:r>
              <a:rPr lang="fr-FR" sz="2400" dirty="0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400" dirty="0">
                <a:latin typeface="Courier" pitchFamily="2" charset="0"/>
              </a:rPr>
              <a:t>,attr1,...)</a:t>
            </a:r>
          </a:p>
          <a:p>
            <a:pPr marL="0" indent="0">
              <a:buNone/>
            </a:pPr>
            <a:r>
              <a:rPr lang="fr-FR" sz="2400" dirty="0">
                <a:latin typeface="Courier" pitchFamily="2" charset="0"/>
              </a:rPr>
              <a:t>		</a:t>
            </a:r>
            <a:r>
              <a:rPr lang="fr-FR" sz="2400" dirty="0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400" dirty="0">
                <a:latin typeface="Courier" pitchFamily="2" charset="0"/>
              </a:rPr>
              <a:t>.attr1’ = attr1’</a:t>
            </a:r>
          </a:p>
          <a:p>
            <a:pPr marL="0" indent="0">
              <a:buNone/>
            </a:pPr>
            <a:r>
              <a:rPr lang="fr-FR" sz="2400" dirty="0">
                <a:latin typeface="Courier" pitchFamily="2" charset="0"/>
              </a:rPr>
              <a:t>		...</a:t>
            </a:r>
          </a:p>
          <a:p>
            <a:pPr marL="0" indent="0">
              <a:buNone/>
            </a:pPr>
            <a:r>
              <a:rPr lang="fr-FR" sz="2400" dirty="0">
                <a:latin typeface="Courier" pitchFamily="2" charset="0"/>
              </a:rPr>
              <a:t>	</a:t>
            </a:r>
            <a:r>
              <a:rPr lang="fr-FR" sz="2400" b="1" dirty="0" err="1">
                <a:solidFill>
                  <a:srgbClr val="008000"/>
                </a:solidFill>
                <a:latin typeface="Courier" pitchFamily="2" charset="0"/>
              </a:rPr>
              <a:t>def</a:t>
            </a:r>
            <a:r>
              <a:rPr lang="fr-FR" sz="2400" dirty="0">
                <a:latin typeface="Courier" pitchFamily="2" charset="0"/>
              </a:rPr>
              <a:t> </a:t>
            </a:r>
            <a:r>
              <a:rPr lang="fr-FR" sz="2400" dirty="0" err="1">
                <a:solidFill>
                  <a:srgbClr val="0000FF"/>
                </a:solidFill>
                <a:latin typeface="Courier" pitchFamily="2" charset="0"/>
              </a:rPr>
              <a:t>nouvelle_methode</a:t>
            </a:r>
            <a:r>
              <a:rPr lang="fr-FR" sz="2400" dirty="0">
                <a:latin typeface="Courier" pitchFamily="2" charset="0"/>
              </a:rPr>
              <a:t>(</a:t>
            </a:r>
            <a:r>
              <a:rPr lang="fr-FR" sz="2400" dirty="0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400" dirty="0">
                <a:latin typeface="Courier" pitchFamily="2" charset="0"/>
              </a:rPr>
              <a:t>,...):</a:t>
            </a:r>
          </a:p>
          <a:p>
            <a:pPr marL="0" indent="0">
              <a:buNone/>
            </a:pPr>
            <a:r>
              <a:rPr lang="fr-FR" sz="2400" dirty="0">
                <a:latin typeface="Courier" pitchFamily="2" charset="0"/>
              </a:rPr>
              <a:t>		...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33912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64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423848" cy="4853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classe mère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b="1" dirty="0">
                <a:solidFill>
                  <a:srgbClr val="008000"/>
                </a:solidFill>
                <a:latin typeface="Courier" pitchFamily="2" charset="0"/>
              </a:rPr>
              <a:t>class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b="1" dirty="0" err="1">
                <a:solidFill>
                  <a:srgbClr val="0000FF"/>
                </a:solidFill>
                <a:latin typeface="Courier" pitchFamily="2" charset="0"/>
              </a:rPr>
              <a:t>Vehicule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:</a:t>
            </a:r>
            <a:endParaRPr lang="fr-FR" sz="2000" dirty="0">
              <a:solidFill>
                <a:srgbClr val="0000FF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    </a:t>
            </a:r>
          </a:p>
          <a:p>
            <a:pPr marL="0" indent="0">
              <a:buNone/>
            </a:pP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   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constructeur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    </a:t>
            </a: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def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0000FF"/>
                </a:solidFill>
                <a:latin typeface="Courier" pitchFamily="2" charset="0"/>
              </a:rPr>
              <a:t>__</a:t>
            </a:r>
            <a:r>
              <a:rPr lang="fr-FR" sz="2000" dirty="0" err="1">
                <a:solidFill>
                  <a:srgbClr val="0000FF"/>
                </a:solidFill>
                <a:latin typeface="Courier" pitchFamily="2" charset="0"/>
              </a:rPr>
              <a:t>init</a:t>
            </a:r>
            <a:r>
              <a:rPr lang="fr-FR" sz="2000" dirty="0">
                <a:solidFill>
                  <a:srgbClr val="0000FF"/>
                </a:solidFill>
                <a:latin typeface="Courier" pitchFamily="2" charset="0"/>
              </a:rPr>
              <a:t>__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>
                <a:latin typeface="Courier" pitchFamily="2" charset="0"/>
              </a:rPr>
              <a:t>, nom, vitesse):</a:t>
            </a: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        </a:t>
            </a:r>
            <a:r>
              <a:rPr lang="fr-FR" sz="2000" dirty="0" err="1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 err="1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 err="1">
                <a:latin typeface="Courier" pitchFamily="2" charset="0"/>
              </a:rPr>
              <a:t>nom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latin typeface="Courier" pitchFamily="2" charset="0"/>
              </a:rPr>
              <a:t> nom        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attribut</a:t>
            </a: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        </a:t>
            </a:r>
            <a:r>
              <a:rPr lang="fr-FR" sz="2000" dirty="0" err="1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 err="1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 err="1">
                <a:latin typeface="Courier" pitchFamily="2" charset="0"/>
              </a:rPr>
              <a:t>vitesse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latin typeface="Courier" pitchFamily="2" charset="0"/>
              </a:rPr>
              <a:t> vitesse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attribut</a:t>
            </a: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  </a:t>
            </a:r>
          </a:p>
          <a:p>
            <a:pPr marL="0" indent="0">
              <a:buNone/>
            </a:pP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   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</a:t>
            </a:r>
            <a:r>
              <a:rPr lang="fr-FR" sz="2000" i="1" dirty="0" err="1">
                <a:solidFill>
                  <a:srgbClr val="408080"/>
                </a:solidFill>
                <a:latin typeface="Courier" pitchFamily="2" charset="0"/>
              </a:rPr>
              <a:t>methode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    </a:t>
            </a: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def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 err="1">
                <a:solidFill>
                  <a:srgbClr val="0000FF"/>
                </a:solidFill>
                <a:latin typeface="Courier" pitchFamily="2" charset="0"/>
              </a:rPr>
              <a:t>se_deplacer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>
                <a:latin typeface="Courier" pitchFamily="2" charset="0"/>
              </a:rPr>
              <a:t>, x):</a:t>
            </a:r>
          </a:p>
          <a:p>
            <a:pPr marL="0" indent="0">
              <a:buNone/>
            </a:pP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        </a:t>
            </a: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"le véhicule bouge de {} </a:t>
            </a:r>
            <a:r>
              <a:rPr lang="fr-FR" sz="2000" dirty="0" err="1">
                <a:solidFill>
                  <a:srgbClr val="BA2121"/>
                </a:solidFill>
                <a:latin typeface="Courier" pitchFamily="2" charset="0"/>
              </a:rPr>
              <a:t>km."</a:t>
            </a:r>
            <a:r>
              <a:rPr lang="fr-FR" sz="2000" dirty="0" err="1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 err="1">
                <a:solidFill>
                  <a:srgbClr val="000000"/>
                </a:solidFill>
                <a:latin typeface="Courier" pitchFamily="2" charset="0"/>
              </a:rPr>
              <a:t>format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(x))</a:t>
            </a:r>
            <a:endParaRPr lang="fr-FR" sz="2000" dirty="0">
              <a:solidFill>
                <a:srgbClr val="BA2121"/>
              </a:solidFill>
              <a:latin typeface="Courier" pitchFamily="2" charset="0"/>
            </a:endParaRPr>
          </a:p>
          <a:p>
            <a:pPr marL="0" indent="0">
              <a:buNone/>
            </a:pP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612159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65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423848" cy="4853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v1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 err="1">
                <a:latin typeface="Courier" pitchFamily="2" charset="0"/>
              </a:rPr>
              <a:t>Vehicule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"Avion A380"</a:t>
            </a:r>
            <a:r>
              <a:rPr lang="fr-FR" sz="2000" dirty="0">
                <a:latin typeface="Courier" pitchFamily="2" charset="0"/>
              </a:rPr>
              <a:t>,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903</a:t>
            </a:r>
            <a:r>
              <a:rPr lang="fr-FR" sz="2000" dirty="0">
                <a:latin typeface="Courier" pitchFamily="2" charset="0"/>
              </a:rPr>
              <a:t>)</a:t>
            </a:r>
          </a:p>
          <a:p>
            <a:pPr marL="0" indent="0">
              <a:buNone/>
            </a:pP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latin typeface="Courier" pitchFamily="2" charset="0"/>
              </a:rPr>
              <a:t>(v1.nom, 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"-"</a:t>
            </a:r>
            <a:r>
              <a:rPr lang="fr-FR" sz="2000" dirty="0">
                <a:latin typeface="Courier" pitchFamily="2" charset="0"/>
              </a:rPr>
              <a:t> , v1.vitesse, 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"km/h"</a:t>
            </a:r>
            <a:r>
              <a:rPr lang="fr-FR" sz="2000" dirty="0">
                <a:latin typeface="Courier" pitchFamily="2" charset="0"/>
              </a:rPr>
              <a:t>)</a:t>
            </a:r>
          </a:p>
          <a:p>
            <a:pPr marL="0" indent="0">
              <a:buNone/>
            </a:pPr>
            <a:r>
              <a:rPr lang="fr-FR" sz="2000" b="1" dirty="0">
                <a:latin typeface="Courier" pitchFamily="2" charset="0"/>
              </a:rPr>
              <a:t>Avion A380 - 903 km/h</a:t>
            </a: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v1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latin typeface="Courier" pitchFamily="2" charset="0"/>
              </a:rPr>
              <a:t>se_deplacer(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3000</a:t>
            </a:r>
            <a:r>
              <a:rPr lang="fr-FR" sz="2000" dirty="0">
                <a:latin typeface="Courier" pitchFamily="2" charset="0"/>
              </a:rPr>
              <a:t>)</a:t>
            </a:r>
          </a:p>
          <a:p>
            <a:pPr marL="0" indent="0">
              <a:buNone/>
            </a:pPr>
            <a:r>
              <a:rPr lang="fr-FR" sz="2000" b="1" dirty="0">
                <a:latin typeface="Courier" pitchFamily="2" charset="0"/>
              </a:rPr>
              <a:t>le véhicule bouge de 3000 km.</a:t>
            </a:r>
          </a:p>
          <a:p>
            <a:pPr marL="0" indent="0">
              <a:buNone/>
            </a:pPr>
            <a:endParaRPr lang="fr-FR" sz="2000" b="1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v2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 err="1">
                <a:latin typeface="Courier" pitchFamily="2" charset="0"/>
              </a:rPr>
              <a:t>Vehicule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"BMW M4"</a:t>
            </a:r>
            <a:r>
              <a:rPr lang="fr-FR" sz="2000" dirty="0">
                <a:latin typeface="Courier" pitchFamily="2" charset="0"/>
              </a:rPr>
              <a:t>,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200</a:t>
            </a:r>
            <a:r>
              <a:rPr lang="fr-FR" sz="2000" dirty="0">
                <a:latin typeface="Courier" pitchFamily="2" charset="0"/>
              </a:rPr>
              <a:t>)</a:t>
            </a: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v2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latin typeface="Courier" pitchFamily="2" charset="0"/>
              </a:rPr>
              <a:t>se_deplacer(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5</a:t>
            </a:r>
            <a:r>
              <a:rPr lang="fr-FR" sz="2000" dirty="0">
                <a:latin typeface="Courier" pitchFamily="2" charset="0"/>
              </a:rPr>
              <a:t>)</a:t>
            </a:r>
          </a:p>
          <a:p>
            <a:pPr marL="0" indent="0">
              <a:buNone/>
            </a:pPr>
            <a:r>
              <a:rPr lang="fr-FR" sz="2000" b="1" dirty="0">
                <a:latin typeface="Courier" pitchFamily="2" charset="0"/>
              </a:rPr>
              <a:t>le véhicule bouge de 5 km.</a:t>
            </a:r>
          </a:p>
          <a:p>
            <a:pPr marL="0" indent="0">
              <a:buNone/>
            </a:pP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4189875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66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52608" y="1556792"/>
            <a:ext cx="9143928" cy="5501208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classe fille (ou </a:t>
            </a:r>
            <a:r>
              <a:rPr lang="fr-FR" sz="2000" i="1" dirty="0" err="1">
                <a:solidFill>
                  <a:srgbClr val="408080"/>
                </a:solidFill>
                <a:latin typeface="Courier" pitchFamily="2" charset="0"/>
              </a:rPr>
              <a:t>sous-class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 de </a:t>
            </a:r>
            <a:r>
              <a:rPr lang="fr-FR" sz="2000" i="1" dirty="0" err="1">
                <a:solidFill>
                  <a:srgbClr val="408080"/>
                </a:solidFill>
                <a:latin typeface="Courier" pitchFamily="2" charset="0"/>
              </a:rPr>
              <a:t>Vehicule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)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Voiture hérite des attributs et méthodes de </a:t>
            </a:r>
            <a:r>
              <a:rPr lang="fr-FR" sz="2000" i="1" dirty="0" err="1">
                <a:solidFill>
                  <a:srgbClr val="408080"/>
                </a:solidFill>
                <a:latin typeface="Courier" pitchFamily="2" charset="0"/>
              </a:rPr>
              <a:t>Vehicule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fr-FR" sz="2000" b="1" dirty="0">
                <a:solidFill>
                  <a:srgbClr val="008000"/>
                </a:solidFill>
                <a:latin typeface="Courier" pitchFamily="2" charset="0"/>
              </a:rPr>
              <a:t>class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b="1" dirty="0">
                <a:solidFill>
                  <a:srgbClr val="0000FF"/>
                </a:solidFill>
                <a:latin typeface="Courier" pitchFamily="2" charset="0"/>
              </a:rPr>
              <a:t>Voiture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 err="1">
                <a:latin typeface="Courier" pitchFamily="2" charset="0"/>
              </a:rPr>
              <a:t>Vehicule</a:t>
            </a:r>
            <a:r>
              <a:rPr lang="fr-FR" sz="2000" dirty="0">
                <a:latin typeface="Courier" pitchFamily="2" charset="0"/>
              </a:rPr>
              <a:t>):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   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constructeur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fr-FR" sz="2000" dirty="0">
                <a:latin typeface="Courier" pitchFamily="2" charset="0"/>
              </a:rPr>
              <a:t>    </a:t>
            </a: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def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0000FF"/>
                </a:solidFill>
                <a:latin typeface="Courier" pitchFamily="2" charset="0"/>
              </a:rPr>
              <a:t>__</a:t>
            </a:r>
            <a:r>
              <a:rPr lang="fr-FR" sz="2000" dirty="0" err="1">
                <a:solidFill>
                  <a:srgbClr val="0000FF"/>
                </a:solidFill>
                <a:latin typeface="Courier" pitchFamily="2" charset="0"/>
              </a:rPr>
              <a:t>init</a:t>
            </a:r>
            <a:r>
              <a:rPr lang="fr-FR" sz="2000" dirty="0">
                <a:solidFill>
                  <a:srgbClr val="0000FF"/>
                </a:solidFill>
                <a:latin typeface="Courier" pitchFamily="2" charset="0"/>
              </a:rPr>
              <a:t>__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>
                <a:latin typeface="Courier" pitchFamily="2" charset="0"/>
              </a:rPr>
              <a:t>, nom, vitesse, puissance):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       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héritage du constructeur de </a:t>
            </a:r>
            <a:r>
              <a:rPr lang="fr-FR" sz="2000" i="1" dirty="0" err="1">
                <a:solidFill>
                  <a:srgbClr val="408080"/>
                </a:solidFill>
                <a:latin typeface="Courier" pitchFamily="2" charset="0"/>
              </a:rPr>
              <a:t>Vehicule</a:t>
            </a:r>
            <a:endParaRPr lang="fr-FR" sz="2000" i="1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	  # 2 attributs et 1 méthode hérités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fr-FR" sz="2000" dirty="0">
                <a:latin typeface="Courier" pitchFamily="2" charset="0"/>
              </a:rPr>
              <a:t>        </a:t>
            </a:r>
            <a:r>
              <a:rPr lang="fr-FR" sz="2000" dirty="0" err="1">
                <a:latin typeface="Courier" pitchFamily="2" charset="0"/>
              </a:rPr>
              <a:t>Vehicule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solidFill>
                  <a:srgbClr val="0000FF"/>
                </a:solidFill>
                <a:latin typeface="Courier" pitchFamily="2" charset="0"/>
              </a:rPr>
              <a:t>__</a:t>
            </a:r>
            <a:r>
              <a:rPr lang="fr-FR" sz="2000" dirty="0" err="1">
                <a:solidFill>
                  <a:srgbClr val="0000FF"/>
                </a:solidFill>
                <a:latin typeface="Courier" pitchFamily="2" charset="0"/>
              </a:rPr>
              <a:t>init</a:t>
            </a:r>
            <a:r>
              <a:rPr lang="fr-FR" sz="2000" dirty="0">
                <a:solidFill>
                  <a:srgbClr val="0000FF"/>
                </a:solidFill>
                <a:latin typeface="Courier" pitchFamily="2" charset="0"/>
              </a:rPr>
              <a:t>__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>
                <a:latin typeface="Courier" pitchFamily="2" charset="0"/>
              </a:rPr>
              <a:t>, nom, vitesse)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FR" sz="2000" dirty="0">
                <a:latin typeface="Courier" pitchFamily="2" charset="0"/>
              </a:rPr>
              <a:t>        </a:t>
            </a:r>
            <a:r>
              <a:rPr lang="fr-FR" sz="2000" dirty="0" err="1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 err="1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 err="1">
                <a:latin typeface="Courier" pitchFamily="2" charset="0"/>
              </a:rPr>
              <a:t>puissance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latin typeface="Courier" pitchFamily="2" charset="0"/>
              </a:rPr>
              <a:t> puissance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nouvel attribut</a:t>
            </a:r>
            <a:endParaRPr lang="fr-FR" sz="2000" dirty="0">
              <a:latin typeface="Courier" pitchFamily="2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fr-FR" sz="2000" dirty="0">
                <a:latin typeface="Courier" pitchFamily="2" charset="0"/>
              </a:rPr>
              <a:t>    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   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nouvelle méthode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fr-FR" sz="2000" dirty="0">
                <a:latin typeface="Courier" pitchFamily="2" charset="0"/>
              </a:rPr>
              <a:t>    </a:t>
            </a: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def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 err="1">
                <a:solidFill>
                  <a:srgbClr val="0000FF"/>
                </a:solidFill>
                <a:latin typeface="Courier" pitchFamily="2" charset="0"/>
              </a:rPr>
              <a:t>changer_moteur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>
                <a:latin typeface="Courier" pitchFamily="2" charset="0"/>
              </a:rPr>
              <a:t>, </a:t>
            </a:r>
            <a:r>
              <a:rPr lang="fr-FR" sz="2000" dirty="0" err="1">
                <a:latin typeface="Courier" pitchFamily="2" charset="0"/>
              </a:rPr>
              <a:t>nouvelle_puissance</a:t>
            </a:r>
            <a:r>
              <a:rPr lang="fr-FR" sz="2000" dirty="0">
                <a:latin typeface="Courier" pitchFamily="2" charset="0"/>
              </a:rPr>
              <a:t>):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FR" sz="2000" dirty="0">
                <a:latin typeface="Courier" pitchFamily="2" charset="0"/>
              </a:rPr>
              <a:t>        </a:t>
            </a:r>
            <a:r>
              <a:rPr lang="fr-FR" sz="2000" dirty="0" err="1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 err="1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 err="1">
                <a:latin typeface="Courier" pitchFamily="2" charset="0"/>
              </a:rPr>
              <a:t>puissance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 err="1">
                <a:latin typeface="Courier" pitchFamily="2" charset="0"/>
              </a:rPr>
              <a:t>nouvelle_puissance</a:t>
            </a:r>
            <a:endParaRPr lang="fr-FR" sz="2000" dirty="0">
              <a:latin typeface="Courier" pitchFamily="2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        </a:t>
            </a: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"nouvelle puissance:"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, </a:t>
            </a:r>
            <a:r>
              <a:rPr lang="fr-FR" sz="2000" dirty="0" err="1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 err="1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 err="1">
                <a:solidFill>
                  <a:srgbClr val="000000"/>
                </a:solidFill>
                <a:latin typeface="Courier" pitchFamily="2" charset="0"/>
              </a:rPr>
              <a:t>puissance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, 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"cv"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)</a:t>
            </a:r>
            <a:endParaRPr lang="fr-FR" sz="2000" dirty="0">
              <a:solidFill>
                <a:srgbClr val="BA2121"/>
              </a:solidFill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699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67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533400" y="1556792"/>
            <a:ext cx="8232648" cy="50405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voiture1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latin typeface="Courier" pitchFamily="2" charset="0"/>
              </a:rPr>
              <a:t> Voiture(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"Porsche Carrera 911"</a:t>
            </a:r>
            <a:r>
              <a:rPr lang="fr-FR" sz="2000" dirty="0">
                <a:latin typeface="Courier" pitchFamily="2" charset="0"/>
              </a:rPr>
              <a:t>,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293</a:t>
            </a:r>
            <a:r>
              <a:rPr lang="fr-FR" sz="2000" dirty="0">
                <a:latin typeface="Courier" pitchFamily="2" charset="0"/>
              </a:rPr>
              <a:t> ,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385</a:t>
            </a:r>
            <a:r>
              <a:rPr lang="fr-FR" sz="2000" dirty="0">
                <a:latin typeface="Courier" pitchFamily="2" charset="0"/>
              </a:rPr>
              <a:t>)</a:t>
            </a:r>
          </a:p>
          <a:p>
            <a:pPr marL="0" indent="0">
              <a:buNone/>
            </a:pP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latin typeface="Courier" pitchFamily="2" charset="0"/>
              </a:rPr>
              <a:t>(voiture1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latin typeface="Courier" pitchFamily="2" charset="0"/>
              </a:rPr>
              <a:t>nom)      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attributs hérité</a:t>
            </a:r>
          </a:p>
          <a:p>
            <a:pPr marL="0" indent="0">
              <a:buNone/>
            </a:pPr>
            <a:r>
              <a:rPr lang="fr-FR" sz="2000" b="1" dirty="0">
                <a:latin typeface="Courier" pitchFamily="2" charset="0"/>
              </a:rPr>
              <a:t>Porsche Carrera 911</a:t>
            </a: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latin typeface="Courier" pitchFamily="2" charset="0"/>
              </a:rPr>
              <a:t>(voiture1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latin typeface="Courier" pitchFamily="2" charset="0"/>
              </a:rPr>
              <a:t>vitesse)  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attribut hérité</a:t>
            </a:r>
          </a:p>
          <a:p>
            <a:pPr marL="0" indent="0">
              <a:buNone/>
            </a:pPr>
            <a:r>
              <a:rPr lang="fr-FR" sz="2000" b="1" dirty="0">
                <a:latin typeface="Courier" pitchFamily="2" charset="0"/>
              </a:rPr>
              <a:t>293</a:t>
            </a: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latin typeface="Courier" pitchFamily="2" charset="0"/>
              </a:rPr>
              <a:t>(voiture1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latin typeface="Courier" pitchFamily="2" charset="0"/>
              </a:rPr>
              <a:t>puissance)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nouvel attribut</a:t>
            </a: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b="1" dirty="0">
                <a:latin typeface="Courier" pitchFamily="2" charset="0"/>
              </a:rPr>
              <a:t>385</a:t>
            </a: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voiture1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latin typeface="Courier" pitchFamily="2" charset="0"/>
              </a:rPr>
              <a:t>se_deplacer(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125</a:t>
            </a:r>
            <a:r>
              <a:rPr lang="fr-FR" sz="2000" dirty="0">
                <a:latin typeface="Courier" pitchFamily="2" charset="0"/>
              </a:rPr>
              <a:t>)   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</a:t>
            </a:r>
            <a:r>
              <a:rPr lang="fr-FR" sz="2000" i="1" dirty="0" err="1">
                <a:solidFill>
                  <a:srgbClr val="408080"/>
                </a:solidFill>
                <a:latin typeface="Courier" pitchFamily="2" charset="0"/>
              </a:rPr>
              <a:t>methode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 héritée</a:t>
            </a:r>
          </a:p>
          <a:p>
            <a:pPr marL="0" indent="0">
              <a:buNone/>
            </a:pPr>
            <a:r>
              <a:rPr lang="fr-FR" sz="2000" b="1" dirty="0">
                <a:latin typeface="Courier" pitchFamily="2" charset="0"/>
              </a:rPr>
              <a:t>le véhicule bouge de 125 km.</a:t>
            </a:r>
          </a:p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voiture1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latin typeface="Courier" pitchFamily="2" charset="0"/>
              </a:rPr>
              <a:t>changer_moteur(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300</a:t>
            </a:r>
            <a:r>
              <a:rPr lang="fr-FR" sz="2000" dirty="0">
                <a:latin typeface="Courier" pitchFamily="2" charset="0"/>
              </a:rPr>
              <a:t>)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nouvelle méthode</a:t>
            </a:r>
          </a:p>
          <a:p>
            <a:pPr marL="0" indent="0">
              <a:buNone/>
            </a:pPr>
            <a:r>
              <a:rPr lang="fr-FR" sz="2000" b="1" dirty="0">
                <a:latin typeface="Courier" pitchFamily="2" charset="0"/>
              </a:rPr>
              <a:t>nouvelle puissance: 300 cv</a:t>
            </a:r>
          </a:p>
        </p:txBody>
      </p:sp>
    </p:spTree>
    <p:extLst>
      <p:ext uri="{BB962C8B-B14F-4D97-AF65-F5344CB8AC3E}">
        <p14:creationId xmlns:p14="http://schemas.microsoft.com/office/powerpoint/2010/main" val="1099141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68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533400" y="1556792"/>
            <a:ext cx="8232648" cy="5301208"/>
          </a:xfrm>
        </p:spPr>
        <p:txBody>
          <a:bodyPr>
            <a:noAutofit/>
          </a:bodyPr>
          <a:lstStyle/>
          <a:p>
            <a:pPr marL="0" indent="0">
              <a:spcBef>
                <a:spcPts val="500"/>
              </a:spcBef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autre classe fille (ou </a:t>
            </a:r>
            <a:r>
              <a:rPr lang="fr-FR" sz="2000" i="1" dirty="0" err="1">
                <a:solidFill>
                  <a:srgbClr val="408080"/>
                </a:solidFill>
                <a:latin typeface="Courier" pitchFamily="2" charset="0"/>
              </a:rPr>
              <a:t>sous-class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 de </a:t>
            </a:r>
            <a:r>
              <a:rPr lang="fr-FR" sz="2000" i="1" dirty="0" err="1">
                <a:solidFill>
                  <a:srgbClr val="408080"/>
                </a:solidFill>
                <a:latin typeface="Courier" pitchFamily="2" charset="0"/>
              </a:rPr>
              <a:t>Vehicule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)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spcBef>
                <a:spcPts val="500"/>
              </a:spcBef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Avion hérite des attributs et méthodes de </a:t>
            </a:r>
            <a:r>
              <a:rPr lang="fr-FR" sz="2000" i="1" dirty="0" err="1">
                <a:solidFill>
                  <a:srgbClr val="408080"/>
                </a:solidFill>
                <a:latin typeface="Courier" pitchFamily="2" charset="0"/>
              </a:rPr>
              <a:t>Vehicule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spcBef>
                <a:spcPts val="500"/>
              </a:spcBef>
              <a:buNone/>
            </a:pPr>
            <a:r>
              <a:rPr lang="fr-FR" sz="2000" b="1" dirty="0">
                <a:solidFill>
                  <a:srgbClr val="008000"/>
                </a:solidFill>
                <a:latin typeface="Courier" pitchFamily="2" charset="0"/>
              </a:rPr>
              <a:t>class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b="1" dirty="0">
                <a:solidFill>
                  <a:srgbClr val="0000FF"/>
                </a:solidFill>
                <a:latin typeface="Courier" pitchFamily="2" charset="0"/>
              </a:rPr>
              <a:t>Avion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 err="1">
                <a:latin typeface="Courier" pitchFamily="2" charset="0"/>
              </a:rPr>
              <a:t>Vehicule</a:t>
            </a:r>
            <a:r>
              <a:rPr lang="fr-FR" sz="2000" dirty="0">
                <a:latin typeface="Courier" pitchFamily="2" charset="0"/>
              </a:rPr>
              <a:t>):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fr-FR" sz="2000" dirty="0">
                <a:latin typeface="Courier" pitchFamily="2" charset="0"/>
              </a:rPr>
              <a:t>    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   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constructeur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spcBef>
                <a:spcPts val="500"/>
              </a:spcBef>
              <a:buNone/>
            </a:pPr>
            <a:r>
              <a:rPr lang="fr-FR" sz="2000" dirty="0">
                <a:latin typeface="Courier" pitchFamily="2" charset="0"/>
              </a:rPr>
              <a:t>    </a:t>
            </a: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def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0000FF"/>
                </a:solidFill>
                <a:latin typeface="Courier" pitchFamily="2" charset="0"/>
              </a:rPr>
              <a:t>__</a:t>
            </a:r>
            <a:r>
              <a:rPr lang="fr-FR" sz="2000" dirty="0" err="1">
                <a:solidFill>
                  <a:srgbClr val="0000FF"/>
                </a:solidFill>
                <a:latin typeface="Courier" pitchFamily="2" charset="0"/>
              </a:rPr>
              <a:t>init</a:t>
            </a:r>
            <a:r>
              <a:rPr lang="fr-FR" sz="2000" dirty="0">
                <a:solidFill>
                  <a:srgbClr val="0000FF"/>
                </a:solidFill>
                <a:latin typeface="Courier" pitchFamily="2" charset="0"/>
              </a:rPr>
              <a:t>__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>
                <a:latin typeface="Courier" pitchFamily="2" charset="0"/>
              </a:rPr>
              <a:t>, nom, vitesse, </a:t>
            </a:r>
            <a:r>
              <a:rPr lang="fr-FR" sz="2000" dirty="0" err="1">
                <a:latin typeface="Courier" pitchFamily="2" charset="0"/>
              </a:rPr>
              <a:t>annee</a:t>
            </a:r>
            <a:r>
              <a:rPr lang="fr-FR" sz="2000" dirty="0">
                <a:latin typeface="Courier" pitchFamily="2" charset="0"/>
              </a:rPr>
              <a:t>):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       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héritage du constructeur de </a:t>
            </a:r>
            <a:r>
              <a:rPr lang="fr-FR" sz="2000" i="1" dirty="0" err="1">
                <a:solidFill>
                  <a:srgbClr val="408080"/>
                </a:solidFill>
                <a:latin typeface="Courier" pitchFamily="2" charset="0"/>
              </a:rPr>
              <a:t>Vehicule</a:t>
            </a:r>
            <a:endParaRPr lang="fr-FR" sz="2000" i="1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spcBef>
                <a:spcPts val="500"/>
              </a:spcBef>
              <a:buNone/>
            </a:pP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	  # 2 attributs et 1 méthode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spcBef>
                <a:spcPts val="500"/>
              </a:spcBef>
              <a:buNone/>
            </a:pPr>
            <a:r>
              <a:rPr lang="fr-FR" sz="2000" dirty="0">
                <a:latin typeface="Courier" pitchFamily="2" charset="0"/>
              </a:rPr>
              <a:t>        </a:t>
            </a:r>
            <a:r>
              <a:rPr lang="fr-FR" sz="2000" dirty="0" err="1">
                <a:latin typeface="Courier" pitchFamily="2" charset="0"/>
              </a:rPr>
              <a:t>Vehicule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solidFill>
                  <a:srgbClr val="0000FF"/>
                </a:solidFill>
                <a:latin typeface="Courier" pitchFamily="2" charset="0"/>
              </a:rPr>
              <a:t>__</a:t>
            </a:r>
            <a:r>
              <a:rPr lang="fr-FR" sz="2000" dirty="0" err="1">
                <a:solidFill>
                  <a:srgbClr val="0000FF"/>
                </a:solidFill>
                <a:latin typeface="Courier" pitchFamily="2" charset="0"/>
              </a:rPr>
              <a:t>init</a:t>
            </a:r>
            <a:r>
              <a:rPr lang="fr-FR" sz="2000" dirty="0">
                <a:solidFill>
                  <a:srgbClr val="0000FF"/>
                </a:solidFill>
                <a:latin typeface="Courier" pitchFamily="2" charset="0"/>
              </a:rPr>
              <a:t>__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>
                <a:latin typeface="Courier" pitchFamily="2" charset="0"/>
              </a:rPr>
              <a:t>, nom, vitesse)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        </a:t>
            </a:r>
            <a:r>
              <a:rPr lang="fr-FR" sz="2000" dirty="0" err="1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 err="1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 err="1">
                <a:solidFill>
                  <a:srgbClr val="000000"/>
                </a:solidFill>
                <a:latin typeface="Courier" pitchFamily="2" charset="0"/>
              </a:rPr>
              <a:t>annee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dirty="0" err="1">
                <a:solidFill>
                  <a:srgbClr val="000000"/>
                </a:solidFill>
                <a:latin typeface="Courier" pitchFamily="2" charset="0"/>
              </a:rPr>
              <a:t>annee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1 nouvel attribut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spcBef>
                <a:spcPts val="500"/>
              </a:spcBef>
              <a:buNone/>
            </a:pPr>
            <a:r>
              <a:rPr lang="fr-FR" sz="2000" dirty="0">
                <a:latin typeface="Courier" pitchFamily="2" charset="0"/>
              </a:rPr>
              <a:t>    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   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nouvelle </a:t>
            </a:r>
            <a:r>
              <a:rPr lang="fr-FR" sz="2000" i="1" dirty="0" err="1">
                <a:solidFill>
                  <a:srgbClr val="408080"/>
                </a:solidFill>
                <a:latin typeface="Courier" pitchFamily="2" charset="0"/>
              </a:rPr>
              <a:t>methode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 (écrase celle du même nom)</a:t>
            </a:r>
            <a:endParaRPr lang="fr-FR" sz="2000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spcBef>
                <a:spcPts val="500"/>
              </a:spcBef>
              <a:buNone/>
            </a:pPr>
            <a:r>
              <a:rPr lang="fr-FR" sz="2000" dirty="0">
                <a:latin typeface="Courier" pitchFamily="2" charset="0"/>
              </a:rPr>
              <a:t>    </a:t>
            </a: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def</a:t>
            </a:r>
            <a:r>
              <a:rPr lang="fr-FR" sz="2000" dirty="0">
                <a:latin typeface="Courier" pitchFamily="2" charset="0"/>
              </a:rPr>
              <a:t> </a:t>
            </a:r>
            <a:r>
              <a:rPr lang="fr-FR" sz="2000" dirty="0" err="1">
                <a:solidFill>
                  <a:srgbClr val="0000FF"/>
                </a:solidFill>
                <a:latin typeface="Courier" pitchFamily="2" charset="0"/>
              </a:rPr>
              <a:t>se_deplacer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008000"/>
                </a:solidFill>
                <a:latin typeface="Courier" pitchFamily="2" charset="0"/>
              </a:rPr>
              <a:t>self</a:t>
            </a:r>
            <a:r>
              <a:rPr lang="fr-FR" sz="2000" dirty="0">
                <a:latin typeface="Courier" pitchFamily="2" charset="0"/>
              </a:rPr>
              <a:t>, x):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        </a:t>
            </a: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"l'avion bouge de {} </a:t>
            </a:r>
            <a:r>
              <a:rPr lang="fr-FR" sz="2000" dirty="0" err="1">
                <a:solidFill>
                  <a:srgbClr val="BA2121"/>
                </a:solidFill>
                <a:latin typeface="Courier" pitchFamily="2" charset="0"/>
              </a:rPr>
              <a:t>km."</a:t>
            </a:r>
            <a:r>
              <a:rPr lang="fr-FR" sz="2000" dirty="0" err="1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 err="1">
                <a:solidFill>
                  <a:srgbClr val="000000"/>
                </a:solidFill>
                <a:latin typeface="Courier" pitchFamily="2" charset="0"/>
              </a:rPr>
              <a:t>format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(x))</a:t>
            </a:r>
            <a:endParaRPr lang="fr-FR" sz="2000" dirty="0">
              <a:solidFill>
                <a:srgbClr val="BA2121"/>
              </a:solidFill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5450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69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533400" y="1556792"/>
            <a:ext cx="8503096" cy="50405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000" dirty="0">
                <a:latin typeface="Courier" pitchFamily="2" charset="0"/>
              </a:rPr>
              <a:t>avion1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fr-FR" sz="2000" dirty="0">
                <a:latin typeface="Courier" pitchFamily="2" charset="0"/>
              </a:rPr>
              <a:t> Avion(</a:t>
            </a:r>
            <a:r>
              <a:rPr lang="fr-FR" sz="2000" dirty="0">
                <a:solidFill>
                  <a:srgbClr val="BA2121"/>
                </a:solidFill>
                <a:latin typeface="Courier" pitchFamily="2" charset="0"/>
              </a:rPr>
              <a:t>"Boeing 777"</a:t>
            </a:r>
            <a:r>
              <a:rPr lang="fr-FR" sz="2000" dirty="0">
                <a:latin typeface="Courier" pitchFamily="2" charset="0"/>
              </a:rPr>
              <a:t>,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1098</a:t>
            </a:r>
            <a:r>
              <a:rPr lang="fr-FR" sz="2000" dirty="0">
                <a:latin typeface="Courier" pitchFamily="2" charset="0"/>
              </a:rPr>
              <a:t> , 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2007</a:t>
            </a:r>
            <a:r>
              <a:rPr lang="fr-FR" sz="2000" dirty="0">
                <a:latin typeface="Courier" pitchFamily="2" charset="0"/>
              </a:rPr>
              <a:t>)</a:t>
            </a:r>
          </a:p>
          <a:p>
            <a:pPr marL="0" indent="0">
              <a:buNone/>
            </a:pP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latin typeface="Courier" pitchFamily="2" charset="0"/>
              </a:rPr>
              <a:t>(avion1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latin typeface="Courier" pitchFamily="2" charset="0"/>
              </a:rPr>
              <a:t>nom)       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attributs hérité</a:t>
            </a:r>
          </a:p>
          <a:p>
            <a:pPr marL="0" indent="0">
              <a:buNone/>
            </a:pPr>
            <a:r>
              <a:rPr lang="fr-FR" sz="2000" b="1" dirty="0">
                <a:latin typeface="Courier" pitchFamily="2" charset="0"/>
              </a:rPr>
              <a:t>Boeing 77</a:t>
            </a: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latin typeface="Courier" pitchFamily="2" charset="0"/>
              </a:rPr>
              <a:t>(avion1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latin typeface="Courier" pitchFamily="2" charset="0"/>
              </a:rPr>
              <a:t>vitesse)   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attribut hérité</a:t>
            </a:r>
          </a:p>
          <a:p>
            <a:pPr marL="0" indent="0">
              <a:buNone/>
            </a:pPr>
            <a:r>
              <a:rPr lang="fr-FR" sz="2000" b="1" dirty="0">
                <a:latin typeface="Courier" pitchFamily="2" charset="0"/>
              </a:rPr>
              <a:t>1098</a:t>
            </a: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latin typeface="Courier" pitchFamily="2" charset="0"/>
              </a:rPr>
              <a:t>(avion1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latin typeface="Courier" pitchFamily="2" charset="0"/>
              </a:rPr>
              <a:t>annee)     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nouvel attribut</a:t>
            </a:r>
          </a:p>
          <a:p>
            <a:pPr marL="0" indent="0">
              <a:buNone/>
            </a:pPr>
            <a:r>
              <a:rPr lang="fr-FR" sz="2000" b="1" dirty="0">
                <a:latin typeface="Courier" pitchFamily="2" charset="0"/>
              </a:rPr>
              <a:t>2007</a:t>
            </a:r>
            <a:endParaRPr lang="fr-FR" sz="2000" i="1" dirty="0">
              <a:solidFill>
                <a:srgbClr val="40808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avion1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.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se_deplacer(</a:t>
            </a:r>
            <a:r>
              <a:rPr lang="fr-FR" sz="2000" dirty="0">
                <a:solidFill>
                  <a:srgbClr val="666666"/>
                </a:solidFill>
                <a:latin typeface="Courier" pitchFamily="2" charset="0"/>
              </a:rPr>
              <a:t>6000</a:t>
            </a:r>
            <a:r>
              <a:rPr lang="fr-FR" sz="2000" dirty="0">
                <a:solidFill>
                  <a:srgbClr val="000000"/>
                </a:solidFill>
                <a:latin typeface="Courier" pitchFamily="2" charset="0"/>
              </a:rPr>
              <a:t>) 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# nouvelle </a:t>
            </a:r>
            <a:r>
              <a:rPr lang="fr-FR" sz="2000" i="1" dirty="0" err="1">
                <a:solidFill>
                  <a:srgbClr val="408080"/>
                </a:solidFill>
                <a:latin typeface="Courier" pitchFamily="2" charset="0"/>
              </a:rPr>
              <a:t>methode</a:t>
            </a:r>
            <a:r>
              <a:rPr lang="fr-FR" sz="2000" i="1" dirty="0">
                <a:solidFill>
                  <a:srgbClr val="408080"/>
                </a:solidFill>
                <a:latin typeface="Courier" pitchFamily="2" charset="0"/>
              </a:rPr>
              <a:t> (même nom)</a:t>
            </a:r>
            <a:endParaRPr lang="fr-FR" sz="2000" b="1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b="1" dirty="0">
                <a:latin typeface="Courier" pitchFamily="2" charset="0"/>
              </a:rPr>
              <a:t>l'avion bouge de 6000 km.</a:t>
            </a:r>
            <a:endParaRPr lang="fr-FR" sz="2000" b="1" dirty="0">
              <a:solidFill>
                <a:srgbClr val="408080"/>
              </a:solidFill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361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Héritage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70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467544" y="1600200"/>
            <a:ext cx="8783888" cy="4853136"/>
          </a:xfrm>
        </p:spPr>
        <p:txBody>
          <a:bodyPr>
            <a:normAutofit/>
          </a:bodyPr>
          <a:lstStyle/>
          <a:p>
            <a:r>
              <a:rPr lang="fr-FR" dirty="0"/>
              <a:t>On peut définir une classe fille qui hérite de plusieurs classes mères. Dans ce cas, one parle d’</a:t>
            </a:r>
            <a:r>
              <a:rPr lang="fr-FR" b="1" dirty="0"/>
              <a:t>héritage multiple</a:t>
            </a:r>
            <a:r>
              <a:rPr lang="fr-FR" dirty="0"/>
              <a:t> :</a:t>
            </a:r>
          </a:p>
          <a:p>
            <a:pPr marL="0" indent="0">
              <a:buNone/>
            </a:pPr>
            <a:r>
              <a:rPr lang="fr-FR" sz="2400" b="1" dirty="0">
                <a:solidFill>
                  <a:srgbClr val="008000"/>
                </a:solidFill>
                <a:latin typeface="Courier" pitchFamily="2" charset="0"/>
              </a:rPr>
              <a:t>class</a:t>
            </a:r>
            <a:r>
              <a:rPr lang="fr-FR" sz="2400" dirty="0">
                <a:latin typeface="Courier" pitchFamily="2" charset="0"/>
              </a:rPr>
              <a:t> </a:t>
            </a:r>
            <a:r>
              <a:rPr lang="fr-FR" sz="2400" b="1" dirty="0" err="1">
                <a:solidFill>
                  <a:srgbClr val="0000FF"/>
                </a:solidFill>
                <a:latin typeface="Courier" pitchFamily="2" charset="0"/>
              </a:rPr>
              <a:t>ClasseFille</a:t>
            </a:r>
            <a:r>
              <a:rPr lang="fr-FR" sz="2400" dirty="0">
                <a:latin typeface="Courier" pitchFamily="2" charset="0"/>
              </a:rPr>
              <a:t>(ClasseMere1,ClasseMere2,...):</a:t>
            </a:r>
          </a:p>
          <a:p>
            <a:pPr marL="0" indent="0">
              <a:buNone/>
            </a:pPr>
            <a:r>
              <a:rPr lang="fr-FR" sz="2400" dirty="0">
                <a:latin typeface="Courier" pitchFamily="2" charset="0"/>
              </a:rPr>
              <a:t>		...</a:t>
            </a:r>
          </a:p>
          <a:p>
            <a:pPr marL="0" indent="0">
              <a:buNone/>
            </a:pPr>
            <a:r>
              <a:rPr lang="fr-FR" sz="2400" dirty="0">
                <a:latin typeface="Courier" pitchFamily="2" charset="0"/>
              </a:rPr>
              <a:t>		...</a:t>
            </a:r>
          </a:p>
          <a:p>
            <a:r>
              <a:rPr lang="fr-FR" dirty="0"/>
              <a:t>Par exemple, la classe bus pourrait hériter à la fois de la classe des véhicules et de celle des moyens de transports.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70331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Quelques fonctions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71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467544" y="1600200"/>
            <a:ext cx="8783888" cy="4853136"/>
          </a:xfrm>
        </p:spPr>
        <p:txBody>
          <a:bodyPr>
            <a:normAutofit/>
          </a:bodyPr>
          <a:lstStyle/>
          <a:p>
            <a:r>
              <a:rPr lang="fr-FR" dirty="0"/>
              <a:t>On peut tester si un objet est une instance d’une certaine classe ou non (retourne un Booléen) :</a:t>
            </a:r>
          </a:p>
          <a:p>
            <a:pPr marL="0" indent="0">
              <a:buNone/>
            </a:pPr>
            <a:r>
              <a:rPr lang="fr-FR" sz="2400" dirty="0">
                <a:solidFill>
                  <a:srgbClr val="0000FF"/>
                </a:solidFill>
                <a:latin typeface="Courier" pitchFamily="2" charset="0"/>
              </a:rPr>
              <a:t>	</a:t>
            </a:r>
            <a:r>
              <a:rPr lang="fr-FR" sz="2400" dirty="0" err="1">
                <a:solidFill>
                  <a:srgbClr val="0000FF"/>
                </a:solidFill>
                <a:latin typeface="Courier" pitchFamily="2" charset="0"/>
              </a:rPr>
              <a:t>isinstance</a:t>
            </a:r>
            <a:r>
              <a:rPr lang="fr-FR" sz="2400" dirty="0">
                <a:latin typeface="Courier" pitchFamily="2" charset="0"/>
              </a:rPr>
              <a:t>(&lt;objet&gt;, &lt;classe&gt;)</a:t>
            </a:r>
            <a:endParaRPr lang="fr-FR" dirty="0"/>
          </a:p>
          <a:p>
            <a:r>
              <a:rPr lang="fr-FR" dirty="0"/>
              <a:t>On peut tester si une classe est une sous-classe d’une autre ou non (retourne un Booléen) :</a:t>
            </a:r>
          </a:p>
          <a:p>
            <a:pPr marL="0" indent="0">
              <a:buNone/>
            </a:pPr>
            <a:r>
              <a:rPr lang="fr-FR" sz="2400" dirty="0">
                <a:solidFill>
                  <a:srgbClr val="0000FF"/>
                </a:solidFill>
                <a:latin typeface="Courier" pitchFamily="2" charset="0"/>
              </a:rPr>
              <a:t>	</a:t>
            </a:r>
            <a:r>
              <a:rPr lang="fr-FR" sz="2400" dirty="0" err="1">
                <a:solidFill>
                  <a:srgbClr val="0000FF"/>
                </a:solidFill>
                <a:latin typeface="Courier" pitchFamily="2" charset="0"/>
              </a:rPr>
              <a:t>issubclass</a:t>
            </a:r>
            <a:r>
              <a:rPr lang="fr-FR" sz="2400" dirty="0">
                <a:latin typeface="Courier" pitchFamily="2" charset="0"/>
              </a:rPr>
              <a:t>(&lt;classe1&gt;, &lt; classe2&gt;)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52753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72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533400" y="1556792"/>
            <a:ext cx="8503096" cy="50405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 err="1">
                <a:solidFill>
                  <a:srgbClr val="008000"/>
                </a:solidFill>
                <a:latin typeface="Courier" pitchFamily="2" charset="0"/>
              </a:rPr>
              <a:t>isinstance</a:t>
            </a:r>
            <a:r>
              <a:rPr lang="fr-FR" sz="2000" dirty="0">
                <a:latin typeface="Courier" pitchFamily="2" charset="0"/>
              </a:rPr>
              <a:t>(avion1, </a:t>
            </a:r>
            <a:r>
              <a:rPr lang="fr-FR" sz="2000" dirty="0" err="1">
                <a:latin typeface="Courier" pitchFamily="2" charset="0"/>
              </a:rPr>
              <a:t>Vehicule</a:t>
            </a:r>
            <a:r>
              <a:rPr lang="fr-FR" sz="2000" dirty="0">
                <a:latin typeface="Courier" pitchFamily="2" charset="0"/>
              </a:rPr>
              <a:t>))</a:t>
            </a:r>
          </a:p>
          <a:p>
            <a:pPr marL="0" indent="0">
              <a:buNone/>
            </a:pPr>
            <a:r>
              <a:rPr lang="fr-FR" sz="2000" b="1" dirty="0" err="1">
                <a:latin typeface="Courier" pitchFamily="2" charset="0"/>
              </a:rPr>
              <a:t>True</a:t>
            </a:r>
            <a:endParaRPr lang="fr-FR" sz="2000" b="1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 err="1">
                <a:solidFill>
                  <a:srgbClr val="008000"/>
                </a:solidFill>
                <a:latin typeface="Courier" pitchFamily="2" charset="0"/>
              </a:rPr>
              <a:t>isinstance</a:t>
            </a:r>
            <a:r>
              <a:rPr lang="fr-FR" sz="2000" dirty="0">
                <a:latin typeface="Courier" pitchFamily="2" charset="0"/>
              </a:rPr>
              <a:t>(avion1, Avion))</a:t>
            </a:r>
          </a:p>
          <a:p>
            <a:pPr marL="0" indent="0">
              <a:buNone/>
            </a:pPr>
            <a:r>
              <a:rPr lang="fr-FR" sz="2000" b="1" dirty="0" err="1">
                <a:latin typeface="Courier" pitchFamily="2" charset="0"/>
              </a:rPr>
              <a:t>True</a:t>
            </a:r>
            <a:endParaRPr lang="fr-FR" sz="2000" b="1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 err="1">
                <a:solidFill>
                  <a:srgbClr val="008000"/>
                </a:solidFill>
                <a:latin typeface="Courier" pitchFamily="2" charset="0"/>
              </a:rPr>
              <a:t>isinstance</a:t>
            </a:r>
            <a:r>
              <a:rPr lang="fr-FR" sz="2000" dirty="0">
                <a:latin typeface="Courier" pitchFamily="2" charset="0"/>
              </a:rPr>
              <a:t>(avion1, Voiture))</a:t>
            </a:r>
          </a:p>
          <a:p>
            <a:pPr marL="0" indent="0">
              <a:buNone/>
            </a:pPr>
            <a:r>
              <a:rPr lang="fr-FR" sz="2000" b="1" dirty="0">
                <a:latin typeface="Courier" pitchFamily="2" charset="0"/>
              </a:rPr>
              <a:t>False</a:t>
            </a:r>
            <a:endParaRPr lang="fr-FR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fr-FR" sz="2000" b="1" dirty="0" err="1">
                <a:solidFill>
                  <a:srgbClr val="008000"/>
                </a:solidFill>
                <a:latin typeface="Courier" pitchFamily="2" charset="0"/>
              </a:rPr>
              <a:t>print</a:t>
            </a:r>
            <a:r>
              <a:rPr lang="fr-FR" sz="2000" dirty="0">
                <a:latin typeface="Courier" pitchFamily="2" charset="0"/>
              </a:rPr>
              <a:t>(</a:t>
            </a:r>
            <a:r>
              <a:rPr lang="fr-FR" sz="2000" dirty="0" err="1">
                <a:solidFill>
                  <a:srgbClr val="008000"/>
                </a:solidFill>
                <a:latin typeface="Courier" pitchFamily="2" charset="0"/>
              </a:rPr>
              <a:t>issubclass</a:t>
            </a:r>
            <a:r>
              <a:rPr lang="fr-FR" sz="2000" dirty="0">
                <a:latin typeface="Courier" pitchFamily="2" charset="0"/>
              </a:rPr>
              <a:t>(Avion, </a:t>
            </a:r>
            <a:r>
              <a:rPr lang="fr-FR" sz="2000" dirty="0" err="1">
                <a:latin typeface="Courier" pitchFamily="2" charset="0"/>
              </a:rPr>
              <a:t>Vehicule</a:t>
            </a:r>
            <a:r>
              <a:rPr lang="fr-FR" sz="2000" dirty="0">
                <a:latin typeface="Courier" pitchFamily="2" charset="0"/>
              </a:rPr>
              <a:t>))</a:t>
            </a:r>
          </a:p>
          <a:p>
            <a:pPr marL="0" indent="0">
              <a:buNone/>
            </a:pPr>
            <a:r>
              <a:rPr lang="fr-FR" sz="2000" b="1" dirty="0" err="1">
                <a:latin typeface="Courier" pitchFamily="2" charset="0"/>
              </a:rPr>
              <a:t>True</a:t>
            </a:r>
            <a:endParaRPr lang="fr-FR" sz="2000" b="1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7282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édian">
  <a:themeElements>
    <a:clrScheme name="Mé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édian">
      <a:majorFont>
        <a:latin typeface="Tw Cen MT"/>
        <a:ea typeface=""/>
        <a:cs typeface=""/>
        <a:font script="Grek" typeface="Calibri"/>
        <a:font script="Cyrl" typeface="Calibri"/>
        <a:font script="Jpan" typeface="ＭＳ Ｐゴシック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ＭＳ Ｐゴシック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é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Médian.thmx</Template>
  <TotalTime>10776</TotalTime>
  <Words>2265</Words>
  <Application>Microsoft Macintosh PowerPoint</Application>
  <PresentationFormat>On-screen Show (4:3)</PresentationFormat>
  <Paragraphs>642</Paragraphs>
  <Slides>72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80" baseType="lpstr">
      <vt:lpstr>ＭＳ Ｐゴシック</vt:lpstr>
      <vt:lpstr>Arial</vt:lpstr>
      <vt:lpstr>Courier</vt:lpstr>
      <vt:lpstr>Times</vt:lpstr>
      <vt:lpstr>Tw Cen MT</vt:lpstr>
      <vt:lpstr>Wingdings</vt:lpstr>
      <vt:lpstr>Wingdings 2</vt:lpstr>
      <vt:lpstr>Médian</vt:lpstr>
      <vt:lpstr>Chapitre 11 Programmation Orientée Objet (POO)</vt:lpstr>
      <vt:lpstr>Introduction</vt:lpstr>
      <vt:lpstr>Programmation objet</vt:lpstr>
      <vt:lpstr>Classe</vt:lpstr>
      <vt:lpstr>Objet</vt:lpstr>
      <vt:lpstr>Attributs</vt:lpstr>
      <vt:lpstr>Méthodes</vt:lpstr>
      <vt:lpstr>Héritage</vt:lpstr>
      <vt:lpstr>Héritage</vt:lpstr>
      <vt:lpstr>Classes et objets</vt:lpstr>
      <vt:lpstr>Classe</vt:lpstr>
      <vt:lpstr>Exemple</vt:lpstr>
      <vt:lpstr>Constructeur</vt:lpstr>
      <vt:lpstr>Objet</vt:lpstr>
      <vt:lpstr>Exemple</vt:lpstr>
      <vt:lpstr>Exemple</vt:lpstr>
      <vt:lpstr>Attributs</vt:lpstr>
      <vt:lpstr>Attribut d’instance</vt:lpstr>
      <vt:lpstr>Exemple</vt:lpstr>
      <vt:lpstr>Attribut d’instance</vt:lpstr>
      <vt:lpstr>Exemple</vt:lpstr>
      <vt:lpstr>Exemple</vt:lpstr>
      <vt:lpstr>Constructeur avec paramètres</vt:lpstr>
      <vt:lpstr>Exemple</vt:lpstr>
      <vt:lpstr>Exemple</vt:lpstr>
      <vt:lpstr>Exemple</vt:lpstr>
      <vt:lpstr>Exemple</vt:lpstr>
      <vt:lpstr>Exemple</vt:lpstr>
      <vt:lpstr>Attribut de classe</vt:lpstr>
      <vt:lpstr>Attribut de classe</vt:lpstr>
      <vt:lpstr>Exemple</vt:lpstr>
      <vt:lpstr>Exemple</vt:lpstr>
      <vt:lpstr>Exemple</vt:lpstr>
      <vt:lpstr>Méthodes</vt:lpstr>
      <vt:lpstr>Méthode d’instance</vt:lpstr>
      <vt:lpstr>Méthode d’instance</vt:lpstr>
      <vt:lpstr>Exemple</vt:lpstr>
      <vt:lpstr>Exemple</vt:lpstr>
      <vt:lpstr>Méthode de classe</vt:lpstr>
      <vt:lpstr>Méthode de classe</vt:lpstr>
      <vt:lpstr>Exemple</vt:lpstr>
      <vt:lpstr>Exemple</vt:lpstr>
      <vt:lpstr>Méthode statique (plus rare)</vt:lpstr>
      <vt:lpstr>Méthode statique (plus rare)</vt:lpstr>
      <vt:lpstr>Exemple</vt:lpstr>
      <vt:lpstr>Exemple</vt:lpstr>
      <vt:lpstr>Propriétés</vt:lpstr>
      <vt:lpstr>Propriétés</vt:lpstr>
      <vt:lpstr>Propriétés</vt:lpstr>
      <vt:lpstr>Propriétés</vt:lpstr>
      <vt:lpstr>Exemple</vt:lpstr>
      <vt:lpstr>Exemple</vt:lpstr>
      <vt:lpstr>Exemple</vt:lpstr>
      <vt:lpstr>Exemple</vt:lpstr>
      <vt:lpstr>Exemple</vt:lpstr>
      <vt:lpstr>Exemple</vt:lpstr>
      <vt:lpstr>Exemple</vt:lpstr>
      <vt:lpstr>Exemple</vt:lpstr>
      <vt:lpstr>Exemple</vt:lpstr>
      <vt:lpstr>Héritage</vt:lpstr>
      <vt:lpstr>Héritage</vt:lpstr>
      <vt:lpstr>Héritage</vt:lpstr>
      <vt:lpstr>Héritage</vt:lpstr>
      <vt:lpstr>Exemple</vt:lpstr>
      <vt:lpstr>Exemple</vt:lpstr>
      <vt:lpstr>Exemple</vt:lpstr>
      <vt:lpstr>Exemple</vt:lpstr>
      <vt:lpstr>Exemple</vt:lpstr>
      <vt:lpstr>Exemple</vt:lpstr>
      <vt:lpstr>Héritage</vt:lpstr>
      <vt:lpstr>Quelques fonctions</vt:lpstr>
      <vt:lpstr>Exemple</vt:lpstr>
    </vt:vector>
  </TitlesOfParts>
  <Company>Université de Lausanne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INTRODUCTION</dc:title>
  <dc:creator>Campus Agreement</dc:creator>
  <cp:lastModifiedBy>Microsoft Office User</cp:lastModifiedBy>
  <cp:revision>3795</cp:revision>
  <cp:lastPrinted>2019-10-10T12:16:17Z</cp:lastPrinted>
  <dcterms:created xsi:type="dcterms:W3CDTF">2002-10-22T15:56:56Z</dcterms:created>
  <dcterms:modified xsi:type="dcterms:W3CDTF">2019-10-10T12:22:52Z</dcterms:modified>
</cp:coreProperties>
</file>