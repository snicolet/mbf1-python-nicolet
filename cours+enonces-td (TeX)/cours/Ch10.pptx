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42"/>
  </p:notesMasterIdLst>
  <p:handoutMasterIdLst>
    <p:handoutMasterId r:id="rId43"/>
  </p:handoutMasterIdLst>
  <p:sldIdLst>
    <p:sldId id="375" r:id="rId2"/>
    <p:sldId id="377" r:id="rId3"/>
    <p:sldId id="422" r:id="rId4"/>
    <p:sldId id="423" r:id="rId5"/>
    <p:sldId id="424" r:id="rId6"/>
    <p:sldId id="425" r:id="rId7"/>
    <p:sldId id="426" r:id="rId8"/>
    <p:sldId id="379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  <p:sldId id="438" r:id="rId21"/>
    <p:sldId id="439" r:id="rId22"/>
    <p:sldId id="440" r:id="rId23"/>
    <p:sldId id="441" r:id="rId24"/>
    <p:sldId id="442" r:id="rId25"/>
    <p:sldId id="443" r:id="rId26"/>
    <p:sldId id="444" r:id="rId27"/>
    <p:sldId id="445" r:id="rId28"/>
    <p:sldId id="446" r:id="rId29"/>
    <p:sldId id="447" r:id="rId30"/>
    <p:sldId id="448" r:id="rId31"/>
    <p:sldId id="449" r:id="rId32"/>
    <p:sldId id="450" r:id="rId33"/>
    <p:sldId id="451" r:id="rId34"/>
    <p:sldId id="452" r:id="rId35"/>
    <p:sldId id="453" r:id="rId36"/>
    <p:sldId id="454" r:id="rId37"/>
    <p:sldId id="455" r:id="rId38"/>
    <p:sldId id="456" r:id="rId39"/>
    <p:sldId id="457" r:id="rId40"/>
    <p:sldId id="458" r:id="rId41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777" autoAdjust="0"/>
  </p:normalViewPr>
  <p:slideViewPr>
    <p:cSldViewPr>
      <p:cViewPr>
        <p:scale>
          <a:sx n="125" d="100"/>
          <a:sy n="125" d="100"/>
        </p:scale>
        <p:origin x="352" y="10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 smtClean="0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CH" smtClean="0"/>
              <a:t>Deuxième niveau</a:t>
            </a:r>
          </a:p>
          <a:p>
            <a:pPr lvl="2" eaLnBrk="1" latinLnBrk="0" hangingPunct="1"/>
            <a:r>
              <a:rPr kumimoji="0" lang="fr-CH" smtClean="0"/>
              <a:t>Troisième niveau</a:t>
            </a:r>
          </a:p>
          <a:p>
            <a:pPr lvl="3" eaLnBrk="1" latinLnBrk="0" hangingPunct="1"/>
            <a:r>
              <a:rPr kumimoji="0" lang="fr-CH" smtClean="0"/>
              <a:t>Quatrième niveau</a:t>
            </a:r>
          </a:p>
          <a:p>
            <a:pPr lvl="4" eaLnBrk="1" latinLnBrk="0" hangingPunct="1"/>
            <a:r>
              <a:rPr kumimoji="0" lang="fr-CH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mtClean="0"/>
              <a:t>Chapitre 11 Un </a:t>
            </a:r>
            <a:r>
              <a:rPr lang="fr-FR" dirty="0" smtClean="0"/>
              <a:t>exemple de programme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Programmation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 exemple récapitulatif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Nous allons présenter un programme un peu plus conséquent qui permet de récapituler toutes les notions abordées jusqu’à maintenant.</a:t>
            </a:r>
          </a:p>
          <a:p>
            <a:r>
              <a:rPr lang="fr-FR" dirty="0" smtClean="0"/>
              <a:t>Le but est de présenter une implémentation du jeu « Puissance 4 » sur une grille dont la taille N x N est choisie au départ.</a:t>
            </a:r>
          </a:p>
        </p:txBody>
      </p:sp>
    </p:spTree>
    <p:extLst>
      <p:ext uri="{BB962C8B-B14F-4D97-AF65-F5344CB8AC3E}">
        <p14:creationId xmlns:p14="http://schemas.microsoft.com/office/powerpoint/2010/main" val="32552234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Puissance 4 est un jeu bien connu</a:t>
            </a:r>
            <a:r>
              <a:rPr lang="is-IS" dirty="0" smtClean="0"/>
              <a:t>…</a:t>
            </a:r>
            <a:endParaRPr lang="fr-FR" dirty="0" smtClean="0"/>
          </a:p>
          <a:p>
            <a:r>
              <a:rPr lang="fr-FR" dirty="0" smtClean="0"/>
              <a:t>Le jeu se joue à deux joueurs et sur une grille de taille N x N.</a:t>
            </a:r>
          </a:p>
          <a:p>
            <a:r>
              <a:rPr lang="fr-FR" dirty="0" smtClean="0"/>
              <a:t>Chacun des joueurs place à tour de rôle un pion dans une grille.</a:t>
            </a:r>
          </a:p>
          <a:p>
            <a:r>
              <a:rPr lang="fr-FR" dirty="0" smtClean="0"/>
              <a:t>Le but chaque joueur est de réussir à aligner en ligne, en colonne, ou en diagonale quatre de ses pions.</a:t>
            </a:r>
          </a:p>
          <a:p>
            <a:r>
              <a:rPr lang="fr-FR" dirty="0" smtClean="0"/>
              <a:t>Le premier qui réussit à aligner quatre de ses pions gagne le jeu.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2666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Faire une démonstration du programme.</a:t>
            </a:r>
          </a:p>
          <a:p>
            <a:r>
              <a:rPr lang="fr-FR" dirty="0" smtClean="0"/>
              <a:t>(fichier cours/code/Ch10.py)</a:t>
            </a:r>
          </a:p>
        </p:txBody>
      </p:sp>
      <p:pic>
        <p:nvPicPr>
          <p:cNvPr id="5" name="Image 4" descr="Screen Shot 2016-09-14 at 14.20.5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378" y="2720124"/>
            <a:ext cx="6073244" cy="409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8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Nous allons créer petit à petit un certains nombre de fonctions dont nous avons besoin pour l’implémentation de ce jeu.</a:t>
            </a:r>
          </a:p>
          <a:p>
            <a:r>
              <a:rPr lang="fr-FR" dirty="0" smtClean="0"/>
              <a:t>Au final, le jeu lui-même sera implémenté comme une procédure globale. Celle-ci faisant appel aux fonctions définies préalablement.</a:t>
            </a:r>
          </a:p>
        </p:txBody>
      </p:sp>
    </p:spTree>
    <p:extLst>
      <p:ext uri="{BB962C8B-B14F-4D97-AF65-F5344CB8AC3E}">
        <p14:creationId xmlns:p14="http://schemas.microsoft.com/office/powerpoint/2010/main" val="3578069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Cette manière de procéder est courante en programmation : on crée des fonctions ou procédures qui appellent d’autres fonctions ou procédures, qui elles même appellent d’autres fonctions ou procédures, etc</a:t>
            </a:r>
            <a:r>
              <a:rPr lang="fr-FR" dirty="0"/>
              <a:t>.</a:t>
            </a:r>
            <a:endParaRPr lang="fr-FR" dirty="0" smtClean="0"/>
          </a:p>
          <a:p>
            <a:r>
              <a:rPr lang="fr-FR" dirty="0" smtClean="0"/>
              <a:t>Ainsi, à partir de briques de bases, et en se basant sur ce qui a déjà été implémenté, on crée fonctionnalités de plus en plus complexes.</a:t>
            </a:r>
          </a:p>
        </p:txBody>
      </p:sp>
    </p:spTree>
    <p:extLst>
      <p:ext uri="{BB962C8B-B14F-4D97-AF65-F5344CB8AC3E}">
        <p14:creationId xmlns:p14="http://schemas.microsoft.com/office/powerpoint/2010/main" val="42630634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</a:t>
            </a:r>
            <a:r>
              <a:rPr lang="fr-FR" dirty="0" smtClean="0"/>
              <a:t>fonction	     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generer_grille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(N =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4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)</a:t>
            </a:r>
            <a:r>
              <a:rPr lang="fr-FR" dirty="0" smtClean="0"/>
              <a:t> qui génère </a:t>
            </a:r>
            <a:r>
              <a:rPr lang="fr-FR" dirty="0"/>
              <a:t>une grille d’une certaine taille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N</a:t>
            </a:r>
            <a:r>
              <a:rPr lang="fr-FR" dirty="0"/>
              <a:t> valant 4 par </a:t>
            </a:r>
            <a:r>
              <a:rPr lang="fr-FR" dirty="0" smtClean="0"/>
              <a:t>défaut.</a:t>
            </a:r>
          </a:p>
          <a:p>
            <a:r>
              <a:rPr lang="fr-FR" dirty="0" smtClean="0"/>
              <a:t>Chaque </a:t>
            </a:r>
            <a:r>
              <a:rPr lang="fr-FR" dirty="0"/>
              <a:t>ligne de la grille est une liste de taille N dont les </a:t>
            </a:r>
            <a:r>
              <a:rPr lang="fr-FR" dirty="0" smtClean="0"/>
              <a:t>éléments </a:t>
            </a:r>
            <a:r>
              <a:rPr lang="fr-FR" dirty="0"/>
              <a:t>sont des </a:t>
            </a:r>
            <a:r>
              <a:rPr lang="fr-FR" dirty="0" smtClean="0"/>
              <a:t>chaînes </a:t>
            </a:r>
            <a:r>
              <a:rPr lang="fr-FR" sz="2400" dirty="0">
                <a:latin typeface="Courier"/>
                <a:cs typeface="Courier"/>
              </a:rPr>
              <a:t>"."</a:t>
            </a:r>
            <a:r>
              <a:rPr lang="fr-FR" dirty="0"/>
              <a:t>. La grille est alors </a:t>
            </a:r>
            <a:r>
              <a:rPr lang="fr-FR" dirty="0" smtClean="0"/>
              <a:t>représentée </a:t>
            </a:r>
            <a:r>
              <a:rPr lang="fr-FR" dirty="0"/>
              <a:t>comme la liste de ses lignes, comme illustré ci-dessous</a:t>
            </a:r>
            <a:r>
              <a:rPr lang="fr-FR" dirty="0" smtClean="0"/>
              <a:t>.</a:t>
            </a:r>
          </a:p>
          <a:p>
            <a:r>
              <a:rPr lang="fr-FR" dirty="0" smtClean="0"/>
              <a:t>Exemple : une grille de taille 3 x 3</a:t>
            </a:r>
          </a:p>
          <a:p>
            <a:pPr lvl="1"/>
            <a:r>
              <a:rPr lang="pt-BR" sz="2100" dirty="0" smtClean="0">
                <a:latin typeface="Courier"/>
                <a:cs typeface="Courier"/>
              </a:rPr>
              <a:t>[</a:t>
            </a:r>
            <a:r>
              <a:rPr lang="pt-BR" sz="2100" dirty="0">
                <a:latin typeface="Courier"/>
                <a:cs typeface="Courier"/>
              </a:rPr>
              <a:t>[".", ".", "."], [".", ".", "."]</a:t>
            </a:r>
            <a:r>
              <a:rPr lang="pt-BR" sz="2100" dirty="0" smtClean="0">
                <a:latin typeface="Courier"/>
                <a:cs typeface="Courier"/>
              </a:rPr>
              <a:t>, </a:t>
            </a:r>
          </a:p>
          <a:p>
            <a:pPr marL="0" indent="0">
              <a:buNone/>
            </a:pPr>
            <a:r>
              <a:rPr lang="pt-BR" sz="2400" dirty="0">
                <a:latin typeface="Courier"/>
                <a:cs typeface="Courier"/>
              </a:rPr>
              <a:t>	</a:t>
            </a:r>
            <a:r>
              <a:rPr lang="pt-BR" sz="2400" dirty="0" smtClean="0">
                <a:latin typeface="Courier"/>
                <a:cs typeface="Courier"/>
              </a:rPr>
              <a:t>		    [</a:t>
            </a:r>
            <a:r>
              <a:rPr lang="pt-BR" sz="2400" dirty="0">
                <a:latin typeface="Courier"/>
                <a:cs typeface="Courier"/>
              </a:rPr>
              <a:t>".", ".", "."]] </a:t>
            </a:r>
          </a:p>
        </p:txBody>
      </p:sp>
    </p:spTree>
    <p:extLst>
      <p:ext uri="{BB962C8B-B14F-4D97-AF65-F5344CB8AC3E}">
        <p14:creationId xmlns:p14="http://schemas.microsoft.com/office/powerpoint/2010/main" val="11611519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generer_grille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(taille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i="1" dirty="0" err="1">
                <a:solidFill>
                  <a:srgbClr val="BA2121"/>
                </a:solidFill>
                <a:latin typeface="Courier"/>
                <a:cs typeface="Courier"/>
              </a:rPr>
              <a:t>genere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 une grille d'une certaine taille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 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grille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[]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taille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grille</a:t>
            </a:r>
            <a:r>
              <a:rPr lang="en-US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"."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taille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grille</a:t>
            </a:r>
            <a:endParaRPr lang="fr-CH" sz="18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026854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we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create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a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grid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of size 5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generer_grille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>
                <a:latin typeface="Courier"/>
                <a:cs typeface="Courier"/>
              </a:rPr>
              <a:t>[['.', '.', '.', '.', '.'], ['.', '.', '.', '.', '.'], ['.', '.', '.', '.', '.'], ['.', '.', '.', '.', '.'], ['.', '.', '.', '.', '.']]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18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54346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fonction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placer_pion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(joueur, grille, position)</a:t>
            </a:r>
            <a:r>
              <a:rPr lang="fr-FR" dirty="0"/>
              <a:t> qui permet de </a:t>
            </a:r>
            <a:r>
              <a:rPr lang="fr-FR" dirty="0" smtClean="0"/>
              <a:t>placer </a:t>
            </a:r>
            <a:r>
              <a:rPr lang="fr-FR" dirty="0"/>
              <a:t>le pion du joueur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joueur</a:t>
            </a:r>
            <a:r>
              <a:rPr lang="fr-FR" dirty="0" smtClean="0"/>
              <a:t> à </a:t>
            </a:r>
            <a:r>
              <a:rPr lang="fr-FR" dirty="0"/>
              <a:t>la position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position</a:t>
            </a:r>
            <a:r>
              <a:rPr lang="fr-FR" dirty="0"/>
              <a:t> dans la grille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grille</a:t>
            </a:r>
            <a:r>
              <a:rPr lang="fr-FR" dirty="0" smtClean="0"/>
              <a:t>.</a:t>
            </a:r>
          </a:p>
          <a:p>
            <a:r>
              <a:rPr lang="fr-FR" dirty="0" smtClean="0"/>
              <a:t>L’argument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joueur</a:t>
            </a:r>
            <a:r>
              <a:rPr lang="fr-FR" dirty="0" smtClean="0"/>
              <a:t> </a:t>
            </a:r>
            <a:r>
              <a:rPr lang="fr-FR" dirty="0"/>
              <a:t>vaut 1 ou 2. S’il vaut, 1, le pion </a:t>
            </a:r>
            <a:r>
              <a:rPr lang="fr-FR" dirty="0" smtClean="0"/>
              <a:t>placé </a:t>
            </a:r>
            <a:r>
              <a:rPr lang="fr-FR" dirty="0"/>
              <a:t>sera un rond (O majuscule) "O" ; s’il vaut, 2, le pion </a:t>
            </a:r>
            <a:r>
              <a:rPr lang="fr-FR" dirty="0" smtClean="0"/>
              <a:t>placé </a:t>
            </a:r>
            <a:r>
              <a:rPr lang="fr-FR" dirty="0"/>
              <a:t>sera une croix (X majuscule) "X". </a:t>
            </a:r>
            <a:endParaRPr lang="fr-FR" dirty="0" smtClean="0"/>
          </a:p>
          <a:p>
            <a:r>
              <a:rPr lang="fr-FR" dirty="0" smtClean="0"/>
              <a:t>L’argument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grille</a:t>
            </a:r>
            <a:r>
              <a:rPr lang="fr-FR" dirty="0" smtClean="0"/>
              <a:t> </a:t>
            </a:r>
            <a:r>
              <a:rPr lang="fr-FR" dirty="0"/>
              <a:t>est une liste de </a:t>
            </a:r>
            <a:r>
              <a:rPr lang="fr-FR" dirty="0" smtClean="0"/>
              <a:t>listes.</a:t>
            </a:r>
          </a:p>
          <a:p>
            <a:r>
              <a:rPr lang="fr-FR" dirty="0" smtClean="0"/>
              <a:t>L’argument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position</a:t>
            </a:r>
            <a:r>
              <a:rPr lang="fr-FR" dirty="0"/>
              <a:t> est une liste ou un </a:t>
            </a:r>
            <a:r>
              <a:rPr lang="fr-FR" dirty="0" err="1"/>
              <a:t>tuple</a:t>
            </a:r>
            <a:r>
              <a:rPr lang="fr-FR" dirty="0"/>
              <a:t> de la forme (</a:t>
            </a:r>
            <a:r>
              <a:rPr lang="fr-FR" dirty="0" err="1"/>
              <a:t>i,j</a:t>
            </a:r>
            <a:r>
              <a:rPr lang="fr-FR" dirty="0"/>
              <a:t>). 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493224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placer_pion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(joueur, grille, position):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""place un pion dans une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grille""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joueur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pion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"O"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joueur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da-DK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da-DK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pion</a:t>
            </a:r>
            <a:r>
              <a:rPr lang="da-DK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smtClean="0">
                <a:solidFill>
                  <a:srgbClr val="BA2121"/>
                </a:solidFill>
                <a:latin typeface="Courier"/>
                <a:cs typeface="Courier"/>
              </a:rPr>
              <a:t>"X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 smtClean="0">
                <a:solidFill>
                  <a:prstClr val="black"/>
                </a:solidFill>
                <a:latin typeface="Courier"/>
                <a:cs typeface="Courier"/>
              </a:rPr>
              <a:t>    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[position[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][position[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pion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da-DK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da-DK" sz="1800" dirty="0" smtClean="0">
                <a:solidFill>
                  <a:prstClr val="black"/>
                </a:solidFill>
                <a:latin typeface="Courier"/>
                <a:cs typeface="Courier"/>
              </a:rPr>
              <a:t> grille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573782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On </a:t>
            </a:r>
            <a:r>
              <a:rPr lang="da-DK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place</a:t>
            </a:r>
            <a:r>
              <a:rPr lang="da-DK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da-DK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quelques</a:t>
            </a:r>
            <a:r>
              <a:rPr lang="da-DK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da-DK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pions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placer_pion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))</a:t>
            </a:r>
          </a:p>
          <a:p>
            <a:pPr marL="0" indent="0">
              <a:buNone/>
            </a:pPr>
            <a:r>
              <a:rPr lang="da-DK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placer_pion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))</a:t>
            </a:r>
          </a:p>
          <a:p>
            <a:pPr marL="0" indent="0">
              <a:buNone/>
            </a:pPr>
            <a:r>
              <a:rPr lang="da-DK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placer_pion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))</a:t>
            </a:r>
          </a:p>
          <a:p>
            <a:pPr marL="0" indent="0">
              <a:buNone/>
            </a:pPr>
            <a:r>
              <a:rPr lang="da-DK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placer_pion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))</a:t>
            </a:r>
          </a:p>
          <a:p>
            <a:pPr marL="0" indent="0">
              <a:buNone/>
            </a:pPr>
            <a:r>
              <a:rPr lang="da-DK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endParaRPr lang="fr-CH" sz="18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453920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fonction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chercher_alignement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(joueur, liste, n)</a:t>
            </a:r>
            <a:r>
              <a:rPr lang="fr-FR" dirty="0"/>
              <a:t> qui cherche si un alignement de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n</a:t>
            </a:r>
            <a:r>
              <a:rPr lang="fr-FR" dirty="0"/>
              <a:t> pions du joueur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joueur</a:t>
            </a:r>
            <a:r>
              <a:rPr lang="fr-FR" dirty="0"/>
              <a:t> existe dans la liste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liste</a:t>
            </a:r>
            <a:r>
              <a:rPr lang="fr-FR" dirty="0"/>
              <a:t> (cette liste </a:t>
            </a:r>
            <a:r>
              <a:rPr lang="fr-FR" dirty="0" smtClean="0"/>
              <a:t>représentera </a:t>
            </a:r>
            <a:r>
              <a:rPr lang="fr-FR" dirty="0"/>
              <a:t>plus tard, une ligne, une colonne ou une diagonale)</a:t>
            </a:r>
            <a:r>
              <a:rPr lang="fr-FR" dirty="0" smtClean="0"/>
              <a:t>.</a:t>
            </a:r>
          </a:p>
          <a:p>
            <a:r>
              <a:rPr lang="fr-FR" dirty="0" smtClean="0"/>
              <a:t>Suivant </a:t>
            </a:r>
            <a:r>
              <a:rPr lang="fr-FR" dirty="0"/>
              <a:t>que l’argument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joueur</a:t>
            </a:r>
            <a:r>
              <a:rPr lang="fr-FR" dirty="0"/>
              <a:t> vaut 1 ou 2, on cherchera un alignement de n "O" ou n "X", respectivement. 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76534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9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9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900" dirty="0" err="1">
                <a:solidFill>
                  <a:srgbClr val="0000FF"/>
                </a:solidFill>
                <a:latin typeface="Courier"/>
                <a:cs typeface="Courier"/>
              </a:rPr>
              <a:t>chercher_alignement</a:t>
            </a:r>
            <a:r>
              <a:rPr lang="fr-FR" sz="1900" dirty="0">
                <a:solidFill>
                  <a:prstClr val="black"/>
                </a:solidFill>
                <a:latin typeface="Courier"/>
                <a:cs typeface="Courier"/>
              </a:rPr>
              <a:t>(joueur, liste, n):</a:t>
            </a:r>
          </a:p>
          <a:p>
            <a:pPr marL="0" indent="0">
              <a:buNone/>
            </a:pP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9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900" i="1" dirty="0">
                <a:solidFill>
                  <a:srgbClr val="BA2121"/>
                </a:solidFill>
                <a:latin typeface="Courier"/>
                <a:cs typeface="Courier"/>
              </a:rPr>
              <a:t>""cherche </a:t>
            </a:r>
            <a:r>
              <a:rPr lang="fr-FR" sz="1900" i="1" dirty="0" smtClean="0">
                <a:solidFill>
                  <a:srgbClr val="BA2121"/>
                </a:solidFill>
                <a:latin typeface="Courier"/>
                <a:cs typeface="Courier"/>
              </a:rPr>
              <a:t>un alignement </a:t>
            </a:r>
            <a:r>
              <a:rPr lang="fr-FR" sz="1900" i="1" dirty="0">
                <a:solidFill>
                  <a:srgbClr val="BA2121"/>
                </a:solidFill>
                <a:latin typeface="Courier"/>
                <a:cs typeface="Courier"/>
              </a:rPr>
              <a:t>de n symboles </a:t>
            </a:r>
            <a:r>
              <a:rPr lang="fr-FR" sz="1900" i="1" dirty="0" smtClean="0">
                <a:solidFill>
                  <a:srgbClr val="BA2121"/>
                </a:solidFill>
                <a:latin typeface="Courier"/>
                <a:cs typeface="Courier"/>
              </a:rPr>
              <a:t>dans une</a:t>
            </a:r>
          </a:p>
          <a:p>
            <a:pPr marL="0" indent="0">
              <a:buNone/>
            </a:pPr>
            <a:r>
              <a:rPr lang="fr-FR" sz="1900" i="1" dirty="0" smtClean="0">
                <a:solidFill>
                  <a:srgbClr val="BA2121"/>
                </a:solidFill>
                <a:latin typeface="Courier"/>
                <a:cs typeface="Courier"/>
              </a:rPr>
              <a:t>       </a:t>
            </a:r>
            <a:r>
              <a:rPr lang="fr-FR" sz="1900" i="1" dirty="0">
                <a:solidFill>
                  <a:srgbClr val="BA2121"/>
                </a:solidFill>
                <a:latin typeface="Courier"/>
                <a:cs typeface="Courier"/>
              </a:rPr>
              <a:t>liste</a:t>
            </a:r>
            <a:r>
              <a:rPr lang="fr-FR" sz="1900" i="1" dirty="0" smtClean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9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900" i="1" dirty="0" smtClean="0">
                <a:solidFill>
                  <a:srgbClr val="BA2121"/>
                </a:solidFill>
                <a:latin typeface="Courier"/>
                <a:cs typeface="Courier"/>
              </a:rPr>
              <a:t> </a:t>
            </a:r>
            <a:endParaRPr lang="fr-FR" sz="19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   compteur </a:t>
            </a:r>
            <a:r>
              <a:rPr lang="fr-FR" sz="19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9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9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fr-FR" sz="19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da-DK" sz="1900" dirty="0" err="1" smtClean="0">
                <a:solidFill>
                  <a:prstClr val="black"/>
                </a:solidFill>
                <a:latin typeface="Courier"/>
                <a:cs typeface="Courier"/>
              </a:rPr>
              <a:t>pions</a:t>
            </a: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9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da-DK" sz="1900" dirty="0">
                <a:solidFill>
                  <a:srgbClr val="BA2121"/>
                </a:solidFill>
                <a:latin typeface="Courier"/>
                <a:cs typeface="Courier"/>
              </a:rPr>
              <a:t>"O"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900" dirty="0">
                <a:solidFill>
                  <a:srgbClr val="BA2121"/>
                </a:solidFill>
                <a:latin typeface="Courier"/>
                <a:cs typeface="Courier"/>
              </a:rPr>
              <a:t>"X"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da-DK" sz="19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da-DK" sz="19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9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900" dirty="0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(liste)</a:t>
            </a:r>
            <a:r>
              <a:rPr lang="da-DK" sz="19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da-DK" sz="1900" b="1" dirty="0" err="1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liste[i] </a:t>
            </a:r>
            <a:r>
              <a:rPr lang="da-DK" sz="19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900" dirty="0" err="1">
                <a:solidFill>
                  <a:prstClr val="black"/>
                </a:solidFill>
                <a:latin typeface="Courier"/>
                <a:cs typeface="Courier"/>
              </a:rPr>
              <a:t>pions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[joueur</a:t>
            </a:r>
            <a:r>
              <a:rPr lang="da-DK" sz="19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\</a:t>
            </a:r>
          </a:p>
          <a:p>
            <a:pPr marL="0" indent="0">
              <a:buNone/>
            </a:pPr>
            <a:r>
              <a:rPr lang="da-DK" sz="1900" b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900" b="1" dirty="0" smtClean="0">
                <a:solidFill>
                  <a:prstClr val="black"/>
                </a:solidFill>
                <a:latin typeface="Courier"/>
                <a:cs typeface="Courier"/>
              </a:rPr>
              <a:t>          </a:t>
            </a:r>
            <a:r>
              <a:rPr lang="da-DK" sz="1900" b="1" dirty="0" smtClean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liste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[i] </a:t>
            </a:r>
            <a:r>
              <a:rPr lang="da-DK" sz="19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 liste[i</a:t>
            </a:r>
            <a:r>
              <a:rPr lang="da-DK" sz="1900" dirty="0">
                <a:solidFill>
                  <a:srgbClr val="666666"/>
                </a:solidFill>
                <a:latin typeface="Courier"/>
                <a:cs typeface="Courier"/>
              </a:rPr>
              <a:t>+1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]:</a:t>
            </a:r>
          </a:p>
          <a:p>
            <a:pPr marL="0" indent="0">
              <a:buNone/>
            </a:pP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           compteur </a:t>
            </a:r>
            <a:r>
              <a:rPr lang="fr-FR" sz="1900" dirty="0">
                <a:solidFill>
                  <a:srgbClr val="666666"/>
                </a:solidFill>
                <a:latin typeface="Courier"/>
                <a:cs typeface="Courier"/>
              </a:rPr>
              <a:t>+=</a:t>
            </a:r>
            <a:r>
              <a:rPr lang="fr-FR" sz="19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9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fr-FR" sz="19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9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900" dirty="0">
                <a:solidFill>
                  <a:prstClr val="black"/>
                </a:solidFill>
                <a:latin typeface="Courier"/>
                <a:cs typeface="Courier"/>
              </a:rPr>
              <a:t>compteur </a:t>
            </a:r>
            <a:r>
              <a:rPr lang="fr-FR" sz="1900" dirty="0">
                <a:solidFill>
                  <a:srgbClr val="666666"/>
                </a:solidFill>
                <a:latin typeface="Courier"/>
                <a:cs typeface="Courier"/>
              </a:rPr>
              <a:t>&gt;=</a:t>
            </a:r>
            <a:r>
              <a:rPr lang="fr-FR" sz="1900" dirty="0">
                <a:solidFill>
                  <a:prstClr val="black"/>
                </a:solidFill>
                <a:latin typeface="Courier"/>
                <a:cs typeface="Courier"/>
              </a:rPr>
              <a:t> n:</a:t>
            </a:r>
          </a:p>
          <a:p>
            <a:pPr marL="0" indent="0">
              <a:buNone/>
            </a:pP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9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9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9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en-US" sz="19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en-US" sz="19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9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da-DK" sz="19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da-DK" sz="19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           compteur </a:t>
            </a:r>
            <a:r>
              <a:rPr lang="fr-FR" sz="19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9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9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fr-FR" sz="19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9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fr-FR" sz="19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900" dirty="0" smtClean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9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565957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On teste la fonction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l1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"O"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"O"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"O"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"X"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"X"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da-DK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l1,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latin typeface="Courier"/>
                <a:cs typeface="Courier"/>
              </a:rPr>
              <a:t>True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da-DK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 smtClean="0">
                <a:solidFill>
                  <a:prstClr val="black"/>
                </a:solidFill>
                <a:latin typeface="Courier"/>
                <a:cs typeface="Courier"/>
              </a:rPr>
              <a:t>l2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"O"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"X"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"O"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"X"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"X"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da-DK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l2,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smtClean="0">
                <a:latin typeface="Courier"/>
                <a:cs typeface="Courier"/>
              </a:rPr>
              <a:t>False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807037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fonction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generer_lignes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(grille)</a:t>
            </a:r>
            <a:r>
              <a:rPr lang="fr-FR" dirty="0"/>
              <a:t> qui retourne la liste de toutes les lignes de la grille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grille</a:t>
            </a:r>
            <a:r>
              <a:rPr lang="fr-FR" dirty="0" smtClean="0"/>
              <a:t>.</a:t>
            </a:r>
          </a:p>
          <a:p>
            <a:r>
              <a:rPr lang="fr-FR" dirty="0" smtClean="0"/>
              <a:t>Remarquez </a:t>
            </a:r>
            <a:r>
              <a:rPr lang="fr-FR" dirty="0"/>
              <a:t>que dans ce cas, il suffit de retourner la grille </a:t>
            </a:r>
            <a:r>
              <a:rPr lang="fr-FR" dirty="0" smtClean="0"/>
              <a:t>elle même</a:t>
            </a:r>
            <a:r>
              <a:rPr lang="fr-FR" dirty="0"/>
              <a:t>, puisque celle-ci est </a:t>
            </a:r>
            <a:r>
              <a:rPr lang="fr-FR" dirty="0" smtClean="0"/>
              <a:t>donnée </a:t>
            </a:r>
            <a:r>
              <a:rPr lang="fr-FR" dirty="0"/>
              <a:t>comme la liste de ces lignes. 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087715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generer_lignes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""retourne la liste des lignes d'une grille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 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grille</a:t>
            </a:r>
          </a:p>
          <a:p>
            <a:pPr marL="0" indent="0">
              <a:buNone/>
            </a:pP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Exemple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generer_lignes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s-ES_tradnl" sz="1800" dirty="0">
                <a:latin typeface="Courier"/>
                <a:cs typeface="Courier"/>
              </a:rPr>
              <a:t>[['.', '.', '.', '.', '.'], ['.', '.', '.', '.', '.'], ['.', '.', '.', '.', '.'], ['.', '.', '.', '.', '.'], ['.', '.', '.', '.', '.']]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01431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fonction 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generer_colonnes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(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grille)</a:t>
            </a:r>
            <a:r>
              <a:rPr lang="fr-FR" dirty="0"/>
              <a:t> qui retourne la liste de toutes les </a:t>
            </a:r>
            <a:r>
              <a:rPr lang="fr-FR" dirty="0" smtClean="0"/>
              <a:t>colonnes </a:t>
            </a:r>
            <a:r>
              <a:rPr lang="fr-FR" dirty="0"/>
              <a:t>de la grille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grille</a:t>
            </a:r>
            <a:r>
              <a:rPr lang="fr-FR" dirty="0" smtClean="0"/>
              <a:t>.</a:t>
            </a:r>
          </a:p>
          <a:p>
            <a:r>
              <a:rPr lang="fr-FR" dirty="0" smtClean="0"/>
              <a:t>L’idée générale est de transposer la « matrice »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grille</a:t>
            </a:r>
            <a:r>
              <a:rPr lang="is-IS" dirty="0" smtClean="0"/>
              <a:t>…</a:t>
            </a:r>
          </a:p>
          <a:p>
            <a:r>
              <a:rPr lang="is-IS" dirty="0" smtClean="0"/>
              <a:t>C’est un peu plus compliqué en pratique.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743978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generer_colonnes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""retourne la liste des colonnes d'une grille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 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liste_colonnes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[]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we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update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them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liste_colonnes</a:t>
            </a:r>
            <a:r>
              <a:rPr lang="fr-FR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([])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j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liste_colonnes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append(grille[j][i])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liste_colonnes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Exemple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generer_colonnes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81186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fonction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generer_diagonales1(grille)</a:t>
            </a:r>
            <a:r>
              <a:rPr lang="fr-FR" dirty="0"/>
              <a:t> qui retourne la liste de toutes les diagonales </a:t>
            </a:r>
            <a:r>
              <a:rPr lang="fr-FR" dirty="0" smtClean="0"/>
              <a:t>« montantes » </a:t>
            </a:r>
            <a:r>
              <a:rPr lang="fr-FR" dirty="0"/>
              <a:t>de la grille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grille</a:t>
            </a:r>
            <a:r>
              <a:rPr lang="fr-FR" dirty="0" smtClean="0"/>
              <a:t>.</a:t>
            </a:r>
          </a:p>
          <a:p>
            <a:r>
              <a:rPr lang="fr-FR" dirty="0" smtClean="0"/>
              <a:t>Pour </a:t>
            </a:r>
            <a:r>
              <a:rPr lang="fr-FR" dirty="0"/>
              <a:t>cela, remarquez que chaque diagonale de ce type est </a:t>
            </a:r>
            <a:r>
              <a:rPr lang="fr-FR" dirty="0" smtClean="0"/>
              <a:t>constituée </a:t>
            </a:r>
            <a:r>
              <a:rPr lang="fr-FR" dirty="0"/>
              <a:t>des </a:t>
            </a:r>
            <a:r>
              <a:rPr lang="fr-FR" dirty="0" smtClean="0"/>
              <a:t>éléments </a:t>
            </a:r>
            <a:r>
              <a:rPr lang="fr-FR" dirty="0"/>
              <a:t>de la grille dont les indices donnent </a:t>
            </a:r>
            <a:r>
              <a:rPr lang="fr-FR" dirty="0" smtClean="0"/>
              <a:t>une même somme.</a:t>
            </a:r>
          </a:p>
          <a:p>
            <a:r>
              <a:rPr lang="fr-FR" dirty="0" smtClean="0"/>
              <a:t>Par </a:t>
            </a:r>
            <a:r>
              <a:rPr lang="fr-FR" dirty="0"/>
              <a:t>exemple, la diagonale </a:t>
            </a:r>
            <a:r>
              <a:rPr lang="fr-FR" sz="2400" dirty="0">
                <a:latin typeface="Courier"/>
                <a:cs typeface="Courier"/>
              </a:rPr>
              <a:t>[(3,1)</a:t>
            </a:r>
            <a:r>
              <a:rPr lang="fr-FR" sz="2400" dirty="0" smtClean="0">
                <a:latin typeface="Courier"/>
                <a:cs typeface="Courier"/>
              </a:rPr>
              <a:t>,(</a:t>
            </a:r>
            <a:r>
              <a:rPr lang="fr-FR" sz="2400" dirty="0">
                <a:latin typeface="Courier"/>
                <a:cs typeface="Courier"/>
              </a:rPr>
              <a:t>2,2)</a:t>
            </a:r>
            <a:r>
              <a:rPr lang="fr-FR" sz="2400" dirty="0" smtClean="0">
                <a:latin typeface="Courier"/>
                <a:cs typeface="Courier"/>
              </a:rPr>
              <a:t>,(</a:t>
            </a:r>
            <a:r>
              <a:rPr lang="fr-FR" sz="2400" dirty="0">
                <a:latin typeface="Courier"/>
                <a:cs typeface="Courier"/>
              </a:rPr>
              <a:t>1,3)]</a:t>
            </a:r>
            <a:r>
              <a:rPr lang="fr-FR" dirty="0"/>
              <a:t> est </a:t>
            </a:r>
            <a:r>
              <a:rPr lang="fr-FR" dirty="0" smtClean="0"/>
              <a:t>formée </a:t>
            </a:r>
            <a:r>
              <a:rPr lang="fr-FR" dirty="0"/>
              <a:t>de tous les </a:t>
            </a:r>
            <a:r>
              <a:rPr lang="fr-FR" dirty="0" smtClean="0"/>
              <a:t>éléments </a:t>
            </a:r>
            <a:r>
              <a:rPr lang="fr-FR" dirty="0"/>
              <a:t>dont les indices ont une somme de 4</a:t>
            </a:r>
            <a:r>
              <a:rPr lang="fr-FR" dirty="0" smtClean="0"/>
              <a:t>.</a:t>
            </a:r>
            <a:endParaRPr lang="fr-FR" dirty="0"/>
          </a:p>
          <a:p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40475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generer_diagonales1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""retourne la liste des diagonales d'une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grille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s-ES_tradnl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{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} 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on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utilise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un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cette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fois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les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sommes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des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indices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vont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de 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2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à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N*2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s-ES_tradnl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k </a:t>
            </a:r>
            <a:r>
              <a:rPr lang="es-ES_tradnl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(grille)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*2+1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k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[]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pt-B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grille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)):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pt-B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j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grille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(i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(j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somme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des indices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[n]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append(grille[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][j])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Exemple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generer_diagonales1(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414030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 lnSpcReduction="10000"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fonction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generer_diagonales2(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grille)</a:t>
            </a:r>
            <a:r>
              <a:rPr lang="fr-FR" dirty="0"/>
              <a:t> qui retourne la liste de toutes les diagonales </a:t>
            </a:r>
            <a:r>
              <a:rPr lang="fr-FR" dirty="0" smtClean="0"/>
              <a:t>« descendantes » </a:t>
            </a:r>
            <a:r>
              <a:rPr lang="fr-FR" dirty="0"/>
              <a:t>de la grille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grille</a:t>
            </a:r>
            <a:r>
              <a:rPr lang="fr-FR" dirty="0" smtClean="0"/>
              <a:t>.</a:t>
            </a:r>
          </a:p>
          <a:p>
            <a:r>
              <a:rPr lang="fr-FR" dirty="0"/>
              <a:t>R</a:t>
            </a:r>
            <a:r>
              <a:rPr lang="fr-FR" dirty="0" smtClean="0"/>
              <a:t>emarquez </a:t>
            </a:r>
            <a:r>
              <a:rPr lang="fr-FR" dirty="0"/>
              <a:t>que chaque diagonale de ce type est </a:t>
            </a:r>
            <a:r>
              <a:rPr lang="fr-FR" dirty="0" smtClean="0"/>
              <a:t>constituée </a:t>
            </a:r>
            <a:r>
              <a:rPr lang="fr-FR" dirty="0"/>
              <a:t>des </a:t>
            </a:r>
            <a:r>
              <a:rPr lang="fr-FR" dirty="0" smtClean="0"/>
              <a:t>éléments </a:t>
            </a:r>
            <a:r>
              <a:rPr lang="fr-FR" dirty="0"/>
              <a:t>de la grille dont les indices donnent </a:t>
            </a:r>
            <a:r>
              <a:rPr lang="fr-FR" dirty="0" smtClean="0"/>
              <a:t>une même différence.</a:t>
            </a:r>
          </a:p>
          <a:p>
            <a:r>
              <a:rPr lang="fr-FR" dirty="0" smtClean="0"/>
              <a:t>Par </a:t>
            </a:r>
            <a:r>
              <a:rPr lang="fr-FR" dirty="0"/>
              <a:t>exemple, la diagonale la diagonale </a:t>
            </a:r>
            <a:r>
              <a:rPr lang="fr-FR" sz="2400" dirty="0">
                <a:latin typeface="Courier"/>
                <a:cs typeface="Courier"/>
              </a:rPr>
              <a:t>[(1,3)</a:t>
            </a:r>
            <a:r>
              <a:rPr lang="fr-FR" sz="2400" dirty="0" smtClean="0">
                <a:latin typeface="Courier"/>
                <a:cs typeface="Courier"/>
              </a:rPr>
              <a:t>,(</a:t>
            </a:r>
            <a:r>
              <a:rPr lang="fr-FR" sz="2400" dirty="0">
                <a:latin typeface="Courier"/>
                <a:cs typeface="Courier"/>
              </a:rPr>
              <a:t>2,4)</a:t>
            </a:r>
            <a:r>
              <a:rPr lang="fr-FR" sz="2400" dirty="0" smtClean="0">
                <a:latin typeface="Courier"/>
                <a:cs typeface="Courier"/>
              </a:rPr>
              <a:t>,(</a:t>
            </a:r>
            <a:r>
              <a:rPr lang="fr-FR" sz="2400" dirty="0">
                <a:latin typeface="Courier"/>
                <a:cs typeface="Courier"/>
              </a:rPr>
              <a:t>3,5)]</a:t>
            </a:r>
            <a:r>
              <a:rPr lang="fr-FR" dirty="0"/>
              <a:t> d’une grille de taille 5 est </a:t>
            </a:r>
            <a:r>
              <a:rPr lang="fr-FR" dirty="0" smtClean="0"/>
              <a:t>formée </a:t>
            </a:r>
            <a:r>
              <a:rPr lang="fr-FR" dirty="0"/>
              <a:t>de tous les </a:t>
            </a:r>
            <a:r>
              <a:rPr lang="fr-FR" dirty="0" smtClean="0"/>
              <a:t>éléments </a:t>
            </a:r>
            <a:r>
              <a:rPr lang="fr-FR" dirty="0"/>
              <a:t>dont les indices ont une </a:t>
            </a:r>
            <a:r>
              <a:rPr lang="fr-FR" dirty="0" smtClean="0"/>
              <a:t>différence </a:t>
            </a:r>
            <a:r>
              <a:rPr lang="fr-FR" dirty="0"/>
              <a:t>de </a:t>
            </a:r>
            <a:r>
              <a:rPr lang="fr-FR" dirty="0" smtClean="0"/>
              <a:t>-2.</a:t>
            </a:r>
            <a:endParaRPr lang="fr-FR" dirty="0"/>
          </a:p>
          <a:p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840798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generer_diagonales2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"""liste 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des autres diagonales d'une grille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"""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s-ES_tradnl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{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} 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on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utilise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un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les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sommes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des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indices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vont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de 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–N+1 </a:t>
            </a:r>
            <a:r>
              <a:rPr lang="es-ES_tradnl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à</a:t>
            </a:r>
            <a:r>
              <a:rPr lang="es-ES_tradnl" sz="1800" i="1" dirty="0" smtClean="0">
                <a:solidFill>
                  <a:srgbClr val="408080"/>
                </a:solidFill>
                <a:latin typeface="Courier"/>
                <a:cs typeface="Courier"/>
              </a:rPr>
              <a:t> N-1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b="1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s-ES_tradnl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k </a:t>
            </a:r>
            <a:r>
              <a:rPr lang="es-ES_tradnl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es-ES_tradnl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(grille)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+1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(grille)):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k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[]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pt-B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grille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)):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pt-B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j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grille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)):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n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(i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+1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(j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+1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différence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des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indices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grille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j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])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pt-B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dico_diag</a:t>
            </a:r>
            <a:endParaRPr lang="pt-B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Exemple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generer_diagonales2(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81251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/>
          </a:bodyPr>
          <a:lstStyle/>
          <a:p>
            <a:r>
              <a:rPr lang="fr-FR" dirty="0" smtClean="0"/>
              <a:t>On programme </a:t>
            </a:r>
            <a:r>
              <a:rPr lang="fr-FR" dirty="0"/>
              <a:t>une fonction 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imprimer_grille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(grille)</a:t>
            </a:r>
            <a:r>
              <a:rPr lang="fr-FR" dirty="0"/>
              <a:t> qui imprime la grille grille dans votre terminal de </a:t>
            </a:r>
            <a:r>
              <a:rPr lang="fr-FR" dirty="0" smtClean="0"/>
              <a:t>manière conviviale</a:t>
            </a:r>
            <a:r>
              <a:rPr lang="fr-FR" dirty="0"/>
              <a:t>, comme </a:t>
            </a:r>
            <a:r>
              <a:rPr lang="fr-FR" dirty="0" smtClean="0"/>
              <a:t>illustré précédemment.</a:t>
            </a:r>
          </a:p>
          <a:p>
            <a:r>
              <a:rPr lang="fr-FR" dirty="0" smtClean="0"/>
              <a:t>On </a:t>
            </a:r>
            <a:r>
              <a:rPr lang="fr-FR" dirty="0"/>
              <a:t>rappelle que les </a:t>
            </a:r>
            <a:r>
              <a:rPr lang="fr-FR" dirty="0" smtClean="0"/>
              <a:t>chaînes </a:t>
            </a:r>
            <a:r>
              <a:rPr lang="fr-FR" sz="2400" dirty="0" smtClean="0">
                <a:latin typeface="Courier"/>
                <a:cs typeface="Courier"/>
              </a:rPr>
              <a:t>"</a:t>
            </a:r>
            <a:r>
              <a:rPr lang="fr-FR" sz="2400" dirty="0">
                <a:latin typeface="Courier"/>
                <a:cs typeface="Courier"/>
              </a:rPr>
              <a:t>\</a:t>
            </a:r>
            <a:r>
              <a:rPr lang="fr-FR" sz="2400" dirty="0" err="1" smtClean="0">
                <a:latin typeface="Courier"/>
                <a:cs typeface="Courier"/>
              </a:rPr>
              <a:t>t</a:t>
            </a:r>
            <a:r>
              <a:rPr lang="fr-FR" sz="2400" dirty="0" smtClean="0">
                <a:latin typeface="Courier"/>
                <a:cs typeface="Courier"/>
              </a:rPr>
              <a:t>"</a:t>
            </a:r>
            <a:r>
              <a:rPr lang="fr-FR" dirty="0" smtClean="0"/>
              <a:t> et </a:t>
            </a:r>
            <a:r>
              <a:rPr lang="fr-FR" sz="2400" dirty="0">
                <a:latin typeface="Courier"/>
                <a:cs typeface="Courier"/>
              </a:rPr>
              <a:t>"\n"</a:t>
            </a:r>
            <a:r>
              <a:rPr lang="fr-FR" dirty="0"/>
              <a:t> codent un espace de tabulation et un retour de ligne, respectivement</a:t>
            </a:r>
            <a:r>
              <a:rPr lang="fr-FR" dirty="0" smtClean="0"/>
              <a:t>.</a:t>
            </a:r>
            <a:endParaRPr lang="fr-FR" dirty="0"/>
          </a:p>
          <a:p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66560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imprimer_grille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j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(grille)):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grille[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][j],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b="1" dirty="0">
                <a:solidFill>
                  <a:srgbClr val="BB6622"/>
                </a:solidFill>
                <a:latin typeface="Courier"/>
                <a:cs typeface="Courier"/>
              </a:rPr>
              <a:t>\t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</a:p>
          <a:p>
            <a:pPr marL="0" indent="0">
              <a:buNone/>
            </a:pPr>
            <a:r>
              <a:rPr lang="hu-HU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hu-HU" sz="1800" b="1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hu-HU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hu-HU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hu-HU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hu-HU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Exemple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imprimer_grille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ma_grille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3050773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/>
          </a:bodyPr>
          <a:lstStyle/>
          <a:p>
            <a:r>
              <a:rPr lang="fr-FR" dirty="0"/>
              <a:t>O</a:t>
            </a:r>
            <a:r>
              <a:rPr lang="fr-FR" dirty="0" smtClean="0"/>
              <a:t>n définit maintenant une </a:t>
            </a:r>
            <a:r>
              <a:rPr lang="fr-FR" dirty="0"/>
              <a:t>fonction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jouer(n)</a:t>
            </a:r>
            <a:r>
              <a:rPr lang="fr-FR" dirty="0"/>
              <a:t> qui permet de </a:t>
            </a:r>
            <a:r>
              <a:rPr lang="fr-FR" dirty="0" smtClean="0"/>
              <a:t>jouer à Puissance </a:t>
            </a:r>
            <a:r>
              <a:rPr lang="fr-FR" dirty="0"/>
              <a:t>4 sur une grille de taille </a:t>
            </a:r>
            <a:r>
              <a:rPr lang="fr-FR" dirty="0" smtClean="0"/>
              <a:t>n.</a:t>
            </a:r>
          </a:p>
          <a:p>
            <a:r>
              <a:rPr lang="fr-FR" dirty="0" smtClean="0"/>
              <a:t>On utilise </a:t>
            </a:r>
            <a:r>
              <a:rPr lang="fr-FR" dirty="0"/>
              <a:t>toutes les fonctions que l’on a </a:t>
            </a:r>
            <a:r>
              <a:rPr lang="fr-FR" dirty="0" smtClean="0"/>
              <a:t>programmées précédemment.</a:t>
            </a:r>
            <a:endParaRPr lang="fr-FR" dirty="0"/>
          </a:p>
          <a:p>
            <a:r>
              <a:rPr lang="fr-FR" dirty="0" smtClean="0"/>
              <a:t>Utilisez </a:t>
            </a:r>
            <a:r>
              <a:rPr lang="fr-FR" dirty="0"/>
              <a:t>une grande boucle </a:t>
            </a:r>
            <a:r>
              <a:rPr lang="fr-FR" dirty="0" smtClean="0"/>
              <a:t>« </a:t>
            </a:r>
            <a:r>
              <a:rPr lang="fr-FR" dirty="0" err="1" smtClean="0"/>
              <a:t>while</a:t>
            </a:r>
            <a:r>
              <a:rPr lang="fr-FR" dirty="0" smtClean="0"/>
              <a:t> » </a:t>
            </a:r>
            <a:r>
              <a:rPr lang="fr-FR" dirty="0"/>
              <a:t>qui </a:t>
            </a:r>
            <a:r>
              <a:rPr lang="fr-FR" dirty="0" smtClean="0"/>
              <a:t>demande à chaque </a:t>
            </a:r>
            <a:r>
              <a:rPr lang="fr-FR" dirty="0"/>
              <a:t>joueur de placer un </a:t>
            </a:r>
            <a:r>
              <a:rPr lang="fr-FR" dirty="0" smtClean="0"/>
              <a:t>pion à tour de rôle, jusqu’à ce </a:t>
            </a:r>
            <a:r>
              <a:rPr lang="fr-FR" dirty="0"/>
              <a:t>qu’un alignement de 4 pions soit </a:t>
            </a:r>
            <a:r>
              <a:rPr lang="fr-FR" dirty="0" smtClean="0"/>
              <a:t>trouvé dans </a:t>
            </a:r>
            <a:r>
              <a:rPr lang="fr-FR" dirty="0"/>
              <a:t>une ligne, une colonne ou une diagonale</a:t>
            </a:r>
            <a:r>
              <a:rPr lang="fr-FR" dirty="0" smtClean="0"/>
              <a:t>.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20005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jouer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""simule un jeu de taille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n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on génère la grille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G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generer_grille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imprimer_grille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chaque joueur doit jouer à son tour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...(cf.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slide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suivant)...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111190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Player 1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joue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.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..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il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doit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entrer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position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valide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...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repose la question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tant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que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position non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valide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placement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placement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pos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Joueur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1: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quelle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position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\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	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		     (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ligne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,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colonne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)?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”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pt-B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G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pos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pos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"."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G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placer_pion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,G,pos)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placement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pt-BR" sz="1800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# on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imprime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la grille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mise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à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 jour</a:t>
            </a:r>
            <a:endParaRPr lang="pt-BR" sz="1800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</a:rPr>
              <a:t>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</a:rPr>
              <a:t>imprimer_grille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(G)</a:t>
            </a:r>
          </a:p>
          <a:p>
            <a:pPr marL="0" indent="0">
              <a:buNone/>
            </a:pP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220537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On génère les lignes, colonnes, diagonales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lignes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generer_lignes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colonnes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generer_colonnes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diagonales1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generer_diagonales1(G)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diagonales2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generer_diagonales2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76335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# On examine si Player 1 gagne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# D’abord dans les lignes.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..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lignes: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l,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1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casse la boucle for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1571910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s’il n’y a pas de ligne gagnante,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# on examine les colonnes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colonnes: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c,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1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breaks the for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loop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94027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s’il n’y a pas de colonne gagnante,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# on examine les diagonales de type 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diagonales1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values():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d,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1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 »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47060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s’il n’y a pas de diagonales de type 1 gagnante,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# on examine les diagonales de type 2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diagonales2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values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d,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1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 »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272820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Si le joueur 1 n’a pas gagné,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# le joueur 2 peut jouer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il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doit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entrer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position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valide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...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repose la question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tant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que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nécéssaire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placement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placement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pos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"Joueur 2: quelle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position \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                            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ligne, colonne)?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pt-BR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            </a:t>
            </a:r>
            <a:r>
              <a:rPr lang="pt-B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G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pos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][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pos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"."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G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 err="1">
                <a:solidFill>
                  <a:prstClr val="black"/>
                </a:solidFill>
                <a:latin typeface="Courier"/>
                <a:cs typeface="Courier"/>
              </a:rPr>
              <a:t>placer_pion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,G,pos)</a:t>
            </a: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es-ES_tradnl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placement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 smtClean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    # on imprime la grille mise à jour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s-ES_tradnl" sz="1800" dirty="0" err="1" smtClean="0">
                <a:solidFill>
                  <a:prstClr val="black"/>
                </a:solidFill>
                <a:latin typeface="Courier"/>
                <a:cs typeface="Courier"/>
              </a:rPr>
              <a:t>imprimer_grille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347860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On génère les lignes, colonnes, diagonales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lignes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generer_lignes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colonnes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generer_colonnes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diagonales1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generer_diagonales1(G)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diagonales2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generer_diagonales2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(G)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09727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    # On examine si Player 2 gagne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    # D’abord dans les lignes.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..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lignes: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, l,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2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0952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s’il n’y a pas de ligne gagnante,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    # on examine les colonnes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colonnes: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2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444491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s’il n’y a pas de colonne gagnante,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    # on examine les diagonales de type 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diagonales1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values():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2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6259384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si pas de diagonales de type 1 gagnante,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    # on examine les diagonales de type 2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diagonales2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values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chercher_alignement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d,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"Player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2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wins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!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fin_du_jeu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        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317092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Puissance 4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Finalement, pour lancer le jeu sur une grille de taille N x N, il suffit d’appeler la fonction jouer(N).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Par exemple (faire démo):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smtClean="0">
                <a:solidFill>
                  <a:prstClr val="black"/>
                </a:solidFill>
                <a:latin typeface="Courier"/>
                <a:cs typeface="Courier"/>
              </a:rPr>
              <a:t>jouer(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fr-FR" sz="180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988984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8634</TotalTime>
  <Words>2304</Words>
  <Application>Microsoft Macintosh PowerPoint</Application>
  <PresentationFormat>Présentation à l'écran (4:3)</PresentationFormat>
  <Paragraphs>338</Paragraphs>
  <Slides>40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1" baseType="lpstr">
      <vt:lpstr>Médian</vt:lpstr>
      <vt:lpstr>Chapitre 11 Un exemple de programme</vt:lpstr>
      <vt:lpstr>Un exemple récapitulatif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  <vt:lpstr>Puissance 4</vt:lpstr>
    </vt:vector>
  </TitlesOfParts>
  <Company>Université de Lausanne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UNIL</cp:lastModifiedBy>
  <cp:revision>2490</cp:revision>
  <cp:lastPrinted>2011-09-18T10:53:10Z</cp:lastPrinted>
  <dcterms:created xsi:type="dcterms:W3CDTF">2002-10-22T15:56:56Z</dcterms:created>
  <dcterms:modified xsi:type="dcterms:W3CDTF">2016-12-20T15:20:45Z</dcterms:modified>
</cp:coreProperties>
</file>