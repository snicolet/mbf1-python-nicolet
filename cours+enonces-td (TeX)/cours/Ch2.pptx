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31"/>
  </p:notesMasterIdLst>
  <p:handoutMasterIdLst>
    <p:handoutMasterId r:id="rId32"/>
  </p:handoutMasterIdLst>
  <p:sldIdLst>
    <p:sldId id="375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90" r:id="rId16"/>
    <p:sldId id="389" r:id="rId17"/>
    <p:sldId id="391" r:id="rId18"/>
    <p:sldId id="393" r:id="rId19"/>
    <p:sldId id="394" r:id="rId20"/>
    <p:sldId id="392" r:id="rId21"/>
    <p:sldId id="401" r:id="rId22"/>
    <p:sldId id="403" r:id="rId23"/>
    <p:sldId id="395" r:id="rId24"/>
    <p:sldId id="402" r:id="rId25"/>
    <p:sldId id="396" r:id="rId26"/>
    <p:sldId id="398" r:id="rId27"/>
    <p:sldId id="397" r:id="rId28"/>
    <p:sldId id="400" r:id="rId29"/>
    <p:sldId id="399" r:id="rId30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CCFF"/>
    <a:srgbClr val="99FFCC"/>
    <a:srgbClr val="CCFFFF"/>
    <a:srgbClr val="FF00FF"/>
    <a:srgbClr val="FF0000"/>
    <a:srgbClr val="009900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1013"/>
  </p:normalViewPr>
  <p:slideViewPr>
    <p:cSldViewPr>
      <p:cViewPr varScale="1">
        <p:scale>
          <a:sx n="147" d="100"/>
          <a:sy n="147" d="100"/>
        </p:scale>
        <p:origin x="15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-42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CD6F964-0E01-0347-96A4-C37FEA3034E6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3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B96183-5730-AF4B-A221-215C0AAD25FC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2413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96183-5730-AF4B-A221-215C0AAD25FC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986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96183-5730-AF4B-A221-215C0AAD25FC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986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96183-5730-AF4B-A221-215C0AAD25FC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986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CH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fr-CH"/>
              <a:t>25.09.12</a:t>
            </a:r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UNIL - Informatique I</a:t>
            </a: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D2109F-C210-9F4F-BE50-DE6D04027247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4C434B-4C1C-AA4B-9FC7-3C7BDD6F6AD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A062017-3E5F-D545-803C-22C050AB822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0BA543E-D95F-E941-884E-49F19CC3D31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/>
              <a:t>UNIL - Informatique I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F22BEEB-CA8A-C040-983A-AAABE0F651E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/>
              <a:t>UNIL - Informatique I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9B8300-181C-054A-A328-E2139B9AD5F7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A05B3F-7440-4047-9795-78A3F4158249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AD62-4CC2-5B40-ACA0-2FA3AD3CFBC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C79D76C-33C8-DF41-AB83-387084CEC10B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fr-FR"/>
              <a:t>UNIL - Informatique I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CH"/>
              <a:t>Faire glisser l'image vers l'espace réservé ou cliquer sur l'icône pour l'ajouter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A849-4122-6640-96DA-97F7188E7D39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97011EA-94E7-C94D-AD82-14E12DD73888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/>
              <a:t>Cliquez pour modifier les styles du texte du masque</a:t>
            </a:r>
          </a:p>
          <a:p>
            <a:pPr lvl="1" eaLnBrk="1" latinLnBrk="0" hangingPunct="1"/>
            <a:r>
              <a:rPr kumimoji="0" lang="fr-CH"/>
              <a:t>Deuxième niveau</a:t>
            </a:r>
          </a:p>
          <a:p>
            <a:pPr lvl="2" eaLnBrk="1" latinLnBrk="0" hangingPunct="1"/>
            <a:r>
              <a:rPr kumimoji="0" lang="fr-CH"/>
              <a:t>Troisième niveau</a:t>
            </a:r>
          </a:p>
          <a:p>
            <a:pPr lvl="3" eaLnBrk="1" latinLnBrk="0" hangingPunct="1"/>
            <a:r>
              <a:rPr kumimoji="0" lang="fr-CH"/>
              <a:t>Quatrième niveau</a:t>
            </a:r>
          </a:p>
          <a:p>
            <a:pPr lvl="4" eaLnBrk="1" latinLnBrk="0" hangingPunct="1"/>
            <a:r>
              <a:rPr kumimoji="0" lang="fr-CH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CH"/>
              <a:t>25.09.12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BE7D13C-A807-CA4C-B7E6-D4B4CB6419C0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0" name="Picture 12" descr="logoBlancTransparen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130925"/>
            <a:ext cx="1152525" cy="6254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Chapitre 2</a:t>
            </a:r>
            <a:br>
              <a:rPr lang="fr-FR" dirty="0"/>
            </a:br>
            <a:r>
              <a:rPr lang="fr-FR" dirty="0"/>
              <a:t>Le concept de variable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Programmation en Python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109F-C210-9F4F-BE50-DE6D04027247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7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En programmation, une variable est un espace mémoire de l’ordinateur qui a été désigné de manière précise.</a:t>
            </a:r>
          </a:p>
          <a:p>
            <a:r>
              <a:rPr lang="fr-FR" dirty="0"/>
              <a:t>Celui-ci sert à stocker certaines valeurs dont nous avons besoin dans notre programme.</a:t>
            </a:r>
          </a:p>
          <a:p>
            <a:r>
              <a:rPr lang="fr-FR" dirty="0"/>
              <a:t>D’un autre point de vue, une variable correspond à la donnée de deux éléments :</a:t>
            </a:r>
          </a:p>
          <a:p>
            <a:pPr lvl="1"/>
            <a:r>
              <a:rPr lang="fr-FR" dirty="0"/>
              <a:t>un identifiant : le nom de la variable</a:t>
            </a:r>
          </a:p>
          <a:p>
            <a:pPr lvl="1"/>
            <a:r>
              <a:rPr lang="fr-FR" dirty="0"/>
              <a:t>une valeur : la valeur de la variable </a:t>
            </a:r>
          </a:p>
        </p:txBody>
      </p:sp>
    </p:spTree>
    <p:extLst>
      <p:ext uri="{BB962C8B-B14F-4D97-AF65-F5344CB8AC3E}">
        <p14:creationId xmlns:p14="http://schemas.microsoft.com/office/powerpoint/2010/main" val="201544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Exemple : </a:t>
            </a:r>
            <a:endParaRPr lang="fr-FR" sz="2400" b="1" dirty="0">
              <a:solidFill>
                <a:prstClr val="black"/>
              </a:solidFill>
              <a:latin typeface="Courier"/>
            </a:endParaRPr>
          </a:p>
          <a:p>
            <a:pPr marL="320040" lvl="1" indent="0">
              <a:buNone/>
            </a:pPr>
            <a:r>
              <a:rPr lang="fr-FR" sz="2400" dirty="0">
                <a:solidFill>
                  <a:prstClr val="black"/>
                </a:solidFill>
                <a:latin typeface="Courier"/>
              </a:rPr>
              <a:t>&gt;&gt;&gt; x </a:t>
            </a:r>
            <a:r>
              <a:rPr lang="fr-FR" sz="24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24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2400" dirty="0">
                <a:solidFill>
                  <a:srgbClr val="666666"/>
                </a:solidFill>
                <a:latin typeface="Courier"/>
              </a:rPr>
              <a:t>3</a:t>
            </a:r>
            <a:endParaRPr lang="fr-FR" sz="2400" dirty="0">
              <a:solidFill>
                <a:prstClr val="black"/>
              </a:solidFill>
              <a:latin typeface="Courier"/>
            </a:endParaRPr>
          </a:p>
          <a:p>
            <a:r>
              <a:rPr lang="fr-FR" dirty="0"/>
              <a:t>Dans ce cas, on définit une variable dont l’identifiant est x et la valeur est 3.</a:t>
            </a:r>
          </a:p>
          <a:p>
            <a:r>
              <a:rPr lang="fr-FR" dirty="0"/>
              <a:t>La variable est en fait un espace mémoire précis de l’ordinateur. On peut retrouver l’adresse ce cet espace mémoire :</a:t>
            </a:r>
          </a:p>
          <a:p>
            <a:pPr marL="320040" lvl="1" indent="0">
              <a:buNone/>
            </a:pPr>
            <a:r>
              <a:rPr lang="fr-FR" sz="2400" dirty="0">
                <a:solidFill>
                  <a:srgbClr val="000000"/>
                </a:solidFill>
                <a:latin typeface="Courier"/>
                <a:cs typeface="Courier"/>
              </a:rPr>
              <a:t>&gt;&gt;&gt;</a:t>
            </a:r>
            <a:r>
              <a:rPr lang="fr-FR" sz="2400" dirty="0">
                <a:solidFill>
                  <a:srgbClr val="008000"/>
                </a:solidFill>
                <a:latin typeface="Courier"/>
                <a:cs typeface="Courier"/>
              </a:rPr>
              <a:t> id</a:t>
            </a:r>
            <a:r>
              <a:rPr lang="fr-FR" sz="2400" dirty="0">
                <a:solidFill>
                  <a:prstClr val="black"/>
                </a:solidFill>
                <a:latin typeface="Courier"/>
                <a:cs typeface="Courier"/>
              </a:rPr>
              <a:t>(x)</a:t>
            </a:r>
          </a:p>
          <a:p>
            <a:pPr marL="320040" lvl="1" indent="0">
              <a:buNone/>
            </a:pPr>
            <a:r>
              <a:rPr lang="is-IS" sz="2400" dirty="0">
                <a:latin typeface="Courier"/>
                <a:cs typeface="Courier"/>
              </a:rPr>
              <a:t>4297546624</a:t>
            </a:r>
            <a:endParaRPr lang="fr-FR" sz="24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01294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L’identifiant correspond à un lien d’accès vers la case mémoire no 4297546624.</a:t>
            </a:r>
          </a:p>
          <a:p>
            <a:r>
              <a:rPr lang="fr-FR" dirty="0"/>
              <a:t>La valeur 3 de la variable correspond au contenu de la case mémoire no 4297546624.</a:t>
            </a:r>
          </a:p>
          <a:p>
            <a:r>
              <a:rPr lang="fr-FR" dirty="0"/>
              <a:t>Par abus de langage, on confondra la variable avec son nom. On parlera alors de la variable x dont la valeur est 3.</a:t>
            </a:r>
          </a:p>
        </p:txBody>
      </p:sp>
    </p:spTree>
    <p:extLst>
      <p:ext uri="{BB962C8B-B14F-4D97-AF65-F5344CB8AC3E}">
        <p14:creationId xmlns:p14="http://schemas.microsoft.com/office/powerpoint/2010/main" val="372224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Contrairement au cas des mathématiques, en programmation, la valeur d’une variable peut (justement) varier au cours de l’exécution d’un programme.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2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x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2</a:t>
            </a:r>
          </a:p>
          <a:p>
            <a:pPr marL="0" indent="0">
              <a:buNone/>
            </a:pPr>
            <a:r>
              <a:rPr lang="sk-SK" sz="1800" dirty="0">
                <a:solidFill>
                  <a:prstClr val="black"/>
                </a:solidFill>
                <a:latin typeface="Courier"/>
              </a:rPr>
              <a:t>&gt;&gt;&gt; x </a:t>
            </a:r>
            <a:r>
              <a:rPr lang="sk-SK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sk-SK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sk-SK" sz="1800" dirty="0">
                <a:solidFill>
                  <a:srgbClr val="BA2121"/>
                </a:solidFill>
                <a:latin typeface="Courier"/>
              </a:rPr>
              <a:t>"bonjour"</a:t>
            </a:r>
            <a:endParaRPr lang="sk-SK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sk-SK" sz="1800" dirty="0">
                <a:solidFill>
                  <a:srgbClr val="000000"/>
                </a:solidFill>
                <a:latin typeface="Courier"/>
              </a:rPr>
              <a:t>&gt;&gt;&gt;</a:t>
            </a:r>
            <a:r>
              <a:rPr lang="sk-SK" sz="18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sk-SK" sz="1800" dirty="0">
                <a:solidFill>
                  <a:prstClr val="black"/>
                </a:solidFill>
                <a:latin typeface="Courier"/>
              </a:rPr>
              <a:t>x</a:t>
            </a:r>
          </a:p>
          <a:p>
            <a:pPr marL="0" indent="0">
              <a:buNone/>
            </a:pPr>
            <a:r>
              <a:rPr lang="uk-UA" sz="1800" dirty="0">
                <a:latin typeface="Courier"/>
                <a:cs typeface="Courier"/>
              </a:rPr>
              <a:t>'</a:t>
            </a:r>
            <a:r>
              <a:rPr lang="sk-SK" sz="1800" dirty="0">
                <a:solidFill>
                  <a:prstClr val="black"/>
                </a:solidFill>
                <a:latin typeface="Courier"/>
              </a:rPr>
              <a:t>bonjour</a:t>
            </a:r>
            <a:r>
              <a:rPr lang="uk-UA" sz="1800" dirty="0">
                <a:latin typeface="Courier"/>
                <a:cs typeface="Courier"/>
              </a:rPr>
              <a:t>'</a:t>
            </a:r>
            <a:endParaRPr lang="sk-SK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/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93707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En Python, le nom d’une variable doit commencer par une lettre et ne comportera jamais d’espace.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ma_variable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2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ma_variable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2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hr-HR" sz="1800" dirty="0">
                <a:solidFill>
                  <a:prstClr val="black"/>
                </a:solidFill>
                <a:latin typeface="Courier"/>
              </a:rPr>
              <a:t>x1749 </a:t>
            </a:r>
            <a:r>
              <a:rPr lang="hr-H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hr-H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hr-HR" sz="1800" dirty="0">
                <a:solidFill>
                  <a:srgbClr val="666666"/>
                </a:solidFill>
                <a:latin typeface="Courier"/>
              </a:rPr>
              <a:t>3.5</a:t>
            </a:r>
            <a:endParaRPr lang="hr-H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ma_varibale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File "&lt;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stdin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&gt;", line 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de-DE" sz="1800" dirty="0">
                <a:solidFill>
                  <a:srgbClr val="FF0000"/>
                </a:solidFill>
                <a:latin typeface="Courier"/>
                <a:cs typeface="Courier"/>
              </a:rPr>
              <a:t>    1ma_variable = 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de-DE" sz="1800" dirty="0">
                <a:solidFill>
                  <a:srgbClr val="FF0000"/>
                </a:solidFill>
                <a:latin typeface="Courier"/>
                <a:cs typeface="Courier"/>
              </a:rPr>
              <a:t>               ^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de-DE" sz="1800" dirty="0" err="1">
                <a:solidFill>
                  <a:srgbClr val="FF0000"/>
                </a:solidFill>
                <a:latin typeface="Courier"/>
                <a:cs typeface="Courier"/>
              </a:rPr>
              <a:t>SyntaxError</a:t>
            </a:r>
            <a:r>
              <a:rPr lang="de-DE" sz="1800" dirty="0">
                <a:solidFill>
                  <a:srgbClr val="FF0000"/>
                </a:solidFill>
                <a:latin typeface="Courier"/>
                <a:cs typeface="Courier"/>
              </a:rPr>
              <a:t>: invalid </a:t>
            </a:r>
            <a:r>
              <a:rPr lang="de-DE" sz="1800" dirty="0" err="1">
                <a:solidFill>
                  <a:srgbClr val="FF0000"/>
                </a:solidFill>
                <a:latin typeface="Courier"/>
                <a:cs typeface="Courier"/>
              </a:rPr>
              <a:t>syntax</a:t>
            </a:r>
            <a:endParaRPr lang="fr-FR" sz="1800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890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L’affectation directe consiste à assigner un certain nom de variable à un certaine valeur </a:t>
            </a:r>
            <a:r>
              <a:rPr lang="fr-FR" dirty="0" err="1"/>
              <a:t>littérale</a:t>
            </a:r>
            <a:r>
              <a:rPr lang="fr-FR" dirty="0"/>
              <a:t> (</a:t>
            </a:r>
            <a:r>
              <a:rPr lang="fr-FR" dirty="0" err="1"/>
              <a:t>numérique</a:t>
            </a:r>
            <a:r>
              <a:rPr lang="fr-FR" dirty="0"/>
              <a:t>, textuelle ou </a:t>
            </a:r>
            <a:r>
              <a:rPr lang="fr-FR" dirty="0" err="1"/>
              <a:t>booléenne</a:t>
            </a:r>
            <a:r>
              <a:rPr lang="fr-FR" dirty="0"/>
              <a:t>). </a:t>
            </a:r>
          </a:p>
          <a:p>
            <a:r>
              <a:rPr lang="fr-FR" dirty="0"/>
              <a:t>La syntaxe de cette instruction d’affectation est la suivante: </a:t>
            </a:r>
          </a:p>
          <a:p>
            <a:pPr marL="0" indent="0" algn="ctr">
              <a:buNone/>
            </a:pP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&lt;variable&gt; = &lt;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littéral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&gt;</a:t>
            </a:r>
          </a:p>
          <a:p>
            <a:r>
              <a:rPr lang="fr-FR" dirty="0"/>
              <a:t>Dans ce cas, le signe « = » n’a aucune valeur arithmétique. Il signifie « prend la valeur... ».</a:t>
            </a:r>
          </a:p>
          <a:p>
            <a:r>
              <a:rPr lang="fr-FR" dirty="0"/>
              <a:t>Le processus d’affectation s’effectue de droite à gauche!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114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2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hr-HR" sz="1800" dirty="0">
                <a:solidFill>
                  <a:prstClr val="black"/>
                </a:solidFill>
                <a:latin typeface="Courier"/>
              </a:rPr>
              <a:t>y </a:t>
            </a:r>
            <a:r>
              <a:rPr lang="hr-H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hr-H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hr-HR" sz="1800" dirty="0">
                <a:solidFill>
                  <a:srgbClr val="666666"/>
                </a:solidFill>
                <a:latin typeface="Courier"/>
              </a:rPr>
              <a:t>3.5</a:t>
            </a:r>
            <a:endParaRPr lang="hr-H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x 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 y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x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</a:rPr>
              <a:t>3.5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y</a:t>
            </a:r>
            <a:endParaRPr lang="fr-FR" dirty="0"/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3.5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</a:t>
            </a:r>
          </a:p>
          <a:p>
            <a:r>
              <a:rPr lang="fr-FR" dirty="0">
                <a:solidFill>
                  <a:prstClr val="black"/>
                </a:solidFill>
              </a:rPr>
              <a:t>En effet, nous avons affecté à x la valeur de y.</a:t>
            </a:r>
          </a:p>
          <a:p>
            <a:r>
              <a:rPr lang="fr-FR" dirty="0">
                <a:solidFill>
                  <a:prstClr val="black"/>
                </a:solidFill>
              </a:rPr>
              <a:t>Donc c’est la valeur de x qui a changé.</a:t>
            </a:r>
          </a:p>
        </p:txBody>
      </p:sp>
    </p:spTree>
    <p:extLst>
      <p:ext uri="{BB962C8B-B14F-4D97-AF65-F5344CB8AC3E}">
        <p14:creationId xmlns:p14="http://schemas.microsoft.com/office/powerpoint/2010/main" val="11901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2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y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"bonjour"</a:t>
            </a:r>
            <a:endParaRPr lang="hr-H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y 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 x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x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</a:rPr>
              <a:t>2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y</a:t>
            </a:r>
            <a:endParaRPr lang="fr-FR" dirty="0"/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2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</a:t>
            </a:r>
          </a:p>
          <a:p>
            <a:r>
              <a:rPr lang="fr-FR" dirty="0">
                <a:solidFill>
                  <a:prstClr val="black"/>
                </a:solidFill>
              </a:rPr>
              <a:t>En effet, nous avons affecté à y la valeur de x.</a:t>
            </a:r>
          </a:p>
          <a:p>
            <a:r>
              <a:rPr lang="fr-FR" dirty="0">
                <a:solidFill>
                  <a:prstClr val="black"/>
                </a:solidFill>
              </a:rPr>
              <a:t>Donc c’est la valeur de y qui a changé.</a:t>
            </a:r>
          </a:p>
        </p:txBody>
      </p:sp>
    </p:spTree>
    <p:extLst>
      <p:ext uri="{BB962C8B-B14F-4D97-AF65-F5344CB8AC3E}">
        <p14:creationId xmlns:p14="http://schemas.microsoft.com/office/powerpoint/2010/main" val="183113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L’affectation simple consiste à assigner un certain nom de variable à un certaine expression. </a:t>
            </a:r>
          </a:p>
          <a:p>
            <a:r>
              <a:rPr lang="fr-FR" dirty="0"/>
              <a:t>La syntaxe de cette instruction d’affectation est la suivante: </a:t>
            </a:r>
          </a:p>
          <a:p>
            <a:pPr marL="0" indent="0" algn="ctr">
              <a:buNone/>
            </a:pP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&lt;variable&gt; = &lt;expression&gt;</a:t>
            </a:r>
          </a:p>
          <a:p>
            <a:r>
              <a:rPr lang="fr-FR" dirty="0"/>
              <a:t>Comme avant, le signe « = » n’a aucune valeur arithmétique. Il signifie « prend la valeur... ».</a:t>
            </a:r>
          </a:p>
          <a:p>
            <a:r>
              <a:rPr lang="fr-FR" dirty="0"/>
              <a:t>Le processus d’affectation s’effectue de droite à gauche</a:t>
            </a:r>
            <a:r>
              <a:rPr lang="is-IS" dirty="0"/>
              <a:t>…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187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x = 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2.2 </a:t>
            </a:r>
            <a:r>
              <a:rPr lang="fr-FR" sz="1800" dirty="0">
                <a:latin typeface="Courier"/>
                <a:cs typeface="Courier"/>
              </a:rPr>
              <a:t>**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 3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/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x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2.129600000000001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longueur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2.5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largeur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3.5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surface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longueur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largeur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surface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8.75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jour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"2 juin"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i-FI" sz="1800" dirty="0" err="1">
                <a:solidFill>
                  <a:prstClr val="black"/>
                </a:solidFill>
                <a:latin typeface="Courier"/>
                <a:cs typeface="Courier"/>
              </a:rPr>
              <a:t>annee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i-FI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i-FI" sz="1800" dirty="0">
                <a:solidFill>
                  <a:srgbClr val="BA2121"/>
                </a:solidFill>
                <a:latin typeface="Courier"/>
                <a:cs typeface="Courier"/>
              </a:rPr>
              <a:t>"2002"</a:t>
            </a:r>
            <a:endParaRPr lang="fi-FI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date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"le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jour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annee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date</a:t>
            </a:r>
          </a:p>
          <a:p>
            <a:pPr marL="0" indent="0">
              <a:buNone/>
            </a:pPr>
            <a:r>
              <a:rPr lang="uk-UA" sz="1800" dirty="0">
                <a:latin typeface="Courier"/>
                <a:cs typeface="Courier"/>
              </a:rPr>
              <a:t>'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le 2 juin 2002</a:t>
            </a:r>
            <a:r>
              <a:rPr lang="uk-UA" sz="1800" dirty="0">
                <a:latin typeface="Courier"/>
                <a:cs typeface="Courier"/>
              </a:rPr>
              <a:t>'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87053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L’affectation composée consiste à assigner un certain nom de variable à un certaine expression comportant le nom de la variable elle-même. </a:t>
            </a:r>
          </a:p>
          <a:p>
            <a:r>
              <a:rPr lang="fr-FR" dirty="0"/>
              <a:t>La syntaxe de cette instruction d’affectation est la suivante: </a:t>
            </a:r>
          </a:p>
          <a:p>
            <a:pPr marL="0" indent="0" algn="ctr">
              <a:buNone/>
            </a:pP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&lt;variable&gt; = &lt;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expression_avec_variable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&gt;</a:t>
            </a:r>
          </a:p>
          <a:p>
            <a:r>
              <a:rPr lang="fr-FR" dirty="0"/>
              <a:t>Ce processus est très utilisé en programmation.</a:t>
            </a:r>
          </a:p>
          <a:p>
            <a:r>
              <a:rPr lang="fr-FR" dirty="0"/>
              <a:t>Comme avant, le processus d’affectation s’effectue de droite à gauche</a:t>
            </a:r>
            <a:r>
              <a:rPr lang="is-IS" dirty="0"/>
              <a:t>…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567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0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</a:rPr>
              <a:t>&gt;&gt;&gt; x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x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+ 1</a:t>
            </a:r>
            <a:endParaRPr lang="it-IT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</a:rPr>
              <a:t>&gt;&gt;&gt; x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</a:rPr>
              <a:t>1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</a:rPr>
              <a:t>&gt;&gt;&gt;</a:t>
            </a:r>
          </a:p>
          <a:p>
            <a:r>
              <a:rPr lang="fr-FR" dirty="0">
                <a:solidFill>
                  <a:prstClr val="black"/>
                </a:solidFill>
              </a:rPr>
              <a:t>Il faut comprendre : la nouvelle valeur de x correspond à l’ancienne valeur incrémentée de 1.</a:t>
            </a:r>
          </a:p>
          <a:p>
            <a:r>
              <a:rPr lang="fr-FR" dirty="0">
                <a:solidFill>
                  <a:prstClr val="black"/>
                </a:solidFill>
              </a:rPr>
              <a:t>On écrit aussi cela : </a:t>
            </a:r>
            <a:r>
              <a:rPr lang="fr-FR" sz="2400" dirty="0">
                <a:solidFill>
                  <a:prstClr val="black"/>
                </a:solidFill>
                <a:latin typeface="Courier"/>
                <a:cs typeface="Courier"/>
              </a:rPr>
              <a:t>x += </a:t>
            </a:r>
            <a:r>
              <a:rPr lang="it-IT" sz="2400" dirty="0">
                <a:solidFill>
                  <a:srgbClr val="666666"/>
                </a:solidFill>
                <a:latin typeface="Courier"/>
              </a:rPr>
              <a:t>1</a:t>
            </a:r>
            <a:endParaRPr lang="fr-FR" sz="24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99463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 3	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peut aussi écrire x *= 3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x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3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** 4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peut aussi écrire x **= 4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x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81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/ 2	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peut aussi écrire x /= 2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x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40.5</a:t>
            </a: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x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(x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* 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x)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/ 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(x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- 1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x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41.</a:t>
            </a:r>
            <a:r>
              <a:rPr lang="is-IS" sz="1800" dirty="0">
                <a:latin typeface="Courier"/>
                <a:cs typeface="Courier"/>
              </a:rPr>
              <a:t>5253164556962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2143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d’une variable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chaine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"Tex"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chaine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chaine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chaine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chaine</a:t>
            </a:r>
          </a:p>
          <a:p>
            <a:pPr marL="0" indent="0">
              <a:buNone/>
            </a:pPr>
            <a:r>
              <a:rPr lang="uk-UA" sz="1800" dirty="0">
                <a:latin typeface="Courier"/>
                <a:cs typeface="Courier"/>
              </a:rPr>
              <a:t>'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TexTex</a:t>
            </a:r>
            <a:r>
              <a:rPr lang="uk-UA" sz="1800" dirty="0">
                <a:latin typeface="Courier"/>
                <a:cs typeface="Courier"/>
              </a:rPr>
              <a:t>'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chaine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chaine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peut écrire chaine *= 3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chaine</a:t>
            </a:r>
          </a:p>
          <a:p>
            <a:pPr marL="0" indent="0">
              <a:buNone/>
            </a:pPr>
            <a:r>
              <a:rPr lang="uk-UA" sz="1800" dirty="0">
                <a:latin typeface="Courier"/>
                <a:cs typeface="Courier"/>
              </a:rPr>
              <a:t>'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TexTexTexTexTexTex</a:t>
            </a:r>
            <a:r>
              <a:rPr lang="uk-UA" sz="1800" dirty="0">
                <a:latin typeface="Courier"/>
                <a:cs typeface="Courier"/>
              </a:rPr>
              <a:t>'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25814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de variables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L’affectation simultanée consiste à assigner plusieurs noms de variables à plusieurs valeurs ou expressions. </a:t>
            </a:r>
          </a:p>
          <a:p>
            <a:r>
              <a:rPr lang="fr-FR" dirty="0"/>
              <a:t>La syntaxe de cette instruction d’affectation est la suivante: </a:t>
            </a:r>
          </a:p>
          <a:p>
            <a:pPr marL="0" indent="0" algn="ctr">
              <a:buNone/>
            </a:pP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&lt;var_1&gt;,</a:t>
            </a: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...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,&lt;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var_k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&gt; = &lt;exp_1&gt;,</a:t>
            </a: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...,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&lt;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exp_k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&gt;</a:t>
            </a:r>
          </a:p>
          <a:p>
            <a:r>
              <a:rPr lang="fr-CH" dirty="0"/>
              <a:t>Les variables et expressions correspondantes sont séparées par des virgules.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014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de variables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&gt;&gt;&gt; x, y, z 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2.5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s-ES_tradnl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s-ES_tradnl" sz="1800" dirty="0" err="1">
                <a:solidFill>
                  <a:srgbClr val="BA2121"/>
                </a:solidFill>
                <a:latin typeface="Courier"/>
                <a:cs typeface="Courier"/>
              </a:rPr>
              <a:t>bonjour</a:t>
            </a:r>
            <a:r>
              <a:rPr lang="es-ES_tradnl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s-ES_tradnl" sz="1800" b="1" dirty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es-ES_trad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&gt;&gt;&gt; x, y, z</a:t>
            </a: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2.5 </a:t>
            </a:r>
            <a:r>
              <a:rPr lang="es-ES_tradnl" sz="1800" dirty="0" err="1">
                <a:solidFill>
                  <a:prstClr val="black"/>
                </a:solidFill>
                <a:latin typeface="Courier"/>
                <a:cs typeface="Courier"/>
              </a:rPr>
              <a:t>bonjour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True</a:t>
            </a: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s-ES_tradnl" sz="1800" dirty="0" err="1">
                <a:solidFill>
                  <a:prstClr val="black"/>
                </a:solidFill>
                <a:latin typeface="Courier"/>
                <a:cs typeface="Courier"/>
              </a:rPr>
              <a:t>prenom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s-ES_tradnl" sz="1800" dirty="0" err="1">
                <a:solidFill>
                  <a:prstClr val="black"/>
                </a:solidFill>
                <a:latin typeface="Courier"/>
                <a:cs typeface="Courier"/>
              </a:rPr>
              <a:t>nom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>
                <a:solidFill>
                  <a:srgbClr val="BA2121"/>
                </a:solidFill>
                <a:latin typeface="Courier"/>
                <a:cs typeface="Courier"/>
              </a:rPr>
              <a:t>"Alma"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s-ES_tradnl" sz="1800" dirty="0">
                <a:solidFill>
                  <a:srgbClr val="BA2121"/>
                </a:solidFill>
                <a:latin typeface="Courier"/>
                <a:cs typeface="Courier"/>
              </a:rPr>
              <a:t>"C."</a:t>
            </a:r>
            <a:endParaRPr lang="es-ES_trad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"Bonjour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prenom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nom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 "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"!"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*3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Bonjour Alma C. !!!</a:t>
            </a:r>
          </a:p>
        </p:txBody>
      </p:sp>
    </p:spTree>
    <p:extLst>
      <p:ext uri="{BB962C8B-B14F-4D97-AF65-F5344CB8AC3E}">
        <p14:creationId xmlns:p14="http://schemas.microsoft.com/office/powerpoint/2010/main" val="222352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Compilation de fichiers Python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Désormais, nous allons arrêter de coder en mode purement interactif, via l’invite de commandes.</a:t>
            </a:r>
          </a:p>
          <a:p>
            <a:r>
              <a:rPr lang="fr-FR" dirty="0"/>
              <a:t>Nous allons créer programmes Python qui se trouvent dans des fichiers, afin de pouvoir les sauvegarder et les réutiliser plus tard.</a:t>
            </a:r>
          </a:p>
          <a:p>
            <a:r>
              <a:rPr lang="fr-FR" dirty="0"/>
              <a:t>Pour cela, utilisez un éditeur de type Notepad++. Une fois votre code écrit, sauvegardez votre fichier au format « .</a:t>
            </a:r>
            <a:r>
              <a:rPr lang="fr-FR" dirty="0" err="1"/>
              <a:t>py</a:t>
            </a:r>
            <a:r>
              <a:rPr lang="fr-FR" dirty="0"/>
              <a:t> », qui correspond à du code Python. </a:t>
            </a:r>
          </a:p>
        </p:txBody>
      </p:sp>
    </p:spTree>
    <p:extLst>
      <p:ext uri="{BB962C8B-B14F-4D97-AF65-F5344CB8AC3E}">
        <p14:creationId xmlns:p14="http://schemas.microsoft.com/office/powerpoint/2010/main" val="320902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Compilation de fichiers Python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Une fois votre fichier sauvegardé, avec votre invite de commande, placez-vous dans le répertoire dans lequel se trouve votre fichier.</a:t>
            </a:r>
          </a:p>
          <a:p>
            <a:r>
              <a:rPr lang="fr-FR" dirty="0"/>
              <a:t>Pour compiler et exécuter votre programme Python, taper la commande</a:t>
            </a:r>
          </a:p>
          <a:p>
            <a:pPr marL="0" indent="0" algn="ctr">
              <a:buNone/>
            </a:pP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python 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nom_fichier.py</a:t>
            </a:r>
            <a:endParaRPr lang="fr-FR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r>
              <a:rPr lang="fr-FR" dirty="0"/>
              <a:t>Votre programme Python s’exécute alors dans votre invite de commandes.</a:t>
            </a:r>
          </a:p>
        </p:txBody>
      </p:sp>
    </p:spTree>
    <p:extLst>
      <p:ext uri="{BB962C8B-B14F-4D97-AF65-F5344CB8AC3E}">
        <p14:creationId xmlns:p14="http://schemas.microsoft.com/office/powerpoint/2010/main" val="422625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Instructions d’entrée-sortie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76072" indent="-457200"/>
            <a:r>
              <a:rPr lang="fr-FR" dirty="0"/>
              <a:t>Pour implémenter une « instruction d’entrée », i.e., une capture d’information qui va de l'utilisateur vers l'application, on utilise les fonctions :</a:t>
            </a:r>
          </a:p>
          <a:p>
            <a:pPr marL="118872" indent="0" algn="ctr">
              <a:buNone/>
            </a:pPr>
            <a:r>
              <a:rPr lang="fr-FR" sz="2400" dirty="0">
                <a:solidFill>
                  <a:srgbClr val="008000"/>
                </a:solidFill>
                <a:latin typeface="Courier"/>
              </a:rPr>
              <a:t>input</a:t>
            </a:r>
            <a:r>
              <a:rPr lang="fr-FR" sz="24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2400" dirty="0">
                <a:solidFill>
                  <a:srgbClr val="BA2121"/>
                </a:solidFill>
                <a:latin typeface="Courier"/>
              </a:rPr>
              <a:t>&lt;message&gt;</a:t>
            </a:r>
            <a:r>
              <a:rPr lang="fr-FR" sz="2400" dirty="0">
                <a:solidFill>
                  <a:prstClr val="black"/>
                </a:solidFill>
                <a:latin typeface="Courier"/>
              </a:rPr>
              <a:t>)</a:t>
            </a:r>
            <a:r>
              <a:rPr lang="fr-FR" sz="24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fr-FR" dirty="0">
                <a:solidFill>
                  <a:srgbClr val="000000"/>
                </a:solidFill>
              </a:rPr>
              <a:t>et</a:t>
            </a:r>
            <a:r>
              <a:rPr lang="fr-FR" sz="24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fr-FR" sz="2400" dirty="0" err="1">
                <a:solidFill>
                  <a:srgbClr val="008000"/>
                </a:solidFill>
                <a:latin typeface="Courier"/>
              </a:rPr>
              <a:t>raw_input</a:t>
            </a:r>
            <a:r>
              <a:rPr lang="fr-FR" sz="24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2400" dirty="0">
                <a:solidFill>
                  <a:srgbClr val="BA2121"/>
                </a:solidFill>
                <a:latin typeface="Courier"/>
              </a:rPr>
              <a:t>&lt;message&gt;</a:t>
            </a:r>
            <a:r>
              <a:rPr lang="fr-FR" sz="24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576072" indent="-457200"/>
            <a:r>
              <a:rPr lang="fr-FR" dirty="0"/>
              <a:t>En mode interactif, ces fonctions affichent dans l’invite de commandes la chaîne de caractères </a:t>
            </a:r>
            <a:r>
              <a:rPr lang="fr-FR" sz="2400" dirty="0">
                <a:latin typeface="Courier"/>
                <a:cs typeface="Courier"/>
              </a:rPr>
              <a:t>&lt;message&gt;</a:t>
            </a:r>
            <a:r>
              <a:rPr lang="fr-FR" dirty="0"/>
              <a:t>, attendent que l’utilisateur tape quelque chose à la suite de </a:t>
            </a:r>
            <a:r>
              <a:rPr lang="fr-FR" sz="2400" dirty="0">
                <a:latin typeface="Courier"/>
                <a:cs typeface="Courier"/>
              </a:rPr>
              <a:t>&lt;message&gt;</a:t>
            </a:r>
            <a:r>
              <a:rPr lang="fr-FR" dirty="0"/>
              <a:t> (suivi de « Enter »), et retournent ce quelque chose.</a:t>
            </a:r>
          </a:p>
        </p:txBody>
      </p:sp>
    </p:spTree>
    <p:extLst>
      <p:ext uri="{BB962C8B-B14F-4D97-AF65-F5344CB8AC3E}">
        <p14:creationId xmlns:p14="http://schemas.microsoft.com/office/powerpoint/2010/main" val="236204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Instructions d’entrée-sortie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76072" indent="-457200"/>
            <a:r>
              <a:rPr lang="fr-FR" dirty="0"/>
              <a:t>En Python2, la fonction </a:t>
            </a:r>
            <a:r>
              <a:rPr lang="fr-FR" sz="2400" dirty="0" err="1">
                <a:solidFill>
                  <a:srgbClr val="008000"/>
                </a:solidFill>
                <a:latin typeface="Courier"/>
              </a:rPr>
              <a:t>raw_input</a:t>
            </a:r>
            <a:r>
              <a:rPr lang="fr-FR" sz="2400" dirty="0">
                <a:solidFill>
                  <a:srgbClr val="008000"/>
                </a:solidFill>
                <a:latin typeface="Courier"/>
              </a:rPr>
              <a:t>()</a:t>
            </a:r>
            <a:r>
              <a:rPr lang="fr-FR" dirty="0"/>
              <a:t> retourne toujours une chaîne de caractères.</a:t>
            </a:r>
          </a:p>
          <a:p>
            <a:pPr marL="576072" indent="-457200"/>
            <a:r>
              <a:rPr lang="fr-FR" dirty="0"/>
              <a:t>La fonction </a:t>
            </a:r>
            <a:r>
              <a:rPr lang="fr-FR" sz="2400" dirty="0">
                <a:solidFill>
                  <a:srgbClr val="008000"/>
                </a:solidFill>
                <a:latin typeface="Courier"/>
              </a:rPr>
              <a:t>input()</a:t>
            </a:r>
            <a:r>
              <a:rPr lang="fr-FR" dirty="0"/>
              <a:t> peut deviner le type de ce qui est entré par l’utilisateur.</a:t>
            </a:r>
          </a:p>
          <a:p>
            <a:pPr marL="896112" lvl="1" indent="-457200"/>
            <a:r>
              <a:rPr lang="fr-FR" dirty="0"/>
              <a:t>Si c’est un nombre, elle retourne un nombre</a:t>
            </a:r>
          </a:p>
          <a:p>
            <a:pPr marL="896112" lvl="1" indent="-457200"/>
            <a:r>
              <a:rPr lang="fr-FR" dirty="0"/>
              <a:t>Si c’est une chaîne, elle retourne une chaîne</a:t>
            </a:r>
          </a:p>
          <a:p>
            <a:pPr marL="896112" lvl="1" indent="-457200"/>
            <a:r>
              <a:rPr lang="fr-FR" dirty="0"/>
              <a:t>Si c’est une liste, un </a:t>
            </a:r>
            <a:r>
              <a:rPr lang="fr-FR" dirty="0" err="1"/>
              <a:t>tuple</a:t>
            </a:r>
            <a:r>
              <a:rPr lang="fr-FR" dirty="0"/>
              <a:t> ou un dico, elle retourne une liste, un </a:t>
            </a:r>
            <a:r>
              <a:rPr lang="fr-FR" dirty="0" err="1"/>
              <a:t>tuple</a:t>
            </a:r>
            <a:r>
              <a:rPr lang="fr-FR" dirty="0"/>
              <a:t> ou un dico (cf. chapitres suivants)</a:t>
            </a:r>
          </a:p>
        </p:txBody>
      </p:sp>
    </p:spTree>
    <p:extLst>
      <p:ext uri="{BB962C8B-B14F-4D97-AF65-F5344CB8AC3E}">
        <p14:creationId xmlns:p14="http://schemas.microsoft.com/office/powerpoint/2010/main" val="255028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Instructions d’entrée-sortie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76072" indent="-457200"/>
            <a:r>
              <a:rPr lang="fr-FR" dirty="0"/>
              <a:t>En Python 3, la fonction </a:t>
            </a:r>
            <a:r>
              <a:rPr lang="fr-FR" sz="2400" dirty="0" err="1">
                <a:solidFill>
                  <a:srgbClr val="008000"/>
                </a:solidFill>
                <a:latin typeface="Courier"/>
              </a:rPr>
              <a:t>raw_input</a:t>
            </a:r>
            <a:r>
              <a:rPr lang="fr-FR" sz="2400" dirty="0">
                <a:solidFill>
                  <a:srgbClr val="008000"/>
                </a:solidFill>
                <a:latin typeface="Courier"/>
              </a:rPr>
              <a:t>()</a:t>
            </a:r>
            <a:r>
              <a:rPr lang="fr-FR" dirty="0"/>
              <a:t> n’existe plus, seule la fonction </a:t>
            </a:r>
            <a:r>
              <a:rPr lang="fr-FR" sz="2400" dirty="0">
                <a:solidFill>
                  <a:srgbClr val="008000"/>
                </a:solidFill>
                <a:latin typeface="Courier"/>
              </a:rPr>
              <a:t>input()</a:t>
            </a:r>
            <a:r>
              <a:rPr lang="fr-FR" dirty="0"/>
              <a:t> demeure.</a:t>
            </a:r>
          </a:p>
          <a:p>
            <a:pPr marL="576072" indent="-457200"/>
            <a:r>
              <a:rPr lang="fr-FR" dirty="0"/>
              <a:t>Et cette fonction </a:t>
            </a:r>
            <a:r>
              <a:rPr lang="fr-FR" sz="2600" dirty="0">
                <a:solidFill>
                  <a:srgbClr val="008000"/>
                </a:solidFill>
                <a:latin typeface="Courier"/>
              </a:rPr>
              <a:t>input()</a:t>
            </a:r>
            <a:r>
              <a:rPr lang="fr-FR" dirty="0"/>
              <a:t> convertit tout en chaîne de caractères.</a:t>
            </a:r>
          </a:p>
        </p:txBody>
      </p:sp>
    </p:spTree>
    <p:extLst>
      <p:ext uri="{BB962C8B-B14F-4D97-AF65-F5344CB8AC3E}">
        <p14:creationId xmlns:p14="http://schemas.microsoft.com/office/powerpoint/2010/main" val="324480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Instructions d’entrée-sortie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04622" indent="-285750"/>
            <a:r>
              <a:rPr lang="fr-FR" dirty="0"/>
              <a:t>En mode interactif, ces fonctions ne sont pas très intéressantes</a:t>
            </a:r>
            <a:r>
              <a:rPr lang="is-IS" dirty="0"/>
              <a:t>…</a:t>
            </a:r>
            <a:endParaRPr lang="fr-FR" dirty="0">
              <a:solidFill>
                <a:srgbClr val="000000"/>
              </a:solidFill>
              <a:cs typeface="Courier"/>
            </a:endParaRPr>
          </a:p>
          <a:p>
            <a:pPr marL="118872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"Bonjour: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118872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Bonjour: </a:t>
            </a:r>
            <a:r>
              <a:rPr lang="fr-FR" sz="1800" dirty="0">
                <a:solidFill>
                  <a:srgbClr val="3366FF"/>
                </a:solidFill>
                <a:latin typeface="Courier"/>
                <a:cs typeface="Courier"/>
              </a:rPr>
              <a:t>merci</a:t>
            </a:r>
          </a:p>
          <a:p>
            <a:pPr marL="118872" indent="0">
              <a:buNone/>
            </a:pPr>
            <a:r>
              <a:rPr lang="uk-UA" sz="1800" dirty="0">
                <a:latin typeface="Courier"/>
                <a:cs typeface="Courier"/>
              </a:rPr>
              <a:t>'</a:t>
            </a:r>
            <a:r>
              <a:rPr lang="fr-FR" sz="1800" dirty="0">
                <a:latin typeface="Courier"/>
                <a:cs typeface="Courier"/>
              </a:rPr>
              <a:t>merci</a:t>
            </a:r>
            <a:r>
              <a:rPr lang="uk-UA" sz="1800" dirty="0">
                <a:latin typeface="Courier"/>
                <a:cs typeface="Courier"/>
              </a:rPr>
              <a:t>'</a:t>
            </a:r>
            <a:endParaRPr lang="fr-FR" sz="1800" dirty="0">
              <a:latin typeface="Courier"/>
              <a:cs typeface="Courier"/>
            </a:endParaRPr>
          </a:p>
          <a:p>
            <a:pPr marL="118872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</a:t>
            </a:r>
          </a:p>
          <a:p>
            <a:pPr marL="118872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"Ceci est un message"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118872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Ceci est un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message</a:t>
            </a:r>
            <a:r>
              <a:rPr lang="fr-FR" sz="1800" dirty="0" err="1">
                <a:solidFill>
                  <a:srgbClr val="3366FF"/>
                </a:solidFill>
                <a:latin typeface="Courier"/>
                <a:cs typeface="Courier"/>
              </a:rPr>
              <a:t>allo</a:t>
            </a:r>
            <a:endParaRPr lang="fr-FR" sz="18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118872" indent="0">
              <a:buNone/>
            </a:pPr>
            <a:r>
              <a:rPr lang="uk-UA" sz="1800" dirty="0">
                <a:latin typeface="Courier"/>
                <a:cs typeface="Courier"/>
              </a:rPr>
              <a:t>'</a:t>
            </a:r>
            <a:r>
              <a:rPr lang="fr-FR" sz="1800" dirty="0">
                <a:latin typeface="Courier"/>
                <a:cs typeface="Courier"/>
              </a:rPr>
              <a:t>allo</a:t>
            </a:r>
            <a:r>
              <a:rPr lang="uk-UA" sz="1800" dirty="0">
                <a:latin typeface="Courier"/>
                <a:cs typeface="Courier"/>
              </a:rPr>
              <a:t>'</a:t>
            </a:r>
            <a:endParaRPr lang="fr-FR" sz="1800" dirty="0">
              <a:latin typeface="Courier"/>
              <a:cs typeface="Courier"/>
            </a:endParaRPr>
          </a:p>
          <a:p>
            <a:pPr marL="118872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</a:t>
            </a:r>
          </a:p>
          <a:p>
            <a:pPr marL="118872" indent="0">
              <a:buNone/>
            </a:pP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2276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Instructions d’entrée-sortie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04622" indent="-285750"/>
            <a:r>
              <a:rPr lang="fr-FR" dirty="0"/>
              <a:t>En mode interactif, ces fonctions ne sont pas très intéressantes</a:t>
            </a:r>
            <a:r>
              <a:rPr lang="is-IS" dirty="0"/>
              <a:t>…</a:t>
            </a:r>
            <a:endParaRPr lang="fr-FR" dirty="0">
              <a:solidFill>
                <a:srgbClr val="000000"/>
              </a:solidFill>
              <a:cs typeface="Courier"/>
            </a:endParaRPr>
          </a:p>
          <a:p>
            <a:pPr marL="118872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"Quel est votre âge?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118872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Quel est votre âge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? </a:t>
            </a:r>
            <a:r>
              <a:rPr lang="fr-FR" sz="1800" dirty="0">
                <a:solidFill>
                  <a:srgbClr val="3366FF"/>
                </a:solidFill>
                <a:latin typeface="Courier"/>
                <a:cs typeface="Courier"/>
              </a:rPr>
              <a:t>18</a:t>
            </a:r>
          </a:p>
          <a:p>
            <a:pPr marL="118872" indent="0">
              <a:buNone/>
            </a:pPr>
            <a:r>
              <a:rPr lang="fr-CH" sz="1800" dirty="0">
                <a:latin typeface="Courier"/>
                <a:cs typeface="Courier"/>
              </a:rPr>
              <a:t>'18'</a:t>
            </a:r>
            <a:endParaRPr lang="fr-FR" sz="1800" dirty="0">
              <a:latin typeface="Courier"/>
              <a:cs typeface="Courier"/>
            </a:endParaRPr>
          </a:p>
          <a:p>
            <a:pPr marL="118872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</a:t>
            </a:r>
          </a:p>
          <a:p>
            <a:pPr marL="118872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nombre à virgule: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118872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Entrer un nombre à virgule: </a:t>
            </a:r>
            <a:r>
              <a:rPr lang="fr-FR" sz="1800" dirty="0">
                <a:solidFill>
                  <a:srgbClr val="3366FF"/>
                </a:solidFill>
                <a:latin typeface="Courier"/>
                <a:cs typeface="Courier"/>
              </a:rPr>
              <a:t>2.34</a:t>
            </a:r>
          </a:p>
          <a:p>
            <a:pPr marL="118872" indent="0">
              <a:buNone/>
            </a:pPr>
            <a:r>
              <a:rPr lang="fr-CH" sz="1800" dirty="0">
                <a:latin typeface="Courier"/>
                <a:cs typeface="Courier"/>
              </a:rPr>
              <a:t>'2.34'</a:t>
            </a:r>
            <a:endParaRPr lang="fr-FR" sz="1800" dirty="0">
              <a:latin typeface="Courier"/>
              <a:cs typeface="Courier"/>
            </a:endParaRPr>
          </a:p>
          <a:p>
            <a:pPr marL="118872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&gt;&gt;&gt;</a:t>
            </a:r>
          </a:p>
          <a:p>
            <a:pPr marL="118872" indent="0">
              <a:buNone/>
            </a:pP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79503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Instructions d’entrée-sortie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51840" cy="5141168"/>
          </a:xfrm>
        </p:spPr>
        <p:txBody>
          <a:bodyPr>
            <a:normAutofit lnSpcReduction="10000"/>
          </a:bodyPr>
          <a:lstStyle/>
          <a:p>
            <a:pPr marL="576072" indent="-457200"/>
            <a:r>
              <a:rPr lang="fr-FR" dirty="0"/>
              <a:t>En mode non interactif, ces « instructions d’entrée » deviennent intéressantes</a:t>
            </a:r>
            <a:r>
              <a:rPr lang="is-IS" dirty="0"/>
              <a:t>…</a:t>
            </a:r>
            <a:endParaRPr lang="fr-FR" dirty="0"/>
          </a:p>
          <a:p>
            <a:pPr marL="576072" indent="-457200"/>
            <a:r>
              <a:rPr lang="fr-FR" dirty="0"/>
              <a:t>Dans ce cas, il convient de stocker – dans une variable – l’information qui va de l'utilisateur vers l'application, grâce aux instructions :</a:t>
            </a:r>
          </a:p>
          <a:p>
            <a:pPr marL="118872" indent="0" algn="ctr">
              <a:buNone/>
            </a:pPr>
            <a:r>
              <a:rPr lang="fr-FR" sz="2400" dirty="0">
                <a:solidFill>
                  <a:srgbClr val="000000"/>
                </a:solidFill>
                <a:latin typeface="Courier"/>
              </a:rPr>
              <a:t>var =</a:t>
            </a:r>
            <a:r>
              <a:rPr lang="fr-FR" sz="2400" dirty="0">
                <a:solidFill>
                  <a:srgbClr val="008000"/>
                </a:solidFill>
                <a:latin typeface="Courier"/>
              </a:rPr>
              <a:t> input</a:t>
            </a:r>
            <a:r>
              <a:rPr lang="fr-FR" sz="24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2400" dirty="0">
                <a:solidFill>
                  <a:srgbClr val="BA2121"/>
                </a:solidFill>
                <a:latin typeface="Courier"/>
              </a:rPr>
              <a:t>&lt;message&gt;</a:t>
            </a:r>
            <a:r>
              <a:rPr lang="fr-FR" sz="24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118872" indent="0" algn="ctr">
              <a:buNone/>
            </a:pPr>
            <a:r>
              <a:rPr lang="fr-FR" sz="2400" dirty="0">
                <a:solidFill>
                  <a:srgbClr val="000000"/>
                </a:solidFill>
                <a:latin typeface="Courier"/>
              </a:rPr>
              <a:t>var =</a:t>
            </a:r>
            <a:r>
              <a:rPr lang="fr-FR" sz="24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fr-FR" sz="2400" dirty="0" err="1">
                <a:solidFill>
                  <a:srgbClr val="008000"/>
                </a:solidFill>
                <a:latin typeface="Courier"/>
              </a:rPr>
              <a:t>raw_input</a:t>
            </a:r>
            <a:r>
              <a:rPr lang="fr-FR" sz="24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2400" dirty="0">
                <a:solidFill>
                  <a:srgbClr val="BA2121"/>
                </a:solidFill>
                <a:latin typeface="Courier"/>
              </a:rPr>
              <a:t>&lt;message&gt;</a:t>
            </a:r>
            <a:r>
              <a:rPr lang="fr-FR" sz="24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576072" indent="-457200"/>
            <a:r>
              <a:rPr lang="fr-FR" dirty="0"/>
              <a:t>Ainsi, Python affiche dans l’invite de commandes la chaîne de caractères </a:t>
            </a:r>
            <a:r>
              <a:rPr lang="fr-FR" sz="2400" dirty="0">
                <a:latin typeface="Courier"/>
                <a:cs typeface="Courier"/>
              </a:rPr>
              <a:t>&lt;message&gt;</a:t>
            </a:r>
            <a:r>
              <a:rPr lang="fr-FR" dirty="0"/>
              <a:t>, attend que l’utilisateur tape quelque chose à la suite de </a:t>
            </a:r>
            <a:r>
              <a:rPr lang="fr-FR" sz="2400" dirty="0">
                <a:latin typeface="Courier"/>
                <a:cs typeface="Courier"/>
              </a:rPr>
              <a:t>&lt;message&gt;</a:t>
            </a:r>
            <a:r>
              <a:rPr lang="fr-FR" dirty="0"/>
              <a:t> (suivi de « Enter »), et stocke ce quelque chose dans la variable </a:t>
            </a:r>
            <a:r>
              <a:rPr lang="fr-FR" sz="2400" dirty="0">
                <a:latin typeface="Courier"/>
                <a:cs typeface="Courier"/>
              </a:rPr>
              <a:t>var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403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Instructions d’entrée-sortie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>
                <a:solidFill>
                  <a:prstClr val="black"/>
                </a:solidFill>
                <a:latin typeface="Courier"/>
              </a:rPr>
              <a:t>Programme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nom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"Quel est votre nom? 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</a:rPr>
              <a:t>prenom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>
                <a:solidFill>
                  <a:srgbClr val="008000"/>
                </a:solidFill>
                <a:latin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"Quel est votre prénom? 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008000"/>
                </a:solidFill>
                <a:latin typeface="Courier"/>
              </a:rPr>
              <a:t>print</a:t>
            </a:r>
            <a:r>
              <a:rPr lang="fr-FR" sz="1800" dirty="0">
                <a:latin typeface="Courier"/>
              </a:rPr>
              <a:t>(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prenom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 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nom)</a:t>
            </a:r>
          </a:p>
          <a:p>
            <a:pPr marL="0" indent="0">
              <a:buNone/>
            </a:pPr>
            <a:r>
              <a:rPr lang="fr-FR" sz="1800" b="1" dirty="0">
                <a:solidFill>
                  <a:srgbClr val="000000"/>
                </a:solidFill>
                <a:latin typeface="Courier"/>
              </a:rPr>
              <a:t>Exécution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Quel est votre nom? </a:t>
            </a:r>
            <a:r>
              <a:rPr lang="fr-FR" sz="1800" dirty="0">
                <a:solidFill>
                  <a:srgbClr val="3366FF"/>
                </a:solidFill>
                <a:latin typeface="Courier"/>
                <a:cs typeface="Courier"/>
              </a:rPr>
              <a:t>C.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Quel est votre prénom? </a:t>
            </a:r>
            <a:r>
              <a:rPr lang="fr-FR" sz="1800" dirty="0">
                <a:solidFill>
                  <a:srgbClr val="3366FF"/>
                </a:solidFill>
                <a:latin typeface="Courier"/>
                <a:cs typeface="Courier"/>
              </a:rPr>
              <a:t>Dan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Dan C.</a:t>
            </a:r>
          </a:p>
        </p:txBody>
      </p:sp>
    </p:spTree>
    <p:extLst>
      <p:ext uri="{BB962C8B-B14F-4D97-AF65-F5344CB8AC3E}">
        <p14:creationId xmlns:p14="http://schemas.microsoft.com/office/powerpoint/2010/main" val="97879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Instructions d’entrée-sortie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>
                <a:solidFill>
                  <a:prstClr val="black"/>
                </a:solidFill>
                <a:latin typeface="Courier"/>
              </a:rPr>
              <a:t>Programme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</a:rPr>
              <a:t>age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"Quel est votre âge? 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008000"/>
                </a:solidFill>
                <a:latin typeface="Courier"/>
              </a:rPr>
              <a:t>print</a:t>
            </a:r>
            <a:r>
              <a:rPr lang="fr-FR" sz="1800" dirty="0"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"Vous avez 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age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 ans. "</a:t>
            </a:r>
            <a:r>
              <a:rPr lang="fr-FR" sz="1800" dirty="0"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008000"/>
                </a:solidFill>
                <a:latin typeface="Courier"/>
              </a:rPr>
              <a:t>print</a:t>
            </a:r>
            <a:r>
              <a:rPr lang="fr-FR" sz="1800" dirty="0"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"Dans 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str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100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–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int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age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))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\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	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 ans, vous aurez 100 ans."</a:t>
            </a:r>
            <a:r>
              <a:rPr lang="fr-FR" sz="1800" dirty="0"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b="1" dirty="0">
                <a:solidFill>
                  <a:srgbClr val="000000"/>
                </a:solidFill>
                <a:latin typeface="Courier"/>
              </a:rPr>
              <a:t>Exécution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Quel est votre âge? </a:t>
            </a:r>
            <a:r>
              <a:rPr lang="fr-FR" sz="1800" dirty="0">
                <a:solidFill>
                  <a:srgbClr val="3366FF"/>
                </a:solidFill>
                <a:latin typeface="Courier"/>
                <a:cs typeface="Courier"/>
              </a:rPr>
              <a:t>92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Vous avez 92 ans.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Dans 8 ans, vous aurez 100 ans.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98525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Instructions d’entrée-sortie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Dans l’exemple précédent, on a effectué le calcul </a:t>
            </a:r>
            <a:r>
              <a:rPr lang="fr-FR" sz="2400" dirty="0">
                <a:latin typeface="Courier"/>
                <a:cs typeface="Courier"/>
              </a:rPr>
              <a:t>100 - </a:t>
            </a:r>
            <a:r>
              <a:rPr lang="fr-FR" sz="2400" dirty="0" err="1">
                <a:latin typeface="Courier"/>
                <a:cs typeface="Courier"/>
              </a:rPr>
              <a:t>age</a:t>
            </a:r>
            <a:r>
              <a:rPr lang="fr-FR" dirty="0"/>
              <a:t>.</a:t>
            </a:r>
          </a:p>
          <a:p>
            <a:r>
              <a:rPr lang="fr-FR" dirty="0"/>
              <a:t>Puis, on a utilisé la « fonction de transtypage » </a:t>
            </a:r>
            <a:r>
              <a:rPr lang="fr-FR" sz="2400" dirty="0" err="1">
                <a:solidFill>
                  <a:srgbClr val="008000"/>
                </a:solidFill>
                <a:latin typeface="Courier"/>
              </a:rPr>
              <a:t>str</a:t>
            </a:r>
            <a:r>
              <a:rPr lang="fr-FR" sz="2400" dirty="0">
                <a:solidFill>
                  <a:prstClr val="black"/>
                </a:solidFill>
                <a:latin typeface="Courier"/>
              </a:rPr>
              <a:t>()</a:t>
            </a:r>
            <a:r>
              <a:rPr lang="fr-FR" dirty="0"/>
              <a:t> qui convertit son argument en une chaîne de caractères (string), afin de pouvoir l’imprimer.</a:t>
            </a:r>
          </a:p>
          <a:p>
            <a:r>
              <a:rPr lang="fr-FR" dirty="0"/>
              <a:t>Cette question des types de données fait l’objet du chapitre suivant.</a:t>
            </a:r>
          </a:p>
        </p:txBody>
      </p:sp>
    </p:spTree>
    <p:extLst>
      <p:ext uri="{BB962C8B-B14F-4D97-AF65-F5344CB8AC3E}">
        <p14:creationId xmlns:p14="http://schemas.microsoft.com/office/powerpoint/2010/main" val="221282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Instructions d’entrée-sortie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76072" indent="-457200"/>
            <a:r>
              <a:rPr lang="fr-FR" dirty="0"/>
              <a:t>L’« instruction de sortie », i.e., qui implémente une transmission d’information qui va de l’ordinateur vers l’utilisateur, est maintenant déjà connue, et est implémentée, en Python2, par la fonction :</a:t>
            </a:r>
          </a:p>
          <a:p>
            <a:pPr marL="118872" indent="0" algn="ctr">
              <a:buNone/>
            </a:pPr>
            <a:r>
              <a:rPr lang="fr-FR" sz="2400" dirty="0" err="1">
                <a:solidFill>
                  <a:srgbClr val="008000"/>
                </a:solidFill>
                <a:latin typeface="Courier"/>
              </a:rPr>
              <a:t>print</a:t>
            </a:r>
            <a:r>
              <a:rPr lang="fr-FR" sz="2400" dirty="0">
                <a:solidFill>
                  <a:srgbClr val="008000"/>
                </a:solidFill>
                <a:latin typeface="Courier"/>
              </a:rPr>
              <a:t> </a:t>
            </a:r>
            <a:r>
              <a:rPr lang="fr-FR" sz="2400" dirty="0">
                <a:solidFill>
                  <a:srgbClr val="BA2121"/>
                </a:solidFill>
                <a:latin typeface="Courier"/>
              </a:rPr>
              <a:t>&lt;message&gt;</a:t>
            </a:r>
          </a:p>
          <a:p>
            <a:pPr marL="461772" indent="-342900"/>
            <a:r>
              <a:rPr lang="fr-FR" dirty="0"/>
              <a:t>Ou alors en Python 3 :</a:t>
            </a:r>
            <a:endParaRPr lang="fr-FR" dirty="0">
              <a:solidFill>
                <a:srgbClr val="BA2121"/>
              </a:solidFill>
            </a:endParaRPr>
          </a:p>
          <a:p>
            <a:pPr marL="118872" indent="0" algn="ctr">
              <a:buNone/>
            </a:pPr>
            <a:r>
              <a:rPr lang="fr-FR" sz="2400" dirty="0" err="1">
                <a:solidFill>
                  <a:srgbClr val="008000"/>
                </a:solidFill>
                <a:latin typeface="Courier"/>
              </a:rPr>
              <a:t>print</a:t>
            </a:r>
            <a:r>
              <a:rPr lang="fr-FR" sz="2400" dirty="0">
                <a:solidFill>
                  <a:srgbClr val="000000"/>
                </a:solidFill>
                <a:latin typeface="Courier"/>
              </a:rPr>
              <a:t>(</a:t>
            </a:r>
            <a:r>
              <a:rPr lang="fr-FR" sz="2400" dirty="0">
                <a:solidFill>
                  <a:srgbClr val="BA2121"/>
                </a:solidFill>
                <a:latin typeface="Courier"/>
              </a:rPr>
              <a:t>&lt;message&gt;</a:t>
            </a:r>
            <a:r>
              <a:rPr lang="fr-FR" sz="2400" dirty="0">
                <a:solidFill>
                  <a:srgbClr val="000000"/>
                </a:solidFill>
                <a:latin typeface="Courier"/>
              </a:rPr>
              <a:t>)</a:t>
            </a:r>
          </a:p>
          <a:p>
            <a:pPr marL="118872" indent="0" algn="ctr">
              <a:buNone/>
            </a:pPr>
            <a:endParaRPr lang="fr-FR" sz="2400" dirty="0">
              <a:solidFill>
                <a:prstClr val="black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68027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Médian.thmx</Template>
  <TotalTime>4663</TotalTime>
  <Words>1296</Words>
  <Application>Microsoft Macintosh PowerPoint</Application>
  <PresentationFormat>On-screen Show (4:3)</PresentationFormat>
  <Paragraphs>244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ＭＳ Ｐゴシック</vt:lpstr>
      <vt:lpstr>Arial</vt:lpstr>
      <vt:lpstr>Courier</vt:lpstr>
      <vt:lpstr>Times</vt:lpstr>
      <vt:lpstr>Tw Cen MT</vt:lpstr>
      <vt:lpstr>Wingdings</vt:lpstr>
      <vt:lpstr>Wingdings 2</vt:lpstr>
      <vt:lpstr>Médian</vt:lpstr>
      <vt:lpstr>Chapitre 2 Le concept de variable</vt:lpstr>
      <vt:lpstr>Définition d’une variable</vt:lpstr>
      <vt:lpstr>Définition d’une variable</vt:lpstr>
      <vt:lpstr>Définition d’une variable</vt:lpstr>
      <vt:lpstr>Définition d’une variable</vt:lpstr>
      <vt:lpstr>Affectation d’une variable</vt:lpstr>
      <vt:lpstr>Affectation d’une variable</vt:lpstr>
      <vt:lpstr>Affectation d’une variable</vt:lpstr>
      <vt:lpstr>Affectation d’une variable</vt:lpstr>
      <vt:lpstr>Affectation d’une variable</vt:lpstr>
      <vt:lpstr>Affectation d’une variable</vt:lpstr>
      <vt:lpstr>Affectation d’une variable</vt:lpstr>
      <vt:lpstr>Affectation d’une variable</vt:lpstr>
      <vt:lpstr>Affectation d’une variable</vt:lpstr>
      <vt:lpstr>Affectation d’une variable</vt:lpstr>
      <vt:lpstr>Affectation de variables</vt:lpstr>
      <vt:lpstr>Affectation de variables</vt:lpstr>
      <vt:lpstr>Compilation de fichiers Python</vt:lpstr>
      <vt:lpstr>Compilation de fichiers Python</vt:lpstr>
      <vt:lpstr>Instructions d’entrée-sortie</vt:lpstr>
      <vt:lpstr>Instructions d’entrée-sortie</vt:lpstr>
      <vt:lpstr>Instructions d’entrée-sortie</vt:lpstr>
      <vt:lpstr>Instructions d’entrée-sortie</vt:lpstr>
      <vt:lpstr>Instructions d’entrée-sortie</vt:lpstr>
      <vt:lpstr>Instructions d’entrée-sortie</vt:lpstr>
      <vt:lpstr>Instructions d’entrée-sortie</vt:lpstr>
      <vt:lpstr>Instructions d’entrée-sortie</vt:lpstr>
      <vt:lpstr>Instructions d’entrée-sortie</vt:lpstr>
      <vt:lpstr>Instructions d’entrée-sortie</vt:lpstr>
    </vt:vector>
  </TitlesOfParts>
  <Company>Université de Lausanne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</dc:title>
  <dc:creator>Campus Agreement</dc:creator>
  <cp:lastModifiedBy>Microsoft Office User</cp:lastModifiedBy>
  <cp:revision>714</cp:revision>
  <cp:lastPrinted>2011-09-18T10:53:10Z</cp:lastPrinted>
  <dcterms:created xsi:type="dcterms:W3CDTF">2002-10-22T15:56:56Z</dcterms:created>
  <dcterms:modified xsi:type="dcterms:W3CDTF">2019-09-04T08:03:30Z</dcterms:modified>
</cp:coreProperties>
</file>