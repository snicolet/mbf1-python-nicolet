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2" r:id="rId1"/>
  </p:sldMasterIdLst>
  <p:notesMasterIdLst>
    <p:notesMasterId r:id="rId46"/>
  </p:notesMasterIdLst>
  <p:handoutMasterIdLst>
    <p:handoutMasterId r:id="rId47"/>
  </p:handoutMasterIdLst>
  <p:sldIdLst>
    <p:sldId id="375" r:id="rId2"/>
    <p:sldId id="377" r:id="rId3"/>
    <p:sldId id="376" r:id="rId4"/>
    <p:sldId id="385" r:id="rId5"/>
    <p:sldId id="378" r:id="rId6"/>
    <p:sldId id="379" r:id="rId7"/>
    <p:sldId id="381" r:id="rId8"/>
    <p:sldId id="380" r:id="rId9"/>
    <p:sldId id="382" r:id="rId10"/>
    <p:sldId id="383" r:id="rId11"/>
    <p:sldId id="384" r:id="rId12"/>
    <p:sldId id="386" r:id="rId13"/>
    <p:sldId id="387" r:id="rId14"/>
    <p:sldId id="388" r:id="rId15"/>
    <p:sldId id="389" r:id="rId16"/>
    <p:sldId id="390" r:id="rId17"/>
    <p:sldId id="391" r:id="rId18"/>
    <p:sldId id="392" r:id="rId19"/>
    <p:sldId id="393" r:id="rId20"/>
    <p:sldId id="394" r:id="rId21"/>
    <p:sldId id="395" r:id="rId22"/>
    <p:sldId id="396" r:id="rId23"/>
    <p:sldId id="397" r:id="rId24"/>
    <p:sldId id="398" r:id="rId25"/>
    <p:sldId id="399" r:id="rId26"/>
    <p:sldId id="400" r:id="rId27"/>
    <p:sldId id="401" r:id="rId28"/>
    <p:sldId id="402" r:id="rId29"/>
    <p:sldId id="403" r:id="rId30"/>
    <p:sldId id="406" r:id="rId31"/>
    <p:sldId id="407" r:id="rId32"/>
    <p:sldId id="408" r:id="rId33"/>
    <p:sldId id="409" r:id="rId34"/>
    <p:sldId id="410" r:id="rId35"/>
    <p:sldId id="404" r:id="rId36"/>
    <p:sldId id="422" r:id="rId37"/>
    <p:sldId id="411" r:id="rId38"/>
    <p:sldId id="412" r:id="rId39"/>
    <p:sldId id="413" r:id="rId40"/>
    <p:sldId id="414" r:id="rId41"/>
    <p:sldId id="418" r:id="rId42"/>
    <p:sldId id="419" r:id="rId43"/>
    <p:sldId id="420" r:id="rId44"/>
    <p:sldId id="421" r:id="rId45"/>
  </p:sldIdLst>
  <p:sldSz cx="9144000" cy="6858000" type="screen4x3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FFCCFF"/>
    <a:srgbClr val="99FFCC"/>
    <a:srgbClr val="CCFFFF"/>
    <a:srgbClr val="FF00FF"/>
    <a:srgbClr val="FF0000"/>
    <a:srgbClr val="009900"/>
    <a:srgbClr val="E1E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>
        <p:scale>
          <a:sx n="90" d="100"/>
          <a:sy n="90" d="100"/>
        </p:scale>
        <p:origin x="-760" y="-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18" d="100"/>
          <a:sy n="118" d="100"/>
        </p:scale>
        <p:origin x="-425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interSettings" Target="printerSettings/printerSettings1.bin"/><Relationship Id="rId49" Type="http://schemas.openxmlformats.org/officeDocument/2006/relationships/presProps" Target="presProp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CD6F964-0E01-0347-96A4-C37FEA3034E6}" type="slidenum">
              <a:rPr lang="fr-FR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30346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2BB96183-5730-AF4B-A221-215C0AAD25FC}" type="slidenum">
              <a:rPr lang="fr-FR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42413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CH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D2109F-C210-9F4F-BE50-DE6D04027247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84C434B-4C1C-AA4B-9FC7-3C7BDD6F6ADC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CH" smtClean="0"/>
              <a:t>Cliquez pour modifier les styles du texte du masque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A062017-3E5F-D545-803C-22C050AB822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0BA543E-D95F-E941-884E-49F19CC3D311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2" name="Espace réservé du pied de page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F22BEEB-CA8A-C040-983A-AAABE0F651E1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CH" smtClean="0"/>
              <a:t>Cliquez pour modifier les styles du texte du masque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CH" smtClean="0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D9B8300-181C-054A-A328-E2139B9AD5F7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1A05B3F-7440-4047-9795-78A3F4158249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92FAD62-4CC2-5B40-ACA0-2FA3AD3CFBCF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CH" smtClean="0"/>
              <a:t>Cliquez pour modifier les styles du texte du masque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fr-CH" smtClean="0"/>
              <a:t>Cliquez pour modifier les styles du texte du masque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C79D76C-33C8-DF41-AB83-387084CEC10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CH" smtClean="0"/>
              <a:t>Faire glisser l'image vers l'espace réservé ou cliquer sur l'icône pour l'ajouter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A849-4122-6640-96DA-97F7188E7D39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F97011EA-94E7-C94D-AD82-14E12DD73888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CH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CH" smtClean="0"/>
              <a:t>Deuxième niveau</a:t>
            </a:r>
          </a:p>
          <a:p>
            <a:pPr lvl="2" eaLnBrk="1" latinLnBrk="0" hangingPunct="1"/>
            <a:r>
              <a:rPr kumimoji="0" lang="fr-CH" smtClean="0"/>
              <a:t>Troisième niveau</a:t>
            </a:r>
          </a:p>
          <a:p>
            <a:pPr lvl="3" eaLnBrk="1" latinLnBrk="0" hangingPunct="1"/>
            <a:r>
              <a:rPr kumimoji="0" lang="fr-CH" smtClean="0"/>
              <a:t>Quatrième niveau</a:t>
            </a:r>
          </a:p>
          <a:p>
            <a:pPr lvl="4" eaLnBrk="1" latinLnBrk="0" hangingPunct="1"/>
            <a:r>
              <a:rPr kumimoji="0" lang="fr-CH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6BE7D13C-A807-CA4C-B7E6-D4B4CB6419C0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10" name="Picture 12" descr="logoBlancTransparent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130925"/>
            <a:ext cx="1152525" cy="6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Chapitre 6</a:t>
            </a:r>
            <a:br>
              <a:rPr lang="fr-FR" dirty="0" smtClean="0"/>
            </a:br>
            <a:r>
              <a:rPr lang="fr-FR" dirty="0" smtClean="0"/>
              <a:t>Procédures et Fonctions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Programmation en Python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109F-C210-9F4F-BE50-DE6D04027247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32785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Procédures et fonctions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Une procédure consiste en une série d’instructions regroupées sous un même nom, mais qui ne retourne pas de valeur particulière.</a:t>
            </a:r>
          </a:p>
          <a:p>
            <a:pPr lvl="1"/>
            <a:r>
              <a:rPr lang="fr-FR" dirty="0" smtClean="0"/>
              <a:t>La procédure effectue des instructions, mais ne retourne rien en particulier.</a:t>
            </a:r>
          </a:p>
          <a:p>
            <a:r>
              <a:rPr lang="fr-FR" dirty="0"/>
              <a:t>Une </a:t>
            </a:r>
            <a:r>
              <a:rPr lang="fr-FR" dirty="0" smtClean="0"/>
              <a:t>fonction consiste </a:t>
            </a:r>
            <a:r>
              <a:rPr lang="fr-FR" dirty="0"/>
              <a:t>en une série d’instructions </a:t>
            </a:r>
            <a:r>
              <a:rPr lang="fr-FR" dirty="0" smtClean="0"/>
              <a:t>regroupées </a:t>
            </a:r>
            <a:r>
              <a:rPr lang="fr-FR" dirty="0"/>
              <a:t>sous un même </a:t>
            </a:r>
            <a:r>
              <a:rPr lang="fr-FR" dirty="0" smtClean="0"/>
              <a:t>nom et qui retourne une valeur particulière.</a:t>
            </a:r>
          </a:p>
          <a:p>
            <a:pPr lvl="1"/>
            <a:r>
              <a:rPr lang="fr-FR" dirty="0" smtClean="0"/>
              <a:t>La fonction effectue </a:t>
            </a:r>
            <a:r>
              <a:rPr lang="fr-FR" dirty="0"/>
              <a:t>des </a:t>
            </a:r>
            <a:r>
              <a:rPr lang="fr-FR" dirty="0" smtClean="0"/>
              <a:t>instructions</a:t>
            </a:r>
            <a:r>
              <a:rPr lang="fr-FR" dirty="0"/>
              <a:t> </a:t>
            </a:r>
            <a:r>
              <a:rPr lang="fr-FR" dirty="0" smtClean="0"/>
              <a:t>et </a:t>
            </a:r>
            <a:r>
              <a:rPr lang="fr-FR" dirty="0"/>
              <a:t>retourne </a:t>
            </a:r>
            <a:r>
              <a:rPr lang="fr-FR" dirty="0" smtClean="0"/>
              <a:t>une certaine valeur.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552234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Procédures et fonctions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En programmation, il arrive que des mêmes blocs d’instructions doivent être réutilisés plusieurs fois.</a:t>
            </a:r>
          </a:p>
          <a:p>
            <a:r>
              <a:rPr lang="fr-FR" dirty="0" smtClean="0"/>
              <a:t>Dans ce cas, il convient de regrouper ces blocs d’instructions sous un même nom, et d’appeler ensuite ce nom à chaque fois qu’on veut faire appel à ces instructions.</a:t>
            </a:r>
          </a:p>
          <a:p>
            <a:r>
              <a:rPr lang="fr-FR" dirty="0" smtClean="0"/>
              <a:t>Les procédures et fonctions consistent en de tels blocs d’instructions regroupés sous un même nom, afin de pouvoir être réutilisés.</a:t>
            </a:r>
          </a:p>
        </p:txBody>
      </p:sp>
    </p:spTree>
    <p:extLst>
      <p:ext uri="{BB962C8B-B14F-4D97-AF65-F5344CB8AC3E}">
        <p14:creationId xmlns:p14="http://schemas.microsoft.com/office/powerpoint/2010/main" val="13983552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Procédures et fonctions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L’implémentation de fonctions et procédures de plus en plus complexes, elle-même utilisant d’autres fonctions et procédures, etc., est au cœur de tout processus de programmation.</a:t>
            </a:r>
          </a:p>
        </p:txBody>
      </p:sp>
    </p:spTree>
    <p:extLst>
      <p:ext uri="{BB962C8B-B14F-4D97-AF65-F5344CB8AC3E}">
        <p14:creationId xmlns:p14="http://schemas.microsoft.com/office/powerpoint/2010/main" val="1657836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Procédures et fonctions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En Python, les syntaxes pour définir une procédure ou une fonction sont les suivantes :</a:t>
            </a:r>
          </a:p>
          <a:p>
            <a:pPr marL="0" indent="0">
              <a:buNone/>
            </a:pP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	def nom_procedure():</a:t>
            </a:r>
            <a:endParaRPr lang="fr-FR" sz="2400" dirty="0" smtClean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		bloc_instructions</a:t>
            </a:r>
          </a:p>
          <a:p>
            <a:pPr marL="0" indent="0">
              <a:buNone/>
            </a:pPr>
            <a:endParaRPr lang="fr-CH" sz="2400" dirty="0" smtClean="0">
              <a:solidFill>
                <a:srgbClr val="3366FF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	def nom_fonction(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):</a:t>
            </a:r>
            <a:endParaRPr lang="fr-FR" sz="24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	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bloc_instructions</a:t>
            </a:r>
          </a:p>
          <a:p>
            <a:pPr marL="0" indent="0">
              <a:buNone/>
            </a:pP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	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return valeur</a:t>
            </a:r>
            <a:endParaRPr lang="fr-CH" sz="2400" dirty="0">
              <a:solidFill>
                <a:srgbClr val="3366FF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CH" sz="3200" dirty="0" smtClean="0">
              <a:solidFill>
                <a:srgbClr val="3366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3567408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Procédures et fonctions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 err="1" smtClean="0">
                <a:solidFill>
                  <a:prstClr val="black"/>
                </a:solidFill>
                <a:latin typeface="Courier"/>
                <a:cs typeface="Courier"/>
              </a:rPr>
              <a:t>Programme</a:t>
            </a:r>
            <a:endParaRPr lang="en-US" sz="1800" b="1" dirty="0" smtClean="0">
              <a:solidFill>
                <a:srgbClr val="008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urier"/>
                <a:cs typeface="Courier"/>
              </a:rPr>
              <a:t>message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():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dirty="0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Ceci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est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un message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imprimé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automatiquement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à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chaque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appel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de la 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procedure"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message()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message(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endParaRPr lang="en-US" sz="1800" b="1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b="1" dirty="0" err="1" smtClean="0">
                <a:solidFill>
                  <a:prstClr val="black"/>
                </a:solidFill>
                <a:latin typeface="Courier"/>
                <a:cs typeface="Courier"/>
              </a:rPr>
              <a:t>Exécution</a:t>
            </a:r>
            <a:endParaRPr lang="en-US" sz="1800" b="1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 err="1" smtClean="0">
                <a:solidFill>
                  <a:prstClr val="black"/>
                </a:solidFill>
                <a:latin typeface="Courier"/>
                <a:cs typeface="Courier"/>
              </a:rPr>
              <a:t>Ceci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est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un message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imprimé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automatiquement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à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chaque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appel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de la procedure</a:t>
            </a:r>
          </a:p>
          <a:p>
            <a:pPr marL="0" indent="0">
              <a:buNone/>
            </a:pP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Ceci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est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un message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imprimé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automatiquement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à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chaque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appel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de la procedure</a:t>
            </a:r>
          </a:p>
          <a:p>
            <a:pPr marL="0" indent="0">
              <a:buNone/>
            </a:pPr>
            <a:endParaRPr lang="fr-CH" sz="3200" dirty="0" smtClean="0">
              <a:solidFill>
                <a:srgbClr val="3366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4026854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Procédures et fonctions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811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 err="1" smtClean="0">
                <a:solidFill>
                  <a:prstClr val="black"/>
                </a:solidFill>
                <a:latin typeface="Courier"/>
                <a:cs typeface="Courier"/>
              </a:rPr>
              <a:t>Programme</a:t>
            </a:r>
            <a:endParaRPr lang="en-US" sz="1800" b="1" dirty="0" smtClean="0">
              <a:solidFill>
                <a:srgbClr val="008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urier"/>
                <a:cs typeface="Courier"/>
              </a:rPr>
              <a:t>message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():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dirty="0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Ceci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est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un message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imprimé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automatiquement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à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chaque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appel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de la 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procedure.</a:t>
            </a:r>
            <a:r>
              <a:rPr lang="is-IS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is-IS" sz="1800" dirty="0" smtClean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en-US" sz="1800" dirty="0">
              <a:solidFill>
                <a:srgbClr val="000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message(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) + 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"Ok"</a:t>
            </a: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le résultat d’une procédure ne peut pas être utilisé</a:t>
            </a:r>
            <a:endParaRPr lang="fr-FR" sz="1800" i="1" dirty="0">
              <a:solidFill>
                <a:srgbClr val="40808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comme une valeur, car il n’y a pas de valeur de retour</a:t>
            </a:r>
            <a:endParaRPr lang="en-US" sz="1800" b="1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en-US" sz="1800" b="1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b="1" dirty="0" err="1" smtClean="0">
                <a:solidFill>
                  <a:prstClr val="black"/>
                </a:solidFill>
                <a:latin typeface="Courier"/>
                <a:cs typeface="Courier"/>
              </a:rPr>
              <a:t>Exécution</a:t>
            </a:r>
            <a:endParaRPr lang="en-US" sz="1800" b="1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Traceback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 (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most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recent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 call last):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  File "&lt;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stdin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&gt;", line 1, in &lt;module&gt;</a:t>
            </a:r>
          </a:p>
          <a:p>
            <a:pPr marL="0" indent="0">
              <a:buNone/>
            </a:pP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TypeError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: 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unsupported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operand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 type(s) for +: '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NoneType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' and '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str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'</a:t>
            </a:r>
            <a:endParaRPr lang="fr-CH" sz="1800" dirty="0" smtClean="0">
              <a:solidFill>
                <a:srgbClr val="FF0000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139270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Procédures et fonctions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 err="1" smtClean="0">
                <a:solidFill>
                  <a:prstClr val="black"/>
                </a:solidFill>
                <a:latin typeface="Courier"/>
                <a:cs typeface="Courier"/>
              </a:rPr>
              <a:t>Programme</a:t>
            </a:r>
            <a:endParaRPr lang="fr-CH" sz="1800" dirty="0">
              <a:solidFill>
                <a:srgbClr val="3366FF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ourier"/>
                <a:cs typeface="Courier"/>
              </a:rPr>
              <a:t>pi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():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 smtClean="0">
                <a:solidFill>
                  <a:srgbClr val="008000"/>
                </a:solidFill>
                <a:latin typeface="Courier"/>
                <a:cs typeface="Courier"/>
              </a:rPr>
              <a:t>return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3.14159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pi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))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 smtClean="0">
                <a:latin typeface="Courier"/>
                <a:cs typeface="Courier"/>
              </a:rPr>
              <a:t>(</a:t>
            </a:r>
            <a:r>
              <a:rPr lang="is-IS" sz="1800" dirty="0" smtClean="0">
                <a:solidFill>
                  <a:prstClr val="black"/>
                </a:solidFill>
                <a:latin typeface="Courier"/>
                <a:cs typeface="Courier"/>
              </a:rPr>
              <a:t>pi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()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s-IS" sz="1800" dirty="0" smtClean="0">
                <a:solidFill>
                  <a:srgbClr val="666666"/>
                </a:solidFill>
                <a:latin typeface="Courier"/>
                <a:cs typeface="Courier"/>
              </a:rPr>
              <a:t>2)</a:t>
            </a:r>
            <a:endParaRPr lang="is-IS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le résultat d’une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fonction peut être utilisé comme</a:t>
            </a:r>
            <a:endParaRPr lang="fr-FR" sz="1800" i="1" dirty="0">
              <a:solidFill>
                <a:srgbClr val="40808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une valeur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, car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c’est une valeur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de retour</a:t>
            </a:r>
            <a:endParaRPr lang="en-US" sz="1800" b="1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en-US" sz="1800" b="1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b="1" dirty="0" err="1" smtClean="0">
                <a:solidFill>
                  <a:prstClr val="black"/>
                </a:solidFill>
                <a:latin typeface="Courier"/>
                <a:cs typeface="Courier"/>
              </a:rPr>
              <a:t>Exécution</a:t>
            </a:r>
            <a:endParaRPr lang="fr-CH" sz="1800" dirty="0">
              <a:solidFill>
                <a:srgbClr val="3366FF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hr-HR" sz="1800" dirty="0">
                <a:latin typeface="Courier"/>
                <a:cs typeface="Courier"/>
              </a:rPr>
              <a:t>3.14159</a:t>
            </a:r>
          </a:p>
          <a:p>
            <a:pPr marL="0" indent="0">
              <a:buNone/>
            </a:pPr>
            <a:r>
              <a:rPr lang="hr-HR" sz="1800" dirty="0">
                <a:latin typeface="Courier"/>
                <a:cs typeface="Courier"/>
              </a:rPr>
              <a:t>5.14159</a:t>
            </a:r>
            <a:endParaRPr lang="en-US" sz="1800" dirty="0" smtClean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5545851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Procédures et fonctions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Il est possible de documenter les procédures et fonctions en ajoutant une chaîne de caractère qui décrit leur comportement entre triple guillemets. La syntaxe est la suivante :</a:t>
            </a:r>
          </a:p>
          <a:p>
            <a:pPr marL="0" indent="0">
              <a:buNone/>
            </a:pP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	def nom_procedure_ou_fonction():</a:t>
            </a: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	</a:t>
            </a:r>
            <a:r>
              <a:rPr lang="en-US" sz="2400" dirty="0" smtClean="0">
                <a:solidFill>
                  <a:srgbClr val="3366FF"/>
                </a:solidFill>
                <a:latin typeface="Courier"/>
                <a:cs typeface="Courier"/>
              </a:rPr>
              <a:t>""</a:t>
            </a:r>
            <a:r>
              <a:rPr lang="en-US" sz="2400" dirty="0">
                <a:solidFill>
                  <a:srgbClr val="3366FF"/>
                </a:solidFill>
                <a:latin typeface="Courier"/>
                <a:cs typeface="Courier"/>
              </a:rPr>
              <a:t>"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description...</a:t>
            </a:r>
            <a:r>
              <a:rPr lang="en-US" sz="2400" dirty="0" smtClean="0">
                <a:solidFill>
                  <a:srgbClr val="3366FF"/>
                </a:solidFill>
                <a:latin typeface="Courier"/>
                <a:cs typeface="Courier"/>
              </a:rPr>
              <a:t>""</a:t>
            </a:r>
            <a:r>
              <a:rPr lang="en-US" sz="2400" dirty="0">
                <a:solidFill>
                  <a:srgbClr val="3366FF"/>
                </a:solidFill>
                <a:latin typeface="Courier"/>
                <a:cs typeface="Courier"/>
              </a:rPr>
              <a:t>"</a:t>
            </a:r>
            <a:endParaRPr lang="fr-FR" sz="2400" dirty="0" smtClean="0">
              <a:solidFill>
                <a:srgbClr val="3366FF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		bloc_instructions</a:t>
            </a:r>
          </a:p>
        </p:txBody>
      </p:sp>
    </p:spTree>
    <p:extLst>
      <p:ext uri="{BB962C8B-B14F-4D97-AF65-F5344CB8AC3E}">
        <p14:creationId xmlns:p14="http://schemas.microsoft.com/office/powerpoint/2010/main" val="24497813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Procédures et fonctions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 smtClean="0">
                <a:solidFill>
                  <a:prstClr val="black"/>
                </a:solidFill>
                <a:latin typeface="Courier"/>
                <a:cs typeface="Courier"/>
              </a:rPr>
              <a:t>Programme</a:t>
            </a:r>
            <a:endParaRPr lang="fr-FR" sz="1800" b="1" dirty="0" smtClean="0">
              <a:solidFill>
                <a:srgbClr val="008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ourier"/>
                <a:cs typeface="Courier"/>
              </a:rPr>
              <a:t>message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""Documentation de la 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fonction""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Petit 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message"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message()</a:t>
            </a:r>
          </a:p>
          <a:p>
            <a:pPr marL="0" indent="0">
              <a:buNone/>
            </a:pPr>
            <a:r>
              <a:rPr lang="fr-FR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message</a:t>
            </a:r>
            <a:r>
              <a:rPr lang="fr-FR" sz="1800" dirty="0" err="1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__doc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__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smtClean="0">
                <a:solidFill>
                  <a:prstClr val="black"/>
                </a:solidFill>
                <a:latin typeface="Courier"/>
                <a:cs typeface="Courier"/>
              </a:rPr>
              <a:t>Exécution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Petit message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Documentation de la fonction</a:t>
            </a:r>
            <a:endParaRPr lang="fr-CH" sz="2400" dirty="0" smtClean="0">
              <a:solidFill>
                <a:srgbClr val="3366FF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CH" sz="2400" dirty="0" smtClean="0">
              <a:solidFill>
                <a:srgbClr val="3366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3950928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Procédures et fonctions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 smtClean="0">
                <a:solidFill>
                  <a:prstClr val="black"/>
                </a:solidFill>
                <a:latin typeface="Courier"/>
                <a:cs typeface="Courier"/>
              </a:rPr>
              <a:t>Programme</a:t>
            </a:r>
            <a:endParaRPr lang="fr-FR" sz="1800" b="1" dirty="0" smtClean="0">
              <a:solidFill>
                <a:srgbClr val="008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ourier"/>
                <a:cs typeface="Courier"/>
              </a:rPr>
              <a:t>pi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""Cette fonction retourne pi"""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 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 smtClean="0">
                <a:solidFill>
                  <a:srgbClr val="008000"/>
                </a:solidFill>
                <a:latin typeface="Courier"/>
                <a:cs typeface="Courier"/>
              </a:rPr>
              <a:t>return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3.14159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pi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))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pi</a:t>
            </a:r>
            <a:r>
              <a:rPr lang="fr-FR" sz="1800" dirty="0" err="1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__doc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__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>
                <a:solidFill>
                  <a:prstClr val="black"/>
                </a:solidFill>
                <a:latin typeface="Courier"/>
                <a:cs typeface="Courier"/>
              </a:rPr>
              <a:t>Exécution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3.14159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Cette fonction retourne pi</a:t>
            </a:r>
            <a:endParaRPr lang="fr-CH" sz="1800" dirty="0">
              <a:solidFill>
                <a:srgbClr val="3366FF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CH" sz="1800" dirty="0" smtClean="0">
              <a:solidFill>
                <a:srgbClr val="3366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7498916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Procédures et fonctions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Il est possible, et c’est là que ces concepts prendront toute leur puissance, de définir des procédures et fonctions qui possèdent des arguments. La syntaxe est :</a:t>
            </a:r>
          </a:p>
          <a:p>
            <a:pPr marL="0" indent="0">
              <a:buNone/>
            </a:pP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	def nom_procedure(args):</a:t>
            </a:r>
            <a:endParaRPr lang="fr-FR" sz="2400" dirty="0" smtClean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		bloc_instructions</a:t>
            </a:r>
          </a:p>
          <a:p>
            <a:pPr marL="0" indent="0">
              <a:buNone/>
            </a:pPr>
            <a:endParaRPr lang="fr-CH" sz="2400" dirty="0" smtClean="0">
              <a:solidFill>
                <a:srgbClr val="3366FF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	def nom_fonction(args)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:</a:t>
            </a:r>
            <a:endParaRPr lang="fr-FR" sz="24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	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bloc_instructions</a:t>
            </a:r>
          </a:p>
          <a:p>
            <a:pPr marL="0" indent="0">
              <a:buNone/>
            </a:pP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	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return valeur</a:t>
            </a:r>
            <a:endParaRPr lang="fr-CH" sz="2400" dirty="0">
              <a:solidFill>
                <a:srgbClr val="3366FF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CH" sz="3200" dirty="0" smtClean="0">
              <a:solidFill>
                <a:srgbClr val="3366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9815355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Programme (faire démo)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On avait écrit un programme qui permet de résoudre les équations du second degré.</a:t>
            </a:r>
            <a:endParaRPr lang="fr-CH" sz="3200" dirty="0">
              <a:solidFill>
                <a:srgbClr val="3366FF"/>
              </a:solidFill>
              <a:latin typeface="Courier"/>
              <a:cs typeface="Courier"/>
            </a:endParaRPr>
          </a:p>
          <a:p>
            <a:r>
              <a:rPr lang="fr-FR" dirty="0" smtClean="0"/>
              <a:t>On va transformer ce programme en une procédure avec arguments qui imprime les solutions désirées.</a:t>
            </a:r>
          </a:p>
          <a:p>
            <a:r>
              <a:rPr lang="fr-FR" dirty="0" smtClean="0"/>
              <a:t>On pourra alors réutiliser cette procédure à souhait.</a:t>
            </a:r>
          </a:p>
        </p:txBody>
      </p:sp>
    </p:spTree>
    <p:extLst>
      <p:ext uri="{BB962C8B-B14F-4D97-AF65-F5344CB8AC3E}">
        <p14:creationId xmlns:p14="http://schemas.microsoft.com/office/powerpoint/2010/main" val="38928965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Programme (faire démo)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from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00FF"/>
                </a:solidFill>
                <a:latin typeface="Courier"/>
                <a:cs typeface="Courier"/>
              </a:rPr>
              <a:t>math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import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*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importation de la librairie math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ourier"/>
                <a:cs typeface="Courier"/>
              </a:rPr>
              <a:t>resolution_eq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a,b,c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""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Cette procédure résout 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les équations du 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2</a:t>
            </a:r>
            <a:r>
              <a:rPr lang="fr-FR" sz="1800" i="1" baseline="30000" dirty="0" smtClean="0">
                <a:solidFill>
                  <a:srgbClr val="BA2121"/>
                </a:solidFill>
                <a:latin typeface="Courier"/>
                <a:cs typeface="Courier"/>
              </a:rPr>
              <a:t>ème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 degré 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de paramètres a, 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b, c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et imprime les solutions""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delta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b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**2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4*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a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*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c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delta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&lt;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Les solutions sont complexes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:"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aux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sqrt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delta))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*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j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srgbClr val="008000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b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aux)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/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2*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a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srgbClr val="008000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b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aux)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/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2*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a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it-IT" sz="32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8539020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Programme (faire démo)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sz="1800" b="1" dirty="0" smtClean="0">
                <a:solidFill>
                  <a:srgbClr val="008000"/>
                </a:solidFill>
                <a:latin typeface="Courier"/>
                <a:cs typeface="Courier"/>
              </a:rPr>
              <a:t>    elif</a:t>
            </a:r>
            <a:r>
              <a:rPr lang="tr-T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delta </a:t>
            </a:r>
            <a:r>
              <a:rPr lang="tr-TR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tr-TR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tr-T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tr-TR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tr-TR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tr-TR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tr-TR" sz="1800" dirty="0" err="1">
                <a:solidFill>
                  <a:srgbClr val="BA2121"/>
                </a:solidFill>
                <a:latin typeface="Courier"/>
                <a:cs typeface="Courier"/>
              </a:rPr>
              <a:t>Une</a:t>
            </a:r>
            <a:r>
              <a:rPr lang="tr-TR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tr-TR" sz="1800" dirty="0" err="1">
                <a:solidFill>
                  <a:srgbClr val="BA2121"/>
                </a:solidFill>
                <a:latin typeface="Courier"/>
                <a:cs typeface="Courier"/>
              </a:rPr>
              <a:t>seule</a:t>
            </a:r>
            <a:r>
              <a:rPr lang="tr-TR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tr-TR" sz="1800" dirty="0" err="1">
                <a:solidFill>
                  <a:srgbClr val="BA2121"/>
                </a:solidFill>
                <a:latin typeface="Courier"/>
                <a:cs typeface="Courier"/>
              </a:rPr>
              <a:t>solution</a:t>
            </a:r>
            <a:r>
              <a:rPr lang="tr-TR" sz="1800" dirty="0" smtClean="0">
                <a:solidFill>
                  <a:srgbClr val="BA2121"/>
                </a:solidFill>
                <a:latin typeface="Courier"/>
                <a:cs typeface="Courier"/>
              </a:rPr>
              <a:t>:"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tr-T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dirty="0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 smtClean="0">
                <a:solidFill>
                  <a:srgbClr val="000000"/>
                </a:solidFill>
                <a:latin typeface="Courier"/>
                <a:cs typeface="Courier"/>
              </a:rPr>
              <a:t>( </a:t>
            </a:r>
            <a:r>
              <a:rPr lang="en-US" sz="1800" dirty="0" smtClean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b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/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2*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a) )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 smtClean="0">
                <a:solidFill>
                  <a:srgbClr val="008000"/>
                </a:solidFill>
                <a:latin typeface="Courier"/>
                <a:cs typeface="Courier"/>
              </a:rPr>
              <a:t>else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</a:t>
            </a:r>
            <a:r>
              <a:rPr lang="en-US" sz="1800" dirty="0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Deux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solutions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:"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it-IT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it-IT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it-IT" sz="1800" dirty="0" smtClean="0">
                <a:solidFill>
                  <a:srgbClr val="008000"/>
                </a:solidFill>
                <a:latin typeface="Courier"/>
                <a:cs typeface="Courier"/>
              </a:rPr>
              <a:t> 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b 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t-IT" sz="1800" dirty="0" err="1">
                <a:solidFill>
                  <a:prstClr val="black"/>
                </a:solidFill>
                <a:latin typeface="Courier"/>
                <a:cs typeface="Courier"/>
              </a:rPr>
              <a:t>sqrt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(delta)) 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/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2*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a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)</a:t>
            </a:r>
            <a:endParaRPr lang="it-IT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it-IT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it-IT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it-IT" sz="1800" dirty="0" smtClean="0">
                <a:solidFill>
                  <a:srgbClr val="008000"/>
                </a:solidFill>
                <a:latin typeface="Courier"/>
                <a:cs typeface="Courier"/>
              </a:rPr>
              <a:t> 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b 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t-IT" sz="1800" dirty="0" err="1">
                <a:solidFill>
                  <a:prstClr val="black"/>
                </a:solidFill>
                <a:latin typeface="Courier"/>
                <a:cs typeface="Courier"/>
              </a:rPr>
              <a:t>sqrt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(delta)) 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/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2*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a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)</a:t>
            </a:r>
            <a:endParaRPr lang="it-IT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it-IT" sz="32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0151121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Programme (faire démo)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resolution_eq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-1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4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resolution_eq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4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4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resolution_eq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4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7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-2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smtClean="0">
                <a:solidFill>
                  <a:prstClr val="black"/>
                </a:solidFill>
                <a:latin typeface="Courier"/>
                <a:cs typeface="Courier"/>
              </a:rPr>
              <a:t>Exécution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Les solutions sont complexes: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(0.16666666666666666+1.1426091000668406j)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(0.16666666666666666-1.1426091000668406j)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Une seule solution: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-2.0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Deux solutions: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0.25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-2.0</a:t>
            </a:r>
          </a:p>
          <a:p>
            <a:pPr marL="0" indent="0">
              <a:buNone/>
            </a:pPr>
            <a:endParaRPr lang="it-IT" sz="1800" b="1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445256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Programme (faire démo)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17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On va transformer ce programme en </a:t>
            </a:r>
            <a:r>
              <a:rPr lang="fr-FR" dirty="0"/>
              <a:t>une fonction avec </a:t>
            </a:r>
            <a:r>
              <a:rPr lang="fr-FR" dirty="0" smtClean="0"/>
              <a:t>arguments, et non une procédure, qui retourne (</a:t>
            </a:r>
            <a:r>
              <a:rPr lang="fr-FR" dirty="0"/>
              <a:t>a</a:t>
            </a:r>
            <a:r>
              <a:rPr lang="fr-FR" dirty="0" smtClean="0"/>
              <a:t>u lieu d’imprimer) les solutions désirées.</a:t>
            </a:r>
          </a:p>
          <a:p>
            <a:r>
              <a:rPr lang="fr-FR" dirty="0" smtClean="0"/>
              <a:t>On pourra ensuite utiliser cette fonction à souhait dans d’autres programmes.</a:t>
            </a:r>
          </a:p>
        </p:txBody>
      </p:sp>
    </p:spTree>
    <p:extLst>
      <p:ext uri="{BB962C8B-B14F-4D97-AF65-F5344CB8AC3E}">
        <p14:creationId xmlns:p14="http://schemas.microsoft.com/office/powerpoint/2010/main" val="3855139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Programme (faire démo)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from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00FF"/>
                </a:solidFill>
                <a:latin typeface="Courier"/>
                <a:cs typeface="Courier"/>
              </a:rPr>
              <a:t>math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import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*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importation de la librairie math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 smtClean="0">
                <a:solidFill>
                  <a:srgbClr val="0000FF"/>
                </a:solidFill>
                <a:latin typeface="Courier"/>
                <a:cs typeface="Courier"/>
              </a:rPr>
              <a:t>solution_eq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a,b,c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""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Cette fonction résout 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les équations du 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2</a:t>
            </a:r>
            <a:r>
              <a:rPr lang="fr-FR" sz="1800" i="1" baseline="30000" dirty="0" smtClean="0">
                <a:solidFill>
                  <a:srgbClr val="BA2121"/>
                </a:solidFill>
                <a:latin typeface="Courier"/>
                <a:cs typeface="Courier"/>
              </a:rPr>
              <a:t>ème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 degré 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de paramètres a, 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b, c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et retourne les solutions""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delta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b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**2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4*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a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*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c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delta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&lt;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aux 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sqrt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delta))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*1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j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return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b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aux)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/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2*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a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), 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b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aux)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/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2*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a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it-IT" sz="32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3552834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Programme (faire démo)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sz="1800" b="1" dirty="0" smtClean="0">
                <a:solidFill>
                  <a:srgbClr val="008000"/>
                </a:solidFill>
                <a:latin typeface="Courier"/>
                <a:cs typeface="Courier"/>
              </a:rPr>
              <a:t>    elif</a:t>
            </a:r>
            <a:r>
              <a:rPr lang="tr-T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delta </a:t>
            </a:r>
            <a:r>
              <a:rPr lang="tr-TR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tr-TR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b="1" dirty="0" smtClean="0">
                <a:solidFill>
                  <a:srgbClr val="008000"/>
                </a:solidFill>
                <a:latin typeface="Courier"/>
                <a:cs typeface="Courier"/>
              </a:rPr>
              <a:t>        return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en-US" sz="1800" dirty="0" smtClean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b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/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2*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a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))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 smtClean="0">
                <a:solidFill>
                  <a:srgbClr val="008000"/>
                </a:solidFill>
                <a:latin typeface="Courier"/>
                <a:cs typeface="Courier"/>
              </a:rPr>
              <a:t>else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b="1" dirty="0" smtClean="0">
                <a:solidFill>
                  <a:srgbClr val="008000"/>
                </a:solidFill>
                <a:latin typeface="Courier"/>
                <a:cs typeface="Courier"/>
              </a:rPr>
              <a:t>        return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b 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t-IT" sz="1800" dirty="0" err="1">
                <a:solidFill>
                  <a:prstClr val="black"/>
                </a:solidFill>
                <a:latin typeface="Courier"/>
                <a:cs typeface="Courier"/>
              </a:rPr>
              <a:t>sqrt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(delta)) 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/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2*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a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),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\</a:t>
            </a:r>
          </a:p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	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	   (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b 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t-IT" sz="1800" dirty="0" err="1">
                <a:solidFill>
                  <a:prstClr val="black"/>
                </a:solidFill>
                <a:latin typeface="Courier"/>
                <a:cs typeface="Courier"/>
              </a:rPr>
              <a:t>sqrt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(delta)) 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/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2*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a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))</a:t>
            </a:r>
            <a:endParaRPr lang="it-IT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it-IT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546705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Programme (faire démo)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</a:rPr>
              <a:t>s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</a:rPr>
              <a:t>solution_eq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3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,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7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,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4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 err="1" smtClean="0">
                <a:solidFill>
                  <a:srgbClr val="008000"/>
                </a:solidFill>
                <a:latin typeface="Courier"/>
              </a:rPr>
              <a:t>print</a:t>
            </a:r>
            <a:r>
              <a:rPr lang="fr-FR" sz="1800" dirty="0" smtClean="0">
                <a:solidFill>
                  <a:srgbClr val="000000"/>
                </a:solidFill>
                <a:latin typeface="Courier"/>
              </a:rPr>
              <a:t>(</a:t>
            </a:r>
            <a:r>
              <a:rPr lang="pt-BR" sz="1800" dirty="0" err="1" smtClean="0">
                <a:solidFill>
                  <a:prstClr val="black"/>
                </a:solidFill>
                <a:latin typeface="Courier"/>
              </a:rPr>
              <a:t>s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[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0</a:t>
            </a:r>
            <a:r>
              <a:rPr lang="pt-BR" sz="1800" dirty="0" smtClean="0">
                <a:solidFill>
                  <a:prstClr val="black"/>
                </a:solidFill>
                <a:latin typeface="Courier"/>
              </a:rPr>
              <a:t>]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pt-B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pt-BR" sz="1800" dirty="0" err="1" smtClean="0">
                <a:solidFill>
                  <a:srgbClr val="008000"/>
                </a:solidFill>
                <a:latin typeface="Courier"/>
              </a:rPr>
              <a:t>print</a:t>
            </a:r>
            <a:r>
              <a:rPr lang="pt-BR" sz="1800" dirty="0" smtClean="0">
                <a:solidFill>
                  <a:srgbClr val="000000"/>
                </a:solidFill>
                <a:latin typeface="Courier"/>
              </a:rPr>
              <a:t>(</a:t>
            </a:r>
            <a:r>
              <a:rPr lang="pt-BR" sz="1800" dirty="0" err="1" smtClean="0">
                <a:solidFill>
                  <a:prstClr val="black"/>
                </a:solidFill>
                <a:latin typeface="Courier"/>
              </a:rPr>
              <a:t>s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[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1</a:t>
            </a:r>
            <a:r>
              <a:rPr lang="pt-BR" sz="1800" dirty="0" smtClean="0">
                <a:solidFill>
                  <a:prstClr val="black"/>
                </a:solidFill>
                <a:latin typeface="Courier"/>
              </a:rPr>
              <a:t>]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pt-B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b="1" dirty="0" smtClean="0">
                <a:solidFill>
                  <a:prstClr val="black"/>
                </a:solidFill>
                <a:latin typeface="Courier"/>
              </a:rPr>
              <a:t>Exécution</a:t>
            </a:r>
          </a:p>
          <a:p>
            <a:pPr marL="0" indent="0">
              <a:buNone/>
            </a:pPr>
            <a:r>
              <a:rPr lang="nb-NO" sz="1800" dirty="0">
                <a:solidFill>
                  <a:prstClr val="black"/>
                </a:solidFill>
                <a:latin typeface="Courier"/>
              </a:rPr>
              <a:t>-1.0</a:t>
            </a:r>
          </a:p>
          <a:p>
            <a:pPr marL="0" indent="0">
              <a:buNone/>
            </a:pPr>
            <a:r>
              <a:rPr lang="nb-NO" sz="1800" dirty="0">
                <a:solidFill>
                  <a:prstClr val="black"/>
                </a:solidFill>
                <a:latin typeface="Courier"/>
              </a:rPr>
              <a:t>-1.3333333333333333</a:t>
            </a:r>
            <a:endParaRPr lang="it-IT" sz="1800" dirty="0">
              <a:solidFill>
                <a:prstClr val="black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173551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Procédures et fonctions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21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Lorsque l’on déclare une fonction ou une procédure, il est possible de donner des noms et des valeurs par défaut aux arguments.</a:t>
            </a:r>
          </a:p>
          <a:p>
            <a:r>
              <a:rPr lang="fr-FR" dirty="0" smtClean="0"/>
              <a:t>Ainsi, il n’y plus besoin de donner les arguments dans le bon ordre, pour autant qu’on les nomme par leur nom correctement.</a:t>
            </a:r>
          </a:p>
          <a:p>
            <a:r>
              <a:rPr lang="fr-FR" dirty="0" smtClean="0"/>
              <a:t>Si on omet de spécifier la valeur d’un argument, c’est la valeur par défaut qui sera considérée.</a:t>
            </a:r>
          </a:p>
          <a:p>
            <a:pPr marL="0" indent="0">
              <a:buNone/>
            </a:pPr>
            <a:endParaRPr lang="fr-CH" sz="3200" dirty="0" smtClean="0">
              <a:solidFill>
                <a:srgbClr val="3366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8018849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Procédures et fonctions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22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La syntaxe est la suivante :</a:t>
            </a:r>
          </a:p>
          <a:p>
            <a:pPr marL="0" indent="0">
              <a:buNone/>
            </a:pP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def nom_procedure(arg_1=v_1,</a:t>
            </a:r>
            <a:r>
              <a:rPr lang="is-IS" sz="2400" dirty="0" smtClean="0">
                <a:solidFill>
                  <a:srgbClr val="3366FF"/>
                </a:solidFill>
                <a:latin typeface="Courier"/>
                <a:cs typeface="Courier"/>
              </a:rPr>
              <a:t>...,arg_n=v_n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):</a:t>
            </a:r>
            <a:endParaRPr lang="fr-FR" sz="2400" dirty="0" smtClean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bloc_instructions</a:t>
            </a:r>
          </a:p>
          <a:p>
            <a:pPr marL="0" indent="0">
              <a:buNone/>
            </a:pPr>
            <a:endParaRPr lang="fr-CH" sz="2400" dirty="0" smtClean="0">
              <a:solidFill>
                <a:srgbClr val="3366FF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def nom_fonction(arg_1=v_1,</a:t>
            </a:r>
            <a:r>
              <a:rPr lang="is-IS" sz="2400" dirty="0">
                <a:solidFill>
                  <a:srgbClr val="3366FF"/>
                </a:solidFill>
                <a:latin typeface="Courier"/>
                <a:cs typeface="Courier"/>
              </a:rPr>
              <a:t>...,arg_n=v_n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):</a:t>
            </a:r>
            <a:endParaRPr lang="fr-FR" sz="24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	bloc_instructions</a:t>
            </a:r>
          </a:p>
          <a:p>
            <a:pPr marL="0" indent="0">
              <a:buNone/>
            </a:pP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	return valeur</a:t>
            </a:r>
            <a:endParaRPr lang="fr-CH" sz="2400" dirty="0">
              <a:solidFill>
                <a:srgbClr val="3366FF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CH" sz="3200" dirty="0" smtClean="0">
              <a:solidFill>
                <a:srgbClr val="3366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0735224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Programme (faire démo)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23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On avait écrit un programme qui </a:t>
            </a:r>
            <a:r>
              <a:rPr lang="fr-FR" dirty="0" smtClean="0"/>
              <a:t>générait le cours aléatoire d’une action sur 1000 pas de temps à partir d’une certaine valeur et en fluctuant de +/- 2 à chaque pas de temps. On avait ensuite implémenté une stratégie d’achat et de vente en fonction du cours de l’action.</a:t>
            </a:r>
            <a:endParaRPr lang="fr-CH" sz="3200" dirty="0">
              <a:solidFill>
                <a:srgbClr val="3366FF"/>
              </a:solidFill>
              <a:latin typeface="Courier"/>
              <a:cs typeface="Courier"/>
            </a:endParaRPr>
          </a:p>
          <a:p>
            <a:r>
              <a:rPr lang="fr-FR" dirty="0" smtClean="0"/>
              <a:t>On va transformer ce programme en une procédure où les arguments sont nommés et possèdent des valeurs par défaut.</a:t>
            </a:r>
          </a:p>
        </p:txBody>
      </p:sp>
    </p:spTree>
    <p:extLst>
      <p:ext uri="{BB962C8B-B14F-4D97-AF65-F5344CB8AC3E}">
        <p14:creationId xmlns:p14="http://schemas.microsoft.com/office/powerpoint/2010/main" val="1259860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Programme (faire démo)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9251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from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00FF"/>
                </a:solidFill>
                <a:latin typeface="Courier"/>
                <a:cs typeface="Courier"/>
              </a:rPr>
              <a:t>math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import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*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importation de la librairie math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from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 err="1">
                <a:solidFill>
                  <a:srgbClr val="0000FF"/>
                </a:solidFill>
                <a:latin typeface="Courier"/>
                <a:cs typeface="Courier"/>
              </a:rPr>
              <a:t>random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import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*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importation de la librairie </a:t>
            </a:r>
            <a:r>
              <a:rPr lang="fr-FR" sz="1800" i="1" dirty="0" err="1">
                <a:solidFill>
                  <a:srgbClr val="408080"/>
                </a:solidFill>
                <a:latin typeface="Courier"/>
                <a:cs typeface="Courier"/>
              </a:rPr>
              <a:t>random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on génère le cours d'une action de 1000 valeurs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le cours varie de +/- 2 à chaque pas de temps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ourier"/>
                <a:cs typeface="Courier"/>
              </a:rPr>
              <a:t>procedure_action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(temps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=1000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v_init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=80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,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	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		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v_achat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=75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v_vente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=85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""</a:t>
            </a:r>
            <a:r>
              <a:rPr lang="fr-FR" sz="1800" i="1" dirty="0" err="1">
                <a:solidFill>
                  <a:srgbClr val="BA2121"/>
                </a:solidFill>
                <a:latin typeface="Courier"/>
                <a:cs typeface="Courier"/>
              </a:rPr>
              <a:t>procedure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 qui implémente de cous aléatoire d'une action ainsi qu'une stratégie d'achat et de vente de cette 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action""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i="1" dirty="0" smtClean="0">
                <a:solidFill>
                  <a:srgbClr val="BA2121"/>
                </a:solidFill>
                <a:latin typeface="Courier"/>
                <a:cs typeface="Courier"/>
              </a:rPr>
              <a:t> 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8412063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Programme (faire démo)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25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on initialise le 1er élément de la liste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cours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v_init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   #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on crée les 999 éléments restants de la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liste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 smtClean="0">
                <a:solidFill>
                  <a:prstClr val="black"/>
                </a:solidFill>
                <a:latin typeface="Courier"/>
                <a:cs typeface="Courier"/>
              </a:rPr>
              <a:t>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i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range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(temps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-1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cours</a:t>
            </a:r>
            <a:r>
              <a:rPr lang="fr-FR" sz="1800" dirty="0" err="1" smtClean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append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 cours[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-1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]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randint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-2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7673336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Programme (faire démo)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26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fr-FR" sz="33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33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3300" i="1" dirty="0">
                <a:solidFill>
                  <a:srgbClr val="408080"/>
                </a:solidFill>
                <a:latin typeface="Courier"/>
                <a:cs typeface="Courier"/>
              </a:rPr>
              <a:t>on implémente une stratégie d'achat et de de vente</a:t>
            </a:r>
            <a:endParaRPr lang="fr-FR" sz="33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33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33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3300" i="1" dirty="0">
                <a:solidFill>
                  <a:srgbClr val="408080"/>
                </a:solidFill>
                <a:latin typeface="Courier"/>
                <a:cs typeface="Courier"/>
              </a:rPr>
              <a:t>on suppose qu'on a acheté les actions au départ</a:t>
            </a:r>
            <a:endParaRPr lang="fr-FR" sz="33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3300" dirty="0" smtClean="0">
                <a:solidFill>
                  <a:prstClr val="black"/>
                </a:solidFill>
                <a:latin typeface="Courier"/>
                <a:cs typeface="Courier"/>
              </a:rPr>
              <a:t>    ordre </a:t>
            </a:r>
            <a:r>
              <a:rPr lang="fr-FR" sz="33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33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3300" dirty="0" smtClean="0">
                <a:solidFill>
                  <a:srgbClr val="BA2121"/>
                </a:solidFill>
                <a:latin typeface="Courier"/>
                <a:cs typeface="Courier"/>
              </a:rPr>
              <a:t>"achat"</a:t>
            </a:r>
            <a:endParaRPr lang="fr-FR" sz="33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33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33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fr-FR" sz="33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3300" dirty="0">
                <a:solidFill>
                  <a:prstClr val="black"/>
                </a:solidFill>
                <a:latin typeface="Courier"/>
                <a:cs typeface="Courier"/>
              </a:rPr>
              <a:t>i </a:t>
            </a:r>
            <a:r>
              <a:rPr lang="fr-FR" sz="33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33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3300" dirty="0">
                <a:solidFill>
                  <a:srgbClr val="008000"/>
                </a:solidFill>
                <a:latin typeface="Courier"/>
                <a:cs typeface="Courier"/>
              </a:rPr>
              <a:t>range</a:t>
            </a:r>
            <a:r>
              <a:rPr lang="fr-FR" sz="3300" dirty="0">
                <a:solidFill>
                  <a:prstClr val="black"/>
                </a:solidFill>
                <a:latin typeface="Courier"/>
                <a:cs typeface="Courier"/>
              </a:rPr>
              <a:t>(temps</a:t>
            </a:r>
            <a:r>
              <a:rPr lang="fr-FR" sz="3300" dirty="0">
                <a:solidFill>
                  <a:srgbClr val="666666"/>
                </a:solidFill>
                <a:latin typeface="Courier"/>
                <a:cs typeface="Courier"/>
              </a:rPr>
              <a:t>-1</a:t>
            </a:r>
            <a:r>
              <a:rPr lang="fr-FR" sz="33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fr-FR" sz="33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33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3300" i="1" dirty="0">
                <a:solidFill>
                  <a:srgbClr val="408080"/>
                </a:solidFill>
                <a:latin typeface="Courier"/>
                <a:cs typeface="Courier"/>
              </a:rPr>
              <a:t>si l'action monte en-dessus de 85, on vend</a:t>
            </a:r>
            <a:endParaRPr lang="fr-FR" sz="33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33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33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3300" i="1" dirty="0">
                <a:solidFill>
                  <a:srgbClr val="408080"/>
                </a:solidFill>
                <a:latin typeface="Courier"/>
                <a:cs typeface="Courier"/>
              </a:rPr>
              <a:t>(pour autant qu'on avait acheté auparavant)</a:t>
            </a:r>
            <a:endParaRPr lang="fr-FR" sz="33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33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33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33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3300" dirty="0">
                <a:solidFill>
                  <a:prstClr val="black"/>
                </a:solidFill>
                <a:latin typeface="Courier"/>
                <a:cs typeface="Courier"/>
              </a:rPr>
              <a:t>(cours[i] </a:t>
            </a:r>
            <a:r>
              <a:rPr lang="fr-FR" sz="3300" dirty="0">
                <a:solidFill>
                  <a:srgbClr val="666666"/>
                </a:solidFill>
                <a:latin typeface="Courier"/>
                <a:cs typeface="Courier"/>
              </a:rPr>
              <a:t>&gt;=</a:t>
            </a:r>
            <a:r>
              <a:rPr lang="fr-FR" sz="33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3300" dirty="0" err="1">
                <a:solidFill>
                  <a:prstClr val="black"/>
                </a:solidFill>
                <a:latin typeface="Courier"/>
                <a:cs typeface="Courier"/>
              </a:rPr>
              <a:t>v_vente</a:t>
            </a:r>
            <a:r>
              <a:rPr lang="fr-FR" sz="33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3300" b="1" dirty="0">
                <a:solidFill>
                  <a:srgbClr val="AA22FF"/>
                </a:solidFill>
                <a:latin typeface="Courier"/>
                <a:cs typeface="Courier"/>
              </a:rPr>
              <a:t>and</a:t>
            </a:r>
            <a:r>
              <a:rPr lang="fr-FR" sz="3300" dirty="0">
                <a:solidFill>
                  <a:prstClr val="black"/>
                </a:solidFill>
                <a:latin typeface="Courier"/>
                <a:cs typeface="Courier"/>
              </a:rPr>
              <a:t> ordre </a:t>
            </a:r>
            <a:r>
              <a:rPr lang="fr-FR" sz="33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fr-FR" sz="33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3300" dirty="0">
                <a:solidFill>
                  <a:srgbClr val="BA2121"/>
                </a:solidFill>
                <a:latin typeface="Courier"/>
                <a:cs typeface="Courier"/>
              </a:rPr>
              <a:t>"achat"</a:t>
            </a:r>
            <a:r>
              <a:rPr lang="fr-FR" sz="33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fr-FR" sz="3300" dirty="0" smtClean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fr-FR" sz="3300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33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fr-FR" sz="33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3300" dirty="0">
                <a:solidFill>
                  <a:srgbClr val="BA2121"/>
                </a:solidFill>
                <a:latin typeface="Courier"/>
                <a:cs typeface="Courier"/>
              </a:rPr>
              <a:t>Vendre au temps"</a:t>
            </a:r>
            <a:r>
              <a:rPr lang="fr-FR" sz="33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3300" dirty="0" smtClean="0">
                <a:solidFill>
                  <a:prstClr val="black"/>
                </a:solidFill>
                <a:latin typeface="Courier"/>
                <a:cs typeface="Courier"/>
              </a:rPr>
              <a:t>i</a:t>
            </a:r>
            <a:r>
              <a:rPr lang="en-US" sz="36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fr-FR" sz="33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3300" dirty="0" smtClean="0">
                <a:solidFill>
                  <a:prstClr val="black"/>
                </a:solidFill>
                <a:latin typeface="Courier"/>
                <a:cs typeface="Courier"/>
              </a:rPr>
              <a:t>            ordre </a:t>
            </a:r>
            <a:r>
              <a:rPr lang="fr-FR" sz="33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33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33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3300" dirty="0" smtClean="0">
                <a:solidFill>
                  <a:srgbClr val="BA2121"/>
                </a:solidFill>
                <a:latin typeface="Courier"/>
                <a:cs typeface="Courier"/>
              </a:rPr>
              <a:t>vente"</a:t>
            </a:r>
            <a:endParaRPr lang="fr-FR" sz="33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33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33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3300" i="1" dirty="0">
                <a:solidFill>
                  <a:srgbClr val="408080"/>
                </a:solidFill>
                <a:latin typeface="Courier"/>
                <a:cs typeface="Courier"/>
              </a:rPr>
              <a:t>si l'action baisse en-dessous de 75, on achète</a:t>
            </a:r>
            <a:endParaRPr lang="fr-FR" sz="33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33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33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3300" i="1" dirty="0">
                <a:solidFill>
                  <a:srgbClr val="408080"/>
                </a:solidFill>
                <a:latin typeface="Courier"/>
                <a:cs typeface="Courier"/>
              </a:rPr>
              <a:t>(pour autant qu'on avait vendu auparavant)</a:t>
            </a:r>
            <a:endParaRPr lang="fr-FR" sz="33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33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3300" b="1" dirty="0" err="1" smtClean="0">
                <a:solidFill>
                  <a:srgbClr val="008000"/>
                </a:solidFill>
                <a:latin typeface="Courier"/>
                <a:cs typeface="Courier"/>
              </a:rPr>
              <a:t>elif</a:t>
            </a:r>
            <a:r>
              <a:rPr lang="fr-FR" sz="33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3300" dirty="0">
                <a:solidFill>
                  <a:prstClr val="black"/>
                </a:solidFill>
                <a:latin typeface="Courier"/>
                <a:cs typeface="Courier"/>
              </a:rPr>
              <a:t>(cours[i] </a:t>
            </a:r>
            <a:r>
              <a:rPr lang="fr-FR" sz="3300" dirty="0">
                <a:solidFill>
                  <a:srgbClr val="666666"/>
                </a:solidFill>
                <a:latin typeface="Courier"/>
                <a:cs typeface="Courier"/>
              </a:rPr>
              <a:t>&lt;=</a:t>
            </a:r>
            <a:r>
              <a:rPr lang="fr-FR" sz="33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3300" dirty="0" err="1">
                <a:solidFill>
                  <a:prstClr val="black"/>
                </a:solidFill>
                <a:latin typeface="Courier"/>
                <a:cs typeface="Courier"/>
              </a:rPr>
              <a:t>v_achat</a:t>
            </a:r>
            <a:r>
              <a:rPr lang="fr-FR" sz="33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3300" b="1" dirty="0">
                <a:solidFill>
                  <a:srgbClr val="AA22FF"/>
                </a:solidFill>
                <a:latin typeface="Courier"/>
                <a:cs typeface="Courier"/>
              </a:rPr>
              <a:t>and</a:t>
            </a:r>
            <a:r>
              <a:rPr lang="fr-FR" sz="3300" dirty="0">
                <a:solidFill>
                  <a:prstClr val="black"/>
                </a:solidFill>
                <a:latin typeface="Courier"/>
                <a:cs typeface="Courier"/>
              </a:rPr>
              <a:t> ordre </a:t>
            </a:r>
            <a:r>
              <a:rPr lang="fr-FR" sz="33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fr-FR" sz="33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33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3300" dirty="0" smtClean="0">
                <a:solidFill>
                  <a:srgbClr val="BA2121"/>
                </a:solidFill>
                <a:latin typeface="Courier"/>
                <a:cs typeface="Courier"/>
              </a:rPr>
              <a:t>vente"</a:t>
            </a:r>
            <a:r>
              <a:rPr lang="fr-FR" sz="33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fr-FR" sz="3300" dirty="0" smtClean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fr-FR" sz="3300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33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fr-FR" sz="33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3300" dirty="0">
                <a:solidFill>
                  <a:srgbClr val="BA2121"/>
                </a:solidFill>
                <a:latin typeface="Courier"/>
                <a:cs typeface="Courier"/>
              </a:rPr>
              <a:t>Acheter au temps"</a:t>
            </a:r>
            <a:r>
              <a:rPr lang="fr-FR" sz="33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3300" dirty="0" smtClean="0">
                <a:solidFill>
                  <a:prstClr val="black"/>
                </a:solidFill>
                <a:latin typeface="Courier"/>
                <a:cs typeface="Courier"/>
              </a:rPr>
              <a:t>i</a:t>
            </a:r>
            <a:r>
              <a:rPr lang="en-US" sz="36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fr-FR" sz="33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3300" dirty="0" smtClean="0">
                <a:solidFill>
                  <a:prstClr val="black"/>
                </a:solidFill>
                <a:latin typeface="Courier"/>
                <a:cs typeface="Courier"/>
              </a:rPr>
              <a:t>            ordre </a:t>
            </a:r>
            <a:r>
              <a:rPr lang="fr-FR" sz="3300" dirty="0" smtClean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33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3300" dirty="0" smtClean="0">
                <a:solidFill>
                  <a:srgbClr val="BA2121"/>
                </a:solidFill>
                <a:latin typeface="Courier"/>
                <a:cs typeface="Courier"/>
              </a:rPr>
              <a:t>"achat"</a:t>
            </a:r>
            <a:endParaRPr lang="fr-FR" sz="33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dirty="0" smtClean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0680763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Programme (faire démo)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27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 err="1" smtClean="0">
                <a:solidFill>
                  <a:prstClr val="black"/>
                </a:solidFill>
                <a:latin typeface="Courier"/>
              </a:rPr>
              <a:t>procedure_action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()</a:t>
            </a:r>
          </a:p>
          <a:p>
            <a:pPr marL="0" indent="0">
              <a:buNone/>
            </a:pPr>
            <a:r>
              <a:rPr lang="fr-FR" sz="1800" dirty="0" err="1" smtClean="0">
                <a:solidFill>
                  <a:srgbClr val="008000"/>
                </a:solidFill>
                <a:latin typeface="Courier"/>
              </a:rPr>
              <a:t>print</a:t>
            </a:r>
            <a:r>
              <a:rPr lang="fr-FR" sz="1800" dirty="0" smtClean="0">
                <a:solidFill>
                  <a:srgbClr val="000000"/>
                </a:solidFill>
                <a:latin typeface="Courier"/>
              </a:rPr>
              <a:t>(</a:t>
            </a:r>
            <a:r>
              <a:rPr lang="hu-HU" sz="1800" dirty="0" smtClean="0">
                <a:solidFill>
                  <a:srgbClr val="BA2121"/>
                </a:solidFill>
                <a:latin typeface="Courier"/>
              </a:rPr>
              <a:t>""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hu-HU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 err="1" smtClean="0">
                <a:solidFill>
                  <a:prstClr val="black"/>
                </a:solidFill>
                <a:latin typeface="Courier"/>
              </a:rPr>
              <a:t>procedure_action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</a:rPr>
              <a:t>v_achat</a:t>
            </a:r>
            <a:r>
              <a:rPr lang="fr-FR" sz="1800" dirty="0" smtClean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 smtClean="0">
                <a:solidFill>
                  <a:srgbClr val="666666"/>
                </a:solidFill>
                <a:latin typeface="Courier"/>
              </a:rPr>
              <a:t>= 73</a:t>
            </a:r>
            <a:r>
              <a:rPr lang="fr-FR" sz="1800" dirty="0" smtClean="0">
                <a:solidFill>
                  <a:prstClr val="black"/>
                </a:solidFill>
                <a:latin typeface="Courier"/>
              </a:rPr>
              <a:t>,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</a:rPr>
              <a:t>v_vente</a:t>
            </a:r>
            <a:r>
              <a:rPr lang="fr-FR" sz="1800" dirty="0" smtClean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 smtClean="0">
                <a:solidFill>
                  <a:srgbClr val="666666"/>
                </a:solidFill>
                <a:latin typeface="Courier"/>
              </a:rPr>
              <a:t>= 88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 err="1" smtClean="0">
                <a:solidFill>
                  <a:srgbClr val="008000"/>
                </a:solidFill>
                <a:latin typeface="Courier"/>
              </a:rPr>
              <a:t>print</a:t>
            </a:r>
            <a:r>
              <a:rPr lang="fr-FR" sz="1800" dirty="0" smtClean="0">
                <a:solidFill>
                  <a:srgbClr val="000000"/>
                </a:solidFill>
                <a:latin typeface="Courier"/>
              </a:rPr>
              <a:t>(</a:t>
            </a:r>
            <a:r>
              <a:rPr lang="hu-HU" sz="1800" dirty="0" smtClean="0">
                <a:solidFill>
                  <a:srgbClr val="BA2121"/>
                </a:solidFill>
                <a:latin typeface="Courier"/>
              </a:rPr>
              <a:t>""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hu-HU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 err="1" smtClean="0">
                <a:solidFill>
                  <a:prstClr val="black"/>
                </a:solidFill>
                <a:latin typeface="Courier"/>
              </a:rPr>
              <a:t>procedure_action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</a:t>
            </a:r>
            <a:r>
              <a:rPr lang="fr-FR" sz="1800" dirty="0" smtClean="0">
                <a:solidFill>
                  <a:prstClr val="black"/>
                </a:solidFill>
                <a:latin typeface="Courier"/>
              </a:rPr>
              <a:t>temps </a:t>
            </a:r>
            <a:r>
              <a:rPr lang="fr-FR" sz="1800" dirty="0" smtClean="0">
                <a:solidFill>
                  <a:srgbClr val="666666"/>
                </a:solidFill>
                <a:latin typeface="Courier"/>
              </a:rPr>
              <a:t>= 2000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36038284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Programme (faire démo)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28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811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b="1" dirty="0" smtClean="0">
                <a:solidFill>
                  <a:prstClr val="black"/>
                </a:solidFill>
                <a:latin typeface="Courier"/>
                <a:cs typeface="Courier"/>
              </a:rPr>
              <a:t>Exécution</a:t>
            </a:r>
            <a:endParaRPr lang="fr-FR" sz="18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Vendre au temps 25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Acheter au temps 49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Vendre au temps 422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Acheter au temps 739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Vendre au temps 152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Acheter au temps 199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Vendre au temps 531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Vendre au temps 83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Acheter au temps 149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Vendre au temps 405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1894214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Traitement des arguments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29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Le traitement des arguments avec valeurs par défaut peut être très subtil, suivant que le type </a:t>
            </a:r>
            <a:r>
              <a:rPr lang="fr-FR" smtClean="0"/>
              <a:t>de l’argument </a:t>
            </a:r>
            <a:r>
              <a:rPr lang="fr-FR" dirty="0" smtClean="0"/>
              <a:t>est modifiable ou non modifiable.</a:t>
            </a:r>
          </a:p>
          <a:p>
            <a:r>
              <a:rPr lang="fr-FR" dirty="0" smtClean="0"/>
              <a:t>Pour les arguments de types non modifiables, la valeur par défaut donnée lors de la déclaration de la fonction ne sera jamais modifiée.</a:t>
            </a:r>
          </a:p>
          <a:p>
            <a:r>
              <a:rPr lang="fr-FR" dirty="0"/>
              <a:t>Pour les </a:t>
            </a:r>
            <a:r>
              <a:rPr lang="fr-FR" dirty="0" smtClean="0"/>
              <a:t>arguments de types modifiables</a:t>
            </a:r>
            <a:r>
              <a:rPr lang="fr-FR" dirty="0"/>
              <a:t>, la valeur par défaut donnée </a:t>
            </a:r>
            <a:r>
              <a:rPr lang="fr-FR" dirty="0" smtClean="0"/>
              <a:t>lors de la </a:t>
            </a:r>
            <a:r>
              <a:rPr lang="fr-FR" dirty="0"/>
              <a:t>déclaration de la </a:t>
            </a:r>
            <a:r>
              <a:rPr lang="fr-FR" dirty="0" smtClean="0"/>
              <a:t>fonction peut être modifiée dans le corps de la fonction elle-même.</a:t>
            </a:r>
          </a:p>
          <a:p>
            <a:pPr marL="0" indent="0">
              <a:buNone/>
            </a:pPr>
            <a:endParaRPr lang="fr-CH" sz="3200" dirty="0" smtClean="0">
              <a:solidFill>
                <a:srgbClr val="3366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7024103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Traitement des arguments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30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Dans tous les cas, les arguments par défaut sont des variables locales et toute réaffectation globale de ces arguments </a:t>
            </a:r>
            <a:r>
              <a:rPr lang="fr-FR" smtClean="0"/>
              <a:t>n’aura jamais </a:t>
            </a:r>
            <a:r>
              <a:rPr lang="fr-FR" dirty="0" smtClean="0"/>
              <a:t>aucune répercussion </a:t>
            </a:r>
            <a:r>
              <a:rPr lang="fr-FR" smtClean="0"/>
              <a:t>locale.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19514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Traitement des arguments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31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Exemple : argument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de type non modifiable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 </a:t>
            </a: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ourier"/>
                <a:cs typeface="Courier"/>
              </a:rPr>
              <a:t>ma_fonction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(n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i="1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i="1" dirty="0" smtClean="0">
                <a:solidFill>
                  <a:prstClr val="black"/>
                </a:solidFill>
                <a:latin typeface="Courier"/>
                <a:cs typeface="Courier"/>
              </a:rPr>
              <a:t>  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n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prend la valeur locale par défaut 1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n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n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n est apparemment localement modifié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return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n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ma_fonction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(n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5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n prend la valeur locale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5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6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ma_fonction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n possède toujours la valeur locale par défaut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1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2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0632339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Traitement des arguments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32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ma_fonction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(n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fr-FR" sz="1800" i="1" dirty="0" smtClean="0">
              <a:solidFill>
                <a:srgbClr val="40808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n prend la valeur locale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3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4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ma_fonction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n possède toujours la valeur locale par défaut 1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2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 n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5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n est modifié globalement, extérieurement à la </a:t>
            </a:r>
            <a:r>
              <a:rPr lang="fr-FR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fct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ma_fonction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n possède toujours la valeur locale par défaut 1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2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 </a:t>
            </a:r>
            <a:r>
              <a:rPr lang="fr-FR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valeur globale de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n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5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5582297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Traitement des arguments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33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23848" cy="48531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Exemple : argument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de type modifiable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ourier"/>
                <a:cs typeface="Courier"/>
              </a:rPr>
              <a:t>ma_fonction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(l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])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i="1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i="1" dirty="0" smtClean="0">
                <a:solidFill>
                  <a:prstClr val="black"/>
                </a:solidFill>
                <a:latin typeface="Courier"/>
                <a:cs typeface="Courier"/>
              </a:rPr>
              <a:t>  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l prend la valeur locale par défaut [1,2,3]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l</a:t>
            </a:r>
            <a:r>
              <a:rPr lang="fr-FR" sz="1800" dirty="0" err="1" smtClean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append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"a"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l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modifiée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localement en [1,2,3,"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a"]</a:t>
            </a:r>
          </a:p>
          <a:p>
            <a:pPr marL="0" indent="0">
              <a:buNone/>
            </a:pPr>
            <a:r>
              <a:rPr lang="fr-FR" sz="1800" b="1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fr-FR" sz="1800" b="1" i="1" dirty="0" smtClean="0">
                <a:solidFill>
                  <a:srgbClr val="408080"/>
                </a:solidFill>
                <a:latin typeface="Courier"/>
                <a:cs typeface="Courier"/>
              </a:rPr>
              <a:t>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return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l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ma_fonction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l possède la valeur locale par défaut [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1,2,3]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[1,2,3,"</a:t>
            </a:r>
            <a:r>
              <a:rPr lang="fr-FR" sz="1800" dirty="0" smtClean="0">
                <a:latin typeface="Courier"/>
                <a:cs typeface="Courier"/>
              </a:rPr>
              <a:t>a"]</a:t>
            </a:r>
            <a:endParaRPr lang="fr-FR" sz="18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ma_fonction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l possède la valeur locale par défaut [1,2,3,"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a"]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[1,2,3,"a","</a:t>
            </a:r>
            <a:r>
              <a:rPr lang="fr-FR" sz="1800" dirty="0" smtClean="0">
                <a:latin typeface="Courier"/>
                <a:cs typeface="Courier"/>
              </a:rPr>
              <a:t>a"]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40566699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Traitement des arguments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34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23848" cy="48531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ma_fonction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(l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4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l prend la valeur locale [1,2,3,4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]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[</a:t>
            </a:r>
            <a:r>
              <a:rPr lang="fr-FR" sz="1800" dirty="0" smtClean="0">
                <a:latin typeface="Courier"/>
                <a:cs typeface="Courier"/>
              </a:rPr>
              <a:t>1,2,3,</a:t>
            </a:r>
            <a:r>
              <a:rPr lang="fr-FR" sz="1800" dirty="0">
                <a:latin typeface="Courier"/>
                <a:cs typeface="Courier"/>
              </a:rPr>
              <a:t>4</a:t>
            </a:r>
            <a:r>
              <a:rPr lang="fr-FR" sz="1800" dirty="0" smtClean="0">
                <a:latin typeface="Courier"/>
                <a:cs typeface="Courier"/>
              </a:rPr>
              <a:t>,</a:t>
            </a:r>
            <a:r>
              <a:rPr lang="fr-FR" sz="1800" dirty="0">
                <a:latin typeface="Courier"/>
                <a:cs typeface="Courier"/>
              </a:rPr>
              <a:t>"</a:t>
            </a:r>
            <a:r>
              <a:rPr lang="fr-FR" sz="1800" dirty="0" smtClean="0">
                <a:latin typeface="Courier"/>
                <a:cs typeface="Courier"/>
              </a:rPr>
              <a:t>a"]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l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]</a:t>
            </a: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 l est modifiée globalement, extérieurement à la </a:t>
            </a:r>
            <a:r>
              <a:rPr lang="fr-FR" sz="1800" i="1" dirty="0" err="1">
                <a:solidFill>
                  <a:srgbClr val="408080"/>
                </a:solidFill>
                <a:latin typeface="Courier"/>
                <a:cs typeface="Courier"/>
              </a:rPr>
              <a:t>fct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ma_fonction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l possède la valeur locale par défaut [1,2,3,"a","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a"]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[1,2,3,"a","</a:t>
            </a:r>
            <a:r>
              <a:rPr lang="fr-FR" sz="1800" dirty="0" smtClean="0">
                <a:latin typeface="Courier"/>
                <a:cs typeface="Courier"/>
              </a:rPr>
              <a:t>a"</a:t>
            </a:r>
            <a:r>
              <a:rPr lang="fr-FR" sz="1800" dirty="0">
                <a:latin typeface="Courier"/>
                <a:cs typeface="Courier"/>
              </a:rPr>
              <a:t>,"</a:t>
            </a:r>
            <a:r>
              <a:rPr lang="fr-FR" sz="1800" dirty="0" smtClean="0">
                <a:latin typeface="Courier"/>
                <a:cs typeface="Courier"/>
              </a:rPr>
              <a:t>a"]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 </a:t>
            </a:r>
            <a:r>
              <a:rPr lang="fr-FR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l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valeur globale de l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[1,1,1]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42069162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Variables locales et globales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35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Le traitement des variables locales et globales est également subtil.</a:t>
            </a:r>
          </a:p>
          <a:p>
            <a:r>
              <a:rPr lang="fr-FR" dirty="0" smtClean="0"/>
              <a:t>Une variable locale est une variable définie dans le corps d’une procédure ou fonction.</a:t>
            </a:r>
          </a:p>
          <a:p>
            <a:r>
              <a:rPr lang="fr-FR" dirty="0" smtClean="0"/>
              <a:t>Une variable globale est une variable définie en dehors du corps de toute procédure ou fonction.</a:t>
            </a:r>
          </a:p>
          <a:p>
            <a:r>
              <a:rPr lang="fr-FR" dirty="0" smtClean="0"/>
              <a:t>Une </a:t>
            </a:r>
            <a:r>
              <a:rPr lang="fr-FR" dirty="0"/>
              <a:t>variable </a:t>
            </a:r>
            <a:r>
              <a:rPr lang="fr-FR" dirty="0" smtClean="0"/>
              <a:t>peut donc être à la fois locale et globale, ou, plus précisément, posséder à la fois des déclarations locales et d’autres globales.</a:t>
            </a:r>
            <a:endParaRPr lang="fr-FR" dirty="0"/>
          </a:p>
          <a:p>
            <a:endParaRPr lang="fr-CH" dirty="0" smtClean="0">
              <a:solidFill>
                <a:srgbClr val="3366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3658697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Variables locales et globales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36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Plus précisément, il se peut qu’une procédure ou fonction fasse appel localement à une variable qui a déjà été définie globalement</a:t>
            </a:r>
            <a:r>
              <a:rPr lang="fr-FR" dirty="0"/>
              <a:t> </a:t>
            </a:r>
            <a:r>
              <a:rPr lang="fr-FR" dirty="0" smtClean="0"/>
              <a:t>(i.e., en dehors de la procédure ou fonction elle-même).</a:t>
            </a:r>
          </a:p>
          <a:p>
            <a:r>
              <a:rPr lang="fr-FR" dirty="0"/>
              <a:t>S</a:t>
            </a:r>
            <a:r>
              <a:rPr lang="fr-FR" dirty="0" smtClean="0"/>
              <a:t>i la variable </a:t>
            </a:r>
            <a:r>
              <a:rPr lang="fr-FR" dirty="0" smtClean="0"/>
              <a:t>est </a:t>
            </a:r>
            <a:r>
              <a:rPr lang="fr-FR" dirty="0" smtClean="0"/>
              <a:t>de type non modifiable, alors sa valeur globale ne sera jamais modifiée.</a:t>
            </a:r>
          </a:p>
          <a:p>
            <a:r>
              <a:rPr lang="fr-FR" dirty="0"/>
              <a:t>S</a:t>
            </a:r>
            <a:r>
              <a:rPr lang="fr-FR" dirty="0" smtClean="0"/>
              <a:t>i </a:t>
            </a:r>
            <a:r>
              <a:rPr lang="fr-FR" dirty="0"/>
              <a:t>la variable </a:t>
            </a:r>
            <a:r>
              <a:rPr lang="fr-FR" dirty="0" smtClean="0"/>
              <a:t>est </a:t>
            </a:r>
            <a:r>
              <a:rPr lang="fr-FR" dirty="0"/>
              <a:t>de type </a:t>
            </a:r>
            <a:r>
              <a:rPr lang="fr-FR" dirty="0" smtClean="0"/>
              <a:t>modifiable, </a:t>
            </a:r>
            <a:r>
              <a:rPr lang="fr-FR" dirty="0"/>
              <a:t>alors sa </a:t>
            </a:r>
            <a:r>
              <a:rPr lang="fr-FR" dirty="0" smtClean="0"/>
              <a:t>valeur globale peut être modifiée.</a:t>
            </a:r>
          </a:p>
          <a:p>
            <a:pPr marL="0" indent="0">
              <a:buNone/>
            </a:pPr>
            <a:endParaRPr lang="fr-CH" sz="3200" dirty="0" smtClean="0">
              <a:solidFill>
                <a:srgbClr val="3366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7993334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Variables locales et globales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37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variables locales et globales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&gt;&gt;&gt; n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	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	  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n de type non modifiable (</a:t>
            </a:r>
            <a:r>
              <a:rPr lang="fr-FR" sz="1800" i="1" dirty="0" err="1">
                <a:solidFill>
                  <a:srgbClr val="408080"/>
                </a:solidFill>
                <a:latin typeface="Courier"/>
                <a:cs typeface="Courier"/>
              </a:rPr>
              <a:t>int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 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l1 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]	   </a:t>
            </a:r>
            <a:r>
              <a:rPr lang="pt-B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</a:t>
            </a:r>
            <a:r>
              <a:rPr lang="pt-BR" sz="1800" i="1" dirty="0">
                <a:solidFill>
                  <a:srgbClr val="408080"/>
                </a:solidFill>
                <a:latin typeface="Courier"/>
                <a:cs typeface="Courier"/>
              </a:rPr>
              <a:t> l1 de </a:t>
            </a:r>
            <a:r>
              <a:rPr lang="pt-BR" sz="1800" i="1" dirty="0" err="1">
                <a:solidFill>
                  <a:srgbClr val="408080"/>
                </a:solidFill>
                <a:latin typeface="Courier"/>
                <a:cs typeface="Courier"/>
              </a:rPr>
              <a:t>type</a:t>
            </a:r>
            <a:r>
              <a:rPr lang="pt-BR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pt-BR" sz="1800" i="1" dirty="0" err="1">
                <a:solidFill>
                  <a:srgbClr val="408080"/>
                </a:solidFill>
                <a:latin typeface="Courier"/>
                <a:cs typeface="Courier"/>
              </a:rPr>
              <a:t>modifiable</a:t>
            </a:r>
            <a:r>
              <a:rPr lang="pt-BR" sz="1800" i="1" dirty="0">
                <a:solidFill>
                  <a:srgbClr val="408080"/>
                </a:solidFill>
                <a:latin typeface="Courier"/>
                <a:cs typeface="Courier"/>
              </a:rPr>
              <a:t> (</a:t>
            </a:r>
            <a:r>
              <a:rPr lang="pt-BR" sz="1800" i="1" dirty="0" err="1">
                <a:solidFill>
                  <a:srgbClr val="408080"/>
                </a:solidFill>
                <a:latin typeface="Courier"/>
                <a:cs typeface="Courier"/>
              </a:rPr>
              <a:t>list</a:t>
            </a:r>
            <a:r>
              <a:rPr lang="pt-BR" sz="1800" i="1" dirty="0">
                <a:solidFill>
                  <a:srgbClr val="408080"/>
                </a:solidFill>
                <a:latin typeface="Courier"/>
                <a:cs typeface="Courier"/>
              </a:rPr>
              <a:t>)</a:t>
            </a:r>
            <a:endParaRPr lang="pt-B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 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l2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a"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"b"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 err="1" smtClean="0">
                <a:solidFill>
                  <a:srgbClr val="BA2121"/>
                </a:solidFill>
                <a:latin typeface="Courier"/>
                <a:cs typeface="Courier"/>
              </a:rPr>
              <a:t>c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”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] </a:t>
            </a:r>
            <a:r>
              <a:rPr lang="en-US" sz="1800" i="1" dirty="0" smtClean="0">
                <a:solidFill>
                  <a:srgbClr val="408080"/>
                </a:solidFill>
                <a:latin typeface="Courier"/>
                <a:cs typeface="Courier"/>
              </a:rPr>
              <a:t>#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 l2 de type modifiable (list)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 </a:t>
            </a:r>
            <a:r>
              <a:rPr lang="en-US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srgbClr val="0000FF"/>
                </a:solidFill>
                <a:latin typeface="Courier"/>
                <a:cs typeface="Courier"/>
              </a:rPr>
              <a:t>ma_fonction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():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 n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smtClean="0">
                <a:solidFill>
                  <a:srgbClr val="666666"/>
                </a:solidFill>
                <a:latin typeface="Courier"/>
                <a:cs typeface="Courier"/>
              </a:rPr>
              <a:t>5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		   </a:t>
            </a:r>
            <a:r>
              <a:rPr lang="en-US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réaffectation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locale de n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 l1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append(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4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)   </a:t>
            </a:r>
            <a:r>
              <a:rPr lang="en-US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modification locale de l1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 l2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]   </a:t>
            </a:r>
            <a:r>
              <a:rPr lang="en-US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réaffectation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locale de l2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dirty="0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n)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dirty="0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l1)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dirty="0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l2)</a:t>
            </a:r>
          </a:p>
        </p:txBody>
      </p:sp>
    </p:spTree>
    <p:extLst>
      <p:ext uri="{BB962C8B-B14F-4D97-AF65-F5344CB8AC3E}">
        <p14:creationId xmlns:p14="http://schemas.microsoft.com/office/powerpoint/2010/main" val="16270126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Variables locales et globales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38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 </a:t>
            </a:r>
            <a:r>
              <a:rPr lang="en-US" sz="1800" dirty="0" err="1" smtClean="0">
                <a:solidFill>
                  <a:prstClr val="black"/>
                </a:solidFill>
                <a:latin typeface="Courier"/>
                <a:cs typeface="Courier"/>
              </a:rPr>
              <a:t>ma_fonction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5</a:t>
            </a:r>
          </a:p>
          <a:p>
            <a:pPr marL="0" indent="0">
              <a:buNone/>
            </a:pP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[1, 2, 3, 4]</a:t>
            </a:r>
          </a:p>
          <a:p>
            <a:pPr marL="0" indent="0">
              <a:buNone/>
            </a:pP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[0, 0, 0]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 </a:t>
            </a:r>
            <a:r>
              <a:rPr lang="fr-FR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n)  </a:t>
            </a:r>
            <a:r>
              <a:rPr lang="en-US" sz="1800" i="1" dirty="0" smtClean="0">
                <a:solidFill>
                  <a:srgbClr val="408080"/>
                </a:solidFill>
                <a:latin typeface="Courier"/>
                <a:cs typeface="Courier"/>
              </a:rPr>
              <a:t>#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 n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n'est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pas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modifié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globalement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2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 </a:t>
            </a:r>
            <a:r>
              <a:rPr lang="fr-FR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l1) 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# l1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est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modifié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globalement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[1, 2, 3, 4]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 </a:t>
            </a:r>
            <a:r>
              <a:rPr lang="fr-FR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l2) 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# l2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n'est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pas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modifié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globalement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endParaRPr lang="en-US" sz="1800" i="1" dirty="0" smtClean="0">
              <a:solidFill>
                <a:srgbClr val="40808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s-ES_tradnl" sz="1800" dirty="0" smtClean="0">
                <a:solidFill>
                  <a:prstClr val="black"/>
                </a:solidFill>
                <a:latin typeface="Courier"/>
                <a:cs typeface="Courier"/>
              </a:rPr>
              <a:t>[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'a', 'b', '</a:t>
            </a:r>
            <a:r>
              <a:rPr lang="es-ES_tradnl" sz="1800" dirty="0" smtClean="0">
                <a:solidFill>
                  <a:prstClr val="black"/>
                </a:solidFill>
                <a:latin typeface="Courier"/>
                <a:cs typeface="Courier"/>
              </a:rPr>
              <a:t>c']</a:t>
            </a:r>
          </a:p>
          <a:p>
            <a:pPr marL="0" indent="0">
              <a:buNone/>
            </a:pPr>
            <a:r>
              <a:rPr lang="en-US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car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une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réaffectation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locale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n'est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pas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compris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comme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une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modification (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subtil</a:t>
            </a:r>
            <a:r>
              <a:rPr lang="en-US" sz="1800" i="1" dirty="0" smtClean="0">
                <a:solidFill>
                  <a:srgbClr val="408080"/>
                </a:solidFill>
                <a:latin typeface="Courier"/>
                <a:cs typeface="Courier"/>
              </a:rPr>
              <a:t>)...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CH" sz="1800" dirty="0" smtClean="0">
              <a:solidFill>
                <a:srgbClr val="3366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6287541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Variables locales et globales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39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Dans le cas d’une variable de type non modifiable, on a vu qu’une réaffectation ou modification locale n’affectait pas la valeur globale (contrairement aux variables de types modifiables).</a:t>
            </a:r>
          </a:p>
          <a:p>
            <a:r>
              <a:rPr lang="fr-FR" dirty="0" smtClean="0"/>
              <a:t>Si on désire que la réaffectation locale se répercute globalement, on utilise la syntaxe </a:t>
            </a:r>
            <a:r>
              <a:rPr lang="fr-FR" sz="2400" dirty="0" smtClean="0">
                <a:solidFill>
                  <a:srgbClr val="3366FF"/>
                </a:solidFill>
                <a:latin typeface="Courier"/>
                <a:cs typeface="Courier"/>
              </a:rPr>
              <a:t>global var</a:t>
            </a:r>
            <a:r>
              <a:rPr lang="fr-FR" dirty="0" smtClean="0"/>
              <a:t>. </a:t>
            </a:r>
          </a:p>
          <a:p>
            <a:pPr marL="0" indent="0">
              <a:buNone/>
            </a:pPr>
            <a:endParaRPr lang="fr-CH" sz="3200" dirty="0" smtClean="0">
              <a:solidFill>
                <a:srgbClr val="3366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7358032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Variables locales et globales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40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92514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&gt;&gt;&gt; n1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 n1 de type non modifiable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n2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 n2 de type non modifiable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ourier"/>
                <a:cs typeface="Courier"/>
              </a:rPr>
              <a:t>ma_fonction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n1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5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	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réaffectation locale de n1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global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n2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n2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5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	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réaffectation globale de n2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return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(n1,n2)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ma_fonction</a:t>
            </a:r>
            <a:r>
              <a:rPr lang="fr-FR" sz="180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smtClean="0">
                <a:solidFill>
                  <a:prstClr val="black"/>
                </a:solidFill>
                <a:latin typeface="Courier"/>
                <a:cs typeface="Courier"/>
              </a:rPr>
              <a:t>))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(5,5)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n1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valeur globale de n1 non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modifiée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1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srgbClr val="008000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n2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par contre, valeur globale de n2 modifiée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!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5</a:t>
            </a:r>
            <a:endParaRPr lang="fr-CH" sz="1800" dirty="0" smtClean="0">
              <a:solidFill>
                <a:srgbClr val="3366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3315026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Importation de modules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41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CH" dirty="0" smtClean="0"/>
              <a:t>Le grand avantage de définir des procédures et des fonctions est de pouvoir les réutiliser à souhait.</a:t>
            </a:r>
          </a:p>
          <a:p>
            <a:r>
              <a:rPr lang="fr-CH" dirty="0" smtClean="0"/>
              <a:t>Pour cela, il convient d’écrire nos fonctions dans des fichiers séparés, appelés « scripts » ou « modules », puis d’importer les fonctions de ces fichiers lorsque vous en avez besoin.</a:t>
            </a:r>
          </a:p>
          <a:p>
            <a:r>
              <a:rPr lang="fr-CH" dirty="0" smtClean="0"/>
              <a:t>On est là au cœur de toute pratique de program-mation. Les programmes complexes sont toujours constitués de plusieurs modules qui dépendent les uns des autres, et s’appellent entre eux...</a:t>
            </a:r>
            <a:endParaRPr lang="fr-CH" sz="3200" dirty="0" smtClean="0">
              <a:solidFill>
                <a:srgbClr val="3366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449691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Importation de modules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42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P</a:t>
            </a:r>
            <a:r>
              <a:rPr lang="fr-CH" dirty="0" smtClean="0"/>
              <a:t>our appeler les procédures ou fonctions f, g, h, etc. d’un fichier mon_fichier.py, on utilise l’instruction :</a:t>
            </a:r>
          </a:p>
          <a:p>
            <a:pPr marL="274320" lvl="2" indent="0">
              <a:spcBef>
                <a:spcPts val="700"/>
              </a:spcBef>
              <a:buSzPct val="60000"/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from mon_fichier import f, g, 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h</a:t>
            </a:r>
            <a:endParaRPr lang="fr-CH" sz="2400" dirty="0" smtClean="0">
              <a:latin typeface="Courier"/>
              <a:cs typeface="Courier"/>
            </a:endParaRPr>
          </a:p>
          <a:p>
            <a:r>
              <a:rPr lang="fr-CH" dirty="0" smtClean="0"/>
              <a:t>Si l’on désire importer toutes les procédures et fonctions du module mon_fichier.py d’un coup, on utilise une des deux instructions :</a:t>
            </a:r>
          </a:p>
          <a:p>
            <a:pPr marL="320040" lvl="1" indent="0">
              <a:buNone/>
            </a:pP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import mon_fichier</a:t>
            </a:r>
            <a:endParaRPr lang="fr-FR" sz="2400" dirty="0">
              <a:latin typeface="Courier"/>
              <a:cs typeface="Courier"/>
            </a:endParaRPr>
          </a:p>
          <a:p>
            <a:pPr marL="320040" lvl="1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from mon_fichier 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import *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</a:t>
            </a:r>
            <a:endParaRPr lang="fr-CH" sz="3200" dirty="0" smtClean="0">
              <a:solidFill>
                <a:srgbClr val="3366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6048667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Programme (faire démo)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43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CH" dirty="0" smtClean="0"/>
              <a:t>Au cours de ce chapitre, on a implémenté trois procédures et fonctions permettant de résoudre les équations du second degré ou de générer le cours aléatoire d’une action.</a:t>
            </a:r>
          </a:p>
          <a:p>
            <a:r>
              <a:rPr lang="fr-CH" dirty="0" smtClean="0"/>
              <a:t>Regroupons ce code dans un fichier nommé Ch6_ex4.py.</a:t>
            </a:r>
          </a:p>
          <a:p>
            <a:r>
              <a:rPr lang="fr-CH" dirty="0" smtClean="0"/>
              <a:t>On peut alors importer ce module et disposer de nos fonctions à souhait.</a:t>
            </a:r>
          </a:p>
        </p:txBody>
      </p:sp>
    </p:spTree>
    <p:extLst>
      <p:ext uri="{BB962C8B-B14F-4D97-AF65-F5344CB8AC3E}">
        <p14:creationId xmlns:p14="http://schemas.microsoft.com/office/powerpoint/2010/main" val="30780187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Programme (faire démo)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44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81128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from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00FF"/>
                </a:solidFill>
                <a:latin typeface="Courier"/>
                <a:cs typeface="Courier"/>
              </a:rPr>
              <a:t>Ch6_ex4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import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solution_eq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solution_eq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(-1.0, -2.0)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 </a:t>
            </a: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from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00FF"/>
                </a:solidFill>
                <a:latin typeface="Courier"/>
                <a:cs typeface="Courier"/>
              </a:rPr>
              <a:t>Ch6_ex4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import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*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resolution_eq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Deux solutions: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-1.0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-2.0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procedure_action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Vendre au temps 6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Acheter au temps 92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Vendre au temps 285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Acheter au temps 297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Vendre au temps 375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Acheter au temps 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386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112700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Médian">
  <a:themeElements>
    <a:clrScheme name="Mé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édian">
      <a:maj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é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Médian.thmx</Template>
  <TotalTime>8605</TotalTime>
  <Words>2594</Words>
  <Application>Microsoft Macintosh PowerPoint</Application>
  <PresentationFormat>Présentation à l'écran (4:3)</PresentationFormat>
  <Paragraphs>407</Paragraphs>
  <Slides>44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45" baseType="lpstr">
      <vt:lpstr>Médian</vt:lpstr>
      <vt:lpstr>Chapitre 6 Procédures et Fonctions</vt:lpstr>
      <vt:lpstr>Procédures et fonctions</vt:lpstr>
      <vt:lpstr>Procédures et fonctions</vt:lpstr>
      <vt:lpstr>Procédures et fonctions</vt:lpstr>
      <vt:lpstr>Procédures et fonctions</vt:lpstr>
      <vt:lpstr>Procédures et fonctions</vt:lpstr>
      <vt:lpstr>Procédures et fonctions</vt:lpstr>
      <vt:lpstr>Procédures et fonctions</vt:lpstr>
      <vt:lpstr>Procédures et fonctions</vt:lpstr>
      <vt:lpstr>Procédures et fonctions</vt:lpstr>
      <vt:lpstr>Procédures et fonctions</vt:lpstr>
      <vt:lpstr>Procédures et fonctions</vt:lpstr>
      <vt:lpstr>Programme (faire démo)</vt:lpstr>
      <vt:lpstr>Programme (faire démo)</vt:lpstr>
      <vt:lpstr>Programme (faire démo)</vt:lpstr>
      <vt:lpstr>Programme (faire démo)</vt:lpstr>
      <vt:lpstr>Programme (faire démo)</vt:lpstr>
      <vt:lpstr>Programme (faire démo)</vt:lpstr>
      <vt:lpstr>Programme (faire démo)</vt:lpstr>
      <vt:lpstr>Programme (faire démo)</vt:lpstr>
      <vt:lpstr>Procédures et fonctions</vt:lpstr>
      <vt:lpstr>Procédures et fonctions</vt:lpstr>
      <vt:lpstr>Programme (faire démo)</vt:lpstr>
      <vt:lpstr>Programme (faire démo)</vt:lpstr>
      <vt:lpstr>Programme (faire démo)</vt:lpstr>
      <vt:lpstr>Programme (faire démo)</vt:lpstr>
      <vt:lpstr>Programme (faire démo)</vt:lpstr>
      <vt:lpstr>Programme (faire démo)</vt:lpstr>
      <vt:lpstr>Traitement des arguments</vt:lpstr>
      <vt:lpstr>Traitement des arguments</vt:lpstr>
      <vt:lpstr>Traitement des arguments</vt:lpstr>
      <vt:lpstr>Traitement des arguments</vt:lpstr>
      <vt:lpstr>Traitement des arguments</vt:lpstr>
      <vt:lpstr>Traitement des arguments</vt:lpstr>
      <vt:lpstr>Variables locales et globales</vt:lpstr>
      <vt:lpstr>Variables locales et globales</vt:lpstr>
      <vt:lpstr>Variables locales et globales</vt:lpstr>
      <vt:lpstr>Variables locales et globales</vt:lpstr>
      <vt:lpstr>Variables locales et globales</vt:lpstr>
      <vt:lpstr>Variables locales et globales</vt:lpstr>
      <vt:lpstr>Importation de modules</vt:lpstr>
      <vt:lpstr>Importation de modules</vt:lpstr>
      <vt:lpstr>Programme (faire démo)</vt:lpstr>
      <vt:lpstr>Programme (faire démo)</vt:lpstr>
    </vt:vector>
  </TitlesOfParts>
  <Company>Université de Lausanne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INTRODUCTION</dc:title>
  <dc:creator>Campus Agreement</dc:creator>
  <cp:lastModifiedBy>UNIL</cp:lastModifiedBy>
  <cp:revision>2272</cp:revision>
  <cp:lastPrinted>2011-09-18T10:53:10Z</cp:lastPrinted>
  <dcterms:created xsi:type="dcterms:W3CDTF">2002-10-22T15:56:56Z</dcterms:created>
  <dcterms:modified xsi:type="dcterms:W3CDTF">2018-10-10T08:34:37Z</dcterms:modified>
</cp:coreProperties>
</file>