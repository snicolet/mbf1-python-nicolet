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51"/>
  </p:notesMasterIdLst>
  <p:handoutMasterIdLst>
    <p:handoutMasterId r:id="rId52"/>
  </p:handoutMasterIdLst>
  <p:sldIdLst>
    <p:sldId id="375" r:id="rId2"/>
    <p:sldId id="378" r:id="rId3"/>
    <p:sldId id="379" r:id="rId4"/>
    <p:sldId id="380" r:id="rId5"/>
    <p:sldId id="382" r:id="rId6"/>
    <p:sldId id="381" r:id="rId7"/>
    <p:sldId id="383" r:id="rId8"/>
    <p:sldId id="384" r:id="rId9"/>
    <p:sldId id="385" r:id="rId10"/>
    <p:sldId id="386" r:id="rId11"/>
    <p:sldId id="387" r:id="rId12"/>
    <p:sldId id="388" r:id="rId13"/>
    <p:sldId id="389" r:id="rId14"/>
    <p:sldId id="390" r:id="rId15"/>
    <p:sldId id="391" r:id="rId16"/>
    <p:sldId id="392" r:id="rId17"/>
    <p:sldId id="393" r:id="rId18"/>
    <p:sldId id="394" r:id="rId19"/>
    <p:sldId id="405" r:id="rId20"/>
    <p:sldId id="406" r:id="rId21"/>
    <p:sldId id="407" r:id="rId22"/>
    <p:sldId id="408" r:id="rId23"/>
    <p:sldId id="409" r:id="rId24"/>
    <p:sldId id="410" r:id="rId25"/>
    <p:sldId id="411" r:id="rId26"/>
    <p:sldId id="412" r:id="rId27"/>
    <p:sldId id="404" r:id="rId28"/>
    <p:sldId id="396" r:id="rId29"/>
    <p:sldId id="397" r:id="rId30"/>
    <p:sldId id="398" r:id="rId31"/>
    <p:sldId id="399" r:id="rId32"/>
    <p:sldId id="400" r:id="rId33"/>
    <p:sldId id="401" r:id="rId34"/>
    <p:sldId id="402" r:id="rId35"/>
    <p:sldId id="403" r:id="rId36"/>
    <p:sldId id="413" r:id="rId37"/>
    <p:sldId id="414" r:id="rId38"/>
    <p:sldId id="416" r:id="rId39"/>
    <p:sldId id="417" r:id="rId40"/>
    <p:sldId id="418" r:id="rId41"/>
    <p:sldId id="419" r:id="rId42"/>
    <p:sldId id="420" r:id="rId43"/>
    <p:sldId id="421" r:id="rId44"/>
    <p:sldId id="422" r:id="rId45"/>
    <p:sldId id="423" r:id="rId46"/>
    <p:sldId id="424" r:id="rId47"/>
    <p:sldId id="425" r:id="rId48"/>
    <p:sldId id="427" r:id="rId49"/>
    <p:sldId id="426" r:id="rId50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CCFF"/>
    <a:srgbClr val="99FFCC"/>
    <a:srgbClr val="CCFFFF"/>
    <a:srgbClr val="FF00FF"/>
    <a:srgbClr val="FF0000"/>
    <a:srgbClr val="009900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64"/>
  </p:normalViewPr>
  <p:slideViewPr>
    <p:cSldViewPr>
      <p:cViewPr varScale="1">
        <p:scale>
          <a:sx n="104" d="100"/>
          <a:sy n="104" d="100"/>
        </p:scale>
        <p:origin x="89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-425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CD6F964-0E01-0347-96A4-C37FEA3034E6}" type="slidenum">
              <a:rPr lang="fr-FR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034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BB96183-5730-AF4B-A221-215C0AAD25FC}" type="slidenum">
              <a:rPr lang="fr-FR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42413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CH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UNIL - Informatique I</a:t>
            </a: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D2109F-C210-9F4F-BE50-DE6D04027247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UNIL - Informatique I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84C434B-4C1C-AA4B-9FC7-3C7BDD6F6ADC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A062017-3E5F-D545-803C-22C050AB822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 dirty="0"/>
              <a:t>UNIL - Informatique 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0BA543E-D95F-E941-884E-49F19CC3D311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 dirty="0"/>
              <a:t>UNIL - Informatique I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F22BEEB-CA8A-C040-983A-AAABE0F651E1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 dirty="0"/>
              <a:t>UNIL - Informatique I</a:t>
            </a:r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UNIL - Informatique I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9B8300-181C-054A-A328-E2139B9AD5F7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UNIL - Informatique I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1A05B3F-7440-4047-9795-78A3F4158249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UNIL - Informatique 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AD62-4CC2-5B40-ACA0-2FA3AD3CFBCF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C79D76C-33C8-DF41-AB83-387084CEC10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fr-FR" dirty="0"/>
              <a:t>UNIL - Informatique I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CH" dirty="0"/>
              <a:t>Faire glisser l'image vers l'espace réservé ou cliquer sur l'icône pour l'ajouter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UNIL - Informatique I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A849-4122-6640-96DA-97F7188E7D39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fr-FR" dirty="0"/>
              <a:t>UNIL - Informatique I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97011EA-94E7-C94D-AD82-14E12DD73888}" type="slidenum">
              <a:rPr lang="fr-FR" smtClean="0"/>
              <a:pPr/>
              <a:t>‹#›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CH"/>
              <a:t>Cliquez pour modifier les styles du texte du masque</a:t>
            </a:r>
          </a:p>
          <a:p>
            <a:pPr lvl="1" eaLnBrk="1" latinLnBrk="0" hangingPunct="1"/>
            <a:r>
              <a:rPr kumimoji="0" lang="fr-CH"/>
              <a:t>Deuxième niveau</a:t>
            </a:r>
          </a:p>
          <a:p>
            <a:pPr lvl="2" eaLnBrk="1" latinLnBrk="0" hangingPunct="1"/>
            <a:r>
              <a:rPr kumimoji="0" lang="fr-CH"/>
              <a:t>Troisième niveau</a:t>
            </a:r>
          </a:p>
          <a:p>
            <a:pPr lvl="3" eaLnBrk="1" latinLnBrk="0" hangingPunct="1"/>
            <a:r>
              <a:rPr kumimoji="0" lang="fr-CH"/>
              <a:t>Quatrième niveau</a:t>
            </a:r>
          </a:p>
          <a:p>
            <a:pPr lvl="4" eaLnBrk="1" latinLnBrk="0" hangingPunct="1"/>
            <a:r>
              <a:rPr kumimoji="0" lang="fr-CH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CH"/>
              <a:t>30.10.12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UNIL - Informatique I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BE7D13C-A807-CA4C-B7E6-D4B4CB6419C0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0" name="Picture 12" descr="logoBlancTransparent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130925"/>
            <a:ext cx="1152525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/>
              <a:t>Chapitre 9</a:t>
            </a:r>
            <a:br>
              <a:rPr lang="fr-FR" dirty="0"/>
            </a:br>
            <a:r>
              <a:rPr lang="fr-FR" dirty="0"/>
              <a:t>Fichiers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Programmation en Python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109F-C210-9F4F-BE50-DE6D04027247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327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Afin de manipuler une plus grande quantité d'information, il convient de séparer les données et les programmes qui les traitent.</a:t>
            </a:r>
          </a:p>
          <a:p>
            <a:r>
              <a:rPr lang="fr-FR" dirty="0"/>
              <a:t>Les données seront stockées dans des fichiers et les programmes manipuleront ces fichiers.</a:t>
            </a:r>
          </a:p>
          <a:p>
            <a:r>
              <a:rPr lang="fr-FR" dirty="0"/>
              <a:t>De plus, l'information contenue dans un programme est volatile, alors que les fichiers permettent de garder l'information de manière permanente.</a:t>
            </a:r>
          </a:p>
        </p:txBody>
      </p:sp>
    </p:spTree>
    <p:extLst>
      <p:ext uri="{BB962C8B-B14F-4D97-AF65-F5344CB8AC3E}">
        <p14:creationId xmlns:p14="http://schemas.microsoft.com/office/powerpoint/2010/main" val="142700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Un </a:t>
            </a:r>
            <a:r>
              <a:rPr lang="fr-FR" b="1" dirty="0"/>
              <a:t>fichier physique</a:t>
            </a:r>
            <a:r>
              <a:rPr lang="fr-FR" dirty="0"/>
              <a:t> est une collection d'informations numériques réunies sous un même nom et enregistrée sur une mémoire de masse (disque dur, clé USB,</a:t>
            </a:r>
            <a:r>
              <a:rPr lang="is-IS" dirty="0"/>
              <a:t>…</a:t>
            </a:r>
            <a:r>
              <a:rPr lang="fr-FR" dirty="0"/>
              <a:t>). </a:t>
            </a:r>
          </a:p>
          <a:p>
            <a:r>
              <a:rPr lang="fr-FR" dirty="0"/>
              <a:t>En Python, pour pouvoir manipuler un fichier physique, il faut lui associer un </a:t>
            </a:r>
            <a:r>
              <a:rPr lang="fr-FR" b="1" dirty="0"/>
              <a:t>fichier logique</a:t>
            </a:r>
            <a:r>
              <a:rPr lang="fr-FR" dirty="0"/>
              <a:t> correspondant, qui est objet‐interface particulier. Les programmes Python se réfèrent aux fichiers logiques pour agir sur les fichiers physiques correspondants.</a:t>
            </a:r>
          </a:p>
        </p:txBody>
      </p:sp>
    </p:spTree>
    <p:extLst>
      <p:ext uri="{BB962C8B-B14F-4D97-AF65-F5344CB8AC3E}">
        <p14:creationId xmlns:p14="http://schemas.microsoft.com/office/powerpoint/2010/main" val="317278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L’instruction pour ouvrir un fichier logique à un fichier physique est :</a:t>
            </a:r>
          </a:p>
          <a:p>
            <a:pPr marL="0" indent="0" algn="ctr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fichier_logique = </a:t>
            </a:r>
          </a:p>
          <a:p>
            <a:pPr marL="0" indent="0" algn="ctr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open(fichier_physique, mode)</a:t>
            </a:r>
          </a:p>
          <a:p>
            <a:r>
              <a:rPr lang="fr-CH" dirty="0"/>
              <a:t>L’instruction pour fermer un fichier logique est :</a:t>
            </a:r>
          </a:p>
          <a:p>
            <a:pPr marL="0" indent="0" algn="ctr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fichier_logique.close()</a:t>
            </a:r>
          </a:p>
        </p:txBody>
      </p:sp>
    </p:spTree>
    <p:extLst>
      <p:ext uri="{BB962C8B-B14F-4D97-AF65-F5344CB8AC3E}">
        <p14:creationId xmlns:p14="http://schemas.microsoft.com/office/powerpoint/2010/main" val="376787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fichier_logique</a:t>
            </a:r>
            <a:r>
              <a:rPr lang="fr-CH" dirty="0"/>
              <a:t> est un identificateur (à penser comme une variable) qui fait référence au fichier physique que l’on désire manipuler. </a:t>
            </a:r>
          </a:p>
          <a:p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fichier_physique</a:t>
            </a:r>
            <a:r>
              <a:rPr lang="fr-CH" dirty="0"/>
              <a:t> est une chaîne de caractères qui désigne le chemin d'accès (path) du fichier physique. </a:t>
            </a:r>
          </a:p>
          <a:p>
            <a:pPr lvl="1"/>
            <a:r>
              <a:rPr lang="fr-CH" dirty="0"/>
              <a:t>Exemple : </a:t>
            </a:r>
            <a:r>
              <a:rPr lang="fr-CH" sz="2200" dirty="0">
                <a:latin typeface="Courier"/>
                <a:cs typeface="Courier"/>
              </a:rPr>
              <a:t>"/Users/jcabessa/Desktop/fichier1"</a:t>
            </a:r>
            <a:endParaRPr lang="fr-FR" sz="22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35913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35816" cy="4853136"/>
          </a:xfrm>
        </p:spPr>
        <p:txBody>
          <a:bodyPr>
            <a:normAutofit lnSpcReduction="10000"/>
          </a:bodyPr>
          <a:lstStyle/>
          <a:p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mode</a:t>
            </a:r>
            <a:r>
              <a:rPr lang="fr-CH" dirty="0"/>
              <a:t> désigne le mode dans lequel on veut traiter le fichier en question. Pour les fichier à accès séquen-tiel, c'est une des trois chaînes suivantes : </a:t>
            </a:r>
          </a:p>
          <a:p>
            <a:pPr lvl="1"/>
            <a:r>
              <a:rPr lang="fr-CH" sz="2000" dirty="0">
                <a:solidFill>
                  <a:srgbClr val="3366FF"/>
                </a:solidFill>
                <a:latin typeface="Courier"/>
                <a:cs typeface="Courier"/>
              </a:rPr>
              <a:t>'r'</a:t>
            </a:r>
            <a:r>
              <a:rPr lang="fr-CH" dirty="0"/>
              <a:t> (read): le fichier est ouvert en lecture seule, il est impossible de le modifier. Si le fichier n’existe pas au préalable, cela génère une erreur. </a:t>
            </a:r>
          </a:p>
          <a:p>
            <a:pPr lvl="1"/>
            <a:r>
              <a:rPr lang="fr-CH" sz="2000" dirty="0">
                <a:solidFill>
                  <a:srgbClr val="3366FF"/>
                </a:solidFill>
                <a:latin typeface="Courier"/>
                <a:cs typeface="Courier"/>
              </a:rPr>
              <a:t>'w'</a:t>
            </a:r>
            <a:r>
              <a:rPr lang="fr-CH" dirty="0"/>
              <a:t> (write): le fichier est créé ou recréé (toujours) et ouvert en écriture. Si le fichier existe déjà, il sera écrasé et recréé. </a:t>
            </a:r>
          </a:p>
          <a:p>
            <a:pPr lvl="1"/>
            <a:r>
              <a:rPr lang="fr-CH" sz="2000" dirty="0">
                <a:solidFill>
                  <a:srgbClr val="3366FF"/>
                </a:solidFill>
                <a:latin typeface="Courier"/>
                <a:cs typeface="Courier"/>
              </a:rPr>
              <a:t>'a'</a:t>
            </a:r>
            <a:r>
              <a:rPr lang="fr-CH" dirty="0"/>
              <a:t> (append): le fichier est ouvert en écriture. Si le fichier existe, les données sont ajoutées à la fin, sinon il est créé.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089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35816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ouverture/création en mode écriture, puis fermeture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f1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Users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jcabessa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/Desktop/MAIN/Courses/PYTHON/2016_Paris_Lausanne/cours/code/fichier1.txt"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"w"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f1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close()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ouverture en mode lecture puis fermeture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f1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Users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jcabessa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/Desktop/MAIN/Courses/PYTHON/2016_Paris_Lausanne/cours/code/fichier1.txt"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"r"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f1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close()</a:t>
            </a:r>
            <a:endParaRPr lang="fr-FR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28459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On peut effectuer l’ouverture, la manipulation et la fermeture d’un fichier grâce au bloc d’instructions :</a:t>
            </a:r>
          </a:p>
          <a:p>
            <a:pPr marL="320040" lvl="1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with open (f_physique, mode) as f_logique:</a:t>
            </a:r>
          </a:p>
          <a:p>
            <a:pPr marL="320040" lvl="1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instructions</a:t>
            </a:r>
            <a:r>
              <a:rPr lang="is-IS" sz="2400" dirty="0">
                <a:solidFill>
                  <a:srgbClr val="3366FF"/>
                </a:solidFill>
                <a:latin typeface="Courier"/>
                <a:cs typeface="Courier"/>
              </a:rPr>
              <a:t>...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r>
              <a:rPr lang="fr-CH" dirty="0"/>
              <a:t>Ne pas oublier l’indentation des instructions.</a:t>
            </a:r>
          </a:p>
          <a:p>
            <a:r>
              <a:rPr lang="fr-CH" dirty="0"/>
              <a:t>On utilisera généralement cette syntaxe.</a:t>
            </a:r>
          </a:p>
        </p:txBody>
      </p:sp>
    </p:spTree>
    <p:extLst>
      <p:ext uri="{BB962C8B-B14F-4D97-AF65-F5344CB8AC3E}">
        <p14:creationId xmlns:p14="http://schemas.microsoft.com/office/powerpoint/2010/main" val="263044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35816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ouverture/création en mode écriture, puis fermeture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Users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jcabessa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/Desktop/MAIN/Courses/PYTHON/2016_Paris_Lausanne/cours/code/fichier1.txt"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"w"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f1: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pass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45916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Pour lire ou écrire dans un fichier, on applique des méthodes spécifiques au (à l’identificateur du fichier) logique (et non physique).</a:t>
            </a:r>
          </a:p>
          <a:p>
            <a:r>
              <a:rPr lang="fr-CH" dirty="0"/>
              <a:t>On a la syntaxe habituelle :</a:t>
            </a:r>
          </a:p>
          <a:p>
            <a:pPr marL="320040" lvl="1" indent="0" algn="ctr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fichier_logique.methode(args)</a:t>
            </a:r>
          </a:p>
        </p:txBody>
      </p:sp>
    </p:spTree>
    <p:extLst>
      <p:ext uri="{BB962C8B-B14F-4D97-AF65-F5344CB8AC3E}">
        <p14:creationId xmlns:p14="http://schemas.microsoft.com/office/powerpoint/2010/main" val="352286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 lnSpcReduction="10000"/>
          </a:bodyPr>
          <a:lstStyle/>
          <a:p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f.write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(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str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)</a:t>
            </a:r>
            <a:r>
              <a:rPr lang="fr-FR" dirty="0"/>
              <a:t> : écrit la chaîne </a:t>
            </a:r>
            <a:r>
              <a:rPr lang="fr-FR" dirty="0" err="1"/>
              <a:t>str</a:t>
            </a:r>
            <a:r>
              <a:rPr lang="fr-FR" dirty="0"/>
              <a:t> dans f.</a:t>
            </a:r>
          </a:p>
          <a:p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f.read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(n)</a:t>
            </a:r>
            <a:r>
              <a:rPr lang="fr-FR" dirty="0"/>
              <a:t> : lit les n prochains caractères de f à partir de la position courante du curseur (retourne chaîne).</a:t>
            </a:r>
          </a:p>
          <a:p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f.read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  <a:r>
              <a:rPr lang="fr-FR" dirty="0"/>
              <a:t> : lit tous les caractères de f à partir de la position courante du curseur (retourne chaîne).</a:t>
            </a:r>
          </a:p>
          <a:p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f.readline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  <a:r>
              <a:rPr lang="fr-FR" dirty="0"/>
              <a:t> : lit la ligne de f à partir de la position courante du curseur (retourne chaîne).</a:t>
            </a:r>
          </a:p>
          <a:p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f.readlines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  <a:r>
              <a:rPr lang="fr-FR" dirty="0"/>
              <a:t> : lit toutes les lignes restantes de f à partir de la position courante du curseur (retourne liste de chaînes).</a:t>
            </a:r>
          </a:p>
        </p:txBody>
      </p:sp>
    </p:spTree>
    <p:extLst>
      <p:ext uri="{BB962C8B-B14F-4D97-AF65-F5344CB8AC3E}">
        <p14:creationId xmlns:p14="http://schemas.microsoft.com/office/powerpoint/2010/main" val="3424605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>
                <a:latin typeface="Courier"/>
                <a:cs typeface="Courier"/>
              </a:rPr>
              <a:t>Programme</a:t>
            </a: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création, ouverture, écriture et fermeture automatique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Users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jcabessa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/Desktop/MAIN/Courses/PYTHON/2016_Paris_Lausanne/cours/code/fichier1.txt"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"w"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f1: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f1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write(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"1ere ligne</a:t>
            </a:r>
            <a:r>
              <a:rPr lang="fr-FR" sz="1800" b="1" dirty="0">
                <a:solidFill>
                  <a:srgbClr val="BB6622"/>
                </a:solidFill>
                <a:latin typeface="Courier"/>
                <a:cs typeface="Courier"/>
              </a:rPr>
              <a:t>\n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\n code un retour de ligne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f1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write(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"2eme ligne</a:t>
            </a:r>
            <a:r>
              <a:rPr lang="fr-FR" sz="1800" b="1" dirty="0">
                <a:solidFill>
                  <a:srgbClr val="BB6622"/>
                </a:solidFill>
                <a:latin typeface="Courier"/>
                <a:cs typeface="Courier"/>
              </a:rPr>
              <a:t>\n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f1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write(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"3eme ligne</a:t>
            </a:r>
            <a:r>
              <a:rPr lang="fr-FR" sz="1800" b="1" dirty="0">
                <a:solidFill>
                  <a:srgbClr val="BB6622"/>
                </a:solidFill>
                <a:latin typeface="Courier"/>
                <a:cs typeface="Courier"/>
              </a:rPr>
              <a:t>\n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584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ouverture, lecture et fermeture automatique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Users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jcabessa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/Desktop/MAIN/Courses/PYTHON/2016_Paris_Lausanne/cours/code/fichier1.txt"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"r"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f1: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x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f1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read(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    print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x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y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f1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readline()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    print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y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z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f1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readlines()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    print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z</a:t>
            </a:r>
          </a:p>
          <a:p>
            <a:pPr marL="0" indent="0">
              <a:buNone/>
            </a:pPr>
            <a:r>
              <a:rPr lang="fr-FR" sz="1800" b="1" dirty="0">
                <a:latin typeface="Courier"/>
                <a:cs typeface="Courier"/>
              </a:rPr>
              <a:t>Exécution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latin typeface="Courier"/>
                <a:cs typeface="Courier"/>
              </a:rPr>
              <a:t>1ere </a:t>
            </a:r>
          </a:p>
          <a:p>
            <a:pPr marL="0" indent="0">
              <a:buNone/>
            </a:pPr>
            <a:r>
              <a:rPr lang="en-US" sz="1800" dirty="0" err="1">
                <a:latin typeface="Courier"/>
                <a:cs typeface="Courier"/>
              </a:rPr>
              <a:t>ligne</a:t>
            </a:r>
            <a:endParaRPr lang="en-US" sz="1800" dirty="0"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latin typeface="Courier"/>
                <a:cs typeface="Courier"/>
              </a:rPr>
              <a:t>['2eme </a:t>
            </a:r>
            <a:r>
              <a:rPr lang="en-US" sz="1800" dirty="0" err="1">
                <a:latin typeface="Courier"/>
                <a:cs typeface="Courier"/>
              </a:rPr>
              <a:t>ligne</a:t>
            </a:r>
            <a:r>
              <a:rPr lang="en-US" sz="1800" dirty="0">
                <a:latin typeface="Courier"/>
                <a:cs typeface="Courier"/>
              </a:rPr>
              <a:t>\n', '3eme </a:t>
            </a:r>
            <a:r>
              <a:rPr lang="en-US" sz="1800" dirty="0" err="1">
                <a:latin typeface="Courier"/>
                <a:cs typeface="Courier"/>
              </a:rPr>
              <a:t>ligne</a:t>
            </a:r>
            <a:r>
              <a:rPr lang="en-US" sz="1800" dirty="0">
                <a:latin typeface="Courier"/>
                <a:cs typeface="Courier"/>
              </a:rPr>
              <a:t>\n']</a:t>
            </a:r>
            <a:endParaRPr lang="fr-FR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67067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>
                <a:latin typeface="Courier"/>
                <a:cs typeface="Courier"/>
              </a:rPr>
              <a:t>Programme</a:t>
            </a:r>
            <a:endParaRPr lang="en-US" sz="1800" dirty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À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chaque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réouverture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, le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curseur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se replace au début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"/Users/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jcabessa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/Desktop/MAIN/Courses/PYTHON/2016_Paris_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Lausanne/cours/code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/fichier1.txt"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"r"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f1: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x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f1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read()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print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x</a:t>
            </a:r>
          </a:p>
          <a:p>
            <a:pPr marL="0" indent="0">
              <a:buNone/>
            </a:pPr>
            <a:r>
              <a:rPr lang="fr-FR" sz="1800" b="1" dirty="0">
                <a:latin typeface="Courier"/>
                <a:cs typeface="Courier"/>
              </a:rPr>
              <a:t>Exécution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1ere ligne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2eme ligne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3eme ligne</a:t>
            </a:r>
          </a:p>
        </p:txBody>
      </p:sp>
    </p:spTree>
    <p:extLst>
      <p:ext uri="{BB962C8B-B14F-4D97-AF65-F5344CB8AC3E}">
        <p14:creationId xmlns:p14="http://schemas.microsoft.com/office/powerpoint/2010/main" val="416167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Parcours de fichiers : on peut parcourir les fichiers caractère par caractère ou ligne par ligne à l’aide d’une boucle « for ». On utilise les syntaxes :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320040" lvl="1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with open (f_physique, mode) as f_logique:</a:t>
            </a:r>
          </a:p>
          <a:p>
            <a:pPr marL="320040" lvl="1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    for x in f_logique:</a:t>
            </a:r>
          </a:p>
          <a:p>
            <a:pPr marL="320040" lvl="1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        instructions...</a:t>
            </a:r>
          </a:p>
          <a:p>
            <a:pPr marL="320040" lvl="1" indent="0">
              <a:buNone/>
            </a:pP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320040" lvl="1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with open (f_physique, mode) as f_logique:</a:t>
            </a:r>
          </a:p>
          <a:p>
            <a:pPr marL="320040" lvl="1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    for l in f_logique.readlines():</a:t>
            </a:r>
          </a:p>
          <a:p>
            <a:pPr marL="320040" lvl="1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        instructions</a:t>
            </a:r>
            <a:r>
              <a:rPr lang="is-IS" sz="2400" dirty="0">
                <a:solidFill>
                  <a:srgbClr val="3366FF"/>
                </a:solidFill>
                <a:latin typeface="Courier"/>
                <a:cs typeface="Courier"/>
              </a:rPr>
              <a:t>...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2581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prstClr val="black"/>
                </a:solidFill>
                <a:latin typeface="Courier"/>
                <a:cs typeface="Courier"/>
              </a:rPr>
              <a:t>Programme</a:t>
            </a:r>
            <a:endParaRPr lang="en-US" sz="1800" b="1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Users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jcabessa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/Desktop/MAIN/Courses/PYTHON/2016_Paris_Lausanne/cours/code/fichier1.txt"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"r"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f1: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x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f1: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print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x</a:t>
            </a:r>
          </a:p>
          <a:p>
            <a:pPr marL="0" indent="0">
              <a:buNone/>
            </a:pPr>
            <a:r>
              <a:rPr lang="en-US" sz="1800" b="1" dirty="0" err="1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  <a:endParaRPr lang="en-US" sz="1800" b="1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1ere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ligne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2eme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ligne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3eme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ligne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76697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prstClr val="black"/>
                </a:solidFill>
                <a:latin typeface="Courier"/>
                <a:cs typeface="Courier"/>
              </a:rPr>
              <a:t>Programme</a:t>
            </a:r>
            <a:endParaRPr lang="en-US" sz="1800" b="1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Users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jcabessa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/Desktop/MAIN/Courses/PYTHON/2016_Paris_Lausanne/cours/code/fichier1.txt"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"r"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f1: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x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f1.readlines():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print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x</a:t>
            </a:r>
          </a:p>
          <a:p>
            <a:pPr marL="0" indent="0">
              <a:buNone/>
            </a:pPr>
            <a:r>
              <a:rPr lang="en-US" sz="1800" b="1" dirty="0" err="1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  <a:endParaRPr lang="en-US" sz="1800" b="1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1ere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ligne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2eme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ligne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3eme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ligne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14986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Nous allons d’abord définir une fonction qui détermine si un fichier existe ou non sur le disque.</a:t>
            </a:r>
          </a:p>
          <a:p>
            <a:r>
              <a:rPr lang="fr-CH" dirty="0"/>
              <a:t>La fonction retourne </a:t>
            </a:r>
            <a:r>
              <a:rPr lang="en-US" dirty="0"/>
              <a:t>un tuple avec le nom du </a:t>
            </a:r>
            <a:r>
              <a:rPr lang="en-US" dirty="0" err="1"/>
              <a:t>fichier</a:t>
            </a:r>
            <a:r>
              <a:rPr lang="en-US" dirty="0"/>
              <a:t> physique et le </a:t>
            </a:r>
            <a:r>
              <a:rPr lang="en-US" dirty="0" err="1"/>
              <a:t>booléen</a:t>
            </a:r>
            <a:r>
              <a:rPr lang="en-US" dirty="0"/>
              <a:t> </a:t>
            </a:r>
            <a:r>
              <a:rPr lang="en-US" dirty="0" err="1"/>
              <a:t>associé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</a:t>
            </a:r>
            <a:r>
              <a:rPr lang="en-US" dirty="0" err="1"/>
              <a:t>l’existence</a:t>
            </a:r>
            <a:r>
              <a:rPr lang="en-US" dirty="0"/>
              <a:t> du </a:t>
            </a:r>
            <a:r>
              <a:rPr lang="en-US" dirty="0" err="1"/>
              <a:t>fichier</a:t>
            </a:r>
            <a:r>
              <a:rPr lang="en-US" dirty="0"/>
              <a:t> en question.</a:t>
            </a:r>
          </a:p>
          <a:p>
            <a:r>
              <a:rPr lang="en-US" dirty="0"/>
              <a:t>On </a:t>
            </a:r>
            <a:r>
              <a:rPr lang="en-US" dirty="0" err="1"/>
              <a:t>utilise</a:t>
            </a:r>
            <a:r>
              <a:rPr lang="en-US" dirty="0"/>
              <a:t> la </a:t>
            </a:r>
            <a:r>
              <a:rPr lang="en-US" dirty="0" err="1"/>
              <a:t>gestion</a:t>
            </a:r>
            <a:r>
              <a:rPr lang="en-US" dirty="0"/>
              <a:t> des exceptions (</a:t>
            </a:r>
            <a:r>
              <a:rPr lang="en-US" dirty="0" err="1"/>
              <a:t>Chapitre</a:t>
            </a:r>
            <a:r>
              <a:rPr lang="en-US" dirty="0"/>
              <a:t> 7).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4625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>
                <a:solidFill>
                  <a:srgbClr val="000000"/>
                </a:solidFill>
                <a:latin typeface="Courier"/>
                <a:cs typeface="Courier"/>
              </a:rPr>
              <a:t>Programme</a:t>
            </a: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isFile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fname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try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f_log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fname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'r'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f_log</a:t>
            </a:r>
            <a:r>
              <a:rPr lang="en-US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close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fname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except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b="1" dirty="0" err="1">
                <a:solidFill>
                  <a:srgbClr val="D2413A"/>
                </a:solidFill>
                <a:latin typeface="Courier"/>
                <a:cs typeface="Courier"/>
              </a:rPr>
              <a:t>FileNotFoundError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fname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576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  <a:endParaRPr lang="en-US" sz="1800" b="1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&gt;&gt;&gt;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isFile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carnet.txt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pt-BR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('</a:t>
            </a: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carnet.txt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', </a:t>
            </a: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True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CH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&gt;&gt;&gt;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isFile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mon_fichier.txt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pt-BR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('</a:t>
            </a: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mon_fichier.txt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', False)</a:t>
            </a:r>
            <a:endParaRPr lang="en-US" sz="180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77552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Nous allons écrire un programme qui affiche à l’écran un fichier dont l’utilisateur donne le nom.</a:t>
            </a:r>
          </a:p>
          <a:p>
            <a:r>
              <a:rPr lang="fr-CH" dirty="0"/>
              <a:t>On utilise la fonction </a:t>
            </a:r>
            <a:r>
              <a:rPr lang="fr-CH" sz="2400" dirty="0">
                <a:latin typeface="Courier"/>
                <a:cs typeface="Courier"/>
              </a:rPr>
              <a:t>isFile()</a:t>
            </a:r>
            <a:r>
              <a:rPr lang="fr-CH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067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sz="1800" b="1" dirty="0">
                <a:solidFill>
                  <a:prstClr val="black"/>
                </a:solidFill>
                <a:latin typeface="Courier"/>
                <a:cs typeface="Courier"/>
              </a:rPr>
              <a:t>Programmme</a:t>
            </a:r>
            <a:endParaRPr lang="fr-FR" sz="1800" b="1" dirty="0">
              <a:solidFill>
                <a:srgbClr val="008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physique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"nom du fichier: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physique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break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vérifier si le fichier existe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not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isFile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(physique)[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]: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"ce fichier n'existe pas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afficher les lignes sur l'écran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physique,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'r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'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f: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x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f: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(x)</a:t>
            </a:r>
          </a:p>
          <a:p>
            <a:pPr marL="0" indent="0">
              <a:buNone/>
            </a:pPr>
            <a:endParaRPr lang="fr-CH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49887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sz="1800" b="1" dirty="0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  <a:endParaRPr lang="fr-FR" sz="1800" b="1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nom du fichier: </a:t>
            </a: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carnet.txt</a:t>
            </a:r>
            <a:endParaRPr lang="fr-FR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urier"/>
                <a:cs typeface="Courier"/>
              </a:rPr>
              <a:t>Lisa 05.05.1987 0697837465</a:t>
            </a:r>
          </a:p>
          <a:p>
            <a:pPr marL="0" indent="0">
              <a:buNone/>
            </a:pPr>
            <a:r>
              <a:rPr lang="pt-BR" sz="1800" dirty="0" err="1">
                <a:solidFill>
                  <a:srgbClr val="000000"/>
                </a:solidFill>
                <a:latin typeface="Courier"/>
                <a:cs typeface="Courier"/>
              </a:rPr>
              <a:t>nom</a:t>
            </a:r>
            <a:r>
              <a:rPr lang="pt-BR" sz="1800" dirty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urier"/>
                <a:cs typeface="Courier"/>
              </a:rPr>
              <a:t>du</a:t>
            </a:r>
            <a:r>
              <a:rPr lang="pt-BR" sz="1800" dirty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urier"/>
                <a:cs typeface="Courier"/>
              </a:rPr>
              <a:t>fichier</a:t>
            </a:r>
            <a:r>
              <a:rPr lang="pt-BR" sz="1800" dirty="0">
                <a:solidFill>
                  <a:srgbClr val="000000"/>
                </a:solidFill>
                <a:latin typeface="Courier"/>
                <a:cs typeface="Courier"/>
              </a:rPr>
              <a:t>: </a:t>
            </a:r>
            <a:r>
              <a:rPr lang="pt-BR" sz="1800" dirty="0" err="1">
                <a:solidFill>
                  <a:srgbClr val="000000"/>
                </a:solidFill>
                <a:latin typeface="Courier"/>
                <a:cs typeface="Courier"/>
              </a:rPr>
              <a:t>bla</a:t>
            </a:r>
            <a:r>
              <a:rPr lang="pt-BR" sz="1800" dirty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urier"/>
                <a:cs typeface="Courier"/>
              </a:rPr>
              <a:t>bla</a:t>
            </a:r>
            <a:endParaRPr lang="pt-BR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pt-BR" sz="1800" dirty="0" err="1">
                <a:solidFill>
                  <a:srgbClr val="000000"/>
                </a:solidFill>
                <a:latin typeface="Courier"/>
                <a:cs typeface="Courier"/>
              </a:rPr>
              <a:t>ce</a:t>
            </a:r>
            <a:r>
              <a:rPr lang="pt-BR" sz="1800" dirty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urier"/>
                <a:cs typeface="Courier"/>
              </a:rPr>
              <a:t>fichier</a:t>
            </a:r>
            <a:r>
              <a:rPr lang="pt-BR" sz="1800" dirty="0">
                <a:solidFill>
                  <a:srgbClr val="000000"/>
                </a:solidFill>
                <a:latin typeface="Courier"/>
                <a:cs typeface="Courier"/>
              </a:rPr>
              <a:t> n'existe </a:t>
            </a:r>
            <a:r>
              <a:rPr lang="pt-BR" sz="1800" dirty="0" err="1">
                <a:solidFill>
                  <a:srgbClr val="000000"/>
                </a:solidFill>
                <a:latin typeface="Courier"/>
                <a:cs typeface="Courier"/>
              </a:rPr>
              <a:t>pas</a:t>
            </a:r>
            <a:endParaRPr lang="pt-BR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pt-BR" sz="1800" dirty="0" err="1">
                <a:solidFill>
                  <a:srgbClr val="000000"/>
                </a:solidFill>
                <a:latin typeface="Courier"/>
                <a:cs typeface="Courier"/>
              </a:rPr>
              <a:t>nom</a:t>
            </a:r>
            <a:r>
              <a:rPr lang="pt-BR" sz="1800" dirty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urier"/>
                <a:cs typeface="Courier"/>
              </a:rPr>
              <a:t>du</a:t>
            </a:r>
            <a:r>
              <a:rPr lang="pt-BR" sz="1800" dirty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urier"/>
                <a:cs typeface="Courier"/>
              </a:rPr>
              <a:t>fichier</a:t>
            </a:r>
            <a:r>
              <a:rPr lang="pt-BR" sz="1800" dirty="0">
                <a:solidFill>
                  <a:srgbClr val="000000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Jeremies-MacBook-Pro:code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jcabessa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$ </a:t>
            </a:r>
            <a:endParaRPr lang="fr-CH" sz="180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9498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063808" cy="4853136"/>
          </a:xfrm>
        </p:spPr>
        <p:txBody>
          <a:bodyPr>
            <a:normAutofit/>
          </a:bodyPr>
          <a:lstStyle/>
          <a:p>
            <a:r>
              <a:rPr lang="fr-CH" dirty="0"/>
              <a:t>Nous allons écrire un programme qui stocke dans des fichiers textes les lignes tapées au clavier par l’utilisateur.</a:t>
            </a:r>
          </a:p>
          <a:p>
            <a:r>
              <a:rPr lang="fr-CH" dirty="0"/>
              <a:t>On utilise la fonction </a:t>
            </a:r>
            <a:r>
              <a:rPr lang="fr-CH" sz="2400" dirty="0">
                <a:latin typeface="Courier"/>
                <a:cs typeface="Courier"/>
              </a:rPr>
              <a:t>isFile()</a:t>
            </a:r>
            <a:r>
              <a:rPr lang="fr-CH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678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063808" cy="5213176"/>
          </a:xfrm>
        </p:spPr>
        <p:txBody>
          <a:bodyPr>
            <a:noAutofit/>
          </a:bodyPr>
          <a:lstStyle/>
          <a:p>
            <a:pPr marL="0" indent="0">
              <a:lnSpc>
                <a:spcPct val="78000"/>
              </a:lnSpc>
              <a:buNone/>
            </a:pPr>
            <a:r>
              <a:rPr lang="fr-FR" sz="1800" b="1" dirty="0">
                <a:solidFill>
                  <a:srgbClr val="000000"/>
                </a:solidFill>
                <a:latin typeface="Courier"/>
                <a:cs typeface="Courier"/>
              </a:rPr>
              <a:t>Programme</a:t>
            </a:r>
          </a:p>
          <a:p>
            <a:pPr marL="0" indent="0">
              <a:lnSpc>
                <a:spcPct val="78000"/>
              </a:lnSpc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lnSpc>
                <a:spcPct val="78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physique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"nom du fichier: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lnSpc>
                <a:spcPct val="78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physique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lnSpc>
                <a:spcPct val="78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break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78000"/>
              </a:lnSpc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   rep </a:t>
            </a:r>
            <a:r>
              <a:rPr lang="nb-NO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"n"</a:t>
            </a:r>
            <a:endParaRPr lang="nb-N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78000"/>
              </a:lnSpc>
              <a:buNone/>
            </a:pPr>
            <a:r>
              <a:rPr lang="nb-NO" sz="1800" b="1" dirty="0">
                <a:solidFill>
                  <a:srgbClr val="008000"/>
                </a:solidFill>
                <a:latin typeface="Courier"/>
                <a:cs typeface="Courier"/>
              </a:rPr>
              <a:t>    </a:t>
            </a:r>
            <a:r>
              <a:rPr lang="nb-NO" sz="1800" b="1" dirty="0" err="1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b-NO" sz="1800" dirty="0" err="1">
                <a:solidFill>
                  <a:prstClr val="black"/>
                </a:solidFill>
                <a:latin typeface="Courier"/>
                <a:cs typeface="Courier"/>
              </a:rPr>
              <a:t>isFile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nb-NO" sz="1800" dirty="0" err="1">
                <a:solidFill>
                  <a:prstClr val="black"/>
                </a:solidFill>
                <a:latin typeface="Courier"/>
                <a:cs typeface="Courier"/>
              </a:rPr>
              <a:t>physique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)[</a:t>
            </a:r>
            <a:r>
              <a:rPr lang="nb-NO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]:</a:t>
            </a:r>
          </a:p>
          <a:p>
            <a:pPr marL="0" indent="0">
              <a:lnSpc>
                <a:spcPct val="78000"/>
              </a:lnSpc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nb-NO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nb-NO" sz="1800" dirty="0" err="1">
                <a:solidFill>
                  <a:srgbClr val="BA2121"/>
                </a:solidFill>
                <a:latin typeface="Courier"/>
                <a:cs typeface="Courier"/>
              </a:rPr>
              <a:t>Ce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nb-NO" sz="1800" dirty="0" err="1">
                <a:solidFill>
                  <a:srgbClr val="BA2121"/>
                </a:solidFill>
                <a:latin typeface="Courier"/>
                <a:cs typeface="Courier"/>
              </a:rPr>
              <a:t>fichier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nb-NO" sz="1800" dirty="0" err="1">
                <a:solidFill>
                  <a:srgbClr val="BA2121"/>
                </a:solidFill>
                <a:latin typeface="Courier"/>
                <a:cs typeface="Courier"/>
              </a:rPr>
              <a:t>existe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 deja")</a:t>
            </a:r>
            <a:endParaRPr lang="nb-N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78000"/>
              </a:lnSpc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       rep </a:t>
            </a:r>
            <a:r>
              <a:rPr lang="nb-NO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b-NO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nb-NO" sz="1800" dirty="0" err="1">
                <a:solidFill>
                  <a:srgbClr val="BA2121"/>
                </a:solidFill>
                <a:latin typeface="Courier"/>
                <a:cs typeface="Courier"/>
              </a:rPr>
              <a:t>Voulez-vous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nb-NO" sz="1800" dirty="0" err="1">
                <a:solidFill>
                  <a:srgbClr val="BA2121"/>
                </a:solidFill>
                <a:latin typeface="Courier"/>
                <a:cs typeface="Courier"/>
              </a:rPr>
              <a:t>l'ecraser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 (y/n)? "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lnSpc>
                <a:spcPct val="78000"/>
              </a:lnSpc>
              <a:buNone/>
            </a:pPr>
            <a:r>
              <a:rPr lang="nb-NO" sz="1800" b="1" dirty="0">
                <a:solidFill>
                  <a:srgbClr val="008000"/>
                </a:solidFill>
                <a:latin typeface="Courier"/>
                <a:cs typeface="Courier"/>
              </a:rPr>
              <a:t>    </a:t>
            </a:r>
            <a:r>
              <a:rPr lang="nb-NO" sz="1800" b="1" dirty="0" err="1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b-NO" sz="1800" b="1" dirty="0">
                <a:solidFill>
                  <a:srgbClr val="AA22FF"/>
                </a:solidFill>
                <a:latin typeface="Courier"/>
                <a:cs typeface="Courier"/>
              </a:rPr>
              <a:t>not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b-NO" sz="1800" dirty="0" err="1">
                <a:solidFill>
                  <a:prstClr val="black"/>
                </a:solidFill>
                <a:latin typeface="Courier"/>
                <a:cs typeface="Courier"/>
              </a:rPr>
              <a:t>isFile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nb-NO" sz="1800" dirty="0" err="1">
                <a:solidFill>
                  <a:prstClr val="black"/>
                </a:solidFill>
                <a:latin typeface="Courier"/>
                <a:cs typeface="Courier"/>
              </a:rPr>
              <a:t>physique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)[</a:t>
            </a:r>
            <a:r>
              <a:rPr lang="nb-NO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] </a:t>
            </a:r>
            <a:r>
              <a:rPr lang="nb-NO" sz="1800" b="1" dirty="0">
                <a:solidFill>
                  <a:srgbClr val="AA22FF"/>
                </a:solidFill>
                <a:latin typeface="Courier"/>
                <a:cs typeface="Courier"/>
              </a:rPr>
              <a:t>or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rep </a:t>
            </a:r>
            <a:r>
              <a:rPr lang="nb-NO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nb-NO" sz="1800" dirty="0" err="1">
                <a:solidFill>
                  <a:srgbClr val="BA2121"/>
                </a:solidFill>
                <a:latin typeface="Courier"/>
                <a:cs typeface="Courier"/>
              </a:rPr>
              <a:t>y"</a:t>
            </a:r>
            <a:r>
              <a:rPr lang="nb-NO" sz="1800" dirty="0" err="1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nb-NO" sz="1800" dirty="0" err="1">
                <a:solidFill>
                  <a:srgbClr val="BA2121"/>
                </a:solidFill>
                <a:latin typeface="Courier"/>
                <a:cs typeface="Courier"/>
              </a:rPr>
              <a:t>"Y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]:</a:t>
            </a:r>
          </a:p>
          <a:p>
            <a:pPr marL="0" indent="0">
              <a:lnSpc>
                <a:spcPct val="78000"/>
              </a:lnSpc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nb-NO" sz="1800" b="1" dirty="0" err="1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b-NO" sz="1800" dirty="0" err="1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nb-NO" sz="1800" dirty="0" err="1">
                <a:solidFill>
                  <a:prstClr val="black"/>
                </a:solidFill>
                <a:latin typeface="Courier"/>
                <a:cs typeface="Courier"/>
              </a:rPr>
              <a:t>physique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'w'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nb-NO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fl:</a:t>
            </a:r>
          </a:p>
          <a:p>
            <a:pPr marL="0" indent="0">
              <a:lnSpc>
                <a:spcPct val="78000"/>
              </a:lnSpc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nb-NO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"Entrer les lignes a </a:t>
            </a:r>
            <a:r>
              <a:rPr lang="nb-NO" sz="1800" dirty="0" err="1">
                <a:solidFill>
                  <a:srgbClr val="BA2121"/>
                </a:solidFill>
                <a:latin typeface="Courier"/>
                <a:cs typeface="Courier"/>
              </a:rPr>
              <a:t>stocker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")</a:t>
            </a:r>
            <a:endParaRPr lang="nb-N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78000"/>
              </a:lnSpc>
              <a:buNone/>
            </a:pP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nb-NO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nb-NO" sz="1800" dirty="0" err="1">
                <a:solidFill>
                  <a:srgbClr val="BA2121"/>
                </a:solidFill>
                <a:latin typeface="Courier"/>
                <a:cs typeface="Courier"/>
              </a:rPr>
              <a:t>derniere</a:t>
            </a:r>
            <a:r>
              <a:rPr lang="nb-NO" sz="1800" dirty="0">
                <a:solidFill>
                  <a:srgbClr val="BA2121"/>
                </a:solidFill>
                <a:latin typeface="Courier"/>
                <a:cs typeface="Courier"/>
              </a:rPr>
              <a:t> ligne END")</a:t>
            </a:r>
            <a:endParaRPr lang="nb-N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78000"/>
              </a:lnSpc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    s </a:t>
            </a:r>
            <a:r>
              <a:rPr lang="en-US" sz="180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"&gt; 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lnSpc>
                <a:spcPct val="78000"/>
              </a:lnSpc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s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!=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"END"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lnSpc>
                <a:spcPct val="78000"/>
              </a:lnSpc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fl</a:t>
            </a:r>
            <a:r>
              <a:rPr lang="en-US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write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(s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b="1" dirty="0">
                <a:solidFill>
                  <a:srgbClr val="BB6622"/>
                </a:solidFill>
                <a:latin typeface="Courier"/>
                <a:cs typeface="Courier"/>
              </a:rPr>
              <a:t>\n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lnSpc>
                <a:spcPct val="78000"/>
              </a:lnSpc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        s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"&gt; 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lnSpc>
                <a:spcPct val="78000"/>
              </a:lnSpc>
              <a:buNone/>
            </a:pPr>
            <a:endParaRPr lang="fr-CH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18226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063808" cy="5069160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fr-FR" sz="1800" b="1" dirty="0">
                <a:solidFill>
                  <a:srgbClr val="000000"/>
                </a:solidFill>
                <a:latin typeface="Courier"/>
                <a:cs typeface="Courier"/>
              </a:rPr>
              <a:t>Exécution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crée deux fichiers avec du texte</a:t>
            </a:r>
            <a:endParaRPr lang="fr-FR" sz="1800" b="1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nom du fichier: test1.txt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Entrer les lignes a stocker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derniere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 ligne END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 Bonjour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 Au revoir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s-ES_tradnl" sz="1800" dirty="0">
                <a:solidFill>
                  <a:srgbClr val="000000"/>
                </a:solidFill>
                <a:latin typeface="Courier"/>
                <a:cs typeface="Courier"/>
              </a:rPr>
              <a:t>&gt; END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s-ES_tradnl" sz="1800" dirty="0" err="1">
                <a:solidFill>
                  <a:srgbClr val="000000"/>
                </a:solidFill>
                <a:latin typeface="Courier"/>
                <a:cs typeface="Courier"/>
              </a:rPr>
              <a:t>nom</a:t>
            </a:r>
            <a:r>
              <a:rPr lang="es-ES_tradnl" sz="1800" dirty="0">
                <a:solidFill>
                  <a:srgbClr val="000000"/>
                </a:solidFill>
                <a:latin typeface="Courier"/>
                <a:cs typeface="Courier"/>
              </a:rPr>
              <a:t> du </a:t>
            </a:r>
            <a:r>
              <a:rPr lang="es-ES_tradnl" sz="1800" dirty="0" err="1">
                <a:solidFill>
                  <a:srgbClr val="000000"/>
                </a:solidFill>
                <a:latin typeface="Courier"/>
                <a:cs typeface="Courier"/>
              </a:rPr>
              <a:t>fichier</a:t>
            </a:r>
            <a:r>
              <a:rPr lang="es-ES_tradnl" sz="1800" dirty="0">
                <a:solidFill>
                  <a:srgbClr val="000000"/>
                </a:solidFill>
                <a:latin typeface="Courier"/>
                <a:cs typeface="Courier"/>
              </a:rPr>
              <a:t>: test2.txt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s-ES_tradnl" sz="1800" dirty="0" err="1">
                <a:solidFill>
                  <a:srgbClr val="000000"/>
                </a:solidFill>
                <a:latin typeface="Courier"/>
                <a:cs typeface="Courier"/>
              </a:rPr>
              <a:t>Entrer</a:t>
            </a:r>
            <a:r>
              <a:rPr lang="es-ES_tradnl" sz="1800" dirty="0">
                <a:solidFill>
                  <a:srgbClr val="000000"/>
                </a:solidFill>
                <a:latin typeface="Courier"/>
                <a:cs typeface="Courier"/>
              </a:rPr>
              <a:t> les </a:t>
            </a:r>
            <a:r>
              <a:rPr lang="es-ES_tradnl" sz="1800" dirty="0" err="1">
                <a:solidFill>
                  <a:srgbClr val="000000"/>
                </a:solidFill>
                <a:latin typeface="Courier"/>
                <a:cs typeface="Courier"/>
              </a:rPr>
              <a:t>lignes</a:t>
            </a:r>
            <a:r>
              <a:rPr lang="es-ES_tradnl" sz="1800" dirty="0">
                <a:solidFill>
                  <a:srgbClr val="000000"/>
                </a:solidFill>
                <a:latin typeface="Courier"/>
                <a:cs typeface="Courier"/>
              </a:rPr>
              <a:t> a </a:t>
            </a:r>
            <a:r>
              <a:rPr lang="es-ES_tradnl" sz="1800" dirty="0" err="1">
                <a:solidFill>
                  <a:srgbClr val="000000"/>
                </a:solidFill>
                <a:latin typeface="Courier"/>
                <a:cs typeface="Courier"/>
              </a:rPr>
              <a:t>stocker</a:t>
            </a:r>
            <a:endParaRPr lang="es-ES_tradnl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s-ES_tradnl" sz="1800" dirty="0" err="1">
                <a:solidFill>
                  <a:srgbClr val="000000"/>
                </a:solidFill>
                <a:latin typeface="Courier"/>
                <a:cs typeface="Courier"/>
              </a:rPr>
              <a:t>derniere</a:t>
            </a:r>
            <a:r>
              <a:rPr lang="es-ES_tradnl" sz="1800" dirty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es-ES_tradnl" sz="1800" dirty="0" err="1">
                <a:solidFill>
                  <a:srgbClr val="000000"/>
                </a:solidFill>
                <a:latin typeface="Courier"/>
                <a:cs typeface="Courier"/>
              </a:rPr>
              <a:t>ligne</a:t>
            </a:r>
            <a:r>
              <a:rPr lang="es-ES_tradnl" sz="1800" dirty="0">
                <a:solidFill>
                  <a:srgbClr val="000000"/>
                </a:solidFill>
                <a:latin typeface="Courier"/>
                <a:cs typeface="Courier"/>
              </a:rPr>
              <a:t> END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s-ES_tradnl" sz="1800" dirty="0">
                <a:solidFill>
                  <a:srgbClr val="000000"/>
                </a:solidFill>
                <a:latin typeface="Courier"/>
                <a:cs typeface="Courier"/>
              </a:rPr>
              <a:t>&gt; </a:t>
            </a:r>
            <a:r>
              <a:rPr lang="es-ES_tradnl" sz="1800" dirty="0" err="1">
                <a:solidFill>
                  <a:srgbClr val="000000"/>
                </a:solidFill>
                <a:latin typeface="Courier"/>
                <a:cs typeface="Courier"/>
              </a:rPr>
              <a:t>Nouveau</a:t>
            </a:r>
            <a:r>
              <a:rPr lang="es-ES_tradnl" sz="1800" dirty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es-ES_tradnl" sz="1800" dirty="0" err="1">
                <a:solidFill>
                  <a:srgbClr val="000000"/>
                </a:solidFill>
                <a:latin typeface="Courier"/>
                <a:cs typeface="Courier"/>
              </a:rPr>
              <a:t>texte</a:t>
            </a:r>
            <a:endParaRPr lang="es-ES_tradnl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ro-RO" sz="1800" dirty="0">
                <a:solidFill>
                  <a:srgbClr val="000000"/>
                </a:solidFill>
                <a:latin typeface="Courier"/>
                <a:cs typeface="Courier"/>
              </a:rPr>
              <a:t>&gt; etc.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&gt; </a:t>
            </a: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etc</a:t>
            </a:r>
            <a:endParaRPr lang="fr-FR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s-ES_tradnl" sz="1800" dirty="0">
                <a:solidFill>
                  <a:srgbClr val="000000"/>
                </a:solidFill>
                <a:latin typeface="Courier"/>
                <a:cs typeface="Courier"/>
              </a:rPr>
              <a:t>&gt; END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s-ES_tradnl" sz="1800" dirty="0" err="1">
                <a:solidFill>
                  <a:srgbClr val="000000"/>
                </a:solidFill>
                <a:latin typeface="Courier"/>
                <a:cs typeface="Courier"/>
              </a:rPr>
              <a:t>nom</a:t>
            </a:r>
            <a:r>
              <a:rPr lang="es-ES_tradnl" sz="1800" dirty="0">
                <a:solidFill>
                  <a:srgbClr val="000000"/>
                </a:solidFill>
                <a:latin typeface="Courier"/>
                <a:cs typeface="Courier"/>
              </a:rPr>
              <a:t> du </a:t>
            </a:r>
            <a:r>
              <a:rPr lang="es-ES_tradnl" sz="1800" dirty="0" err="1">
                <a:solidFill>
                  <a:srgbClr val="000000"/>
                </a:solidFill>
                <a:latin typeface="Courier"/>
                <a:cs typeface="Courier"/>
              </a:rPr>
              <a:t>fichier</a:t>
            </a:r>
            <a:r>
              <a:rPr lang="es-ES_tradnl" sz="1800" dirty="0">
                <a:solidFill>
                  <a:srgbClr val="000000"/>
                </a:solidFill>
                <a:latin typeface="Courier"/>
                <a:cs typeface="Courier"/>
              </a:rPr>
              <a:t>: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s-ES_tradnl" sz="1800" dirty="0" err="1">
                <a:solidFill>
                  <a:srgbClr val="000000"/>
                </a:solidFill>
                <a:latin typeface="Courier"/>
                <a:cs typeface="Courier"/>
              </a:rPr>
              <a:t>Jeremies-MacBook-Pro:code</a:t>
            </a:r>
            <a:r>
              <a:rPr lang="es-ES_tradnl" sz="1800" dirty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es-ES_tradnl" sz="1800" dirty="0" err="1">
                <a:solidFill>
                  <a:srgbClr val="000000"/>
                </a:solidFill>
                <a:latin typeface="Courier"/>
                <a:cs typeface="Courier"/>
              </a:rPr>
              <a:t>jcabessa</a:t>
            </a:r>
            <a:r>
              <a:rPr lang="es-ES_tradnl" sz="1800" dirty="0">
                <a:solidFill>
                  <a:srgbClr val="000000"/>
                </a:solidFill>
                <a:latin typeface="Courier"/>
                <a:cs typeface="Courier"/>
              </a:rPr>
              <a:t>$ </a:t>
            </a:r>
          </a:p>
        </p:txBody>
      </p:sp>
    </p:spTree>
    <p:extLst>
      <p:ext uri="{BB962C8B-B14F-4D97-AF65-F5344CB8AC3E}">
        <p14:creationId xmlns:p14="http://schemas.microsoft.com/office/powerpoint/2010/main" val="351491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 à accès direct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Nous avons vu le cas de fichiers dits « à accès séquentiel », i.e., où la lecture et l'écriture se fait à partir de la dernière position du curseur atteinte dans le fichier.</a:t>
            </a:r>
          </a:p>
          <a:p>
            <a:r>
              <a:rPr lang="fr-CH" dirty="0"/>
              <a:t>Il existe des fichiers, plus lourds, dits « à accès direct », i.e., où il est possible de lire et écrire à partir de n’importe quelle position donnée.</a:t>
            </a:r>
          </a:p>
          <a:p>
            <a:r>
              <a:rPr lang="fr-CH" dirty="0"/>
              <a:t>De tels fichiers sont définis par des modes suivis de « + » et ils possède deux nouvelles méthodes</a:t>
            </a:r>
            <a:r>
              <a:rPr lang="is-IS" dirty="0"/>
              <a:t>…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56800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 à accès direct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35816" cy="4853136"/>
          </a:xfrm>
        </p:spPr>
        <p:txBody>
          <a:bodyPr>
            <a:normAutofit/>
          </a:bodyPr>
          <a:lstStyle/>
          <a:p>
            <a:r>
              <a:rPr lang="fr-CH" dirty="0"/>
              <a:t>Pour gérer des fichier à accès direct, on utilise les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modes</a:t>
            </a:r>
            <a:r>
              <a:rPr lang="fr-CH" dirty="0"/>
              <a:t> suivants : </a:t>
            </a:r>
          </a:p>
          <a:p>
            <a:pPr lvl="1"/>
            <a:r>
              <a:rPr lang="fr-CH" sz="2000" dirty="0">
                <a:solidFill>
                  <a:srgbClr val="3366FF"/>
                </a:solidFill>
                <a:latin typeface="Courier"/>
                <a:cs typeface="Courier"/>
              </a:rPr>
              <a:t>'r+'</a:t>
            </a:r>
            <a:r>
              <a:rPr lang="fr-CH" dirty="0"/>
              <a:t> (read): le fichier est ouvert en lecture seule, il est impossible de le modifier. Si le fichier n’existe pas au préalable, cela génère une erreur. </a:t>
            </a:r>
          </a:p>
          <a:p>
            <a:pPr lvl="1"/>
            <a:r>
              <a:rPr lang="fr-CH" sz="2000" dirty="0">
                <a:solidFill>
                  <a:srgbClr val="3366FF"/>
                </a:solidFill>
                <a:latin typeface="Courier"/>
                <a:cs typeface="Courier"/>
              </a:rPr>
              <a:t>'w+'</a:t>
            </a:r>
            <a:r>
              <a:rPr lang="fr-CH" dirty="0"/>
              <a:t> (write): le fichier est créé ou recréé (toujours) et ouvert en écriture. Si le fichier existe déjà, il sera écrasé et recréé. </a:t>
            </a:r>
          </a:p>
          <a:p>
            <a:pPr lvl="1"/>
            <a:r>
              <a:rPr lang="fr-CH" sz="2000" dirty="0">
                <a:solidFill>
                  <a:srgbClr val="3366FF"/>
                </a:solidFill>
                <a:latin typeface="Courier"/>
                <a:cs typeface="Courier"/>
              </a:rPr>
              <a:t>'a+'</a:t>
            </a:r>
            <a:r>
              <a:rPr lang="fr-CH" dirty="0"/>
              <a:t> (append): le fichier est ouvert en écriture. Si le fichier existe, les données sont ajoutées à la fin, sinon il est créé.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56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 à accès direct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 lnSpcReduction="10000"/>
          </a:bodyPr>
          <a:lstStyle/>
          <a:p>
            <a:r>
              <a:rPr lang="fr-FR" dirty="0">
                <a:cs typeface="Courier"/>
              </a:rPr>
              <a:t>On a les deux nouvelles méthodes suivantes :</a:t>
            </a:r>
          </a:p>
          <a:p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f.tell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  <a:r>
              <a:rPr lang="fr-FR" dirty="0"/>
              <a:t> : retourne un entier qui correspond à la position actuelle du curseur dans f.</a:t>
            </a:r>
          </a:p>
          <a:p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f.seek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(n[,0,1,2])</a:t>
            </a:r>
            <a:r>
              <a:rPr lang="fr-FR" dirty="0"/>
              <a:t> : place le curseur de f en position n.</a:t>
            </a:r>
          </a:p>
          <a:p>
            <a:pPr lvl="1"/>
            <a:r>
              <a:rPr lang="fr-FR" dirty="0"/>
              <a:t>si second argument 0 ou omis, se place en position n à partir du début de f</a:t>
            </a:r>
          </a:p>
          <a:p>
            <a:pPr lvl="1"/>
            <a:r>
              <a:rPr lang="fr-FR" dirty="0"/>
              <a:t>si second argument 1, se place en position n à partir de la position actuelle du curseur de f</a:t>
            </a:r>
          </a:p>
          <a:p>
            <a:pPr lvl="1"/>
            <a:r>
              <a:rPr lang="fr-FR" dirty="0"/>
              <a:t>si second argument 2 ou omis, se place en position -n à partir de la fin de f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330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 à accès direct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251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>
                <a:latin typeface="Courier"/>
                <a:cs typeface="Courier"/>
              </a:rPr>
              <a:t>Programme</a:t>
            </a: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création et écriture dans un fichier à accès direct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Users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jcabessa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/Desktop/MAIN/Courses/PYTHON/2016_Paris_Lausanne/cours/code/fichier1.txt"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"w+"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f2: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f1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write(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"1ere ligne bis</a:t>
            </a:r>
            <a:r>
              <a:rPr lang="fr-FR" sz="1800" b="1" dirty="0">
                <a:solidFill>
                  <a:srgbClr val="BB6622"/>
                </a:solidFill>
                <a:latin typeface="Courier"/>
                <a:cs typeface="Courier"/>
              </a:rPr>
              <a:t>\n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f1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write(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"2eme ligne bis</a:t>
            </a:r>
            <a:r>
              <a:rPr lang="fr-FR" sz="1800" b="1" dirty="0">
                <a:solidFill>
                  <a:srgbClr val="BB6622"/>
                </a:solidFill>
                <a:latin typeface="Courier"/>
                <a:cs typeface="Courier"/>
              </a:rPr>
              <a:t>\n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f1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write(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"3eme ligne bis</a:t>
            </a:r>
            <a:r>
              <a:rPr lang="fr-FR" sz="1800" b="1" dirty="0">
                <a:solidFill>
                  <a:srgbClr val="BB6622"/>
                </a:solidFill>
                <a:latin typeface="Courier"/>
                <a:cs typeface="Courier"/>
              </a:rPr>
              <a:t>\n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lecture d'un fichier à accès direct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Users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jcabessa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/Desktop/MAIN/Courses/PYTHON/2016_Paris_Lausanne/cours/code/fichier1.txt"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"r+"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f2: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	f2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seek(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8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	x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f2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read()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print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x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88053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Fichiers à accès direct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prstClr val="black"/>
                </a:solidFill>
                <a:latin typeface="Courier"/>
                <a:cs typeface="Courier"/>
              </a:rPr>
              <a:t>Exécution</a:t>
            </a:r>
            <a:endParaRPr lang="en-US" sz="1800" b="1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ne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bis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2eme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ligne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bis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3eme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ligne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bis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14274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Au chapitre 4, on avait crée un programme qui permettait de gérer une sorte de carnet d’adresse, avec possibilité d’ajouter, rechercher des personnes, etc.</a:t>
            </a:r>
          </a:p>
          <a:p>
            <a:r>
              <a:rPr lang="fr-CH" dirty="0"/>
              <a:t>On va améliorer ce programme pour que le carnet soit sauvé dans un fichier.</a:t>
            </a:r>
          </a:p>
        </p:txBody>
      </p:sp>
    </p:spTree>
    <p:extLst>
      <p:ext uri="{BB962C8B-B14F-4D97-AF65-F5344CB8AC3E}">
        <p14:creationId xmlns:p14="http://schemas.microsoft.com/office/powerpoint/2010/main" val="149273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carnet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{}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création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du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dictionnaire</a:t>
            </a:r>
            <a:endParaRPr lang="en-US" sz="1800" i="1" dirty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"n : Introduire une nouvelle adresse"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"r : Rechercher une adresse"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"f : Fin"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1==1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cette boucle est exécutée tout le temps, i.e.,</a:t>
            </a: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tant qu'elle n'est pas interrompue par break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89073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711880" cy="5141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action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raw_input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"Que voulez-vous faire?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(action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"n"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"N"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]):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introduire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une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nouvelle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adresse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nom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raw_input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un nom: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nom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carnet</a:t>
            </a:r>
            <a:r>
              <a:rPr lang="fr-FR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keys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ro-RO" sz="1800" dirty="0">
                <a:solidFill>
                  <a:srgbClr val="008000"/>
                </a:solidFill>
                <a:latin typeface="Courier"/>
                <a:cs typeface="Courier"/>
              </a:rPr>
              <a:t>print </a:t>
            </a:r>
            <a:r>
              <a:rPr lang="ro-RO" sz="1800" dirty="0">
                <a:solidFill>
                  <a:srgbClr val="BA2121"/>
                </a:solidFill>
                <a:latin typeface="Courier"/>
                <a:cs typeface="Courier"/>
              </a:rPr>
              <a:t>"Ce nom existe deja..."</a:t>
            </a:r>
            <a:endParaRPr lang="ro-R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hu-HU" sz="1800" b="1" dirty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    anniv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raw_input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"anniversaire &lt;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j.m.a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&gt;: "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            tel </a:t>
            </a:r>
            <a:r>
              <a:rPr lang="hu-HU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hu-HU" sz="1800" dirty="0">
                <a:solidFill>
                  <a:srgbClr val="008000"/>
                </a:solidFill>
                <a:latin typeface="Courier"/>
                <a:cs typeface="Courier"/>
              </a:rPr>
              <a:t>raw_input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hu-HU" sz="1800" dirty="0">
                <a:solidFill>
                  <a:srgbClr val="BA2121"/>
                </a:solidFill>
                <a:latin typeface="Courier"/>
                <a:cs typeface="Courier"/>
              </a:rPr>
              <a:t>telephone: "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hu-HU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            carnet[nom] </a:t>
            </a:r>
            <a:r>
              <a:rPr lang="ro-RO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 (anniv, tel)</a:t>
            </a: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            # on ajoute le tout dans le fichier!</a:t>
            </a:r>
            <a:endParaRPr lang="ro-R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ro-RO" sz="1800" b="1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Users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jcabessa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/Desktop/MAIN/Courses/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PYTHON/2016_Paris_Lausanne/cours/code/carnet.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txt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f: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       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</a:t>
            </a:r>
            <a:r>
              <a:rPr lang="en-US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write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(nom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 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anniv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 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tel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b="1" dirty="0">
                <a:solidFill>
                  <a:srgbClr val="BB6622"/>
                </a:solidFill>
                <a:latin typeface="Courier"/>
                <a:cs typeface="Courier"/>
              </a:rPr>
              <a:t>\n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ro-RO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86726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    </a:t>
            </a:r>
            <a:r>
              <a:rPr lang="en-US" sz="1800" b="1" dirty="0" err="1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(action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"r"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"R"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]):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nom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raw_input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un nom: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nom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carnet</a:t>
            </a:r>
            <a:r>
              <a:rPr lang="fr-FR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keys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"anniversaire:"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carnet[nom][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hu-HU" sz="1800" dirty="0">
                <a:solidFill>
                  <a:srgbClr val="BA2121"/>
                </a:solidFill>
                <a:latin typeface="Courier"/>
                <a:cs typeface="Courier"/>
              </a:rPr>
              <a:t>telephone:"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, carnet[nom][</a:t>
            </a:r>
            <a:r>
              <a:rPr lang="hu-HU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hu-HU" sz="1800" b="1" dirty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hu-HU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it-IT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it-IT" sz="1800" dirty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it-IT" sz="1800" dirty="0">
                <a:solidFill>
                  <a:srgbClr val="BA2121"/>
                </a:solidFill>
                <a:latin typeface="Courier"/>
                <a:cs typeface="Courier"/>
              </a:rPr>
              <a:t>"Ce </a:t>
            </a:r>
            <a:r>
              <a:rPr lang="it-IT" sz="1800" dirty="0" err="1">
                <a:solidFill>
                  <a:srgbClr val="BA2121"/>
                </a:solidFill>
                <a:latin typeface="Courier"/>
                <a:cs typeface="Courier"/>
              </a:rPr>
              <a:t>nom</a:t>
            </a:r>
            <a:r>
              <a:rPr lang="it-IT" sz="1800" dirty="0">
                <a:solidFill>
                  <a:srgbClr val="BA2121"/>
                </a:solidFill>
                <a:latin typeface="Courier"/>
                <a:cs typeface="Courier"/>
              </a:rPr>
              <a:t> n'</a:t>
            </a:r>
            <a:r>
              <a:rPr lang="it-IT" sz="1800" dirty="0" err="1">
                <a:solidFill>
                  <a:srgbClr val="BA2121"/>
                </a:solidFill>
                <a:latin typeface="Courier"/>
                <a:cs typeface="Courier"/>
              </a:rPr>
              <a:t>existe</a:t>
            </a:r>
            <a:r>
              <a:rPr lang="it-IT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it-IT" sz="1800" dirty="0" err="1">
                <a:solidFill>
                  <a:srgbClr val="BA2121"/>
                </a:solidFill>
                <a:latin typeface="Courier"/>
                <a:cs typeface="Courier"/>
              </a:rPr>
              <a:t>pas</a:t>
            </a:r>
            <a:r>
              <a:rPr lang="it-IT" sz="1800" dirty="0">
                <a:solidFill>
                  <a:srgbClr val="BA2121"/>
                </a:solidFill>
                <a:latin typeface="Courier"/>
                <a:cs typeface="Courier"/>
              </a:rPr>
              <a:t>..."</a:t>
            </a:r>
            <a:endParaRPr lang="it-IT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err="1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action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"f"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"F"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impression du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dico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carnet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	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k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carnet</a:t>
            </a:r>
            <a:r>
              <a:rPr lang="en-US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keys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		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print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k, carnet[k][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], carnet[k][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	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break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interruption de la boucle while</a:t>
            </a:r>
            <a:endParaRPr lang="fr-CH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01178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Dans ce programme, on repart chaque fois à partir d’un dictionnaire vide; cf. instruction </a:t>
            </a:r>
            <a:r>
              <a:rPr lang="fr-FR" sz="2400" dirty="0">
                <a:solidFill>
                  <a:prstClr val="black"/>
                </a:solidFill>
                <a:latin typeface="Courier"/>
                <a:cs typeface="Courier"/>
              </a:rPr>
              <a:t>carnet </a:t>
            </a:r>
            <a:r>
              <a:rPr lang="fr-FR" sz="24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2400" dirty="0">
                <a:solidFill>
                  <a:prstClr val="black"/>
                </a:solidFill>
                <a:latin typeface="Courier"/>
                <a:cs typeface="Courier"/>
              </a:rPr>
              <a:t> {}</a:t>
            </a:r>
            <a:endParaRPr lang="fr-FR" sz="2400" dirty="0"/>
          </a:p>
          <a:p>
            <a:r>
              <a:rPr lang="fr-FR" dirty="0"/>
              <a:t>On aimerait bien pouvoir garder en mémoire, dans un fichier, l’état du dictionnaire </a:t>
            </a:r>
            <a:r>
              <a:rPr lang="fr-FR" sz="2400" dirty="0">
                <a:solidFill>
                  <a:prstClr val="black"/>
                </a:solidFill>
                <a:latin typeface="Courier"/>
                <a:cs typeface="Courier"/>
              </a:rPr>
              <a:t>carnet</a:t>
            </a:r>
            <a:r>
              <a:rPr lang="fr-FR" dirty="0"/>
              <a:t>. </a:t>
            </a:r>
          </a:p>
          <a:p>
            <a:r>
              <a:rPr lang="fr-FR" dirty="0"/>
              <a:t>Ainsi, on pourrait repartir de ce dictionnaire </a:t>
            </a:r>
            <a:r>
              <a:rPr lang="fr-FR" sz="2400" dirty="0">
                <a:solidFill>
                  <a:prstClr val="black"/>
                </a:solidFill>
                <a:latin typeface="Courier"/>
                <a:cs typeface="Courier"/>
              </a:rPr>
              <a:t>carnet</a:t>
            </a:r>
            <a:r>
              <a:rPr lang="fr-FR" dirty="0"/>
              <a:t> à chaque réexécution du programme.</a:t>
            </a:r>
          </a:p>
          <a:p>
            <a:r>
              <a:rPr lang="fr-FR" dirty="0"/>
              <a:t>Pour cela, on utilise le module « </a:t>
            </a:r>
            <a:r>
              <a:rPr lang="fr-FR" dirty="0" err="1"/>
              <a:t>pickle</a:t>
            </a:r>
            <a:r>
              <a:rPr lang="fr-FR" dirty="0"/>
              <a:t> »</a:t>
            </a:r>
            <a:r>
              <a:rPr lang="is-IS" dirty="0"/>
              <a:t>…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821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module « </a:t>
            </a:r>
            <a:r>
              <a:rPr lang="fr-FR" dirty="0" err="1"/>
              <a:t>pickle</a:t>
            </a:r>
            <a:r>
              <a:rPr lang="fr-FR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Le module « </a:t>
            </a:r>
            <a:r>
              <a:rPr lang="fr-FR" dirty="0" err="1"/>
              <a:t>pickle</a:t>
            </a:r>
            <a:r>
              <a:rPr lang="fr-FR" dirty="0"/>
              <a:t> » permet d’implémenter un algorithme de codage et décodage d’objets Python.</a:t>
            </a:r>
          </a:p>
          <a:p>
            <a:r>
              <a:rPr lang="fr-FR" dirty="0"/>
              <a:t>Le « </a:t>
            </a:r>
            <a:r>
              <a:rPr lang="fr-FR" dirty="0" err="1"/>
              <a:t>pickling</a:t>
            </a:r>
            <a:r>
              <a:rPr lang="fr-FR" dirty="0"/>
              <a:t> » désigne le processus selon lequel un objet Python est convertit en une suite de bytes, afin de pouvoir être stocké dans un fichier.</a:t>
            </a:r>
          </a:p>
          <a:p>
            <a:r>
              <a:rPr lang="fr-FR" dirty="0"/>
              <a:t>Le « </a:t>
            </a:r>
            <a:r>
              <a:rPr lang="fr-FR" dirty="0" err="1"/>
              <a:t>unpickling</a:t>
            </a:r>
            <a:r>
              <a:rPr lang="fr-FR" dirty="0"/>
              <a:t> » désigne le processus inverse selon lequel une suite de bytes est reconvertie en objet Python, afin de pouvoir être réutilisée dans un programme.</a:t>
            </a:r>
          </a:p>
        </p:txBody>
      </p:sp>
    </p:spTree>
    <p:extLst>
      <p:ext uri="{BB962C8B-B14F-4D97-AF65-F5344CB8AC3E}">
        <p14:creationId xmlns:p14="http://schemas.microsoft.com/office/powerpoint/2010/main" val="133734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module « </a:t>
            </a:r>
            <a:r>
              <a:rPr lang="fr-FR" dirty="0" err="1"/>
              <a:t>pickle</a:t>
            </a:r>
            <a:r>
              <a:rPr lang="fr-FR" dirty="0"/>
              <a:t> »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Pour appeler le module pickle, on utilise l’instruction :</a:t>
            </a:r>
          </a:p>
          <a:p>
            <a:pPr marL="320040" lvl="1" indent="0" algn="ctr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from pickle import *</a:t>
            </a:r>
          </a:p>
          <a:p>
            <a:r>
              <a:rPr lang="fr-CH" dirty="0"/>
              <a:t>Opération de stockage d’un objet Python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x</a:t>
            </a:r>
            <a:r>
              <a:rPr lang="fr-CH" dirty="0"/>
              <a:t> dans un fichier logique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f_log</a:t>
            </a:r>
            <a:r>
              <a:rPr lang="fr-CH" dirty="0"/>
              <a:t> : on utilise l’instruction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dump</a:t>
            </a:r>
            <a:r>
              <a:rPr lang="fr-CH" dirty="0"/>
              <a:t>.</a:t>
            </a:r>
          </a:p>
          <a:p>
            <a:pPr marL="0" lvl="1" indent="0" algn="ctr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dump(x,f_log)</a:t>
            </a:r>
            <a:endParaRPr lang="fr-CH" dirty="0"/>
          </a:p>
          <a:p>
            <a:r>
              <a:rPr lang="fr-CH" dirty="0"/>
              <a:t> Opération de répupération d’un objet Python qui est stocké dans un fichier logique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f_log</a:t>
            </a:r>
            <a:r>
              <a:rPr lang="fr-CH" dirty="0"/>
              <a:t> : on utilise l’instruction 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load</a:t>
            </a:r>
            <a:r>
              <a:rPr lang="fr-CH" dirty="0"/>
              <a:t>.</a:t>
            </a:r>
          </a:p>
          <a:p>
            <a:pPr marL="0" lvl="1" indent="0" algn="ctr">
              <a:spcBef>
                <a:spcPts val="700"/>
              </a:spcBef>
              <a:buClr>
                <a:schemeClr val="accent2"/>
              </a:buClr>
              <a:buSzPct val="60000"/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load(f_log)</a:t>
            </a:r>
            <a:endParaRPr lang="fr-CH" dirty="0"/>
          </a:p>
          <a:p>
            <a:pPr marL="0" indent="0">
              <a:buNone/>
            </a:pP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11851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module « </a:t>
            </a:r>
            <a:r>
              <a:rPr lang="fr-FR" dirty="0" err="1"/>
              <a:t>pickle</a:t>
            </a:r>
            <a:r>
              <a:rPr lang="fr-FR" dirty="0"/>
              <a:t> »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Exemple : on crée une liste d’objets de types différents, on la stocke dans un fichier, puis on la récupère.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5964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module « </a:t>
            </a:r>
            <a:r>
              <a:rPr lang="fr-FR" dirty="0" err="1"/>
              <a:t>pickle</a:t>
            </a:r>
            <a:r>
              <a:rPr lang="fr-FR" dirty="0"/>
              <a:t> »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40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date  </a:t>
            </a:r>
            <a:r>
              <a:rPr lang="ro-RO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ro-RO" sz="1800" dirty="0">
                <a:solidFill>
                  <a:srgbClr val="BA2121"/>
                </a:solidFill>
                <a:latin typeface="Courier"/>
                <a:cs typeface="Courier"/>
              </a:rPr>
              <a:t>"17-JAN-1990"</a:t>
            </a:r>
            <a:endParaRPr lang="ro-R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piece </a:t>
            </a:r>
            <a:r>
              <a:rPr lang="ro-RO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ro-RO" sz="1800" dirty="0">
                <a:solidFill>
                  <a:srgbClr val="BA2121"/>
                </a:solidFill>
                <a:latin typeface="Courier"/>
                <a:cs typeface="Courier"/>
              </a:rPr>
              <a:t>"roi"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ro-RO" sz="1800" dirty="0">
                <a:solidFill>
                  <a:srgbClr val="BA2121"/>
                </a:solidFill>
                <a:latin typeface="Courier"/>
                <a:cs typeface="Courier"/>
              </a:rPr>
              <a:t>"dame"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ro-RO" sz="1800" dirty="0">
                <a:solidFill>
                  <a:srgbClr val="BA2121"/>
                </a:solidFill>
                <a:latin typeface="Courier"/>
                <a:cs typeface="Courier"/>
              </a:rPr>
              <a:t>"fou"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ro-RO" sz="1800" dirty="0">
                <a:solidFill>
                  <a:srgbClr val="BA2121"/>
                </a:solidFill>
                <a:latin typeface="Courier"/>
                <a:cs typeface="Courier"/>
              </a:rPr>
              <a:t>"tour"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ro-RO" sz="1800" dirty="0">
                <a:solidFill>
                  <a:srgbClr val="BA2121"/>
                </a:solidFill>
                <a:latin typeface="Courier"/>
                <a:cs typeface="Courier"/>
              </a:rPr>
              <a:t>"cavalier"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ro-RO" sz="1800" dirty="0">
                <a:solidFill>
                  <a:srgbClr val="BA2121"/>
                </a:solidFill>
                <a:latin typeface="Courier"/>
                <a:cs typeface="Courier"/>
              </a:rPr>
              <a:t>"pion"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es-ES_tradnl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s-ES_trad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s-ES_tradnl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s-ES_tradnl" sz="1800" dirty="0" err="1">
                <a:solidFill>
                  <a:srgbClr val="BA2121"/>
                </a:solidFill>
                <a:latin typeface="Courier"/>
                <a:cs typeface="Courier"/>
              </a:rPr>
              <a:t>blanc</a:t>
            </a:r>
            <a:r>
              <a:rPr lang="es-ES_tradnl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es-ES_tradnl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"noir"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joueurs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((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Karpov"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,b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), 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Kasparov"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,n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))</a:t>
            </a:r>
          </a:p>
          <a:p>
            <a:pPr marL="0" indent="0">
              <a:buNone/>
            </a:pP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jeu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{(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"e"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: (piece[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],b), 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"e"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: (piece[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],n)}</a:t>
            </a:r>
          </a:p>
          <a:p>
            <a:pPr marL="0" indent="0">
              <a:buNone/>
            </a:pP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liste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de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chaîne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, tuple,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dictionnaire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,...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liste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[date, piece, b, n,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joueurs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jeu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endParaRPr lang="fr-CH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571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module « </a:t>
            </a:r>
            <a:r>
              <a:rPr lang="fr-FR" dirty="0" err="1"/>
              <a:t>pickle</a:t>
            </a:r>
            <a:r>
              <a:rPr lang="fr-FR" dirty="0"/>
              <a:t> »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41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se place dans le répertoire voulu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00FF"/>
                </a:solidFill>
                <a:latin typeface="Courier"/>
                <a:cs typeface="Courier"/>
              </a:rPr>
              <a:t>os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os</a:t>
            </a:r>
            <a:r>
              <a:rPr lang="fr-FR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chdir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Users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jcabessa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/Desktop/MAIN/Courses/PYTHON/2016_Paris_Lausanne/cours/code"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crée un fichier dans lequel on stocke l'objet liste.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utilise l'instruction dump.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0000FF"/>
                </a:solidFill>
                <a:latin typeface="Courier"/>
                <a:cs typeface="Courier"/>
              </a:rPr>
              <a:t>pickle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"my_file.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txt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"w"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f_log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dump(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liste,f_log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dump l'objet liste</a:t>
            </a:r>
            <a:endParaRPr lang="fr-CH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87321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module « </a:t>
            </a:r>
            <a:r>
              <a:rPr lang="fr-FR" dirty="0" err="1"/>
              <a:t>pickle</a:t>
            </a:r>
            <a:r>
              <a:rPr lang="fr-FR" dirty="0"/>
              <a:t> »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récupère l'objet liste.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utilise l'instruction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load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.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"my_file.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txt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"r"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f_log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liste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load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f_log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load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 le contenu de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f_log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a bien récupéré l'objet liste de départ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liste</a:t>
            </a:r>
          </a:p>
          <a:p>
            <a:pPr marL="0" indent="0">
              <a:buNone/>
            </a:pP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x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liste: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x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type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(x)</a:t>
            </a:r>
            <a:endParaRPr lang="fr-CH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20245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module « </a:t>
            </a:r>
            <a:r>
              <a:rPr lang="fr-FR" dirty="0" err="1"/>
              <a:t>pickle</a:t>
            </a:r>
            <a:r>
              <a:rPr lang="fr-FR" dirty="0"/>
              <a:t> »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a bien récupéré l'objet liste de départ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liste</a:t>
            </a:r>
          </a:p>
          <a:p>
            <a:pPr marL="0" indent="0">
              <a:buNone/>
            </a:pPr>
            <a:r>
              <a:rPr lang="nl-NL" sz="1800" dirty="0">
                <a:latin typeface="Courier"/>
                <a:cs typeface="Courier"/>
              </a:rPr>
              <a:t>['17-JAN-1990',</a:t>
            </a:r>
          </a:p>
          <a:p>
            <a:pPr marL="0" indent="0">
              <a:buNone/>
            </a:pPr>
            <a:r>
              <a:rPr lang="nl-NL" sz="1800" dirty="0">
                <a:latin typeface="Courier"/>
                <a:cs typeface="Courier"/>
              </a:rPr>
              <a:t>('</a:t>
            </a:r>
            <a:r>
              <a:rPr lang="nl-NL" sz="1800" dirty="0" err="1">
                <a:latin typeface="Courier"/>
                <a:cs typeface="Courier"/>
              </a:rPr>
              <a:t>roi</a:t>
            </a:r>
            <a:r>
              <a:rPr lang="nl-NL" sz="1800" dirty="0">
                <a:latin typeface="Courier"/>
                <a:cs typeface="Courier"/>
              </a:rPr>
              <a:t>', 'dame', '</a:t>
            </a:r>
            <a:r>
              <a:rPr lang="nl-NL" sz="1800" dirty="0" err="1">
                <a:latin typeface="Courier"/>
                <a:cs typeface="Courier"/>
              </a:rPr>
              <a:t>fou</a:t>
            </a:r>
            <a:r>
              <a:rPr lang="nl-NL" sz="1800" dirty="0">
                <a:latin typeface="Courier"/>
                <a:cs typeface="Courier"/>
              </a:rPr>
              <a:t>', 'tour', 'cavalier', 'pion'), </a:t>
            </a:r>
          </a:p>
          <a:p>
            <a:pPr marL="0" indent="0">
              <a:buNone/>
            </a:pPr>
            <a:r>
              <a:rPr lang="nl-NL" sz="1800" dirty="0">
                <a:latin typeface="Courier"/>
                <a:cs typeface="Courier"/>
              </a:rPr>
              <a:t>'</a:t>
            </a:r>
            <a:r>
              <a:rPr lang="nl-NL" sz="1800" dirty="0" err="1">
                <a:latin typeface="Courier"/>
                <a:cs typeface="Courier"/>
              </a:rPr>
              <a:t>blanc</a:t>
            </a:r>
            <a:r>
              <a:rPr lang="nl-NL" sz="1800" dirty="0">
                <a:latin typeface="Courier"/>
                <a:cs typeface="Courier"/>
              </a:rPr>
              <a:t>', '</a:t>
            </a:r>
            <a:r>
              <a:rPr lang="nl-NL" sz="1800" dirty="0" err="1">
                <a:latin typeface="Courier"/>
                <a:cs typeface="Courier"/>
              </a:rPr>
              <a:t>noir</a:t>
            </a:r>
            <a:r>
              <a:rPr lang="nl-NL" sz="1800" dirty="0">
                <a:latin typeface="Courier"/>
                <a:cs typeface="Courier"/>
              </a:rPr>
              <a:t>’,</a:t>
            </a:r>
          </a:p>
          <a:p>
            <a:pPr marL="0" indent="0">
              <a:buNone/>
            </a:pPr>
            <a:r>
              <a:rPr lang="nl-NL" sz="1800" dirty="0">
                <a:latin typeface="Courier"/>
                <a:cs typeface="Courier"/>
              </a:rPr>
              <a:t>(('</a:t>
            </a:r>
            <a:r>
              <a:rPr lang="nl-NL" sz="1800" dirty="0" err="1">
                <a:latin typeface="Courier"/>
                <a:cs typeface="Courier"/>
              </a:rPr>
              <a:t>Karpov</a:t>
            </a:r>
            <a:r>
              <a:rPr lang="nl-NL" sz="1800" dirty="0">
                <a:latin typeface="Courier"/>
                <a:cs typeface="Courier"/>
              </a:rPr>
              <a:t>', '</a:t>
            </a:r>
            <a:r>
              <a:rPr lang="nl-NL" sz="1800" dirty="0" err="1">
                <a:latin typeface="Courier"/>
                <a:cs typeface="Courier"/>
              </a:rPr>
              <a:t>blanc</a:t>
            </a:r>
            <a:r>
              <a:rPr lang="nl-NL" sz="1800" dirty="0">
                <a:latin typeface="Courier"/>
                <a:cs typeface="Courier"/>
              </a:rPr>
              <a:t>'), ('</a:t>
            </a:r>
            <a:r>
              <a:rPr lang="nl-NL" sz="1800" dirty="0" err="1">
                <a:latin typeface="Courier"/>
                <a:cs typeface="Courier"/>
              </a:rPr>
              <a:t>Kasparov</a:t>
            </a:r>
            <a:r>
              <a:rPr lang="nl-NL" sz="1800" dirty="0">
                <a:latin typeface="Courier"/>
                <a:cs typeface="Courier"/>
              </a:rPr>
              <a:t>', '</a:t>
            </a:r>
            <a:r>
              <a:rPr lang="nl-NL" sz="1800" dirty="0" err="1">
                <a:latin typeface="Courier"/>
                <a:cs typeface="Courier"/>
              </a:rPr>
              <a:t>noir</a:t>
            </a:r>
            <a:r>
              <a:rPr lang="nl-NL" sz="1800" dirty="0">
                <a:latin typeface="Courier"/>
                <a:cs typeface="Courier"/>
              </a:rPr>
              <a:t>')),</a:t>
            </a:r>
          </a:p>
          <a:p>
            <a:pPr marL="0" indent="0">
              <a:buNone/>
            </a:pPr>
            <a:r>
              <a:rPr lang="nl-NL" sz="1800" dirty="0">
                <a:latin typeface="Courier"/>
                <a:cs typeface="Courier"/>
              </a:rPr>
              <a:t>{('e', 1): ('</a:t>
            </a:r>
            <a:r>
              <a:rPr lang="nl-NL" sz="1800" dirty="0" err="1">
                <a:latin typeface="Courier"/>
                <a:cs typeface="Courier"/>
              </a:rPr>
              <a:t>roi</a:t>
            </a:r>
            <a:r>
              <a:rPr lang="nl-NL" sz="1800" dirty="0">
                <a:latin typeface="Courier"/>
                <a:cs typeface="Courier"/>
              </a:rPr>
              <a:t>', '</a:t>
            </a:r>
            <a:r>
              <a:rPr lang="nl-NL" sz="1800" dirty="0" err="1">
                <a:latin typeface="Courier"/>
                <a:cs typeface="Courier"/>
              </a:rPr>
              <a:t>blanc</a:t>
            </a:r>
            <a:r>
              <a:rPr lang="nl-NL" sz="1800" dirty="0">
                <a:latin typeface="Courier"/>
                <a:cs typeface="Courier"/>
              </a:rPr>
              <a:t>'), ('e', 3): ('</a:t>
            </a:r>
            <a:r>
              <a:rPr lang="nl-NL" sz="1800" dirty="0" err="1">
                <a:latin typeface="Courier"/>
                <a:cs typeface="Courier"/>
              </a:rPr>
              <a:t>roi</a:t>
            </a:r>
            <a:r>
              <a:rPr lang="nl-NL" sz="1800" dirty="0">
                <a:latin typeface="Courier"/>
                <a:cs typeface="Courier"/>
              </a:rPr>
              <a:t>', '</a:t>
            </a:r>
            <a:r>
              <a:rPr lang="nl-NL" sz="1800" dirty="0" err="1">
                <a:latin typeface="Courier"/>
                <a:cs typeface="Courier"/>
              </a:rPr>
              <a:t>noir</a:t>
            </a:r>
            <a:r>
              <a:rPr lang="nl-NL" sz="1800" dirty="0">
                <a:latin typeface="Courier"/>
                <a:cs typeface="Courier"/>
              </a:rPr>
              <a:t>')}]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CH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08471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module « </a:t>
            </a:r>
            <a:r>
              <a:rPr lang="fr-FR" dirty="0" err="1"/>
              <a:t>pickle</a:t>
            </a:r>
            <a:r>
              <a:rPr lang="fr-FR" dirty="0"/>
              <a:t> »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997152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Les différents types des objets sont tous compris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x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liste: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x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type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(x)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i-FI" sz="1800" dirty="0">
                <a:latin typeface="Courier"/>
                <a:cs typeface="Courier"/>
              </a:rPr>
              <a:t>17-JAN-1990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i-FI" sz="1800" dirty="0">
                <a:latin typeface="Courier"/>
                <a:cs typeface="Courier"/>
              </a:rPr>
              <a:t>&lt;</a:t>
            </a:r>
            <a:r>
              <a:rPr lang="fi-FI" sz="1800" dirty="0" err="1">
                <a:latin typeface="Courier"/>
                <a:cs typeface="Courier"/>
              </a:rPr>
              <a:t>type</a:t>
            </a:r>
            <a:r>
              <a:rPr lang="fi-FI" sz="1800" dirty="0">
                <a:latin typeface="Courier"/>
                <a:cs typeface="Courier"/>
              </a:rPr>
              <a:t> '</a:t>
            </a:r>
            <a:r>
              <a:rPr lang="fi-FI" sz="1800" dirty="0" err="1">
                <a:latin typeface="Courier"/>
                <a:cs typeface="Courier"/>
              </a:rPr>
              <a:t>str</a:t>
            </a:r>
            <a:r>
              <a:rPr lang="fi-FI" sz="1800" dirty="0">
                <a:latin typeface="Courier"/>
                <a:cs typeface="Courier"/>
              </a:rPr>
              <a:t>'&gt;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i-FI" sz="1800" dirty="0">
                <a:latin typeface="Courier"/>
                <a:cs typeface="Courier"/>
              </a:rPr>
              <a:t>('</a:t>
            </a:r>
            <a:r>
              <a:rPr lang="fi-FI" sz="1800" dirty="0" err="1">
                <a:latin typeface="Courier"/>
                <a:cs typeface="Courier"/>
              </a:rPr>
              <a:t>roi</a:t>
            </a:r>
            <a:r>
              <a:rPr lang="fi-FI" sz="1800" dirty="0">
                <a:latin typeface="Courier"/>
                <a:cs typeface="Courier"/>
              </a:rPr>
              <a:t>', '</a:t>
            </a:r>
            <a:r>
              <a:rPr lang="fi-FI" sz="1800" dirty="0" err="1">
                <a:latin typeface="Courier"/>
                <a:cs typeface="Courier"/>
              </a:rPr>
              <a:t>dame</a:t>
            </a:r>
            <a:r>
              <a:rPr lang="fi-FI" sz="1800" dirty="0">
                <a:latin typeface="Courier"/>
                <a:cs typeface="Courier"/>
              </a:rPr>
              <a:t>', '</a:t>
            </a:r>
            <a:r>
              <a:rPr lang="fi-FI" sz="1800" dirty="0" err="1">
                <a:latin typeface="Courier"/>
                <a:cs typeface="Courier"/>
              </a:rPr>
              <a:t>fou</a:t>
            </a:r>
            <a:r>
              <a:rPr lang="fi-FI" sz="1800" dirty="0">
                <a:latin typeface="Courier"/>
                <a:cs typeface="Courier"/>
              </a:rPr>
              <a:t>', '</a:t>
            </a:r>
            <a:r>
              <a:rPr lang="fi-FI" sz="1800" dirty="0" err="1">
                <a:latin typeface="Courier"/>
                <a:cs typeface="Courier"/>
              </a:rPr>
              <a:t>tour</a:t>
            </a:r>
            <a:r>
              <a:rPr lang="fi-FI" sz="1800" dirty="0">
                <a:latin typeface="Courier"/>
                <a:cs typeface="Courier"/>
              </a:rPr>
              <a:t>', '</a:t>
            </a:r>
            <a:r>
              <a:rPr lang="fi-FI" sz="1800" dirty="0" err="1">
                <a:latin typeface="Courier"/>
                <a:cs typeface="Courier"/>
              </a:rPr>
              <a:t>cavalier</a:t>
            </a:r>
            <a:r>
              <a:rPr lang="fi-FI" sz="1800" dirty="0">
                <a:latin typeface="Courier"/>
                <a:cs typeface="Courier"/>
              </a:rPr>
              <a:t>', '</a:t>
            </a:r>
            <a:r>
              <a:rPr lang="fi-FI" sz="1800" dirty="0" err="1">
                <a:latin typeface="Courier"/>
                <a:cs typeface="Courier"/>
              </a:rPr>
              <a:t>pion</a:t>
            </a:r>
            <a:r>
              <a:rPr lang="fi-FI" sz="1800" dirty="0">
                <a:latin typeface="Courier"/>
                <a:cs typeface="Courier"/>
              </a:rPr>
              <a:t>')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i-FI" sz="1800" dirty="0">
                <a:latin typeface="Courier"/>
                <a:cs typeface="Courier"/>
              </a:rPr>
              <a:t>&lt;</a:t>
            </a:r>
            <a:r>
              <a:rPr lang="fi-FI" sz="1800" dirty="0" err="1">
                <a:latin typeface="Courier"/>
                <a:cs typeface="Courier"/>
              </a:rPr>
              <a:t>type</a:t>
            </a:r>
            <a:r>
              <a:rPr lang="fi-FI" sz="1800" dirty="0">
                <a:latin typeface="Courier"/>
                <a:cs typeface="Courier"/>
              </a:rPr>
              <a:t> '</a:t>
            </a:r>
            <a:r>
              <a:rPr lang="fi-FI" sz="1800" dirty="0" err="1">
                <a:latin typeface="Courier"/>
                <a:cs typeface="Courier"/>
              </a:rPr>
              <a:t>tuple</a:t>
            </a:r>
            <a:r>
              <a:rPr lang="fi-FI" sz="1800" dirty="0">
                <a:latin typeface="Courier"/>
                <a:cs typeface="Courier"/>
              </a:rPr>
              <a:t>'&gt;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i-FI" sz="1800" dirty="0" err="1">
                <a:latin typeface="Courier"/>
                <a:cs typeface="Courier"/>
              </a:rPr>
              <a:t>blanc</a:t>
            </a:r>
            <a:endParaRPr lang="fi-FI" sz="1800" dirty="0">
              <a:latin typeface="Courier"/>
              <a:cs typeface="Courier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fi-FI" sz="1800" dirty="0">
                <a:latin typeface="Courier"/>
                <a:cs typeface="Courier"/>
              </a:rPr>
              <a:t>&lt;</a:t>
            </a:r>
            <a:r>
              <a:rPr lang="fi-FI" sz="1800" dirty="0" err="1">
                <a:latin typeface="Courier"/>
                <a:cs typeface="Courier"/>
              </a:rPr>
              <a:t>type</a:t>
            </a:r>
            <a:r>
              <a:rPr lang="fi-FI" sz="1800" dirty="0">
                <a:latin typeface="Courier"/>
                <a:cs typeface="Courier"/>
              </a:rPr>
              <a:t> '</a:t>
            </a:r>
            <a:r>
              <a:rPr lang="fi-FI" sz="1800" dirty="0" err="1">
                <a:latin typeface="Courier"/>
                <a:cs typeface="Courier"/>
              </a:rPr>
              <a:t>str</a:t>
            </a:r>
            <a:r>
              <a:rPr lang="fi-FI" sz="1800" dirty="0">
                <a:latin typeface="Courier"/>
                <a:cs typeface="Courier"/>
              </a:rPr>
              <a:t>'&gt;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i-FI" sz="1800" dirty="0" err="1">
                <a:latin typeface="Courier"/>
                <a:cs typeface="Courier"/>
              </a:rPr>
              <a:t>noir</a:t>
            </a:r>
            <a:endParaRPr lang="fi-FI" sz="1800" dirty="0">
              <a:latin typeface="Courier"/>
              <a:cs typeface="Courier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fi-FI" sz="1800" dirty="0">
                <a:latin typeface="Courier"/>
                <a:cs typeface="Courier"/>
              </a:rPr>
              <a:t>&lt;</a:t>
            </a:r>
            <a:r>
              <a:rPr lang="fi-FI" sz="1800" dirty="0" err="1">
                <a:latin typeface="Courier"/>
                <a:cs typeface="Courier"/>
              </a:rPr>
              <a:t>type</a:t>
            </a:r>
            <a:r>
              <a:rPr lang="fi-FI" sz="1800" dirty="0">
                <a:latin typeface="Courier"/>
                <a:cs typeface="Courier"/>
              </a:rPr>
              <a:t> '</a:t>
            </a:r>
            <a:r>
              <a:rPr lang="fi-FI" sz="1800" dirty="0" err="1">
                <a:latin typeface="Courier"/>
                <a:cs typeface="Courier"/>
              </a:rPr>
              <a:t>str</a:t>
            </a:r>
            <a:r>
              <a:rPr lang="fi-FI" sz="1800" dirty="0">
                <a:latin typeface="Courier"/>
                <a:cs typeface="Courier"/>
              </a:rPr>
              <a:t>'&gt;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i-FI" sz="1800" dirty="0">
                <a:latin typeface="Courier"/>
                <a:cs typeface="Courier"/>
              </a:rPr>
              <a:t>(('Karpov', '</a:t>
            </a:r>
            <a:r>
              <a:rPr lang="fi-FI" sz="1800" dirty="0" err="1">
                <a:latin typeface="Courier"/>
                <a:cs typeface="Courier"/>
              </a:rPr>
              <a:t>blanc</a:t>
            </a:r>
            <a:r>
              <a:rPr lang="fi-FI" sz="1800" dirty="0">
                <a:latin typeface="Courier"/>
                <a:cs typeface="Courier"/>
              </a:rPr>
              <a:t>'), ('Kasparov', '</a:t>
            </a:r>
            <a:r>
              <a:rPr lang="fi-FI" sz="1800" dirty="0" err="1">
                <a:latin typeface="Courier"/>
                <a:cs typeface="Courier"/>
              </a:rPr>
              <a:t>noir</a:t>
            </a:r>
            <a:r>
              <a:rPr lang="fi-FI" sz="1800" dirty="0">
                <a:latin typeface="Courier"/>
                <a:cs typeface="Courier"/>
              </a:rPr>
              <a:t>'))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fi-FI" sz="1800" dirty="0">
                <a:latin typeface="Courier"/>
                <a:cs typeface="Courier"/>
              </a:rPr>
              <a:t>&lt;</a:t>
            </a:r>
            <a:r>
              <a:rPr lang="fi-FI" sz="1800" dirty="0" err="1">
                <a:latin typeface="Courier"/>
                <a:cs typeface="Courier"/>
              </a:rPr>
              <a:t>type</a:t>
            </a:r>
            <a:r>
              <a:rPr lang="fi-FI" sz="1800" dirty="0">
                <a:latin typeface="Courier"/>
                <a:cs typeface="Courier"/>
              </a:rPr>
              <a:t> '</a:t>
            </a:r>
            <a:r>
              <a:rPr lang="fi-FI" sz="1800" dirty="0" err="1">
                <a:latin typeface="Courier"/>
                <a:cs typeface="Courier"/>
              </a:rPr>
              <a:t>tuple</a:t>
            </a:r>
            <a:r>
              <a:rPr lang="fi-FI" sz="1800" dirty="0">
                <a:latin typeface="Courier"/>
                <a:cs typeface="Courier"/>
              </a:rPr>
              <a:t>'&gt;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s-ES_tradnl" sz="1800" dirty="0">
                <a:latin typeface="Courier"/>
                <a:cs typeface="Courier"/>
              </a:rPr>
              <a:t>{('e', 1): ('</a:t>
            </a:r>
            <a:r>
              <a:rPr lang="es-ES_tradnl" sz="1800" dirty="0" err="1">
                <a:latin typeface="Courier"/>
                <a:cs typeface="Courier"/>
              </a:rPr>
              <a:t>roi</a:t>
            </a:r>
            <a:r>
              <a:rPr lang="es-ES_tradnl" sz="1800" dirty="0">
                <a:latin typeface="Courier"/>
                <a:cs typeface="Courier"/>
              </a:rPr>
              <a:t>', '</a:t>
            </a:r>
            <a:r>
              <a:rPr lang="es-ES_tradnl" sz="1800" dirty="0" err="1">
                <a:latin typeface="Courier"/>
                <a:cs typeface="Courier"/>
              </a:rPr>
              <a:t>blanc</a:t>
            </a:r>
            <a:r>
              <a:rPr lang="es-ES_tradnl" sz="1800" dirty="0">
                <a:latin typeface="Courier"/>
                <a:cs typeface="Courier"/>
              </a:rPr>
              <a:t>'), ('e', 3): ('</a:t>
            </a:r>
            <a:r>
              <a:rPr lang="es-ES_tradnl" sz="1800" dirty="0" err="1">
                <a:latin typeface="Courier"/>
                <a:cs typeface="Courier"/>
              </a:rPr>
              <a:t>roi</a:t>
            </a:r>
            <a:r>
              <a:rPr lang="es-ES_tradnl" sz="1800" dirty="0">
                <a:latin typeface="Courier"/>
                <a:cs typeface="Courier"/>
              </a:rPr>
              <a:t>', '</a:t>
            </a:r>
            <a:r>
              <a:rPr lang="es-ES_tradnl" sz="1800" dirty="0" err="1">
                <a:latin typeface="Courier"/>
                <a:cs typeface="Courier"/>
              </a:rPr>
              <a:t>noir</a:t>
            </a:r>
            <a:r>
              <a:rPr lang="es-ES_tradnl" sz="1800" dirty="0">
                <a:latin typeface="Courier"/>
                <a:cs typeface="Courier"/>
              </a:rPr>
              <a:t>')}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s-ES_tradnl" sz="1800" dirty="0">
                <a:latin typeface="Courier"/>
                <a:cs typeface="Courier"/>
              </a:rPr>
              <a:t>&lt;</a:t>
            </a:r>
            <a:r>
              <a:rPr lang="es-ES_tradnl" sz="1800" dirty="0" err="1">
                <a:latin typeface="Courier"/>
                <a:cs typeface="Courier"/>
              </a:rPr>
              <a:t>type</a:t>
            </a:r>
            <a:r>
              <a:rPr lang="es-ES_tradnl" sz="1800" dirty="0">
                <a:latin typeface="Courier"/>
                <a:cs typeface="Courier"/>
              </a:rPr>
              <a:t> '</a:t>
            </a:r>
            <a:r>
              <a:rPr lang="es-ES_tradnl" sz="1800" dirty="0" err="1">
                <a:latin typeface="Courier"/>
                <a:cs typeface="Courier"/>
              </a:rPr>
              <a:t>dict</a:t>
            </a:r>
            <a:r>
              <a:rPr lang="es-ES_tradnl" sz="1800" dirty="0">
                <a:latin typeface="Courier"/>
                <a:cs typeface="Courier"/>
              </a:rPr>
              <a:t>'&gt;</a:t>
            </a:r>
            <a:endParaRPr lang="fr-CH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00878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853136"/>
          </a:xfrm>
        </p:spPr>
        <p:txBody>
          <a:bodyPr>
            <a:normAutofit/>
          </a:bodyPr>
          <a:lstStyle/>
          <a:p>
            <a:r>
              <a:rPr lang="fr-CH" dirty="0"/>
              <a:t>On modifie le programme de notre carnet d’adresse de sorte que le dictionnaire carnet soit « dumpé » dans un fichier </a:t>
            </a:r>
            <a:r>
              <a:rPr lang="fr-CH" sz="2400" dirty="0">
                <a:latin typeface="Courier"/>
                <a:cs typeface="Courier"/>
              </a:rPr>
              <a:t>carnet.txt</a:t>
            </a:r>
            <a:r>
              <a:rPr lang="fr-CH" dirty="0"/>
              <a:t> après chaque utilisation.</a:t>
            </a:r>
          </a:p>
          <a:p>
            <a:r>
              <a:rPr lang="fr-CH" dirty="0"/>
              <a:t>À cahque nouvelle utilisation du programme, si le fichier </a:t>
            </a:r>
            <a:r>
              <a:rPr lang="fr-CH" sz="2400" dirty="0">
                <a:latin typeface="Courier"/>
                <a:cs typeface="Courier"/>
              </a:rPr>
              <a:t>carnet.txt</a:t>
            </a:r>
            <a:r>
              <a:rPr lang="fr-CH" dirty="0"/>
              <a:t> existe, on load le dictionnaire stocké dans ce fichier.</a:t>
            </a:r>
          </a:p>
          <a:p>
            <a:r>
              <a:rPr lang="fr-CH" dirty="0"/>
              <a:t>On utilise la fonction </a:t>
            </a:r>
            <a:r>
              <a:rPr lang="fr-CH" sz="2400" dirty="0">
                <a:latin typeface="Courier"/>
                <a:cs typeface="Courier"/>
              </a:rPr>
              <a:t>isFile()</a:t>
            </a:r>
            <a:r>
              <a:rPr lang="fr-CH" dirty="0"/>
              <a:t> déjà programmée.</a:t>
            </a:r>
          </a:p>
        </p:txBody>
      </p:sp>
    </p:spTree>
    <p:extLst>
      <p:ext uri="{BB962C8B-B14F-4D97-AF65-F5344CB8AC3E}">
        <p14:creationId xmlns:p14="http://schemas.microsoft.com/office/powerpoint/2010/main" val="306351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rappelle la fonction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isFile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.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def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ourier"/>
                <a:cs typeface="Courier"/>
              </a:rPr>
              <a:t>isFile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fname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try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f_log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fname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'r'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f_log</a:t>
            </a:r>
            <a:r>
              <a:rPr lang="en-US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close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fname,</a:t>
            </a:r>
            <a:r>
              <a:rPr lang="en-US" sz="1800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except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b="1" dirty="0" err="1">
                <a:solidFill>
                  <a:srgbClr val="D2413A"/>
                </a:solidFill>
                <a:latin typeface="Courier"/>
                <a:cs typeface="Courier"/>
              </a:rPr>
              <a:t>IOError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return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fname,</a:t>
            </a:r>
            <a:r>
              <a:rPr lang="en-US" sz="1800" dirty="0" err="1">
                <a:solidFill>
                  <a:srgbClr val="008000"/>
                </a:solidFill>
                <a:latin typeface="Courier"/>
                <a:cs typeface="Courier"/>
              </a:rPr>
              <a:t>False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95743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Récupération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ou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création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du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dictionnaire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carnet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On se place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dans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le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répertoire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voulu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b="1" dirty="0" err="1">
                <a:solidFill>
                  <a:srgbClr val="0000FF"/>
                </a:solidFill>
                <a:latin typeface="Courier"/>
                <a:cs typeface="Courier"/>
              </a:rPr>
              <a:t>os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os</a:t>
            </a:r>
            <a:r>
              <a:rPr lang="en-US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chdir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"/Users/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jcabessa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/Desktop/MAIN/Courses/PYTHON/2016_Paris_Lausanne/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cours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/code"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"/>
                <a:cs typeface="Courier"/>
              </a:rPr>
              <a:t>pickle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    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isFile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carnet.txt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)[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carnet.txt"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"r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f_log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    carnet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load(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f_log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On load le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dico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    else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carnet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{}	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On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crée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le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dico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52027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41168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"n : Introduire une nouvelle adresse"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"r : Rechercher une adresse"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"f : Fin"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action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raw_input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"Que voulez-vous faire?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(action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"n"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"N"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introduire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une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nouvelle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adresse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nom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008000"/>
                </a:solidFill>
                <a:latin typeface="Courier"/>
                <a:cs typeface="Courier"/>
              </a:rPr>
              <a:t>raw_input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Entrer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un nom: 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nom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carnet</a:t>
            </a:r>
            <a:r>
              <a:rPr lang="en-US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keys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Ce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nom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existe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deja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..."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da-DK" sz="1800" b="1" dirty="0" err="1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anniv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 err="1">
                <a:solidFill>
                  <a:srgbClr val="008000"/>
                </a:solidFill>
                <a:latin typeface="Courier"/>
                <a:cs typeface="Courier"/>
              </a:rPr>
              <a:t>raw_input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da-DK" sz="1800" dirty="0" err="1">
                <a:solidFill>
                  <a:srgbClr val="BA2121"/>
                </a:solidFill>
                <a:latin typeface="Courier"/>
                <a:cs typeface="Courier"/>
              </a:rPr>
              <a:t>anni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 &lt;</a:t>
            </a:r>
            <a:r>
              <a:rPr lang="da-DK" sz="1800" dirty="0" err="1">
                <a:solidFill>
                  <a:srgbClr val="BA2121"/>
                </a:solidFill>
                <a:latin typeface="Courier"/>
                <a:cs typeface="Courier"/>
              </a:rPr>
              <a:t>jour.mois.annee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&gt;: "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tel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 err="1">
                <a:solidFill>
                  <a:srgbClr val="008000"/>
                </a:solidFill>
                <a:latin typeface="Courier"/>
                <a:cs typeface="Courier"/>
              </a:rPr>
              <a:t>raw_input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da-DK" sz="1800" dirty="0" err="1">
                <a:solidFill>
                  <a:srgbClr val="BA2121"/>
                </a:solidFill>
                <a:latin typeface="Courier"/>
                <a:cs typeface="Courier"/>
              </a:rPr>
              <a:t>telephone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: "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carnet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[nom] </a:t>
            </a:r>
            <a:r>
              <a:rPr lang="da-D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anniv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da-DK" sz="1800" dirty="0" err="1">
                <a:solidFill>
                  <a:prstClr val="black"/>
                </a:solidFill>
                <a:latin typeface="Courier"/>
                <a:cs typeface="Courier"/>
              </a:rPr>
              <a:t>tel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1068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(action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"r"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"R"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]):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nom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raw_input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un nom: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nom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carnet</a:t>
            </a:r>
            <a:r>
              <a:rPr lang="fr-FR" sz="1800" dirty="0" err="1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keys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():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"anniversaire:"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carnet[nom][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telephone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:"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carnet[nom][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]</a:t>
            </a:r>
          </a:p>
          <a:p>
            <a:pPr marL="0" indent="0">
              <a:buNone/>
            </a:pP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da-DK" sz="1800" b="1" dirty="0" err="1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da-DK" sz="1800" b="1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da-D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da-DK" sz="1800" dirty="0" err="1">
                <a:solidFill>
                  <a:srgbClr val="BA2121"/>
                </a:solidFill>
                <a:latin typeface="Courier"/>
                <a:cs typeface="Courier"/>
              </a:rPr>
              <a:t>Ce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 nom </a:t>
            </a:r>
            <a:r>
              <a:rPr lang="da-DK" sz="1800" dirty="0" err="1">
                <a:solidFill>
                  <a:srgbClr val="BA2121"/>
                </a:solidFill>
                <a:latin typeface="Courier"/>
                <a:cs typeface="Courier"/>
              </a:rPr>
              <a:t>n'existe</a:t>
            </a:r>
            <a:r>
              <a:rPr lang="da-DK" sz="1800" dirty="0">
                <a:solidFill>
                  <a:srgbClr val="BA2121"/>
                </a:solidFill>
                <a:latin typeface="Courier"/>
                <a:cs typeface="Courier"/>
              </a:rPr>
              <a:t> pas...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da-DK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err="1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action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"f"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"F"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]:</a:t>
            </a:r>
          </a:p>
          <a:p>
            <a:pPr marL="0" indent="0">
              <a:buNone/>
            </a:pP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       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ouverture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en mode "w": on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recrée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le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fichier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with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urier"/>
                <a:cs typeface="Courier"/>
              </a:rPr>
              <a:t>open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carnet.txt"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"w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as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f_log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           # On dump le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dico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dans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carnet.txt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    dump(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carnet,f_log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b="1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carnet</a:t>
            </a:r>
          </a:p>
          <a:p>
            <a:pPr marL="0" indent="0">
              <a:buNone/>
            </a:pPr>
            <a:r>
              <a:rPr lang="en-US" sz="1800" b="1" dirty="0">
                <a:solidFill>
                  <a:prstClr val="black"/>
                </a:solidFill>
                <a:latin typeface="Courier"/>
                <a:cs typeface="Courier"/>
              </a:rPr>
              <a:t>           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break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64424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dian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Médian.thmx</Template>
  <TotalTime>9094</TotalTime>
  <Words>3332</Words>
  <Application>Microsoft Macintosh PowerPoint</Application>
  <PresentationFormat>On-screen Show (4:3)</PresentationFormat>
  <Paragraphs>449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ＭＳ Ｐゴシック</vt:lpstr>
      <vt:lpstr>Arial</vt:lpstr>
      <vt:lpstr>Courier</vt:lpstr>
      <vt:lpstr>Times</vt:lpstr>
      <vt:lpstr>Tw Cen MT</vt:lpstr>
      <vt:lpstr>Wingdings</vt:lpstr>
      <vt:lpstr>Wingdings 2</vt:lpstr>
      <vt:lpstr>Médian</vt:lpstr>
      <vt:lpstr>Chapitre 9 Fichiers</vt:lpstr>
      <vt:lpstr>Fichiers</vt:lpstr>
      <vt:lpstr>Fichiers</vt:lpstr>
      <vt:lpstr>Fichiers</vt:lpstr>
      <vt:lpstr>Fichiers</vt:lpstr>
      <vt:lpstr>Fichiers</vt:lpstr>
      <vt:lpstr>Fichiers</vt:lpstr>
      <vt:lpstr>Fichiers</vt:lpstr>
      <vt:lpstr>Fichiers</vt:lpstr>
      <vt:lpstr>Fichiers</vt:lpstr>
      <vt:lpstr>Fichiers</vt:lpstr>
      <vt:lpstr>Fichiers</vt:lpstr>
      <vt:lpstr>Fichiers</vt:lpstr>
      <vt:lpstr>Fichiers</vt:lpstr>
      <vt:lpstr>Fichiers</vt:lpstr>
      <vt:lpstr>Fichiers</vt:lpstr>
      <vt:lpstr>Fichiers</vt:lpstr>
      <vt:lpstr>Programme</vt:lpstr>
      <vt:lpstr>Programme</vt:lpstr>
      <vt:lpstr>Programme</vt:lpstr>
      <vt:lpstr>Programme</vt:lpstr>
      <vt:lpstr>Programme</vt:lpstr>
      <vt:lpstr>Programme</vt:lpstr>
      <vt:lpstr>Programme</vt:lpstr>
      <vt:lpstr>Programme</vt:lpstr>
      <vt:lpstr>Programme</vt:lpstr>
      <vt:lpstr>Fichiers à accès direct</vt:lpstr>
      <vt:lpstr>Fichiers à accès direct</vt:lpstr>
      <vt:lpstr>Fichiers à accès direct</vt:lpstr>
      <vt:lpstr>Fichiers à accès direct</vt:lpstr>
      <vt:lpstr>Fichiers à accès direct</vt:lpstr>
      <vt:lpstr>Programme (faire démo)</vt:lpstr>
      <vt:lpstr>Programme (faire démo)</vt:lpstr>
      <vt:lpstr>Programme (faire démo)</vt:lpstr>
      <vt:lpstr>Programme (faire démo)</vt:lpstr>
      <vt:lpstr>Programme (faire démo)</vt:lpstr>
      <vt:lpstr>Le module « pickle »</vt:lpstr>
      <vt:lpstr>Le module « pickle »</vt:lpstr>
      <vt:lpstr>Le module « pickle »</vt:lpstr>
      <vt:lpstr>Le module « pickle »</vt:lpstr>
      <vt:lpstr>Le module « pickle »</vt:lpstr>
      <vt:lpstr>Le module « pickle »</vt:lpstr>
      <vt:lpstr>Le module « pickle »</vt:lpstr>
      <vt:lpstr>Le module « pickle »</vt:lpstr>
      <vt:lpstr>Programme (faire démo)</vt:lpstr>
      <vt:lpstr>Programme (faire démo)</vt:lpstr>
      <vt:lpstr>Programme (faire démo)</vt:lpstr>
      <vt:lpstr>Programme (faire démo)</vt:lpstr>
      <vt:lpstr>Programme (faire démo)</vt:lpstr>
    </vt:vector>
  </TitlesOfParts>
  <Company>Université de Lausanne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INTRODUCTION</dc:title>
  <dc:creator>Campus Agreement</dc:creator>
  <cp:lastModifiedBy>Microsoft Office User</cp:lastModifiedBy>
  <cp:revision>2686</cp:revision>
  <cp:lastPrinted>2011-09-18T10:53:10Z</cp:lastPrinted>
  <dcterms:created xsi:type="dcterms:W3CDTF">2002-10-22T15:56:56Z</dcterms:created>
  <dcterms:modified xsi:type="dcterms:W3CDTF">2019-10-29T08:54:59Z</dcterms:modified>
</cp:coreProperties>
</file>